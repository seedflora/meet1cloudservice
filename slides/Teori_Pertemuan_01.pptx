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Override PartName="/ppt/charts/chart1.xml" ContentType="application/vnd.openxmlformats-officedocument.drawingml.chart+xml"/>
  <Override PartName="/ppt/charts/chart2.xml" ContentType="application/vnd.openxmlformats-officedocument.drawingml.chart+xml"/>
</Types>
</file>

<file path=_rels/.rels>&#65279;<?xml version="1.0" encoding="utf-8"?><Relationships xmlns="http://schemas.openxmlformats.org/package/2006/relationships"><Relationship Type="http://schemas.openxmlformats.org/package/2006/relationships/metadata/core-properties" Target="/docProps/core.xml" Id="R5f1b5080bb80419c" /><Relationship Type="http://schemas.openxmlformats.org/officeDocument/2006/relationships/extended-properties" Target="/docProps/app.xml" Id="R43a05eb19a374eec" /><Relationship Type="http://schemas.openxmlformats.org/officeDocument/2006/relationships/officeDocument" Target="/ppt/presentation.xml" Id="R069df1b81fa644fc" /></Relationships>
</file>

<file path=ppt/presentation.xml><?xml version="1.0" encoding="utf-8"?>
<p:presentation xmlns:p="http://schemas.openxmlformats.org/presentationml/2006/main">
  <p:sldMasterIdLst>
    <p:sldMasterId xmlns:r="http://schemas.openxmlformats.org/officeDocument/2006/relationships" id="2147483648" r:id="R3cbb278e3436475a"/>
  </p:sldMasterIdLst>
  <p:notesMasterIdLst>
    <p:notesMasterId xmlns:r="http://schemas.openxmlformats.org/officeDocument/2006/relationships" r:id="Rb8dcb9b9267b471d"/>
  </p:notesMasterIdLst>
  <p:sldIdLst>
    <p:sldId xmlns:r="http://schemas.openxmlformats.org/officeDocument/2006/relationships" id="256" r:id="Raf3fbe555fb14398"/>
    <p:sldId xmlns:r="http://schemas.openxmlformats.org/officeDocument/2006/relationships" id="257" r:id="R23ad26236b3744e9"/>
    <p:sldId xmlns:r="http://schemas.openxmlformats.org/officeDocument/2006/relationships" id="258" r:id="R5a627cfd0c2d478b"/>
    <p:sldId xmlns:r="http://schemas.openxmlformats.org/officeDocument/2006/relationships" id="259" r:id="R1841b81a4fe64a85"/>
    <p:sldId xmlns:r="http://schemas.openxmlformats.org/officeDocument/2006/relationships" id="260" r:id="Rc4dc636842c144b8"/>
    <p:sldId xmlns:r="http://schemas.openxmlformats.org/officeDocument/2006/relationships" id="261" r:id="R7c2f52750b2948bc"/>
    <p:sldId xmlns:r="http://schemas.openxmlformats.org/officeDocument/2006/relationships" id="262" r:id="Rd97a5322d7234dc6"/>
    <p:sldId xmlns:r="http://schemas.openxmlformats.org/officeDocument/2006/relationships" id="263" r:id="R9e31bf2961f848b6"/>
    <p:sldId xmlns:r="http://schemas.openxmlformats.org/officeDocument/2006/relationships" id="264" r:id="Rb4b3dfe1339f4427"/>
    <p:sldId xmlns:r="http://schemas.openxmlformats.org/officeDocument/2006/relationships" id="265" r:id="R674ea0d776994411"/>
    <p:sldId xmlns:r="http://schemas.openxmlformats.org/officeDocument/2006/relationships" id="266" r:id="Re721fd6f474f4d64"/>
    <p:sldId xmlns:r="http://schemas.openxmlformats.org/officeDocument/2006/relationships" id="267" r:id="Rf58bdf9faec64864"/>
    <p:sldId xmlns:r="http://schemas.openxmlformats.org/officeDocument/2006/relationships" id="268" r:id="R81483750aa7c41b4"/>
    <p:sldId xmlns:r="http://schemas.openxmlformats.org/officeDocument/2006/relationships" id="269" r:id="R8e0b3d62a7d94c36"/>
    <p:sldId xmlns:r="http://schemas.openxmlformats.org/officeDocument/2006/relationships" id="270" r:id="Rafff783ceafb4446"/>
    <p:sldId xmlns:r="http://schemas.openxmlformats.org/officeDocument/2006/relationships" id="271" r:id="Rf9b26bd582b24cfc"/>
    <p:sldId xmlns:r="http://schemas.openxmlformats.org/officeDocument/2006/relationships" id="272" r:id="Rc8c24cbe5301402c"/>
    <p:sldId xmlns:r="http://schemas.openxmlformats.org/officeDocument/2006/relationships" id="273" r:id="R06ce6476648b4c5f"/>
    <p:sldId xmlns:r="http://schemas.openxmlformats.org/officeDocument/2006/relationships" id="274" r:id="R67a5451a7baa4e47"/>
    <p:sldId xmlns:r="http://schemas.openxmlformats.org/officeDocument/2006/relationships" id="275" r:id="R894c1c5ceb6a4553"/>
    <p:sldId xmlns:r="http://schemas.openxmlformats.org/officeDocument/2006/relationships" id="276" r:id="R9d808336db2140b2"/>
    <p:sldId xmlns:r="http://schemas.openxmlformats.org/officeDocument/2006/relationships" id="277" r:id="R59aaa775bc014f3b"/>
    <p:sldId xmlns:r="http://schemas.openxmlformats.org/officeDocument/2006/relationships" id="278" r:id="Rbbe8bf9b0e2e47af"/>
    <p:sldId xmlns:r="http://schemas.openxmlformats.org/officeDocument/2006/relationships" id="279" r:id="R89fc9c836d6d4ea3"/>
    <p:sldId xmlns:r="http://schemas.openxmlformats.org/officeDocument/2006/relationships" id="280" r:id="R66152bb16485439a"/>
    <p:sldId xmlns:r="http://schemas.openxmlformats.org/officeDocument/2006/relationships" id="281" r:id="Re6037af8fd1e48c0"/>
    <p:sldId xmlns:r="http://schemas.openxmlformats.org/officeDocument/2006/relationships" id="282" r:id="R7b8d17f2456b4556"/>
    <p:sldId xmlns:r="http://schemas.openxmlformats.org/officeDocument/2006/relationships" id="283" r:id="R4d71727264994360"/>
    <p:sldId xmlns:r="http://schemas.openxmlformats.org/officeDocument/2006/relationships" id="284" r:id="R550e228d80c94bd0"/>
    <p:sldId xmlns:r="http://schemas.openxmlformats.org/officeDocument/2006/relationships" id="285" r:id="R2f11faad65b04ab1"/>
    <p:sldId xmlns:r="http://schemas.openxmlformats.org/officeDocument/2006/relationships" id="286" r:id="Rf97177d236514f59"/>
    <p:sldId xmlns:r="http://schemas.openxmlformats.org/officeDocument/2006/relationships" id="287" r:id="R16d2ff0150234068"/>
    <p:sldId xmlns:r="http://schemas.openxmlformats.org/officeDocument/2006/relationships" id="288" r:id="R50ae026845ae41f3"/>
    <p:sldId xmlns:r="http://schemas.openxmlformats.org/officeDocument/2006/relationships" id="289" r:id="Rb1993c6170c04b01"/>
    <p:sldId xmlns:r="http://schemas.openxmlformats.org/officeDocument/2006/relationships" id="290" r:id="R1dec5006f94946e8"/>
    <p:sldId xmlns:r="http://schemas.openxmlformats.org/officeDocument/2006/relationships" id="291" r:id="Refa382b31e204f0b"/>
    <p:sldId xmlns:r="http://schemas.openxmlformats.org/officeDocument/2006/relationships" id="292" r:id="Re3ddca8dbaf740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7d066b0fe324970" /><Relationship Type="http://schemas.openxmlformats.org/officeDocument/2006/relationships/slideMaster" Target="/ppt/slideMasters/slideMaster1.xml" Id="R3cbb278e3436475a" /><Relationship Type="http://schemas.openxmlformats.org/officeDocument/2006/relationships/notesMaster" Target="/ppt/notesMasters/notesMaster1.xml" Id="Rb8dcb9b9267b471d" /><Relationship Type="http://schemas.openxmlformats.org/officeDocument/2006/relationships/presProps" Target="/ppt/presProps.xml" Id="R2e83e8765401429b" /><Relationship Type="http://schemas.openxmlformats.org/officeDocument/2006/relationships/viewProps" Target="/ppt/viewProps.xml" Id="Rb1340d8f0af34686" /><Relationship Type="http://schemas.openxmlformats.org/officeDocument/2006/relationships/tableStyles" Target="/ppt/tableStyles.xml" Id="R9f55618497694b88" /><Relationship Type="http://schemas.openxmlformats.org/officeDocument/2006/relationships/slide" Target="/ppt/slides/slide1.xml" Id="Raf3fbe555fb14398" /><Relationship Type="http://schemas.openxmlformats.org/officeDocument/2006/relationships/slide" Target="/ppt/slides/slide2.xml" Id="R23ad26236b3744e9" /><Relationship Type="http://schemas.openxmlformats.org/officeDocument/2006/relationships/slide" Target="/ppt/slides/slide3.xml" Id="R5a627cfd0c2d478b" /><Relationship Type="http://schemas.openxmlformats.org/officeDocument/2006/relationships/slide" Target="/ppt/slides/slide4.xml" Id="R1841b81a4fe64a85" /><Relationship Type="http://schemas.openxmlformats.org/officeDocument/2006/relationships/slide" Target="/ppt/slides/slide5.xml" Id="Rc4dc636842c144b8" /><Relationship Type="http://schemas.openxmlformats.org/officeDocument/2006/relationships/slide" Target="/ppt/slides/slide6.xml" Id="R7c2f52750b2948bc" /><Relationship Type="http://schemas.openxmlformats.org/officeDocument/2006/relationships/slide" Target="/ppt/slides/slide7.xml" Id="Rd97a5322d7234dc6" /><Relationship Type="http://schemas.openxmlformats.org/officeDocument/2006/relationships/slide" Target="/ppt/slides/slide8.xml" Id="R9e31bf2961f848b6" /><Relationship Type="http://schemas.openxmlformats.org/officeDocument/2006/relationships/slide" Target="/ppt/slides/slide9.xml" Id="Rb4b3dfe1339f4427" /><Relationship Type="http://schemas.openxmlformats.org/officeDocument/2006/relationships/slide" Target="/ppt/slides/slide10.xml" Id="R674ea0d776994411" /><Relationship Type="http://schemas.openxmlformats.org/officeDocument/2006/relationships/slide" Target="/ppt/slides/slide11.xml" Id="Re721fd6f474f4d64" /><Relationship Type="http://schemas.openxmlformats.org/officeDocument/2006/relationships/slide" Target="/ppt/slides/slide12.xml" Id="Rf58bdf9faec64864" /><Relationship Type="http://schemas.openxmlformats.org/officeDocument/2006/relationships/slide" Target="/ppt/slides/slide13.xml" Id="R81483750aa7c41b4" /><Relationship Type="http://schemas.openxmlformats.org/officeDocument/2006/relationships/slide" Target="/ppt/slides/slide14.xml" Id="R8e0b3d62a7d94c36" /><Relationship Type="http://schemas.openxmlformats.org/officeDocument/2006/relationships/slide" Target="/ppt/slides/slide15.xml" Id="Rafff783ceafb4446" /><Relationship Type="http://schemas.openxmlformats.org/officeDocument/2006/relationships/slide" Target="/ppt/slides/slide16.xml" Id="Rf9b26bd582b24cfc" /><Relationship Type="http://schemas.openxmlformats.org/officeDocument/2006/relationships/slide" Target="/ppt/slides/slide17.xml" Id="Rc8c24cbe5301402c" /><Relationship Type="http://schemas.openxmlformats.org/officeDocument/2006/relationships/slide" Target="/ppt/slides/slide18.xml" Id="R06ce6476648b4c5f" /><Relationship Type="http://schemas.openxmlformats.org/officeDocument/2006/relationships/slide" Target="/ppt/slides/slide19.xml" Id="R67a5451a7baa4e47" /><Relationship Type="http://schemas.openxmlformats.org/officeDocument/2006/relationships/slide" Target="/ppt/slides/slide20.xml" Id="R894c1c5ceb6a4553" /><Relationship Type="http://schemas.openxmlformats.org/officeDocument/2006/relationships/slide" Target="/ppt/slides/slide21.xml" Id="R9d808336db2140b2" /><Relationship Type="http://schemas.openxmlformats.org/officeDocument/2006/relationships/slide" Target="/ppt/slides/slide22.xml" Id="R59aaa775bc014f3b" /><Relationship Type="http://schemas.openxmlformats.org/officeDocument/2006/relationships/slide" Target="/ppt/slides/slide23.xml" Id="Rbbe8bf9b0e2e47af" /><Relationship Type="http://schemas.openxmlformats.org/officeDocument/2006/relationships/slide" Target="/ppt/slides/slide24.xml" Id="R89fc9c836d6d4ea3" /><Relationship Type="http://schemas.openxmlformats.org/officeDocument/2006/relationships/slide" Target="/ppt/slides/slide25.xml" Id="R66152bb16485439a" /><Relationship Type="http://schemas.openxmlformats.org/officeDocument/2006/relationships/slide" Target="/ppt/slides/slide26.xml" Id="Re6037af8fd1e48c0" /><Relationship Type="http://schemas.openxmlformats.org/officeDocument/2006/relationships/slide" Target="/ppt/slides/slide27.xml" Id="R7b8d17f2456b4556" /><Relationship Type="http://schemas.openxmlformats.org/officeDocument/2006/relationships/slide" Target="/ppt/slides/slide28.xml" Id="R4d71727264994360" /><Relationship Type="http://schemas.openxmlformats.org/officeDocument/2006/relationships/slide" Target="/ppt/slides/slide29.xml" Id="R550e228d80c94bd0" /><Relationship Type="http://schemas.openxmlformats.org/officeDocument/2006/relationships/slide" Target="/ppt/slides/slide30.xml" Id="R2f11faad65b04ab1" /><Relationship Type="http://schemas.openxmlformats.org/officeDocument/2006/relationships/slide" Target="/ppt/slides/slide31.xml" Id="Rf97177d236514f59" /><Relationship Type="http://schemas.openxmlformats.org/officeDocument/2006/relationships/slide" Target="/ppt/slides/slide32.xml" Id="R16d2ff0150234068" /><Relationship Type="http://schemas.openxmlformats.org/officeDocument/2006/relationships/slide" Target="/ppt/slides/slide33.xml" Id="R50ae026845ae41f3" /><Relationship Type="http://schemas.openxmlformats.org/officeDocument/2006/relationships/slide" Target="/ppt/slides/slide34.xml" Id="Rb1993c6170c04b01" /><Relationship Type="http://schemas.openxmlformats.org/officeDocument/2006/relationships/slide" Target="/ppt/slides/slide35.xml" Id="R1dec5006f94946e8" /><Relationship Type="http://schemas.openxmlformats.org/officeDocument/2006/relationships/slide" Target="/ppt/slides/slide36.xml" Id="Refa382b31e204f0b" /><Relationship Type="http://schemas.openxmlformats.org/officeDocument/2006/relationships/slide" Target="/ppt/slides/slide37.xml" Id="Re3ddca8dbaf740b0"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Belanja (USD B)</c:v>
                </c:pt>
              </c:strCache>
            </c:strRef>
          </c:tx>
          <c:spPr>
            <a:solidFill>
              <a:srgbClr val="F37021"/>
            </a:solidFill>
            <a:effectLst/>
          </c:spPr>
          <c:invertIfNegative val="0"/>
          <c:dLbls>
            <c:numFmt formatCode="#,##0" sourceLinked="0"/>
            <c:spPr>
              <a:noFill/>
              <a:ln>
                <a:noFill/>
              </a:ln>
              <a:effectLst/>
            </c:spPr>
            <c:txPr>
              <a:bodyPr/>
              <a:lstStyle/>
              <a:p>
                <a:pPr>
                  <a:defRPr sz="1000" b="1" i="0" u="none" strike="noStrike">
                    <a:solidFill>
                      <a:srgbClr val="00267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Q1 '24</c:v>
                </c:pt>
                <c:pt idx="1">
                  <c:v>Q2 '24</c:v>
                </c:pt>
                <c:pt idx="2">
                  <c:v>Q3 '24</c:v>
                </c:pt>
                <c:pt idx="3">
                  <c:v>Q4 '24</c:v>
                </c:pt>
                <c:pt idx="4">
                  <c:v>Q1 '25</c:v>
                </c:pt>
                <c:pt idx="5">
                  <c:v>Q2 '25</c:v>
                </c:pt>
                <c:pt idx="6">
                  <c:v>Q3 '25</c:v>
                </c:pt>
                <c:pt idx="7">
                  <c:v>Q4 '25</c:v>
                </c:pt>
                <c:pt idx="8">
                  <c:v>Q1 '26</c:v>
                </c:pt>
              </c:strCache>
            </c:strRef>
          </c:cat>
          <c:val>
            <c:numRef>
              <c:f>Sheet1!$B$2:$B$10</c:f>
              <c:numCache>
                <c:formatCode>General</c:formatCode>
                <c:ptCount val="9"/>
                <c:pt idx="0">
                  <c:v>76</c:v>
                </c:pt>
                <c:pt idx="1">
                  <c:v>79</c:v>
                </c:pt>
                <c:pt idx="2">
                  <c:v>84</c:v>
                </c:pt>
                <c:pt idx="3">
                  <c:v>90</c:v>
                </c:pt>
                <c:pt idx="4">
                  <c:v>91</c:v>
                </c:pt>
                <c:pt idx="5">
                  <c:v>99</c:v>
                </c:pt>
                <c:pt idx="6">
                  <c:v>107</c:v>
                </c:pt>
                <c:pt idx="7">
                  <c:v>115</c:v>
                </c:pt>
                <c:pt idx="8">
                  <c:v>129</c:v>
                </c:pt>
              </c:numCache>
            </c:numRef>
          </c:val>
          <c:extLst>
            <c:ext xmlns:c16="http://schemas.microsoft.com/office/drawing/2014/chart" uri="{C3380CC4-5D6E-409C-BE32-E72D297353CC}">
              <c16:uniqueId val="{00000000-8CCF-4777-B532-8B531438FE4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1000" b="0" i="0" u="none" strike="noStrike">
                    <a:solidFill>
                      <a:srgbClr val="64748B"/>
                    </a:solidFill>
                    <a:latin typeface="Arial"/>
                  </a:defRPr>
                </a:pPr>
                <a:r>
                  <a:rPr sz="1000" b="0" i="0" u="none" strike="noStrike">
                    <a:solidFill>
                      <a:srgbClr val="64748B"/>
                    </a:solidFill>
                    <a:latin typeface="Arial"/>
                  </a:rPr>
                  <a:t>USD Miliar</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Market Share</c:v>
                </c:pt>
              </c:strCache>
            </c:strRef>
          </c:tx>
          <c:spPr>
            <a:solidFill>
              <a:schemeClr val="accent1"/>
            </a:solidFill>
            <a:ln w="9525" cap="flat">
              <a:solidFill>
                <a:srgbClr val="F9F9F9"/>
              </a:solidFill>
              <a:prstDash val="solid"/>
              <a:round/>
            </a:ln>
            <a:effectLst/>
          </c:spPr>
          <c:dPt>
            <c:idx val="0"/>
            <c:bubble3D val="0"/>
            <c:spPr>
              <a:solidFill>
                <a:srgbClr val="FF9900"/>
              </a:solidFill>
              <a:effectLst/>
            </c:spPr>
            <c:extLst>
              <c:ext xmlns:c16="http://schemas.microsoft.com/office/drawing/2014/chart" uri="{C3380CC4-5D6E-409C-BE32-E72D297353CC}">
                <c16:uniqueId val="{00000001-EDE5-44FF-96CB-E01AC5F16590}"/>
              </c:ext>
            </c:extLst>
          </c:dPt>
          <c:dPt>
            <c:idx val="1"/>
            <c:bubble3D val="0"/>
            <c:spPr>
              <a:solidFill>
                <a:srgbClr val="0078D4"/>
              </a:solidFill>
              <a:effectLst/>
            </c:spPr>
            <c:extLst>
              <c:ext xmlns:c16="http://schemas.microsoft.com/office/drawing/2014/chart" uri="{C3380CC4-5D6E-409C-BE32-E72D297353CC}">
                <c16:uniqueId val="{00000003-EDE5-44FF-96CB-E01AC5F16590}"/>
              </c:ext>
            </c:extLst>
          </c:dPt>
          <c:dPt>
            <c:idx val="2"/>
            <c:bubble3D val="0"/>
            <c:spPr>
              <a:solidFill>
                <a:srgbClr val="4285F4"/>
              </a:solidFill>
              <a:effectLst/>
            </c:spPr>
            <c:extLst>
              <c:ext xmlns:c16="http://schemas.microsoft.com/office/drawing/2014/chart" uri="{C3380CC4-5D6E-409C-BE32-E72D297353CC}">
                <c16:uniqueId val="{00000005-EDE5-44FF-96CB-E01AC5F16590}"/>
              </c:ext>
            </c:extLst>
          </c:dPt>
          <c:dPt>
            <c:idx val="3"/>
            <c:bubble3D val="0"/>
            <c:spPr>
              <a:solidFill>
                <a:srgbClr val="FF6A00"/>
              </a:solidFill>
              <a:effectLst/>
            </c:spPr>
            <c:extLst>
              <c:ext xmlns:c16="http://schemas.microsoft.com/office/drawing/2014/chart" uri="{C3380CC4-5D6E-409C-BE32-E72D297353CC}">
                <c16:uniqueId val="{00000007-EDE5-44FF-96CB-E01AC5F16590}"/>
              </c:ext>
            </c:extLst>
          </c:dPt>
          <c:dPt>
            <c:idx val="4"/>
            <c:bubble3D val="0"/>
            <c:spPr>
              <a:solidFill>
                <a:srgbClr val="F80000"/>
              </a:solidFill>
              <a:effectLst/>
            </c:spPr>
            <c:extLst>
              <c:ext xmlns:c16="http://schemas.microsoft.com/office/drawing/2014/chart" uri="{C3380CC4-5D6E-409C-BE32-E72D297353CC}">
                <c16:uniqueId val="{00000009-EDE5-44FF-96CB-E01AC5F16590}"/>
              </c:ext>
            </c:extLst>
          </c:dPt>
          <c:dPt>
            <c:idx val="5"/>
            <c:bubble3D val="0"/>
            <c:spPr>
              <a:solidFill>
                <a:srgbClr val="94A3B8"/>
              </a:solidFill>
              <a:effectLst/>
            </c:spPr>
            <c:extLst>
              <c:ext xmlns:c16="http://schemas.microsoft.com/office/drawing/2014/chart" uri="{C3380CC4-5D6E-409C-BE32-E72D297353CC}">
                <c16:uniqueId val="{0000000B-EDE5-44FF-96CB-E01AC5F16590}"/>
              </c:ext>
            </c:extLst>
          </c:dPt>
          <c:dLbls>
            <c:dLbl>
              <c:idx val="0"/>
              <c:numFmt formatCode="0%" sourceLinked="0"/>
              <c:spPr/>
              <c:txPr>
                <a:bodyPr/>
                <a:lstStyle/>
                <a:p>
                  <a:pPr>
                    <a:defRPr sz="11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EDE5-44FF-96CB-E01AC5F16590}"/>
                </c:ext>
              </c:extLst>
            </c:dLbl>
            <c:dLbl>
              <c:idx val="1"/>
              <c:numFmt formatCode="0%" sourceLinked="0"/>
              <c:spPr/>
              <c:txPr>
                <a:bodyPr/>
                <a:lstStyle/>
                <a:p>
                  <a:pPr>
                    <a:defRPr sz="11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EDE5-44FF-96CB-E01AC5F16590}"/>
                </c:ext>
              </c:extLst>
            </c:dLbl>
            <c:dLbl>
              <c:idx val="2"/>
              <c:numFmt formatCode="0%" sourceLinked="0"/>
              <c:spPr/>
              <c:txPr>
                <a:bodyPr/>
                <a:lstStyle/>
                <a:p>
                  <a:pPr>
                    <a:defRPr sz="11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EDE5-44FF-96CB-E01AC5F16590}"/>
                </c:ext>
              </c:extLst>
            </c:dLbl>
            <c:dLbl>
              <c:idx val="3"/>
              <c:numFmt formatCode="0%" sourceLinked="0"/>
              <c:spPr/>
              <c:txPr>
                <a:bodyPr/>
                <a:lstStyle/>
                <a:p>
                  <a:pPr>
                    <a:defRPr sz="11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EDE5-44FF-96CB-E01AC5F16590}"/>
                </c:ext>
              </c:extLst>
            </c:dLbl>
            <c:dLbl>
              <c:idx val="4"/>
              <c:numFmt formatCode="0%" sourceLinked="0"/>
              <c:spPr/>
              <c:txPr>
                <a:bodyPr/>
                <a:lstStyle/>
                <a:p>
                  <a:pPr>
                    <a:defRPr sz="11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EDE5-44FF-96CB-E01AC5F16590}"/>
                </c:ext>
              </c:extLst>
            </c:dLbl>
            <c:dLbl>
              <c:idx val="5"/>
              <c:numFmt formatCode="0%" sourceLinked="0"/>
              <c:spPr/>
              <c:txPr>
                <a:bodyPr/>
                <a:lstStyle/>
                <a:p>
                  <a:pPr>
                    <a:defRPr sz="11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EDE5-44FF-96CB-E01AC5F16590}"/>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AWS</c:v>
                </c:pt>
                <c:pt idx="1">
                  <c:v>Microsoft Azure</c:v>
                </c:pt>
                <c:pt idx="2">
                  <c:v>Google Cloud</c:v>
                </c:pt>
                <c:pt idx="3">
                  <c:v>Alibaba Cloud</c:v>
                </c:pt>
                <c:pt idx="4">
                  <c:v>Oracle Cloud</c:v>
                </c:pt>
                <c:pt idx="5">
                  <c:v>Lainnya</c:v>
                </c:pt>
              </c:strCache>
            </c:strRef>
          </c:cat>
          <c:val>
            <c:numRef>
              <c:f>Sheet1!$B$2:$B$7</c:f>
              <c:numCache>
                <c:formatCode>General</c:formatCode>
                <c:ptCount val="6"/>
                <c:pt idx="0">
                  <c:v>28</c:v>
                </c:pt>
                <c:pt idx="1">
                  <c:v>21</c:v>
                </c:pt>
                <c:pt idx="2">
                  <c:v>14</c:v>
                </c:pt>
                <c:pt idx="3">
                  <c:v>4</c:v>
                </c:pt>
                <c:pt idx="4">
                  <c:v>3</c:v>
                </c:pt>
                <c:pt idx="5">
                  <c:v>30</c:v>
                </c:pt>
              </c:numCache>
            </c:numRef>
          </c:val>
          <c:extLst>
            <c:ext xmlns:c16="http://schemas.microsoft.com/office/drawing/2014/chart" uri="{C3380CC4-5D6E-409C-BE32-E72D297353CC}">
              <c16:uniqueId val="{0000000C-EDE5-44FF-96CB-E01AC5F16590}"/>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000">
              <a:solidFill>
                <a:srgbClr val="1E293B"/>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&#65279;<?xml version="1.0" encoding="utf-8"?><Relationships xmlns="http://schemas.openxmlformats.org/package/2006/relationships"><Relationship Type="http://schemas.openxmlformats.org/officeDocument/2006/relationships/theme" Target="/ppt/notesMasters/theme/theme3.xml" Id="R6bb55a5a5aeb43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5094f356544a3b" /><Relationship Type="http://schemas.openxmlformats.org/officeDocument/2006/relationships/notesMaster" Target="/ppt/notesMasters/notesMaster1.xml" Id="Ra67126e34ff842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dc2b71876041e4" /><Relationship Type="http://schemas.openxmlformats.org/officeDocument/2006/relationships/notesMaster" Target="/ppt/notesMasters/notesMaster1.xml" Id="R868b620d2f054a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e4bb3c57e44abb" /><Relationship Type="http://schemas.openxmlformats.org/officeDocument/2006/relationships/notesMaster" Target="/ppt/notesMasters/notesMaster1.xml" Id="Rc7bab17ba49b48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486bf4aea84074" /><Relationship Type="http://schemas.openxmlformats.org/officeDocument/2006/relationships/notesMaster" Target="/ppt/notesMasters/notesMaster1.xml" Id="R31ab1fa218ee44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db987fd9f64478" /><Relationship Type="http://schemas.openxmlformats.org/officeDocument/2006/relationships/notesMaster" Target="/ppt/notesMasters/notesMaster1.xml" Id="R02b380f7bc8346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31797817be453a" /><Relationship Type="http://schemas.openxmlformats.org/officeDocument/2006/relationships/notesMaster" Target="/ppt/notesMasters/notesMaster1.xml" Id="Rbb53ebe4097549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1efbea040e41c4" /><Relationship Type="http://schemas.openxmlformats.org/officeDocument/2006/relationships/notesMaster" Target="/ppt/notesMasters/notesMaster1.xml" Id="Re87a28d1a28140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afdd63b07a4526" /><Relationship Type="http://schemas.openxmlformats.org/officeDocument/2006/relationships/notesMaster" Target="/ppt/notesMasters/notesMaster1.xml" Id="Raa5facabdb9c4b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cecd5e47524bcd" /><Relationship Type="http://schemas.openxmlformats.org/officeDocument/2006/relationships/notesMaster" Target="/ppt/notesMasters/notesMaster1.xml" Id="R26e0940a231e4d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c48060af344722" /><Relationship Type="http://schemas.openxmlformats.org/officeDocument/2006/relationships/notesMaster" Target="/ppt/notesMasters/notesMaster1.xml" Id="Rf68e626fe0f44c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b820fd36f3b4923" /><Relationship Type="http://schemas.openxmlformats.org/officeDocument/2006/relationships/notesMaster" Target="/ppt/notesMasters/notesMaster1.xml" Id="R29612de453ea495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70e2e704ee4392" /><Relationship Type="http://schemas.openxmlformats.org/officeDocument/2006/relationships/notesMaster" Target="/ppt/notesMasters/notesMaster1.xml" Id="Rde08a500fd0d4a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d10848c4654d68" /><Relationship Type="http://schemas.openxmlformats.org/officeDocument/2006/relationships/notesMaster" Target="/ppt/notesMasters/notesMaster1.xml" Id="R6ee268fbcb484e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7c0b1c8f9f94f24" /><Relationship Type="http://schemas.openxmlformats.org/officeDocument/2006/relationships/notesMaster" Target="/ppt/notesMasters/notesMaster1.xml" Id="R7fe9ae9517594d7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da7bed098247eb" /><Relationship Type="http://schemas.openxmlformats.org/officeDocument/2006/relationships/notesMaster" Target="/ppt/notesMasters/notesMaster1.xml" Id="R39c9fa73fef4455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cd457a77ec54523" /><Relationship Type="http://schemas.openxmlformats.org/officeDocument/2006/relationships/notesMaster" Target="/ppt/notesMasters/notesMaster1.xml" Id="R7a25869adb8347d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b28fa8e6b04da6" /><Relationship Type="http://schemas.openxmlformats.org/officeDocument/2006/relationships/notesMaster" Target="/ppt/notesMasters/notesMaster1.xml" Id="Rcf24f3668ff5446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b10b4965bfc4813" /><Relationship Type="http://schemas.openxmlformats.org/officeDocument/2006/relationships/notesMaster" Target="/ppt/notesMasters/notesMaster1.xml" Id="Re66563962bbd42a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5bcc8fa187149f6" /><Relationship Type="http://schemas.openxmlformats.org/officeDocument/2006/relationships/notesMaster" Target="/ppt/notesMasters/notesMaster1.xml" Id="R2152fdf5f9e7463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ccc8ac424d94111" /><Relationship Type="http://schemas.openxmlformats.org/officeDocument/2006/relationships/notesMaster" Target="/ppt/notesMasters/notesMaster1.xml" Id="Rde24aa998f5248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37deaa16b9940c0" /><Relationship Type="http://schemas.openxmlformats.org/officeDocument/2006/relationships/notesMaster" Target="/ppt/notesMasters/notesMaster1.xml" Id="R630de890f5a64da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8ab73c3e53e4267" /><Relationship Type="http://schemas.openxmlformats.org/officeDocument/2006/relationships/notesMaster" Target="/ppt/notesMasters/notesMaster1.xml" Id="R3ef7f528a4774ce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d0a8fb8a9ae431a" /><Relationship Type="http://schemas.openxmlformats.org/officeDocument/2006/relationships/notesMaster" Target="/ppt/notesMasters/notesMaster1.xml" Id="R4ac7abd99374442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84ec05d7fc34ffb" /><Relationship Type="http://schemas.openxmlformats.org/officeDocument/2006/relationships/notesMaster" Target="/ppt/notesMasters/notesMaster1.xml" Id="Racabf370dd2f4ec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9aa4a4047fa4240" /><Relationship Type="http://schemas.openxmlformats.org/officeDocument/2006/relationships/notesMaster" Target="/ppt/notesMasters/notesMaster1.xml" Id="R25362570d7be447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cac38110f574fd1" /><Relationship Type="http://schemas.openxmlformats.org/officeDocument/2006/relationships/notesMaster" Target="/ppt/notesMasters/notesMaster1.xml" Id="Ra6f53cdbd88a474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06d5caabf824273" /><Relationship Type="http://schemas.openxmlformats.org/officeDocument/2006/relationships/notesMaster" Target="/ppt/notesMasters/notesMaster1.xml" Id="R481998cd07ed42a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b11a83af2824c22" /><Relationship Type="http://schemas.openxmlformats.org/officeDocument/2006/relationships/notesMaster" Target="/ppt/notesMasters/notesMaster1.xml" Id="Rd78a557ecc124d2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db887fbd2dd4ca0" /><Relationship Type="http://schemas.openxmlformats.org/officeDocument/2006/relationships/notesMaster" Target="/ppt/notesMasters/notesMaster1.xml" Id="R0b69359edf924b0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0669738972c4e37" /><Relationship Type="http://schemas.openxmlformats.org/officeDocument/2006/relationships/notesMaster" Target="/ppt/notesMasters/notesMaster1.xml" Id="Rd4c7b5f2114f444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df803b15db5453d" /><Relationship Type="http://schemas.openxmlformats.org/officeDocument/2006/relationships/notesMaster" Target="/ppt/notesMasters/notesMaster1.xml" Id="Rffeaa26aa58f449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6eaed741dec4afa" /><Relationship Type="http://schemas.openxmlformats.org/officeDocument/2006/relationships/notesMaster" Target="/ppt/notesMasters/notesMaster1.xml" Id="R3577666de17b4ff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c64905209d6485e" /><Relationship Type="http://schemas.openxmlformats.org/officeDocument/2006/relationships/notesMaster" Target="/ppt/notesMasters/notesMaster1.xml" Id="Rd92d176f47b7479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e2d6590db1d498a" /><Relationship Type="http://schemas.openxmlformats.org/officeDocument/2006/relationships/notesMaster" Target="/ppt/notesMasters/notesMaster1.xml" Id="R33f55bfe3af9494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fd45c141ed44ad6" /><Relationship Type="http://schemas.openxmlformats.org/officeDocument/2006/relationships/notesMaster" Target="/ppt/notesMasters/notesMaster1.xml" Id="Rbbda8bb2be4d483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8d4286789304481" /><Relationship Type="http://schemas.openxmlformats.org/officeDocument/2006/relationships/notesMaster" Target="/ppt/notesMasters/notesMaster1.xml" Id="R61566d0305d045b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19cefc895b34b38" /><Relationship Type="http://schemas.openxmlformats.org/officeDocument/2006/relationships/notesMaster" Target="/ppt/notesMasters/notesMaster1.xml" Id="R97eadb4d7df441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ns0:p xmlns:ns0="http://schemas.openxmlformats.org/drawingml/2006/main">
            <ns0:r>
              <ns0:t>Rujukan pembaruan konsep 18 Oktober 2026:</ns0:t>
            </ns0:r>
          </ns0:p>
          <ns1:p xmlns:ns1="http://schemas.openxmlformats.org/drawingml/2006/main">
            <ns1:r>
              <ns1:t>https://aws.amazon.com/compliance/shared-responsibility-model/</ns1:t>
            </ns1:r>
          </ns1:p>
          <ns2:p xmlns:ns2="http://schemas.openxmlformats.org/drawingml/2006/main">
            <ns2:r>
              <ns2:t>https://docs.aws.amazon.com/wellarchitected/latest/reliability-pillar/shared-responsibility-model-for-resiliency.html</ns2:t>
            </ns2:r>
          </ns2:p>
          <ns3:p xmlns:ns3="http://schemas.openxmlformats.org/drawingml/2006/main">
            <ns3:r>
              <ns3:t>https://docs.aws.amazon.com/AWSEC2/latest/UserGuide/instance-purchasing-options.html</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Sumber angka Q1 2026 (pendapatan $128.6 miliar, pertumbuhan 35%, dan pangsa AWS 28%, Microsoft 21%, Google 14%): Synergy Research Group, 29 April 2026, https://www.srgresearch.com/articles/cloud-market-annual-revenue-run-rate-topped-half-a-trillion-dollars-in-q1-as-growth-surge-continues . Slide ini menunjukkan periode Q1 2026. Rilis Q2 2026 yang lebih baru menyebut $143.4 miliar dan pangsa 28%, 20%, 15%: https://www.srgresearch.com/articles/q2-cloud-market-passes-143-billion-highest-growth-rate-in-eight-years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Batas durasi fungsi Vercel bergantung mode runtime dan konfigurasi, sehingga angka 10–15 detik tidak universal. Dokumentasi primer: https://vercel.com/docs/functions/limitations (diakses 8 Oktober 2026). Cold start Cloudflare juga bergantung lingkungan; hindari angka tetap.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Angka 89% adalah proporsi responden survei Flexera 2024 yang melaporkan strategi multi-cloud; bukan ukuran semua perusahaan pada 2025/2026. Sumber primer: https://www.flexera.com/about-us/press-center/flexera-2024-state-of-the-cloud-managing-spending-top-challenge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Sumber angka Q1 2026 (pendapatan $128.6 miliar, pertumbuhan 35%, dan pangsa AWS 28%, Microsoft 21%, Google 14%): Synergy Research Group, 29 April 2026, https://www.srgresearch.com/articles/cloud-market-annual-revenue-run-rate-topped-half-a-trillion-dollars-in-q1-as-growth-surge-continues . Slide ini menunjukkan periode Q1 2026. Rilis Q2 2026 yang lebih baru menyebut $143.4 miliar dan pangsa 28%, 20%, 15%: https://www.srgresearch.com/articles/q2-cloud-market-passes-143-billion-highest-growth-rate-in-eight-years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Sumber angka Q1 2026 (pendapatan $128.6 miliar, pertumbuhan 35%, dan pangsa AWS 28%, Microsoft 21%, Google 14%): Synergy Research Group, 29 April 2026, https://www.srgresearch.com/articles/cloud-market-annual-revenue-run-rate-topped-half-a-trillion-dollars-in-q1-as-growth-surge-continues . Slide ini menunjukkan periode Q1 2026. Rilis Q2 2026 yang lebih baru menyebut $143.4 miliar dan pangsa 28%, 20%, 15%: https://www.srgresearch.com/articles/q2-cloud-market-passes-143-billion-highest-growth-rate-in-eight-years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Kuota Vercel Hobby yang ditampilkan adalah gambaran pada 8 Oktober 2026; fitur dan batas dapat berubah. Cek https://vercel.com/docs/plans/hobby dan https://vercel.com/docs/functions/limitations sebelum digunakan. Hobby ditujukan untuk penggunaan pribadi nonkomersial.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Kuota pada tabel adalah contoh saat deck disusun; periksa halaman resmi sebelum membuat akun/deploy: Oracle https://docs.oracle.com/en-us/iaas/Content/FreeTier/freetier_topic-Always_Free_Resources.htm ; Google https://docs.cloud.google.com/free/docs/free-cloud-features ; Vercel https://vercel.com/docs/plans/hobby ; Supabase https://supabase.com/docs/guides/platform/billing-on-supabase ; GitHub https://docs.github.com/en/billing/reference/codespaces-free-usage .</a:t>
            </a:r>
          </a:p>
          <ns0:p xmlns:ns0="http://schemas.openxmlformats.org/drawingml/2006/main">
            <ns0:r>
              <ns0:t>Rujukan pembaruan konsep 18 Oktober 2026:</ns0:t>
            </ns0:r>
          </ns0:p>
          <ns1:p xmlns:ns1="http://schemas.openxmlformats.org/drawingml/2006/main">
            <ns1:r>
              <ns1:t>https://aws.amazon.com/compliance/shared-responsibility-model/</ns1:t>
            </ns1:r>
          </ns1:p>
          <ns2:p xmlns:ns2="http://schemas.openxmlformats.org/drawingml/2006/main">
            <ns2:r>
              <ns2:t>https://docs.aws.amazon.com/wellarchitected/latest/reliability-pillar/shared-responsibility-model-for-resiliency.html</ns2:t>
            </ns2:r>
          </ns2:p>
          <ns3:p xmlns:ns3="http://schemas.openxmlformats.org/drawingml/2006/main">
            <ns3:r>
              <ns3:t>https://docs.aws.amazon.com/AWSEC2/latest/UserGuide/instance-purchasing-options.html</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COMP6991031- Cloud Services - R0.0-BDS1.pdf, tabel assessment dan sesi 1.</a:t>
            </a:r>
          </a:p>
          <a:p xmlns:a="http://schemas.openxmlformats.org/drawingml/2006/main">
            <a:r>
              <a:t>
Bobot resmi RPS: UTS teori 20%, UAS teori 30%, satu proyek kelompok pada lab 50%. Sesuai penjelasan dosen, satu tim berisi tiga mahasiswa; presentasi kemajuan pada minggu 7 dan hasil akhir pada minggu 14. Setiap lab adalah latihan/milestone proyek, tanpa nilai tugas terpisah.</a:t>
            </a:r>
          </a:p>
          <a:p xmlns:a="http://schemas.openxmlformats.org/drawingml/2006/main">
            <a:r>
              <a:t>
Lab resmi: https://github.com/SeedFlora/meet1CloudService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Buka dengan contoh kerja tim kecil yang mengirim aplikasi baru. Peta tanggung jawab pada screenshot berasal dari aplikasi Lab 01, bukan diagram biaya. Tekankan pilihan model layanan didasari kebutuhan kontrol, operasi, data, dan kecepatan. Sumber video dan artikel: AWS; definisi formal: NIST. Artikel dibuka 8 Oktober 2026.</a:t>
            </a:r>
          </a:p>
          <a:p xmlns:a="http://schemas.openxmlformats.org/drawingml/2006/main">
            <a:r>
              <a:t>Screenshot: D:\cloud services\Cloud_Services_All_Labs_Siap_Push\labs\01\screenshots\lab01_model_saas.png</a:t>
            </a:r>
          </a:p>
          <a:p xmlns:a="http://schemas.openxmlformats.org/drawingml/2006/main">
            <a:r>
              <a:t>Repo: https://github.com/SeedFlora/meet1CloudService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Buka dengan contoh kerja tim kecil yang mengirim aplikasi baru. Peta tanggung jawab pada screenshot berasal dari aplikasi Lab 01, bukan diagram biaya. Tekankan pilihan model layanan didasari kebutuhan kontrol, operasi, data, dan kecepatan. Sumber video dan artikel: AWS; definisi formal: NIST. Artikel dibuka 8 Oktober 2026.</a:t>
            </a:r>
          </a:p>
          <a:p xmlns:a="http://schemas.openxmlformats.org/drawingml/2006/main">
            <a:r>
              <a:t>Video: https://aws.amazon.com/video/watch/a0ba5807566/</a:t>
            </a:r>
          </a:p>
          <a:p xmlns:a="http://schemas.openxmlformats.org/drawingml/2006/main">
            <a:r>
              <a:t>Artikel: https://aws.amazon.com/what-is-cloud-computing/</a:t>
            </a:r>
          </a:p>
          <a:p xmlns:a="http://schemas.openxmlformats.org/drawingml/2006/main">
            <a:r>
              <a:t>Rujukan tambahan: https://csrc.nist.gov/pubs/sp/800/145/final</a:t>
            </a:r>
          </a:p>
          <a:p xmlns:a="http://schemas.openxmlformats.org/drawingml/2006/main">
            <a:r>
              <a:t>Rilis terkini: https://www.srgresearch.com/articles/q2-cloud-market-passes-143-billion-highest-growth-rate-in-eight-years</a:t>
            </a:r>
          </a:p>
          <a:p xmlns:a="http://schemas.openxmlformats.org/drawingml/2006/main">
            <a:r>
              <a:t>Repo lab: https://github.com/SeedFlora/meet1CloudService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5016569f3a46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1eebd8e38c4e6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type="blank" preserve="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dfe8fed41e4a40" /><Relationship Type="http://schemas.openxmlformats.org/officeDocument/2006/relationships/slideLayout" Target="/ppt/slideLayouts/slideLayout1.xml" Id="R873ce3f466c14879" /><Relationship Type="http://schemas.openxmlformats.org/officeDocument/2006/relationships/slideLayout" Target="/ppt/slideLayouts/slideLayout2.xml" Id="R3aa9323a0a7b402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3ce3f466c14879"/>
    <p:sldLayoutId xmlns:r="http://schemas.openxmlformats.org/officeDocument/2006/relationships" id="2147483650" r:id="R3aa9323a0a7b402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6de422653a4bb8" /><Relationship Type="http://schemas.openxmlformats.org/officeDocument/2006/relationships/image" Target="/ppt/media/image.jpeg" Id="R4acec5168de84a96" /><Relationship Type="http://schemas.openxmlformats.org/officeDocument/2006/relationships/image" Target="/ppt/media/image.png" Id="R41e9f4f9f0154ba4" /><Relationship Type="http://schemas.openxmlformats.org/officeDocument/2006/relationships/image" Target="/ppt/media/image2.png" Id="R36d00be35c034328" /><Relationship Type="http://schemas.openxmlformats.org/officeDocument/2006/relationships/notesSlide" Target="/ppt/notesSlides/notesSlide1.xml" Id="R4f8b26eb97074b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06ffd87953d4884" /><Relationship Type="http://schemas.openxmlformats.org/officeDocument/2006/relationships/image" Target="/ppt/media/image.png" Id="Rc4e738c4cc404ff9" /><Relationship Type="http://schemas.openxmlformats.org/officeDocument/2006/relationships/image" Target="/ppt/media/image2.png" Id="R907ed78bd4064664" /><Relationship Type="http://schemas.openxmlformats.org/officeDocument/2006/relationships/notesSlide" Target="/ppt/notesSlides/notesSlide2.xml" Id="R60216782a4b645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11f85f93634714" /><Relationship Type="http://schemas.openxmlformats.org/officeDocument/2006/relationships/image" Target="/ppt/media/image.png" Id="Rd4ca5ef5f1ff4dcc" /><Relationship Type="http://schemas.openxmlformats.org/officeDocument/2006/relationships/image" Target="/ppt/media/image2.png" Id="R6640147091634dfe" /><Relationship Type="http://schemas.openxmlformats.org/officeDocument/2006/relationships/notesSlide" Target="/ppt/notesSlides/notesSlide3.xml" Id="R809f66c8fde741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f096e1f2fe747b7" /><Relationship Type="http://schemas.openxmlformats.org/officeDocument/2006/relationships/image" Target="/ppt/media/image.png" Id="R49a38c59717b480d" /><Relationship Type="http://schemas.openxmlformats.org/officeDocument/2006/relationships/image" Target="/ppt/media/image2.png" Id="Rc8a1cbcb5a62420f" /><Relationship Type="http://schemas.openxmlformats.org/officeDocument/2006/relationships/image" Target="/ppt/media/image3.png" Id="Rf3a91574a6094803" /><Relationship Type="http://schemas.openxmlformats.org/officeDocument/2006/relationships/image" Target="/ppt/media/image4.png" Id="R158c41fd2391455d" /><Relationship Type="http://schemas.openxmlformats.org/officeDocument/2006/relationships/image" Target="/ppt/media/image5.png" Id="R4e6112bf94414fc0" /><Relationship Type="http://schemas.openxmlformats.org/officeDocument/2006/relationships/image" Target="/ppt/media/image6.png" Id="Rf5a297aa3479407e" /><Relationship Type="http://schemas.openxmlformats.org/officeDocument/2006/relationships/notesSlide" Target="/ppt/notesSlides/notesSlide4.xml" Id="R07a06aded55144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e3849c0591447c" /><Relationship Type="http://schemas.openxmlformats.org/officeDocument/2006/relationships/image" Target="/ppt/media/image.png" Id="Rfef57cc075e84035" /><Relationship Type="http://schemas.openxmlformats.org/officeDocument/2006/relationships/image" Target="/ppt/media/image2.png" Id="R5b14d9cd81f34eff" /><Relationship Type="http://schemas.openxmlformats.org/officeDocument/2006/relationships/notesSlide" Target="/ppt/notesSlides/notesSlide5.xml" Id="R28a95da43e424a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d8f03ab92c74e49" /><Relationship Type="http://schemas.openxmlformats.org/officeDocument/2006/relationships/image" Target="/ppt/media/image.png" Id="Rdcc6970c29c543b1" /><Relationship Type="http://schemas.openxmlformats.org/officeDocument/2006/relationships/image" Target="/ppt/media/image2.png" Id="R113de2298fc741fa" /><Relationship Type="http://schemas.openxmlformats.org/officeDocument/2006/relationships/image" Target="/ppt/media/image7.png" Id="Rb651cbd4f8874b7c" /><Relationship Type="http://schemas.openxmlformats.org/officeDocument/2006/relationships/notesSlide" Target="/ppt/notesSlides/notesSlide6.xml" Id="R078f4531a0734d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692eb5ab95444a" /><Relationship Type="http://schemas.openxmlformats.org/officeDocument/2006/relationships/image" Target="/ppt/media/image.png" Id="Rcddcfc46bd0842d8" /><Relationship Type="http://schemas.openxmlformats.org/officeDocument/2006/relationships/image" Target="/ppt/media/image2.png" Id="R957dbe16f550401e" /><Relationship Type="http://schemas.openxmlformats.org/officeDocument/2006/relationships/image" Target="/ppt/media/image8.png" Id="Rcc93369cb8dd455d" /><Relationship Type="http://schemas.openxmlformats.org/officeDocument/2006/relationships/image" Target="/ppt/media/image9.png" Id="R017a157af2a14110" /><Relationship Type="http://schemas.openxmlformats.org/officeDocument/2006/relationships/image" Target="/ppt/media/image4.png" Id="R604feab58a7a40a8" /><Relationship Type="http://schemas.openxmlformats.org/officeDocument/2006/relationships/image" Target="/ppt/media/image10.png" Id="R95f7088de80848b0" /><Relationship Type="http://schemas.openxmlformats.org/officeDocument/2006/relationships/image" Target="/ppt/media/image11.png" Id="R078bf9b32a2c4238" /><Relationship Type="http://schemas.openxmlformats.org/officeDocument/2006/relationships/notesSlide" Target="/ppt/notesSlides/notesSlide7.xml" Id="R247bb7477e6b4e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7396de2e9745c2" /><Relationship Type="http://schemas.openxmlformats.org/officeDocument/2006/relationships/image" Target="/ppt/media/image.png" Id="R4ee0bae627d74ab5" /><Relationship Type="http://schemas.openxmlformats.org/officeDocument/2006/relationships/image" Target="/ppt/media/image2.png" Id="R8cc7c6ef4ae449f1" /><Relationship Type="http://schemas.openxmlformats.org/officeDocument/2006/relationships/notesSlide" Target="/ppt/notesSlides/notesSlide8.xml" Id="Rc4a8afe3eaf14b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c5d927fa80a48fb" /><Relationship Type="http://schemas.openxmlformats.org/officeDocument/2006/relationships/image" Target="/ppt/media/image.png" Id="R952f047e81874f99" /><Relationship Type="http://schemas.openxmlformats.org/officeDocument/2006/relationships/image" Target="/ppt/media/image2.png" Id="Rcc3e2226ac02406e" /><Relationship Type="http://schemas.openxmlformats.org/officeDocument/2006/relationships/image" Target="/ppt/media/image12.png" Id="R31c9c8ac4fd44b11" /><Relationship Type="http://schemas.openxmlformats.org/officeDocument/2006/relationships/image" Target="/ppt/media/image13.png" Id="Rea14d93bb246421b" /><Relationship Type="http://schemas.openxmlformats.org/officeDocument/2006/relationships/notesSlide" Target="/ppt/notesSlides/notesSlide9.xml" Id="R6544e327fa3548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828926f82124f4e" /><Relationship Type="http://schemas.openxmlformats.org/officeDocument/2006/relationships/image" Target="/ppt/media/image.png" Id="R0a227ee7e130486c" /><Relationship Type="http://schemas.openxmlformats.org/officeDocument/2006/relationships/image" Target="/ppt/media/image2.png" Id="R07792e656fc1411e" /><Relationship Type="http://schemas.openxmlformats.org/officeDocument/2006/relationships/image" Target="/ppt/media/image14.png" Id="R309c9605d94640a6" /><Relationship Type="http://schemas.openxmlformats.org/officeDocument/2006/relationships/image" Target="/ppt/media/image15.png" Id="Rb9b73712d075432c" /><Relationship Type="http://schemas.openxmlformats.org/officeDocument/2006/relationships/image" Target="/ppt/media/image6.png" Id="R620730a23d2a4977" /><Relationship Type="http://schemas.openxmlformats.org/officeDocument/2006/relationships/image" Target="/ppt/media/image16.png" Id="R56f8fb07939740a9" /><Relationship Type="http://schemas.openxmlformats.org/officeDocument/2006/relationships/notesSlide" Target="/ppt/notesSlides/notesSlide10.xml" Id="Ref569805a75748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09bbd9cde64997" /><Relationship Type="http://schemas.openxmlformats.org/officeDocument/2006/relationships/image" Target="/ppt/media/image.png" Id="Ra2aaec57e8aa4e84" /><Relationship Type="http://schemas.openxmlformats.org/officeDocument/2006/relationships/image" Target="/ppt/media/image2.png" Id="R364ac2d91d6f4baf" /><Relationship Type="http://schemas.openxmlformats.org/officeDocument/2006/relationships/notesSlide" Target="/ppt/notesSlides/notesSlide11.xml" Id="Rd801dd3ae58943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b7a1c4767f74e5a" /><Relationship Type="http://schemas.openxmlformats.org/officeDocument/2006/relationships/image" Target="/ppt/media/image.png" Id="Rc409c72f7f604239" /><Relationship Type="http://schemas.openxmlformats.org/officeDocument/2006/relationships/image" Target="/ppt/media/image2.png" Id="R7354584efc2845cb" /><Relationship Type="http://schemas.openxmlformats.org/officeDocument/2006/relationships/notesSlide" Target="/ppt/notesSlides/notesSlide12.xml" Id="Rf1f561693bfc4e0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9be94ee70d4f3e" /><Relationship Type="http://schemas.openxmlformats.org/officeDocument/2006/relationships/image" Target="/ppt/media/image.png" Id="R8e0ecdc809a04822" /><Relationship Type="http://schemas.openxmlformats.org/officeDocument/2006/relationships/image" Target="/ppt/media/image2.png" Id="R8710cb497d394f38" /><Relationship Type="http://schemas.openxmlformats.org/officeDocument/2006/relationships/image" Target="/ppt/media/image17.png" Id="R5c994ee2211842bf" /><Relationship Type="http://schemas.openxmlformats.org/officeDocument/2006/relationships/image" Target="/ppt/media/image18.png" Id="Rc8da684b30ce4d87" /><Relationship Type="http://schemas.openxmlformats.org/officeDocument/2006/relationships/image" Target="/ppt/media/image19.png" Id="R888f02b0a3974408" /><Relationship Type="http://schemas.openxmlformats.org/officeDocument/2006/relationships/image" Target="/ppt/media/image20.png" Id="R7151ccbb26364c24" /><Relationship Type="http://schemas.openxmlformats.org/officeDocument/2006/relationships/notesSlide" Target="/ppt/notesSlides/notesSlide13.xml" Id="Raae457d521934ba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2d6983d711844ee" /><Relationship Type="http://schemas.openxmlformats.org/officeDocument/2006/relationships/image" Target="/ppt/media/image.png" Id="R28d8d9430c1642b6" /><Relationship Type="http://schemas.openxmlformats.org/officeDocument/2006/relationships/image" Target="/ppt/media/image2.png" Id="Red5e18b8820a490e" /><Relationship Type="http://schemas.openxmlformats.org/officeDocument/2006/relationships/image" Target="/ppt/media/image21.png" Id="Rd58c4c1876cd4720" /><Relationship Type="http://schemas.openxmlformats.org/officeDocument/2006/relationships/notesSlide" Target="/ppt/notesSlides/notesSlide14.xml" Id="R2de6f460abbc489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331c8e715534e01" /><Relationship Type="http://schemas.openxmlformats.org/officeDocument/2006/relationships/image" Target="/ppt/media/image.png" Id="Rc0565a0dfb5241cc" /><Relationship Type="http://schemas.openxmlformats.org/officeDocument/2006/relationships/image" Target="/ppt/media/image2.png" Id="Ra5c92c8fc55e4cea" /><Relationship Type="http://schemas.openxmlformats.org/officeDocument/2006/relationships/image" Target="/ppt/media/image5.png" Id="R602d1d8d95114bd6" /><Relationship Type="http://schemas.openxmlformats.org/officeDocument/2006/relationships/notesSlide" Target="/ppt/notesSlides/notesSlide15.xml" Id="Re90d479b881d4ac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ad8bb02348a4eed" /><Relationship Type="http://schemas.openxmlformats.org/officeDocument/2006/relationships/image" Target="/ppt/media/image.png" Id="R2fa011bd752445ec" /><Relationship Type="http://schemas.openxmlformats.org/officeDocument/2006/relationships/image" Target="/ppt/media/image2.png" Id="Rccd96419d8ce4266" /><Relationship Type="http://schemas.openxmlformats.org/officeDocument/2006/relationships/image" Target="/ppt/media/image22.png" Id="R766a4599809d413b" /><Relationship Type="http://schemas.openxmlformats.org/officeDocument/2006/relationships/image" Target="/ppt/media/image23.png" Id="Ree55bf67845c46df" /><Relationship Type="http://schemas.openxmlformats.org/officeDocument/2006/relationships/notesSlide" Target="/ppt/notesSlides/notesSlide16.xml" Id="R9fb91e10e8c446c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b81c7b8cd914023" /><Relationship Type="http://schemas.openxmlformats.org/officeDocument/2006/relationships/image" Target="/ppt/media/image.png" Id="Re98d4838856b4f10" /><Relationship Type="http://schemas.openxmlformats.org/officeDocument/2006/relationships/image" Target="/ppt/media/image2.png" Id="R0bb8a54693194073" /><Relationship Type="http://schemas.openxmlformats.org/officeDocument/2006/relationships/image" Target="/ppt/media/image24.png" Id="Rd2fd8582a19e49fe" /><Relationship Type="http://schemas.openxmlformats.org/officeDocument/2006/relationships/image" Target="/ppt/media/image25.png" Id="R072082d42109494b" /><Relationship Type="http://schemas.openxmlformats.org/officeDocument/2006/relationships/notesSlide" Target="/ppt/notesSlides/notesSlide17.xml" Id="Re659885ffc844cd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029311b6e98466c" /><Relationship Type="http://schemas.openxmlformats.org/officeDocument/2006/relationships/image" Target="/ppt/media/image.png" Id="R70976b9fe3df4a08" /><Relationship Type="http://schemas.openxmlformats.org/officeDocument/2006/relationships/image" Target="/ppt/media/image2.png" Id="R35c4ced893e34aa8" /><Relationship Type="http://schemas.openxmlformats.org/officeDocument/2006/relationships/image" Target="/ppt/media/image26.png" Id="R007a0141b4374186" /><Relationship Type="http://schemas.openxmlformats.org/officeDocument/2006/relationships/notesSlide" Target="/ppt/notesSlides/notesSlide18.xml" Id="R4ea6964d06cd4b3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64560942141480b" /><Relationship Type="http://schemas.openxmlformats.org/officeDocument/2006/relationships/image" Target="/ppt/media/image.png" Id="R671899bf6fe540f3" /><Relationship Type="http://schemas.openxmlformats.org/officeDocument/2006/relationships/image" Target="/ppt/media/image2.png" Id="Rfab04522e299421a" /><Relationship Type="http://schemas.openxmlformats.org/officeDocument/2006/relationships/image" Target="/ppt/media/image27.png" Id="R2107bbb6e2954b7f" /><Relationship Type="http://schemas.openxmlformats.org/officeDocument/2006/relationships/notesSlide" Target="/ppt/notesSlides/notesSlide19.xml" Id="Ra3151a83d69342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f0a174be1af4e70" /><Relationship Type="http://schemas.openxmlformats.org/officeDocument/2006/relationships/image" Target="/ppt/media/image.png" Id="Rc76b738b5b044798" /><Relationship Type="http://schemas.openxmlformats.org/officeDocument/2006/relationships/image" Target="/ppt/media/image2.png" Id="R1fba8eeb26ab4987" /><Relationship Type="http://schemas.openxmlformats.org/officeDocument/2006/relationships/notesSlide" Target="/ppt/notesSlides/notesSlide20.xml" Id="R1989704c131e415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0242a6bfad84fe3" /><Relationship Type="http://schemas.openxmlformats.org/officeDocument/2006/relationships/image" Target="/ppt/media/image.png" Id="R8056e8b68ff2442c" /><Relationship Type="http://schemas.openxmlformats.org/officeDocument/2006/relationships/image" Target="/ppt/media/image2.png" Id="R98a37030c8a04cf9" /><Relationship Type="http://schemas.openxmlformats.org/officeDocument/2006/relationships/image" Target="/ppt/media/image5.png" Id="R18b8596dd1ba4da2" /><Relationship Type="http://schemas.openxmlformats.org/officeDocument/2006/relationships/image" Target="/ppt/media/image28.png" Id="R4790e41ec4074603" /><Relationship Type="http://schemas.openxmlformats.org/officeDocument/2006/relationships/image" Target="/ppt/media/image29.png" Id="R787e7b8e59584289" /><Relationship Type="http://schemas.openxmlformats.org/officeDocument/2006/relationships/notesSlide" Target="/ppt/notesSlides/notesSlide21.xml" Id="R59f576ceea88458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38a8d46935a4247" /><Relationship Type="http://schemas.openxmlformats.org/officeDocument/2006/relationships/image" Target="/ppt/media/image.png" Id="R6040b639b9354372" /><Relationship Type="http://schemas.openxmlformats.org/officeDocument/2006/relationships/image" Target="/ppt/media/image2.png" Id="R1e50ca2eb5b84a34" /><Relationship Type="http://schemas.openxmlformats.org/officeDocument/2006/relationships/image" Target="/ppt/media/image28.png" Id="R0b9404d3b63d45ec" /><Relationship Type="http://schemas.openxmlformats.org/officeDocument/2006/relationships/image" Target="/ppt/media/image30.png" Id="R704334d148f34e6d" /><Relationship Type="http://schemas.openxmlformats.org/officeDocument/2006/relationships/image" Target="/ppt/media/image6.png" Id="R1066277536794bbb" /><Relationship Type="http://schemas.openxmlformats.org/officeDocument/2006/relationships/image" Target="/ppt/media/image31.png" Id="R4cccbba1840c400d" /><Relationship Type="http://schemas.openxmlformats.org/officeDocument/2006/relationships/notesSlide" Target="/ppt/notesSlides/notesSlide22.xml" Id="Rd2768e97f0584a8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6905333b751486b" /><Relationship Type="http://schemas.openxmlformats.org/officeDocument/2006/relationships/image" Target="/ppt/media/image.png" Id="R2b9fe56a79574c7e" /><Relationship Type="http://schemas.openxmlformats.org/officeDocument/2006/relationships/image" Target="/ppt/media/image2.png" Id="R07dd106d108947b7" /><Relationship Type="http://schemas.openxmlformats.org/officeDocument/2006/relationships/notesSlide" Target="/ppt/notesSlides/notesSlide23.xml" Id="R2e2f9b66de6d4688" /></Relationships>
</file>

<file path=ppt/slides/_rels/slide24.xml.rels><?xml version='1.0' encoding='utf-8'?>
<Relationships xmlns="http://schemas.openxmlformats.org/package/2006/relationships"><Relationship Type="http://schemas.openxmlformats.org/officeDocument/2006/relationships/slideLayout" Target="/ppt/slideLayouts/slideLayout1.xml" Id="R6b47fb981a0e4c74" /><Relationship Type="http://schemas.openxmlformats.org/officeDocument/2006/relationships/image" Target="/ppt/media/image.png" Id="Ra6f2cdb505f642a3" /><Relationship Type="http://schemas.openxmlformats.org/officeDocument/2006/relationships/image" Target="/ppt/media/image2.png" Id="R92ba7a149b944a0f" /><Relationship Type="http://schemas.openxmlformats.org/officeDocument/2006/relationships/chart" Target="../charts/chart1.xml" Id="Rad5c36e34a144d91" /><Relationship Type="http://schemas.openxmlformats.org/officeDocument/2006/relationships/notesSlide" Target="/ppt/notesSlides/notesSlide24.xml" Id="R778204da40ee4127" /></Relationships>
</file>

<file path=ppt/slides/_rels/slide25.xml.rels><?xml version='1.0' encoding='utf-8'?>
<Relationships xmlns="http://schemas.openxmlformats.org/package/2006/relationships"><Relationship Type="http://schemas.openxmlformats.org/officeDocument/2006/relationships/slideLayout" Target="/ppt/slideLayouts/slideLayout1.xml" Id="Rdda446d84a554a21" /><Relationship Type="http://schemas.openxmlformats.org/officeDocument/2006/relationships/image" Target="/ppt/media/image.png" Id="R6abc8fd52de540e9" /><Relationship Type="http://schemas.openxmlformats.org/officeDocument/2006/relationships/image" Target="/ppt/media/image2.png" Id="R90da84fe8ae44d04" /><Relationship Type="http://schemas.openxmlformats.org/officeDocument/2006/relationships/chart" Target="../charts/chart2.xml" Id="R42319e01fa1244be" /><Relationship Type="http://schemas.openxmlformats.org/officeDocument/2006/relationships/image" Target="/ppt/media/image18.png" Id="R6b8dad28a2d74702" /><Relationship Type="http://schemas.openxmlformats.org/officeDocument/2006/relationships/image" Target="/ppt/media/image32.png" Id="R2c1cbc02d52743c8" /><Relationship Type="http://schemas.openxmlformats.org/officeDocument/2006/relationships/image" Target="/ppt/media/image19.png" Id="R5bb6d904e1fd41d2" /><Relationship Type="http://schemas.openxmlformats.org/officeDocument/2006/relationships/notesSlide" Target="/ppt/notesSlides/notesSlide25.xml" Id="R866f288ea38c4da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090d5c53a054437" /><Relationship Type="http://schemas.openxmlformats.org/officeDocument/2006/relationships/image" Target="/ppt/media/image.png" Id="R99dc571501044e31" /><Relationship Type="http://schemas.openxmlformats.org/officeDocument/2006/relationships/image" Target="/ppt/media/image2.png" Id="R5218ba91c52e4202" /><Relationship Type="http://schemas.openxmlformats.org/officeDocument/2006/relationships/notesSlide" Target="/ppt/notesSlides/notesSlide26.xml" Id="R2d418098a322492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4bd9d8cd7cd4b1f" /><Relationship Type="http://schemas.openxmlformats.org/officeDocument/2006/relationships/image" Target="/ppt/media/image.png" Id="R61994e8cc10443d2" /><Relationship Type="http://schemas.openxmlformats.org/officeDocument/2006/relationships/image" Target="/ppt/media/image2.png" Id="R8d4c6c4176944352" /><Relationship Type="http://schemas.openxmlformats.org/officeDocument/2006/relationships/image" Target="/ppt/media/image6.png" Id="R8f96304bddb74ac1" /><Relationship Type="http://schemas.openxmlformats.org/officeDocument/2006/relationships/image" Target="/ppt/media/image14.png" Id="R679bda8923854dc4" /><Relationship Type="http://schemas.openxmlformats.org/officeDocument/2006/relationships/image" Target="/ppt/media/image16.png" Id="R3fc7858dea6d44c4" /><Relationship Type="http://schemas.openxmlformats.org/officeDocument/2006/relationships/image" Target="/ppt/media/image31.png" Id="Ra43e017c57c342ea" /><Relationship Type="http://schemas.openxmlformats.org/officeDocument/2006/relationships/notesSlide" Target="/ppt/notesSlides/notesSlide27.xml" Id="R1e181c0e172348d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a3fb3946640438e" /><Relationship Type="http://schemas.openxmlformats.org/officeDocument/2006/relationships/image" Target="/ppt/media/image.png" Id="Rd6970a3454254da7" /><Relationship Type="http://schemas.openxmlformats.org/officeDocument/2006/relationships/image" Target="/ppt/media/image2.png" Id="R644d6a7c96c4476d" /><Relationship Type="http://schemas.openxmlformats.org/officeDocument/2006/relationships/image" Target="/ppt/media/image20.png" Id="R3c66350012944a6f" /><Relationship Type="http://schemas.openxmlformats.org/officeDocument/2006/relationships/image" Target="/ppt/media/image33.png" Id="Re78904d674254466" /><Relationship Type="http://schemas.openxmlformats.org/officeDocument/2006/relationships/notesSlide" Target="/ppt/notesSlides/notesSlide28.xml" Id="R453d3511c6234b3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4344571190a474d" /><Relationship Type="http://schemas.openxmlformats.org/officeDocument/2006/relationships/image" Target="/ppt/media/image.png" Id="R4b9334ac1a0d4415" /><Relationship Type="http://schemas.openxmlformats.org/officeDocument/2006/relationships/image" Target="/ppt/media/image2.png" Id="R0587d8e2fbc0484b" /><Relationship Type="http://schemas.openxmlformats.org/officeDocument/2006/relationships/image" Target="/ppt/media/image19.png" Id="R5e192648aec94655" /><Relationship Type="http://schemas.openxmlformats.org/officeDocument/2006/relationships/image" Target="/ppt/media/image27.png" Id="R386045da56ac493c" /><Relationship Type="http://schemas.openxmlformats.org/officeDocument/2006/relationships/notesSlide" Target="/ppt/notesSlides/notesSlide29.xml" Id="R6a57dcc3f9154af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137c1385ecc4d9e" /><Relationship Type="http://schemas.openxmlformats.org/officeDocument/2006/relationships/image" Target="/ppt/media/image.png" Id="R613d20c7787841e1" /><Relationship Type="http://schemas.openxmlformats.org/officeDocument/2006/relationships/image" Target="/ppt/media/image2.png" Id="R881aba26f25d4db6" /><Relationship Type="http://schemas.openxmlformats.org/officeDocument/2006/relationships/image" Target="/ppt/media/image25.png" Id="Rd67339487a59443e" /><Relationship Type="http://schemas.openxmlformats.org/officeDocument/2006/relationships/notesSlide" Target="/ppt/notesSlides/notesSlide30.xml" Id="R3df0ee6a4fdd4e5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3df60def0764da1" /><Relationship Type="http://schemas.openxmlformats.org/officeDocument/2006/relationships/image" Target="/ppt/media/image.png" Id="Rd1f9936329554e21" /><Relationship Type="http://schemas.openxmlformats.org/officeDocument/2006/relationships/image" Target="/ppt/media/image2.png" Id="R8763aeed6b8e440e" /><Relationship Type="http://schemas.openxmlformats.org/officeDocument/2006/relationships/image" Target="/ppt/media/image23.png" Id="Rb0aacaa879cd4673" /><Relationship Type="http://schemas.openxmlformats.org/officeDocument/2006/relationships/notesSlide" Target="/ppt/notesSlides/notesSlide31.xml" Id="Rc96bcbba2f6444d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72a4e0f528e4a71" /><Relationship Type="http://schemas.openxmlformats.org/officeDocument/2006/relationships/image" Target="/ppt/media/image.png" Id="Rc3f82e5fd3204e83" /><Relationship Type="http://schemas.openxmlformats.org/officeDocument/2006/relationships/image" Target="/ppt/media/image2.png" Id="R137d5cacf2aa432f" /><Relationship Type="http://schemas.openxmlformats.org/officeDocument/2006/relationships/image" Target="/ppt/media/image34.png" Id="Re0fd0a29ffdc42ad" /><Relationship Type="http://schemas.openxmlformats.org/officeDocument/2006/relationships/notesSlide" Target="/ppt/notesSlides/notesSlide32.xml" Id="Rdcada19b7c2f4a5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11a458197fa4bc8" /><Relationship Type="http://schemas.openxmlformats.org/officeDocument/2006/relationships/image" Target="/ppt/media/image.png" Id="R4816b434160d4e21" /><Relationship Type="http://schemas.openxmlformats.org/officeDocument/2006/relationships/image" Target="/ppt/media/image2.png" Id="R5904e3682ee34254" /><Relationship Type="http://schemas.openxmlformats.org/officeDocument/2006/relationships/notesSlide" Target="/ppt/notesSlides/notesSlide33.xml" Id="Rfdcd2edd5f4649d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0cc08a203f64153" /><Relationship Type="http://schemas.openxmlformats.org/officeDocument/2006/relationships/image" Target="/ppt/media/image.png" Id="R30df22cf53054151" /><Relationship Type="http://schemas.openxmlformats.org/officeDocument/2006/relationships/image" Target="/ppt/media/image2.png" Id="R64e22d2217d14555" /><Relationship Type="http://schemas.openxmlformats.org/officeDocument/2006/relationships/image" Target="/ppt/media/image35.png" Id="R6baf67c69ab24870" /><Relationship Type="http://schemas.openxmlformats.org/officeDocument/2006/relationships/image" Target="/ppt/media/image3.png" Id="Rf5da8353e4274801" /><Relationship Type="http://schemas.openxmlformats.org/officeDocument/2006/relationships/image" Target="/ppt/media/image36.png" Id="Rd1440003ac2c4894" /><Relationship Type="http://schemas.openxmlformats.org/officeDocument/2006/relationships/notesSlide" Target="/ppt/notesSlides/notesSlide34.xml" Id="Rb0c71322296842a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13b21ba7e3d04d13" /><Relationship Type="http://schemas.openxmlformats.org/officeDocument/2006/relationships/notesSlide" Target="/ppt/notesSlides/notesSlide35.xml" Id="R455af778bd1c4a2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865254f4ad5494e" /><Relationship Type="http://schemas.openxmlformats.org/officeDocument/2006/relationships/image" Target="/ppt/media/image37.png" Id="R8756ba0243d44276" /><Relationship Type="http://schemas.openxmlformats.org/officeDocument/2006/relationships/notesSlide" Target="/ppt/notesSlides/notesSlide36.xml" Id="R1138debafaa8490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83b8c62478a4ad1" /><Relationship Type="http://schemas.openxmlformats.org/officeDocument/2006/relationships/hyperlink" Target="https://aws.amazon.com/video/watch/a0ba5807566/" TargetMode="External" Id="R78fefa6f1eab45a3" /><Relationship Type="http://schemas.openxmlformats.org/officeDocument/2006/relationships/hyperlink" Target="https://aws.amazon.com/what-is-cloud-computing/" TargetMode="External" Id="Rfaf7eacbcf1041b3" /><Relationship Type="http://schemas.openxmlformats.org/officeDocument/2006/relationships/hyperlink" Target="https://csrc.nist.gov/pubs/sp/800/145/final" TargetMode="External" Id="R4230314ad4394dde" /><Relationship Type="http://schemas.openxmlformats.org/officeDocument/2006/relationships/hyperlink" Target="https://www.srgresearch.com/articles/q2-cloud-market-passes-143-billion-highest-growth-rate-in-eight-years" TargetMode="External" Id="R7b69c969940b4a3b" /><Relationship Type="http://schemas.openxmlformats.org/officeDocument/2006/relationships/hyperlink" Target="https://github.com/SeedFlora/meet1CloudService" TargetMode="External" Id="R328387c8f16b4b9e" /><Relationship Type="http://schemas.openxmlformats.org/officeDocument/2006/relationships/notesSlide" Target="/ppt/notesSlides/notesSlide37.xml" Id="R997358298055438b"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4acec5168de84a96">
            <a:lum/>
          </a:blip>
          <a:srcRect l="0" t="0" r="0" b="0"/>
          <a:stretch>
            <a:fillRect l="0" t="0" r="0" b="0"/>
          </a:stretch>
        </a:blipFill>
      </p:bgPr>
    </p:bg>
    <p:spTree>
      <p:nvGrpSpPr>
        <p:cNvPr id="1" name=""/>
        <p:cNvGrpSpPr/>
        <p:nvPr/>
      </p:nvGrpSpPr>
      <p:grpSpPr>
        <a:xfrm xmlns:a="http://schemas.openxmlformats.org/drawingml/2006/main"/>
      </p:grpSpPr>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41e9f4f9f0154ba4"/>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36d00be35c034328"/>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055B94C0-39C8-435D-BDD8-EEEA9C73A691}"/>
              </a:ext>
            </a:extLst>
          </p:cNvPr>
          <p:cNvSpPr>
            <a:spLocks xmlns:a="http://schemas.openxmlformats.org/drawingml/2006/main" noGrp="1"/>
          </p:cNvSpPr>
          <p:nvPr/>
        </p:nvSpPr>
        <p:spPr>
          <a:xfrm xmlns:a="http://schemas.openxmlformats.org/drawingml/2006/main">
            <a:off x="457200" y="2468880"/>
            <a:ext cx="11247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spc="400">
                <a:solidFill>
                  <a:srgbClr val="FFE0B2"/>
                </a:solidFill>
                <a:latin typeface="Calibri"/>
                <a:ea typeface="Calibri"/>
                <a:cs typeface="Calibri"/>
              </a:rPr>
              <a:t>COMP6991031   |   2 SKS</a:t>
            </a:r>
            <a:endParaRPr sz="1400"/>
          </a:p>
        </p:txBody>
      </p:sp>
      <p:sp>
        <p:nvSpPr>
          <p:cNvPr id="5" name="Text 1">
            <a:extLst xmlns:a="http://schemas.openxmlformats.org/drawingml/2006/main">
              <a:ext uri="{FF2B5EF4-FFF2-40B4-BE49-F238E27FC236}">
                <a16:creationId xmlns:a16="http://schemas.microsoft.com/office/drawing/2014/main" id="{969AC626-6BFC-4BF4-9397-B88FCF12B088}"/>
              </a:ext>
            </a:extLst>
          </p:cNvPr>
          <p:cNvSpPr>
            <a:spLocks xmlns:a="http://schemas.openxmlformats.org/drawingml/2006/main" noGrp="1"/>
          </p:cNvSpPr>
          <p:nvPr/>
        </p:nvSpPr>
        <p:spPr>
          <a:xfrm xmlns:a="http://schemas.openxmlformats.org/drawingml/2006/main">
            <a:off x="457200" y="2926080"/>
            <a:ext cx="112471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400" b="1">
                <a:solidFill>
                  <a:srgbClr val="FFFFFF"/>
                </a:solidFill>
                <a:latin typeface="Calibri"/>
                <a:ea typeface="Calibri"/>
                <a:cs typeface="Calibri"/>
              </a:rPr>
              <a:t>CLOUD SERVICES</a:t>
            </a:r>
            <a:endParaRPr sz="6400"/>
          </a:p>
        </p:txBody>
      </p:sp>
      <p:sp>
        <p:nvSpPr>
          <p:cNvPr id="6" name="Text 2">
            <a:extLst xmlns:a="http://schemas.openxmlformats.org/drawingml/2006/main">
              <a:ext uri="{FF2B5EF4-FFF2-40B4-BE49-F238E27FC236}">
                <a16:creationId xmlns:a16="http://schemas.microsoft.com/office/drawing/2014/main" id="{8ADC0EB3-9988-4402-8D77-EDD730BD0E1A}"/>
              </a:ext>
            </a:extLst>
          </p:cNvPr>
          <p:cNvSpPr>
            <a:spLocks xmlns:a="http://schemas.openxmlformats.org/drawingml/2006/main" noGrp="1"/>
          </p:cNvSpPr>
          <p:nvPr/>
        </p:nvSpPr>
        <p:spPr>
          <a:xfrm xmlns:a="http://schemas.openxmlformats.org/drawingml/2006/main">
            <a:off x="457200" y="3886200"/>
            <a:ext cx="11247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a:solidFill>
                  <a:srgbClr val="FFFFFF"/>
                </a:solidFill>
                <a:latin typeface="Calibri"/>
                <a:ea typeface="Calibri"/>
                <a:cs typeface="Calibri"/>
              </a:rPr>
              <a:t>Pengantar Cloud Computing</a:t>
            </a:r>
            <a:endParaRPr sz="2800"/>
          </a:p>
        </p:txBody>
      </p:sp>
      <p:sp>
        <p:nvSpPr>
          <p:cNvPr id="7" name="Shape 3">
            <a:extLst xmlns:a="http://schemas.openxmlformats.org/drawingml/2006/main">
              <a:ext uri="{FF2B5EF4-FFF2-40B4-BE49-F238E27FC236}">
                <a16:creationId xmlns:a16="http://schemas.microsoft.com/office/drawing/2014/main" id="{545564F5-42C4-4A65-B580-CD49DA77E6E6}"/>
              </a:ext>
            </a:extLst>
          </p:cNvPr>
          <p:cNvSpPr>
            <a:spLocks xmlns:a="http://schemas.openxmlformats.org/drawingml/2006/main" noGrp="1"/>
          </p:cNvSpPr>
          <p:nvPr/>
        </p:nvSpPr>
        <p:spPr>
          <a:xfrm xmlns:a="http://schemas.openxmlformats.org/drawingml/2006/main">
            <a:off x="5715000" y="45720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8" name="Text 4">
            <a:extLst xmlns:a="http://schemas.openxmlformats.org/drawingml/2006/main">
              <a:ext uri="{FF2B5EF4-FFF2-40B4-BE49-F238E27FC236}">
                <a16:creationId xmlns:a16="http://schemas.microsoft.com/office/drawing/2014/main" id="{BFE8A212-7071-4654-BE15-0CDB4FAF4DE7}"/>
              </a:ext>
            </a:extLst>
          </p:cNvPr>
          <p:cNvSpPr>
            <a:spLocks xmlns:a="http://schemas.openxmlformats.org/drawingml/2006/main" noGrp="1"/>
          </p:cNvSpPr>
          <p:nvPr/>
        </p:nvSpPr>
        <p:spPr>
          <a:xfrm xmlns:a="http://schemas.openxmlformats.org/drawingml/2006/main">
            <a:off x="457200" y="4709160"/>
            <a:ext cx="1124712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i="1" spc="300">
                <a:solidFill>
                  <a:srgbClr val="FFE0B2"/>
                </a:solidFill>
                <a:latin typeface="Calibri"/>
                <a:ea typeface="Calibri"/>
                <a:cs typeface="Calibri"/>
              </a:rPr>
              <a:t>PERTEMUAN 1  |  100 MENIT</a:t>
            </a:r>
            <a:endParaRPr sz="1200"/>
          </a:p>
        </p:txBody>
      </p:sp>
      <p:sp>
        <p:nvSpPr>
          <p:cNvPr id="9" name="Text 5">
            <a:extLst xmlns:a="http://schemas.openxmlformats.org/drawingml/2006/main">
              <a:ext uri="{FF2B5EF4-FFF2-40B4-BE49-F238E27FC236}">
                <a16:creationId xmlns:a16="http://schemas.microsoft.com/office/drawing/2014/main" id="{097BC178-3499-4E6F-9007-43A55DFC092D}"/>
              </a:ext>
            </a:extLst>
          </p:cNvPr>
          <p:cNvSpPr>
            <a:spLocks xmlns:a="http://schemas.openxmlformats.org/drawingml/2006/main" noGrp="1"/>
          </p:cNvSpPr>
          <p:nvPr/>
        </p:nvSpPr>
        <p:spPr>
          <a:xfrm xmlns:a="http://schemas.openxmlformats.org/drawingml/2006/main">
            <a:off x="457200" y="594360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Budi Juarto, S.T., M.Kom.</a:t>
            </a:r>
            <a:endParaRPr sz="1300"/>
          </a:p>
        </p:txBody>
      </p:sp>
      <p:sp>
        <p:nvSpPr>
          <p:cNvPr id="10" name="Text 6">
            <a:extLst xmlns:a="http://schemas.openxmlformats.org/drawingml/2006/main">
              <a:ext uri="{FF2B5EF4-FFF2-40B4-BE49-F238E27FC236}">
                <a16:creationId xmlns:a16="http://schemas.microsoft.com/office/drawing/2014/main" id="{9931DB2D-3C93-40DF-97DF-944DAFC8E5FC}"/>
              </a:ext>
            </a:extLst>
          </p:cNvPr>
          <p:cNvSpPr>
            <a:spLocks xmlns:a="http://schemas.openxmlformats.org/drawingml/2006/main" noGrp="1"/>
          </p:cNvSpPr>
          <p:nvPr/>
        </p:nvSpPr>
        <p:spPr>
          <a:xfrm xmlns:a="http://schemas.openxmlformats.org/drawingml/2006/main">
            <a:off x="457200" y="621792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FFE0B2"/>
                </a:solidFill>
                <a:latin typeface="Calibri"/>
                <a:ea typeface="Calibri"/>
                <a:cs typeface="Calibri"/>
              </a:rPr>
              <a:t>Departemen Informatika  -  BINUS @Bandung</a:t>
            </a:r>
            <a:endParaRPr sz="1100"/>
          </a:p>
        </p:txBody>
      </p:sp>
    </p:spTree>
    <p:extLst>
      <p:ext uri="{BB962C8B-B14F-4D97-AF65-F5344CB8AC3E}">
        <p14:creationId xmlns:p14="http://schemas.microsoft.com/office/powerpoint/2010/main" val="2264308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CB09F6A-BC8C-4AE5-BD03-C7BEA68D6F8F}"/>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6D689EF0-7886-4718-A77A-03D8EB35DA48}"/>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a:t>
            </a:r>
            <a:endParaRPr sz="900"/>
          </a:p>
        </p:txBody>
      </p:sp>
      <p:sp>
        <p:nvSpPr>
          <p:cNvPr id="4" name="Shape 2">
            <a:extLst xmlns:a="http://schemas.openxmlformats.org/drawingml/2006/main">
              <a:ext uri="{FF2B5EF4-FFF2-40B4-BE49-F238E27FC236}">
                <a16:creationId xmlns:a16="http://schemas.microsoft.com/office/drawing/2014/main" id="{0C7094A4-66A8-497A-ADB9-28056F624E1F}"/>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c4e738c4cc404ff9"/>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23" name="Image 1"/>
          <p:cNvPicPr>
            <a:picLocks xmlns:a="http://schemas.openxmlformats.org/drawingml/2006/main" noChangeAspect="1"/>
          </p:cNvPicPr>
          <p:nvPr/>
        </p:nvPicPr>
        <p:blipFill>
          <a:blip xmlns:r="http://schemas.openxmlformats.org/officeDocument/2006/relationships" xmlns:a="http://schemas.openxmlformats.org/drawingml/2006/main" r:embed="R907ed78bd4064664"/>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955E4B9F-FDB5-40F0-AB7B-825A3970909D}"/>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15F3045E-08B7-49AB-8F62-A9C527C87775}"/>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Peta Perkuliahan Cloud Services</a:t>
            </a:r>
            <a:endParaRPr sz="2200"/>
          </a:p>
        </p:txBody>
      </p:sp>
      <p:sp>
        <p:nvSpPr>
          <p:cNvPr id="9" name="Text 5">
            <a:extLst xmlns:a="http://schemas.openxmlformats.org/drawingml/2006/main">
              <a:ext uri="{FF2B5EF4-FFF2-40B4-BE49-F238E27FC236}">
                <a16:creationId xmlns:a16="http://schemas.microsoft.com/office/drawing/2014/main" id="{2E72309A-3A12-4C49-BF9D-3722B5A544DB}"/>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Kerangka Besar</a:t>
            </a:r>
            <a:endParaRPr sz="1200"/>
          </a:p>
        </p:txBody>
      </p:sp>
      <p:sp>
        <p:nvSpPr>
          <p:cNvPr id="10" name="Shape 6">
            <a:extLst xmlns:a="http://schemas.openxmlformats.org/drawingml/2006/main">
              <a:ext uri="{FF2B5EF4-FFF2-40B4-BE49-F238E27FC236}">
                <a16:creationId xmlns:a16="http://schemas.microsoft.com/office/drawing/2014/main" id="{8150E095-C923-4C73-BB44-A67629279032}"/>
              </a:ext>
            </a:extLst>
          </p:cNvPr>
          <p:cNvSpPr>
            <a:spLocks xmlns:a="http://schemas.openxmlformats.org/drawingml/2006/main" noGrp="1"/>
          </p:cNvSpPr>
          <p:nvPr/>
        </p:nvSpPr>
        <p:spPr>
          <a:xfrm xmlns:a="http://schemas.openxmlformats.org/drawingml/2006/main">
            <a:off x="457200" y="1554480"/>
            <a:ext cx="5486400" cy="4572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Text 7">
            <a:extLst xmlns:a="http://schemas.openxmlformats.org/drawingml/2006/main">
              <a:ext uri="{FF2B5EF4-FFF2-40B4-BE49-F238E27FC236}">
                <a16:creationId xmlns:a16="http://schemas.microsoft.com/office/drawing/2014/main" id="{D2232E80-A9F5-41BE-B7D8-4868EC33E35D}"/>
              </a:ext>
            </a:extLst>
          </p:cNvPr>
          <p:cNvSpPr>
            <a:spLocks xmlns:a="http://schemas.openxmlformats.org/drawingml/2006/main" noGrp="1"/>
          </p:cNvSpPr>
          <p:nvPr/>
        </p:nvSpPr>
        <p:spPr>
          <a:xfrm xmlns:a="http://schemas.openxmlformats.org/drawingml/2006/main">
            <a:off x="731520" y="1737360"/>
            <a:ext cx="5029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002677"/>
                </a:solidFill>
                <a:latin typeface="Calibri"/>
                <a:ea typeface="Calibri"/>
                <a:cs typeface="Calibri"/>
              </a:rPr>
              <a:t>13</a:t>
            </a:r>
            <a:r>
              <a:rPr sz="1800" b="1">
                <a:solidFill>
                  <a:srgbClr val="1E293B"/>
                </a:solidFill>
                <a:latin typeface="Calibri"/>
                <a:ea typeface="Calibri"/>
                <a:cs typeface="Calibri"/>
              </a:rPr>
              <a:t>  Pertemuan Teori</a:t>
            </a:r>
            <a:endParaRPr sz="4400"/>
          </a:p>
        </p:txBody>
      </p:sp>
      <p:sp>
        <p:nvSpPr>
          <p:cNvPr id="12" name="Text 8">
            <a:extLst xmlns:a="http://schemas.openxmlformats.org/drawingml/2006/main">
              <a:ext uri="{FF2B5EF4-FFF2-40B4-BE49-F238E27FC236}">
                <a16:creationId xmlns:a16="http://schemas.microsoft.com/office/drawing/2014/main" id="{0817952B-5999-4709-97BE-4EA97339D052}"/>
              </a:ext>
            </a:extLst>
          </p:cNvPr>
          <p:cNvSpPr>
            <a:spLocks xmlns:a="http://schemas.openxmlformats.org/drawingml/2006/main" noGrp="1"/>
          </p:cNvSpPr>
          <p:nvPr/>
        </p:nvSpPr>
        <p:spPr>
          <a:xfrm xmlns:a="http://schemas.openxmlformats.org/drawingml/2006/main">
            <a:off x="731520" y="2468880"/>
            <a:ext cx="5029200" cy="35661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spcAft>
                <a:spcPts val="200"/>
              </a:spcAft>
              <a:buNone/>
            </a:pPr>
            <a:r>
              <a:rPr sz="1100" b="1">
                <a:solidFill>
                  <a:srgbClr val="F37021"/>
                </a:solidFill>
                <a:latin typeface="Calibri"/>
                <a:ea typeface="Calibri"/>
                <a:cs typeface="Calibri"/>
              </a:rPr>
              <a:t>1. Pengantar Cloud Computing  (HARI INI)</a:t>
            </a:r>
            <a:endParaRPr sz="1100"/>
          </a:p>
          <a:p xmlns:a="http://schemas.openxmlformats.org/drawingml/2006/main">
            <a:pPr marL="0" indent="0">
              <a:spcAft>
                <a:spcPts val="200"/>
              </a:spcAft>
              <a:buNone/>
            </a:pPr>
            <a:r>
              <a:rPr sz="1100">
                <a:solidFill>
                  <a:srgbClr val="1E293B"/>
                </a:solidFill>
                <a:latin typeface="Calibri"/>
                <a:ea typeface="Calibri"/>
                <a:cs typeface="Calibri"/>
              </a:rPr>
              <a:t>2. Linux Fundamentals untuk Cloud</a:t>
            </a:r>
            <a:endParaRPr sz="1100"/>
          </a:p>
          <a:p xmlns:a="http://schemas.openxmlformats.org/drawingml/2006/main">
            <a:pPr marL="0" indent="0">
              <a:spcAft>
                <a:spcPts val="200"/>
              </a:spcAft>
              <a:buNone/>
            </a:pPr>
            <a:r>
              <a:rPr sz="1100">
                <a:solidFill>
                  <a:srgbClr val="1E293B"/>
                </a:solidFill>
                <a:latin typeface="Calibri"/>
                <a:ea typeface="Calibri"/>
                <a:cs typeface="Calibri"/>
              </a:rPr>
              <a:t>3. Networking &amp; Web Service Basics</a:t>
            </a:r>
            <a:endParaRPr sz="1100"/>
          </a:p>
          <a:p xmlns:a="http://schemas.openxmlformats.org/drawingml/2006/main">
            <a:pPr marL="0" indent="0">
              <a:spcAft>
                <a:spcPts val="200"/>
              </a:spcAft>
              <a:buNone/>
            </a:pPr>
            <a:r>
              <a:rPr sz="1100">
                <a:solidFill>
                  <a:srgbClr val="1E293B"/>
                </a:solidFill>
                <a:latin typeface="Calibri"/>
                <a:ea typeface="Calibri"/>
                <a:cs typeface="Calibri"/>
              </a:rPr>
              <a:t>4. Virtualisasi &amp; Containerization</a:t>
            </a:r>
            <a:endParaRPr sz="1100"/>
          </a:p>
          <a:p xmlns:a="http://schemas.openxmlformats.org/drawingml/2006/main">
            <a:pPr marL="0" indent="0">
              <a:spcAft>
                <a:spcPts val="200"/>
              </a:spcAft>
              <a:buNone/>
            </a:pPr>
            <a:r>
              <a:rPr sz="1100">
                <a:solidFill>
                  <a:srgbClr val="1E293B"/>
                </a:solidFill>
                <a:latin typeface="Calibri"/>
                <a:ea typeface="Calibri"/>
                <a:cs typeface="Calibri"/>
              </a:rPr>
              <a:t>5. Docker Core</a:t>
            </a:r>
            <a:endParaRPr sz="1100"/>
          </a:p>
          <a:p xmlns:a="http://schemas.openxmlformats.org/drawingml/2006/main">
            <a:pPr marL="0" indent="0">
              <a:spcAft>
                <a:spcPts val="200"/>
              </a:spcAft>
              <a:buNone/>
            </a:pPr>
            <a:r>
              <a:rPr sz="1100">
                <a:solidFill>
                  <a:srgbClr val="1E293B"/>
                </a:solidFill>
                <a:latin typeface="Calibri"/>
                <a:ea typeface="Calibri"/>
                <a:cs typeface="Calibri"/>
              </a:rPr>
              <a:t>6. Docker Compose &amp; Multi-container</a:t>
            </a:r>
            <a:endParaRPr sz="1100"/>
          </a:p>
          <a:p xmlns:a="http://schemas.openxmlformats.org/drawingml/2006/main">
            <a:pPr marL="0" indent="0">
              <a:spcAft>
                <a:spcPts val="200"/>
              </a:spcAft>
              <a:buNone/>
            </a:pPr>
            <a:r>
              <a:rPr sz="1100">
                <a:solidFill>
                  <a:srgbClr val="1E293B"/>
                </a:solidFill>
                <a:latin typeface="Calibri"/>
                <a:ea typeface="Calibri"/>
                <a:cs typeface="Calibri"/>
              </a:rPr>
              <a:t>7. Supabase: BaaS, Auth, RLS</a:t>
            </a:r>
            <a:endParaRPr sz="1100"/>
          </a:p>
          <a:p xmlns:a="http://schemas.openxmlformats.org/drawingml/2006/main">
            <a:pPr marL="0" indent="0">
              <a:spcAft>
                <a:spcPts val="200"/>
              </a:spcAft>
              <a:buNone/>
            </a:pPr>
            <a:r>
              <a:rPr sz="1100">
                <a:solidFill>
                  <a:srgbClr val="1E293B"/>
                </a:solidFill>
                <a:latin typeface="Calibri"/>
                <a:ea typeface="Calibri"/>
                <a:cs typeface="Calibri"/>
              </a:rPr>
              <a:t>8. Vercel &amp; Next.js</a:t>
            </a:r>
            <a:endParaRPr sz="1100"/>
          </a:p>
          <a:p xmlns:a="http://schemas.openxmlformats.org/drawingml/2006/main">
            <a:pPr marL="0" indent="0">
              <a:spcAft>
                <a:spcPts val="200"/>
              </a:spcAft>
              <a:buNone/>
            </a:pPr>
            <a:r>
              <a:rPr sz="1100">
                <a:solidFill>
                  <a:srgbClr val="1E293B"/>
                </a:solidFill>
                <a:latin typeface="Calibri"/>
                <a:ea typeface="Calibri"/>
                <a:cs typeface="Calibri"/>
              </a:rPr>
              <a:t>9. Hugging Face &amp; Gradio</a:t>
            </a:r>
            <a:endParaRPr sz="1100"/>
          </a:p>
          <a:p xmlns:a="http://schemas.openxmlformats.org/drawingml/2006/main">
            <a:pPr marL="0" indent="0">
              <a:spcAft>
                <a:spcPts val="200"/>
              </a:spcAft>
              <a:buNone/>
            </a:pPr>
            <a:r>
              <a:rPr sz="1100">
                <a:solidFill>
                  <a:srgbClr val="1E293B"/>
                </a:solidFill>
                <a:latin typeface="Calibri"/>
                <a:ea typeface="Calibri"/>
                <a:cs typeface="Calibri"/>
              </a:rPr>
              <a:t>10. Monitoring &amp; MLOps</a:t>
            </a:r>
            <a:endParaRPr sz="1100"/>
          </a:p>
          <a:p xmlns:a="http://schemas.openxmlformats.org/drawingml/2006/main">
            <a:pPr marL="0" indent="0">
              <a:spcAft>
                <a:spcPts val="200"/>
              </a:spcAft>
              <a:buNone/>
            </a:pPr>
            <a:r>
              <a:rPr sz="1100">
                <a:solidFill>
                  <a:srgbClr val="1E293B"/>
                </a:solidFill>
                <a:latin typeface="Calibri"/>
                <a:ea typeface="Calibri"/>
                <a:cs typeface="Calibri"/>
              </a:rPr>
              <a:t>11. NLP, LLM &amp; RAG</a:t>
            </a:r>
            <a:endParaRPr sz="1100"/>
          </a:p>
          <a:p xmlns:a="http://schemas.openxmlformats.org/drawingml/2006/main">
            <a:pPr marL="0" indent="0">
              <a:spcAft>
                <a:spcPts val="200"/>
              </a:spcAft>
              <a:buNone/>
            </a:pPr>
            <a:r>
              <a:rPr sz="1100">
                <a:solidFill>
                  <a:srgbClr val="1E293B"/>
                </a:solidFill>
                <a:latin typeface="Calibri"/>
                <a:ea typeface="Calibri"/>
                <a:cs typeface="Calibri"/>
              </a:rPr>
              <a:t>12. Capstone &amp; paper IEEE</a:t>
            </a:r>
            <a:endParaRPr sz="1100"/>
          </a:p>
          <a:p xmlns:a="http://schemas.openxmlformats.org/drawingml/2006/main">
            <a:pPr marL="0" indent="0">
              <a:spcAft>
                <a:spcPts val="200"/>
              </a:spcAft>
              <a:buNone/>
            </a:pPr>
            <a:r>
              <a:rPr sz="1100">
                <a:solidFill>
                  <a:srgbClr val="1E293B"/>
                </a:solidFill>
                <a:latin typeface="Calibri"/>
                <a:ea typeface="Calibri"/>
                <a:cs typeface="Calibri"/>
              </a:rPr>
              <a:t>13. Presentasi proyek</a:t>
            </a:r>
            <a:endParaRPr sz="1100"/>
          </a:p>
        </p:txBody>
      </p:sp>
      <p:sp>
        <p:nvSpPr>
          <p:cNvPr id="13" name="Shape 9">
            <a:extLst xmlns:a="http://schemas.openxmlformats.org/drawingml/2006/main">
              <a:ext uri="{FF2B5EF4-FFF2-40B4-BE49-F238E27FC236}">
                <a16:creationId xmlns:a16="http://schemas.microsoft.com/office/drawing/2014/main" id="{B5171CB2-C9E2-4E2E-98FC-522A434002C3}"/>
              </a:ext>
            </a:extLst>
          </p:cNvPr>
          <p:cNvSpPr>
            <a:spLocks xmlns:a="http://schemas.openxmlformats.org/drawingml/2006/main" noGrp="1"/>
          </p:cNvSpPr>
          <p:nvPr/>
        </p:nvSpPr>
        <p:spPr>
          <a:xfrm xmlns:a="http://schemas.openxmlformats.org/drawingml/2006/main">
            <a:off x="6217920" y="1554480"/>
            <a:ext cx="5486400" cy="457200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4" name="Text 10">
            <a:extLst xmlns:a="http://schemas.openxmlformats.org/drawingml/2006/main">
              <a:ext uri="{FF2B5EF4-FFF2-40B4-BE49-F238E27FC236}">
                <a16:creationId xmlns:a16="http://schemas.microsoft.com/office/drawing/2014/main" id="{91F8357E-4EEB-43FE-817F-B25939AE8439}"/>
              </a:ext>
            </a:extLst>
          </p:cNvPr>
          <p:cNvSpPr>
            <a:spLocks xmlns:a="http://schemas.openxmlformats.org/drawingml/2006/main" noGrp="1"/>
          </p:cNvSpPr>
          <p:nvPr/>
        </p:nvSpPr>
        <p:spPr>
          <a:xfrm xmlns:a="http://schemas.openxmlformats.org/drawingml/2006/main">
            <a:off x="6492240" y="1737360"/>
            <a:ext cx="5029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37021"/>
                </a:solidFill>
                <a:latin typeface="Calibri"/>
                <a:ea typeface="Calibri"/>
                <a:cs typeface="Calibri"/>
              </a:rPr>
              <a:t>11</a:t>
            </a:r>
            <a:r>
              <a:rPr sz="1800" b="1">
                <a:solidFill>
                  <a:srgbClr val="FFFFFF"/>
                </a:solidFill>
                <a:latin typeface="Calibri"/>
                <a:ea typeface="Calibri"/>
                <a:cs typeface="Calibri"/>
              </a:rPr>
              <a:t>  Praktikum Hands-on</a:t>
            </a:r>
            <a:endParaRPr sz="4400"/>
          </a:p>
        </p:txBody>
      </p:sp>
      <p:sp>
        <p:nvSpPr>
          <p:cNvPr id="15" name="Text 11">
            <a:extLst xmlns:a="http://schemas.openxmlformats.org/drawingml/2006/main">
              <a:ext uri="{FF2B5EF4-FFF2-40B4-BE49-F238E27FC236}">
                <a16:creationId xmlns:a16="http://schemas.microsoft.com/office/drawing/2014/main" id="{691F4BC5-4BCF-4A15-AD47-E75D7EE196CE}"/>
              </a:ext>
            </a:extLst>
          </p:cNvPr>
          <p:cNvSpPr>
            <a:spLocks xmlns:a="http://schemas.openxmlformats.org/drawingml/2006/main" noGrp="1"/>
          </p:cNvSpPr>
          <p:nvPr/>
        </p:nvSpPr>
        <p:spPr>
          <a:xfrm xmlns:a="http://schemas.openxmlformats.org/drawingml/2006/main">
            <a:off x="6492240" y="2468880"/>
            <a:ext cx="5029200" cy="35661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spcAft>
                <a:spcPts val="300"/>
              </a:spcAft>
              <a:buNone/>
            </a:pPr>
            <a:r>
              <a:rPr sz="1200">
                <a:solidFill>
                  <a:srgbClr val="FFFFFF"/>
                </a:solidFill>
                <a:latin typeface="Calibri"/>
                <a:ea typeface="Calibri"/>
                <a:cs typeface="Calibri"/>
              </a:rPr>
              <a:t>1. GitHub, Git workflow &amp; deploy awal</a:t>
            </a:r>
            <a:endParaRPr sz="1200"/>
          </a:p>
          <a:p xmlns:a="http://schemas.openxmlformats.org/drawingml/2006/main">
            <a:pPr marL="0" indent="0">
              <a:spcAft>
                <a:spcPts val="300"/>
              </a:spcAft>
              <a:buNone/>
            </a:pPr>
            <a:r>
              <a:rPr sz="1200">
                <a:solidFill>
                  <a:srgbClr val="FFFFFF"/>
                </a:solidFill>
                <a:latin typeface="Calibri"/>
                <a:ea typeface="Calibri"/>
                <a:cs typeface="Calibri"/>
              </a:rPr>
              <a:t>2. Linux CLI &amp; Bash dasar</a:t>
            </a:r>
            <a:endParaRPr sz="1200"/>
          </a:p>
          <a:p xmlns:a="http://schemas.openxmlformats.org/drawingml/2006/main">
            <a:pPr marL="0" indent="0">
              <a:spcAft>
                <a:spcPts val="300"/>
              </a:spcAft>
              <a:buNone/>
            </a:pPr>
            <a:r>
              <a:rPr sz="1200">
                <a:solidFill>
                  <a:srgbClr val="FFFFFF"/>
                </a:solidFill>
                <a:latin typeface="Calibri"/>
                <a:ea typeface="Calibri"/>
                <a:cs typeface="Calibri"/>
              </a:rPr>
              <a:t>3. Jaringan: DNS, HTTP, TLS</a:t>
            </a:r>
            <a:endParaRPr sz="1200"/>
          </a:p>
          <a:p xmlns:a="http://schemas.openxmlformats.org/drawingml/2006/main">
            <a:pPr marL="0" indent="0">
              <a:spcAft>
                <a:spcPts val="300"/>
              </a:spcAft>
              <a:buNone/>
            </a:pPr>
            <a:r>
              <a:rPr sz="1200">
                <a:solidFill>
                  <a:srgbClr val="FFFFFF"/>
                </a:solidFill>
                <a:latin typeface="Calibri"/>
                <a:ea typeface="Calibri"/>
                <a:cs typeface="Calibri"/>
              </a:rPr>
              <a:t>4. Docker: image, port, lifecycle</a:t>
            </a:r>
            <a:endParaRPr sz="1200"/>
          </a:p>
          <a:p xmlns:a="http://schemas.openxmlformats.org/drawingml/2006/main">
            <a:pPr marL="0" indent="0">
              <a:spcAft>
                <a:spcPts val="300"/>
              </a:spcAft>
              <a:buNone/>
            </a:pPr>
            <a:r>
              <a:rPr sz="1200">
                <a:solidFill>
                  <a:srgbClr val="FFFFFF"/>
                </a:solidFill>
                <a:latin typeface="Calibri"/>
                <a:ea typeface="Calibri"/>
                <a:cs typeface="Calibri"/>
              </a:rPr>
              <a:t>5. Dockerfile, build &amp; registry</a:t>
            </a:r>
            <a:endParaRPr sz="1200"/>
          </a:p>
          <a:p xmlns:a="http://schemas.openxmlformats.org/drawingml/2006/main">
            <a:pPr marL="0" indent="0">
              <a:spcAft>
                <a:spcPts val="300"/>
              </a:spcAft>
              <a:buNone/>
            </a:pPr>
            <a:r>
              <a:rPr sz="1200">
                <a:solidFill>
                  <a:srgbClr val="FFFFFF"/>
                </a:solidFill>
                <a:latin typeface="Calibri"/>
                <a:ea typeface="Calibri"/>
                <a:cs typeface="Calibri"/>
              </a:rPr>
              <a:t>6. Compose: web, DB &amp; cache</a:t>
            </a:r>
            <a:endParaRPr sz="1200"/>
          </a:p>
          <a:p xmlns:a="http://schemas.openxmlformats.org/drawingml/2006/main">
            <a:pPr marL="0" indent="0">
              <a:spcAft>
                <a:spcPts val="300"/>
              </a:spcAft>
              <a:buNone/>
            </a:pPr>
            <a:r>
              <a:rPr sz="1200">
                <a:solidFill>
                  <a:srgbClr val="FFFFFF"/>
                </a:solidFill>
                <a:latin typeface="Calibri"/>
                <a:ea typeface="Calibri"/>
                <a:cs typeface="Calibri"/>
              </a:rPr>
              <a:t>7. Supabase: schema, Auth, RLS</a:t>
            </a:r>
            <a:endParaRPr sz="1200"/>
          </a:p>
          <a:p xmlns:a="http://schemas.openxmlformats.org/drawingml/2006/main">
            <a:pPr marL="0" indent="0">
              <a:spcAft>
                <a:spcPts val="300"/>
              </a:spcAft>
              <a:buNone/>
            </a:pPr>
            <a:r>
              <a:rPr sz="1200">
                <a:solidFill>
                  <a:srgbClr val="FFFFFF"/>
                </a:solidFill>
                <a:latin typeface="Calibri"/>
                <a:ea typeface="Calibri"/>
                <a:cs typeface="Calibri"/>
              </a:rPr>
              <a:t>8. Next.js, API route &amp; Vercel</a:t>
            </a:r>
            <a:endParaRPr sz="1200"/>
          </a:p>
          <a:p xmlns:a="http://schemas.openxmlformats.org/drawingml/2006/main">
            <a:pPr marL="0" indent="0">
              <a:spcAft>
                <a:spcPts val="300"/>
              </a:spcAft>
              <a:buNone/>
            </a:pPr>
            <a:r>
              <a:rPr sz="1200">
                <a:solidFill>
                  <a:srgbClr val="FFFFFF"/>
                </a:solidFill>
                <a:latin typeface="Calibri"/>
                <a:ea typeface="Calibri"/>
                <a:cs typeface="Calibri"/>
              </a:rPr>
              <a:t>9. Gradio, DistilBERT, HF opsional</a:t>
            </a:r>
            <a:endParaRPr sz="1200"/>
          </a:p>
          <a:p xmlns:a="http://schemas.openxmlformats.org/drawingml/2006/main">
            <a:pPr marL="0" indent="0">
              <a:spcAft>
                <a:spcPts val="300"/>
              </a:spcAft>
              <a:buNone/>
            </a:pPr>
            <a:r>
              <a:rPr sz="1200">
                <a:solidFill>
                  <a:srgbClr val="FFFFFF"/>
                </a:solidFill>
                <a:latin typeface="Calibri"/>
                <a:ea typeface="Calibri"/>
                <a:cs typeface="Calibri"/>
              </a:rPr>
              <a:t>10. Monitoring &amp; alert</a:t>
            </a:r>
            <a:endParaRPr sz="1200"/>
          </a:p>
          <a:p xmlns:a="http://schemas.openxmlformats.org/drawingml/2006/main">
            <a:pPr marL="0" indent="0">
              <a:spcAft>
                <a:spcPts val="300"/>
              </a:spcAft>
              <a:buNone/>
            </a:pPr>
            <a:r>
              <a:rPr sz="1200">
                <a:solidFill>
                  <a:srgbClr val="FFFFFF"/>
                </a:solidFill>
                <a:latin typeface="Calibri"/>
                <a:ea typeface="Calibri"/>
                <a:cs typeface="Calibri"/>
              </a:rPr>
              <a:t>11. pgvector &amp; RAG chatbot</a:t>
            </a:r>
            <a:endParaRPr sz="1200"/>
          </a:p>
        </p:txBody>
      </p:sp>
      <p:sp>
        <p:nvSpPr>
          <p:cNvPr id="16" name="Shape 12">
            <a:extLst xmlns:a="http://schemas.openxmlformats.org/drawingml/2006/main">
              <a:ext uri="{FF2B5EF4-FFF2-40B4-BE49-F238E27FC236}">
                <a16:creationId xmlns:a16="http://schemas.microsoft.com/office/drawing/2014/main" id="{0DEAA5E8-1D09-4D5A-9C31-AB0A4E9FEE05}"/>
              </a:ext>
            </a:extLst>
          </p:cNvPr>
          <p:cNvSpPr>
            <a:spLocks xmlns:a="http://schemas.openxmlformats.org/drawingml/2006/main" noGrp="1"/>
          </p:cNvSpPr>
          <p:nvPr/>
        </p:nvSpPr>
        <p:spPr>
          <a:xfrm xmlns:a="http://schemas.openxmlformats.org/drawingml/2006/main">
            <a:off x="457200" y="6263640"/>
            <a:ext cx="1124712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Tree>
    <p:extLst>
      <p:ext uri="{BB962C8B-B14F-4D97-AF65-F5344CB8AC3E}">
        <p14:creationId xmlns:p14="http://schemas.microsoft.com/office/powerpoint/2010/main" val="48110645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78D72C2-B91C-47C6-8F13-8ABCC94DC2A1}"/>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FC2FC41A-0B74-4700-9973-E4F0CD23336A}"/>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a:t>
            </a:r>
            <a:endParaRPr sz="900"/>
          </a:p>
        </p:txBody>
      </p:sp>
      <p:sp>
        <p:nvSpPr>
          <p:cNvPr id="4" name="Shape 2">
            <a:extLst xmlns:a="http://schemas.openxmlformats.org/drawingml/2006/main">
              <a:ext uri="{FF2B5EF4-FFF2-40B4-BE49-F238E27FC236}">
                <a16:creationId xmlns:a16="http://schemas.microsoft.com/office/drawing/2014/main" id="{65410C32-3195-4B12-B67E-85A44969ACFD}"/>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72" name="Image 0"/>
          <p:cNvPicPr>
            <a:picLocks xmlns:a="http://schemas.openxmlformats.org/drawingml/2006/main" noChangeAspect="1"/>
          </p:cNvPicPr>
          <p:nvPr/>
        </p:nvPicPr>
        <p:blipFill>
          <a:blip xmlns:r="http://schemas.openxmlformats.org/officeDocument/2006/relationships" xmlns:a="http://schemas.openxmlformats.org/drawingml/2006/main" r:embed="Rd4ca5ef5f1ff4dc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73" name="Image 1"/>
          <p:cNvPicPr>
            <a:picLocks xmlns:a="http://schemas.openxmlformats.org/drawingml/2006/main" noChangeAspect="1"/>
          </p:cNvPicPr>
          <p:nvPr/>
        </p:nvPicPr>
        <p:blipFill>
          <a:blip xmlns:r="http://schemas.openxmlformats.org/officeDocument/2006/relationships" xmlns:a="http://schemas.openxmlformats.org/drawingml/2006/main" r:embed="R6640147091634dfe"/>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D7AD9BE3-823F-4DA5-ADCA-9BBD5AE39E67}"/>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AA1511C5-2C29-4712-85DF-B0C93FC15F68}"/>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Course Learning Outcomes</a:t>
            </a:r>
            <a:endParaRPr sz="2200"/>
          </a:p>
        </p:txBody>
      </p:sp>
      <p:sp>
        <p:nvSpPr>
          <p:cNvPr id="9" name="Text 5">
            <a:extLst xmlns:a="http://schemas.openxmlformats.org/drawingml/2006/main">
              <a:ext uri="{FF2B5EF4-FFF2-40B4-BE49-F238E27FC236}">
                <a16:creationId xmlns:a16="http://schemas.microsoft.com/office/drawing/2014/main" id="{9A66B186-6F5F-45E0-92B6-55491073C2B8}"/>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Capaian Mata Kuliah COMP6991031</a:t>
            </a:r>
            <a:endParaRPr sz="1200"/>
          </a:p>
        </p:txBody>
      </p:sp>
      <p:sp>
        <p:nvSpPr>
          <p:cNvPr id="10" name="Shape 6">
            <a:extLst xmlns:a="http://schemas.openxmlformats.org/drawingml/2006/main">
              <a:ext uri="{FF2B5EF4-FFF2-40B4-BE49-F238E27FC236}">
                <a16:creationId xmlns:a16="http://schemas.microsoft.com/office/drawing/2014/main" id="{1C83E212-CA6E-444B-8B5B-B9AAF558288A}"/>
              </a:ext>
            </a:extLst>
          </p:cNvPr>
          <p:cNvSpPr>
            <a:spLocks xmlns:a="http://schemas.openxmlformats.org/drawingml/2006/main" noGrp="1"/>
          </p:cNvSpPr>
          <p:nvPr/>
        </p:nvSpPr>
        <p:spPr>
          <a:xfrm xmlns:a="http://schemas.openxmlformats.org/drawingml/2006/main">
            <a:off x="457200" y="1417320"/>
            <a:ext cx="3703320" cy="47091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AB1EE8DB-97C4-46FF-ABA6-270DBCBCE959}"/>
              </a:ext>
            </a:extLst>
          </p:cNvPr>
          <p:cNvSpPr>
            <a:spLocks xmlns:a="http://schemas.openxmlformats.org/drawingml/2006/main" noGrp="1"/>
          </p:cNvSpPr>
          <p:nvPr/>
        </p:nvSpPr>
        <p:spPr>
          <a:xfrm xmlns:a="http://schemas.openxmlformats.org/drawingml/2006/main">
            <a:off x="457200" y="1417320"/>
            <a:ext cx="3703320" cy="10515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2" name="Text 8">
            <a:extLst xmlns:a="http://schemas.openxmlformats.org/drawingml/2006/main">
              <a:ext uri="{FF2B5EF4-FFF2-40B4-BE49-F238E27FC236}">
                <a16:creationId xmlns:a16="http://schemas.microsoft.com/office/drawing/2014/main" id="{DE2EBD9F-C7AB-4CFF-BD47-112B2B76B81C}"/>
              </a:ext>
            </a:extLst>
          </p:cNvPr>
          <p:cNvSpPr>
            <a:spLocks xmlns:a="http://schemas.openxmlformats.org/drawingml/2006/main" noGrp="1"/>
          </p:cNvSpPr>
          <p:nvPr/>
        </p:nvSpPr>
        <p:spPr>
          <a:xfrm xmlns:a="http://schemas.openxmlformats.org/drawingml/2006/main">
            <a:off x="640080" y="1527048"/>
            <a:ext cx="1371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37021"/>
                </a:solidFill>
                <a:latin typeface="Calibri"/>
                <a:ea typeface="Calibri"/>
                <a:cs typeface="Calibri"/>
              </a:rPr>
              <a:t>LO1</a:t>
            </a:r>
            <a:endParaRPr sz="3000"/>
          </a:p>
        </p:txBody>
      </p:sp>
      <p:sp>
        <p:nvSpPr>
          <p:cNvPr id="13" name="Shape 9">
            <a:extLst xmlns:a="http://schemas.openxmlformats.org/drawingml/2006/main">
              <a:ext uri="{FF2B5EF4-FFF2-40B4-BE49-F238E27FC236}">
                <a16:creationId xmlns:a16="http://schemas.microsoft.com/office/drawing/2014/main" id="{A2C4302B-D041-4EFE-ADDF-4D9577C0EF19}"/>
              </a:ext>
            </a:extLst>
          </p:cNvPr>
          <p:cNvSpPr>
            <a:spLocks xmlns:a="http://schemas.openxmlformats.org/drawingml/2006/main" noGrp="1"/>
          </p:cNvSpPr>
          <p:nvPr/>
        </p:nvSpPr>
        <p:spPr>
          <a:xfrm xmlns:a="http://schemas.openxmlformats.org/drawingml/2006/main">
            <a:off x="2880360" y="1581912"/>
            <a:ext cx="1097280" cy="411480"/>
          </a:xfrm>
          <a:prstGeom xmlns:a="http://schemas.openxmlformats.org/drawingml/2006/main" prst="roundRect">
            <a:avLst>
              <a:gd name="adj" fmla="val 17778"/>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ED443484-81A3-4EE2-9025-26637AB71CD2}"/>
              </a:ext>
            </a:extLst>
          </p:cNvPr>
          <p:cNvSpPr>
            <a:spLocks xmlns:a="http://schemas.openxmlformats.org/drawingml/2006/main" noGrp="1"/>
          </p:cNvSpPr>
          <p:nvPr/>
        </p:nvSpPr>
        <p:spPr>
          <a:xfrm xmlns:a="http://schemas.openxmlformats.org/drawingml/2006/main">
            <a:off x="2880360" y="1581912"/>
            <a:ext cx="10972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C4 - C5</a:t>
            </a:r>
            <a:endParaRPr sz="1100"/>
          </a:p>
        </p:txBody>
      </p:sp>
      <p:sp>
        <p:nvSpPr>
          <p:cNvPr id="15" name="Text 11">
            <a:extLst xmlns:a="http://schemas.openxmlformats.org/drawingml/2006/main">
              <a:ext uri="{FF2B5EF4-FFF2-40B4-BE49-F238E27FC236}">
                <a16:creationId xmlns:a16="http://schemas.microsoft.com/office/drawing/2014/main" id="{8BD672D3-CFB6-4F35-A5D0-862891B060F6}"/>
              </a:ext>
            </a:extLst>
          </p:cNvPr>
          <p:cNvSpPr>
            <a:spLocks xmlns:a="http://schemas.openxmlformats.org/drawingml/2006/main" noGrp="1"/>
          </p:cNvSpPr>
          <p:nvPr/>
        </p:nvSpPr>
        <p:spPr>
          <a:xfrm xmlns:a="http://schemas.openxmlformats.org/drawingml/2006/main">
            <a:off x="2880360" y="203911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FED7AA"/>
                </a:solidFill>
                <a:latin typeface="Calibri"/>
                <a:ea typeface="Calibri"/>
                <a:cs typeface="Calibri"/>
              </a:rPr>
              <a:t>Analyze - Evaluate</a:t>
            </a:r>
            <a:endParaRPr sz="900"/>
          </a:p>
        </p:txBody>
      </p:sp>
      <p:sp>
        <p:nvSpPr>
          <p:cNvPr id="16" name="Text 12">
            <a:extLst xmlns:a="http://schemas.openxmlformats.org/drawingml/2006/main">
              <a:ext uri="{FF2B5EF4-FFF2-40B4-BE49-F238E27FC236}">
                <a16:creationId xmlns:a16="http://schemas.microsoft.com/office/drawing/2014/main" id="{C66C67BD-0114-4F1D-80FB-CA858E85E8A1}"/>
              </a:ext>
            </a:extLst>
          </p:cNvPr>
          <p:cNvSpPr>
            <a:spLocks xmlns:a="http://schemas.openxmlformats.org/drawingml/2006/main" noGrp="1"/>
          </p:cNvSpPr>
          <p:nvPr/>
        </p:nvSpPr>
        <p:spPr>
          <a:xfrm xmlns:a="http://schemas.openxmlformats.org/drawingml/2006/main">
            <a:off x="640080" y="205740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Menganalisis</a:t>
            </a:r>
            <a:endParaRPr sz="1400"/>
          </a:p>
        </p:txBody>
      </p:sp>
      <p:sp>
        <p:nvSpPr>
          <p:cNvPr id="17" name="Text 13">
            <a:extLst xmlns:a="http://schemas.openxmlformats.org/drawingml/2006/main">
              <a:ext uri="{FF2B5EF4-FFF2-40B4-BE49-F238E27FC236}">
                <a16:creationId xmlns:a16="http://schemas.microsoft.com/office/drawing/2014/main" id="{5248253B-849F-4D69-A29A-92EBFB89361D}"/>
              </a:ext>
            </a:extLst>
          </p:cNvPr>
          <p:cNvSpPr>
            <a:spLocks xmlns:a="http://schemas.openxmlformats.org/drawingml/2006/main" noGrp="1"/>
          </p:cNvSpPr>
          <p:nvPr/>
        </p:nvSpPr>
        <p:spPr>
          <a:xfrm xmlns:a="http://schemas.openxmlformats.org/drawingml/2006/main">
            <a:off x="640080" y="2606040"/>
            <a:ext cx="3337560" cy="16459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Mahasiswa mampu </a:t>
            </a:r>
            <a:r>
              <a:rPr sz="1100" b="1">
                <a:solidFill>
                  <a:srgbClr val="002677"/>
                </a:solidFill>
                <a:latin typeface="Calibri"/>
                <a:ea typeface="Calibri"/>
                <a:cs typeface="Calibri"/>
              </a:rPr>
              <a:t>menganalisis </a:t>
            </a:r>
            <a:r>
              <a:rPr sz="1100">
                <a:solidFill>
                  <a:srgbClr val="1E293B"/>
                </a:solidFill>
                <a:latin typeface="Calibri"/>
                <a:ea typeface="Calibri"/>
                <a:cs typeface="Calibri"/>
              </a:rPr>
              <a:t>service models (IaaS / PaaS / SaaS / BaaS / FaaS) dan deployment models, serta memilih kombinasi yang tepat berdasarkan kebutuhan teknis, biaya, dan compliance.</a:t>
            </a:r>
            <a:endParaRPr sz="1100"/>
          </a:p>
        </p:txBody>
      </p:sp>
      <p:sp>
        <p:nvSpPr>
          <p:cNvPr id="18" name="Shape 14">
            <a:extLst xmlns:a="http://schemas.openxmlformats.org/drawingml/2006/main">
              <a:ext uri="{FF2B5EF4-FFF2-40B4-BE49-F238E27FC236}">
                <a16:creationId xmlns:a16="http://schemas.microsoft.com/office/drawing/2014/main" id="{C975AD8E-7574-419F-8A65-1026CAD02144}"/>
              </a:ext>
            </a:extLst>
          </p:cNvPr>
          <p:cNvSpPr>
            <a:spLocks xmlns:a="http://schemas.openxmlformats.org/drawingml/2006/main" noGrp="1"/>
          </p:cNvSpPr>
          <p:nvPr/>
        </p:nvSpPr>
        <p:spPr>
          <a:xfrm xmlns:a="http://schemas.openxmlformats.org/drawingml/2006/main">
            <a:off x="640080" y="4343400"/>
            <a:ext cx="33375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19" name="Text 15">
            <a:extLst xmlns:a="http://schemas.openxmlformats.org/drawingml/2006/main">
              <a:ext uri="{FF2B5EF4-FFF2-40B4-BE49-F238E27FC236}">
                <a16:creationId xmlns:a16="http://schemas.microsoft.com/office/drawing/2014/main" id="{447AAA8B-A9F1-4FC0-929F-A84316744F5B}"/>
              </a:ext>
            </a:extLst>
          </p:cNvPr>
          <p:cNvSpPr>
            <a:spLocks xmlns:a="http://schemas.openxmlformats.org/drawingml/2006/main" noGrp="1"/>
          </p:cNvSpPr>
          <p:nvPr/>
        </p:nvSpPr>
        <p:spPr>
          <a:xfrm xmlns:a="http://schemas.openxmlformats.org/drawingml/2006/main">
            <a:off x="640080" y="4434840"/>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Contoh kaitan SO:</a:t>
            </a:r>
            <a:endParaRPr sz="1000"/>
          </a:p>
        </p:txBody>
      </p:sp>
      <p:sp>
        <p:nvSpPr>
          <p:cNvPr id="20" name="Shape 16">
            <a:extLst xmlns:a="http://schemas.openxmlformats.org/drawingml/2006/main">
              <a:ext uri="{FF2B5EF4-FFF2-40B4-BE49-F238E27FC236}">
                <a16:creationId xmlns:a16="http://schemas.microsoft.com/office/drawing/2014/main" id="{E96B96A3-A6E5-4033-9599-530DEFAC9364}"/>
              </a:ext>
            </a:extLst>
          </p:cNvPr>
          <p:cNvSpPr>
            <a:spLocks xmlns:a="http://schemas.openxmlformats.org/drawingml/2006/main" noGrp="1"/>
          </p:cNvSpPr>
          <p:nvPr/>
        </p:nvSpPr>
        <p:spPr>
          <a:xfrm xmlns:a="http://schemas.openxmlformats.org/drawingml/2006/main">
            <a:off x="640080" y="4754880"/>
            <a:ext cx="777240" cy="347472"/>
          </a:xfrm>
          <a:prstGeom xmlns:a="http://schemas.openxmlformats.org/drawingml/2006/main" prst="roundRect">
            <a:avLst>
              <a:gd name="adj" fmla="val 13158"/>
            </a:avLst>
          </a:prstGeom>
          <a:solidFill xmlns:a="http://schemas.openxmlformats.org/drawingml/2006/main">
            <a:srgbClr val="002677"/>
          </a:solidFill>
          <a:ln xmlns:a="http://schemas.openxmlformats.org/drawingml/2006/main" w="12700">
            <a:solidFill>
              <a:srgbClr val="002677"/>
            </a:solidFill>
            <a:prstDash val="solid"/>
          </a:ln>
        </p:spPr>
      </p:sp>
      <p:sp>
        <p:nvSpPr>
          <p:cNvPr id="21" name="Text 17">
            <a:extLst xmlns:a="http://schemas.openxmlformats.org/drawingml/2006/main">
              <a:ext uri="{FF2B5EF4-FFF2-40B4-BE49-F238E27FC236}">
                <a16:creationId xmlns:a16="http://schemas.microsoft.com/office/drawing/2014/main" id="{DA9A42FD-713A-4549-9548-02A80AB7688D}"/>
              </a:ext>
            </a:extLst>
          </p:cNvPr>
          <p:cNvSpPr>
            <a:spLocks xmlns:a="http://schemas.openxmlformats.org/drawingml/2006/main" noGrp="1"/>
          </p:cNvSpPr>
          <p:nvPr/>
        </p:nvSpPr>
        <p:spPr>
          <a:xfrm xmlns:a="http://schemas.openxmlformats.org/drawingml/2006/main">
            <a:off x="640080" y="4754880"/>
            <a:ext cx="7772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SO1</a:t>
            </a:r>
            <a:endParaRPr sz="1200"/>
          </a:p>
        </p:txBody>
      </p:sp>
      <p:sp>
        <p:nvSpPr>
          <p:cNvPr id="22" name="Shape 18">
            <a:extLst xmlns:a="http://schemas.openxmlformats.org/drawingml/2006/main">
              <a:ext uri="{FF2B5EF4-FFF2-40B4-BE49-F238E27FC236}">
                <a16:creationId xmlns:a16="http://schemas.microsoft.com/office/drawing/2014/main" id="{1504B3AC-67E6-488D-95D2-30052BA45B4D}"/>
              </a:ext>
            </a:extLst>
          </p:cNvPr>
          <p:cNvSpPr>
            <a:spLocks xmlns:a="http://schemas.openxmlformats.org/drawingml/2006/main" noGrp="1"/>
          </p:cNvSpPr>
          <p:nvPr/>
        </p:nvSpPr>
        <p:spPr>
          <a:xfrm xmlns:a="http://schemas.openxmlformats.org/drawingml/2006/main">
            <a:off x="1508760" y="4754880"/>
            <a:ext cx="777240" cy="347472"/>
          </a:xfrm>
          <a:prstGeom xmlns:a="http://schemas.openxmlformats.org/drawingml/2006/main" prst="roundRect">
            <a:avLst>
              <a:gd name="adj" fmla="val 13158"/>
            </a:avLst>
          </a:prstGeom>
          <a:solidFill xmlns:a="http://schemas.openxmlformats.org/drawingml/2006/main">
            <a:srgbClr val="002677"/>
          </a:solidFill>
          <a:ln xmlns:a="http://schemas.openxmlformats.org/drawingml/2006/main" w="12700">
            <a:solidFill>
              <a:srgbClr val="002677"/>
            </a:solidFill>
            <a:prstDash val="solid"/>
          </a:ln>
        </p:spPr>
      </p:sp>
      <p:sp>
        <p:nvSpPr>
          <p:cNvPr id="23" name="Text 19">
            <a:extLst xmlns:a="http://schemas.openxmlformats.org/drawingml/2006/main">
              <a:ext uri="{FF2B5EF4-FFF2-40B4-BE49-F238E27FC236}">
                <a16:creationId xmlns:a16="http://schemas.microsoft.com/office/drawing/2014/main" id="{161F9F05-AE9E-4AE5-9772-7568675E6C94}"/>
              </a:ext>
            </a:extLst>
          </p:cNvPr>
          <p:cNvSpPr>
            <a:spLocks xmlns:a="http://schemas.openxmlformats.org/drawingml/2006/main" noGrp="1"/>
          </p:cNvSpPr>
          <p:nvPr/>
        </p:nvSpPr>
        <p:spPr>
          <a:xfrm xmlns:a="http://schemas.openxmlformats.org/drawingml/2006/main">
            <a:off x="1508760" y="4754880"/>
            <a:ext cx="7772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SO6</a:t>
            </a:r>
            <a:endParaRPr sz="1200"/>
          </a:p>
        </p:txBody>
      </p:sp>
      <p:sp>
        <p:nvSpPr>
          <p:cNvPr id="24" name="Text 20">
            <a:extLst xmlns:a="http://schemas.openxmlformats.org/drawingml/2006/main">
              <a:ext uri="{FF2B5EF4-FFF2-40B4-BE49-F238E27FC236}">
                <a16:creationId xmlns:a16="http://schemas.microsoft.com/office/drawing/2014/main" id="{9C82381E-C507-43BA-82EB-0E94E6C5A0E0}"/>
              </a:ext>
            </a:extLst>
          </p:cNvPr>
          <p:cNvSpPr>
            <a:spLocks xmlns:a="http://schemas.openxmlformats.org/drawingml/2006/main" noGrp="1"/>
          </p:cNvSpPr>
          <p:nvPr/>
        </p:nvSpPr>
        <p:spPr>
          <a:xfrm xmlns:a="http://schemas.openxmlformats.org/drawingml/2006/main">
            <a:off x="640080" y="5257800"/>
            <a:ext cx="33375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Diukur lewat:</a:t>
            </a:r>
            <a:endParaRPr sz="1000"/>
          </a:p>
        </p:txBody>
      </p:sp>
      <p:sp>
        <p:nvSpPr>
          <p:cNvPr id="25" name="Text 21">
            <a:extLst xmlns:a="http://schemas.openxmlformats.org/drawingml/2006/main">
              <a:ext uri="{FF2B5EF4-FFF2-40B4-BE49-F238E27FC236}">
                <a16:creationId xmlns:a16="http://schemas.microsoft.com/office/drawing/2014/main" id="{8A528135-F8CA-4AB1-B1EE-5FFBFC49BB91}"/>
              </a:ext>
            </a:extLst>
          </p:cNvPr>
          <p:cNvSpPr>
            <a:spLocks xmlns:a="http://schemas.openxmlformats.org/drawingml/2006/main" noGrp="1"/>
          </p:cNvSpPr>
          <p:nvPr/>
        </p:nvSpPr>
        <p:spPr>
          <a:xfrm xmlns:a="http://schemas.openxmlformats.org/drawingml/2006/main">
            <a:off x="640080" y="5486400"/>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rgbClr val="1E293B"/>
                </a:solidFill>
                <a:latin typeface="Calibri"/>
                <a:ea typeface="Calibri"/>
                <a:cs typeface="Calibri"/>
              </a:rPr>
              <a:t>UTS/UAS teori dan studi kasus</a:t>
            </a:r>
            <a:endParaRPr sz="1100"/>
          </a:p>
        </p:txBody>
      </p:sp>
      <p:sp>
        <p:nvSpPr>
          <p:cNvPr id="26" name="Shape 22">
            <a:extLst xmlns:a="http://schemas.openxmlformats.org/drawingml/2006/main">
              <a:ext uri="{FF2B5EF4-FFF2-40B4-BE49-F238E27FC236}">
                <a16:creationId xmlns:a16="http://schemas.microsoft.com/office/drawing/2014/main" id="{026837DE-B558-43DA-9699-5FA42B3A07AB}"/>
              </a:ext>
            </a:extLst>
          </p:cNvPr>
          <p:cNvSpPr>
            <a:spLocks xmlns:a="http://schemas.openxmlformats.org/drawingml/2006/main" noGrp="1"/>
          </p:cNvSpPr>
          <p:nvPr/>
        </p:nvSpPr>
        <p:spPr>
          <a:xfrm xmlns:a="http://schemas.openxmlformats.org/drawingml/2006/main">
            <a:off x="457200" y="5760720"/>
            <a:ext cx="3703320" cy="3657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7" name="Text 23">
            <a:extLst xmlns:a="http://schemas.openxmlformats.org/drawingml/2006/main">
              <a:ext uri="{FF2B5EF4-FFF2-40B4-BE49-F238E27FC236}">
                <a16:creationId xmlns:a16="http://schemas.microsoft.com/office/drawing/2014/main" id="{7485D4F6-347C-4D5A-BC99-302C85BEFC64}"/>
              </a:ext>
            </a:extLst>
          </p:cNvPr>
          <p:cNvSpPr>
            <a:spLocks xmlns:a="http://schemas.openxmlformats.org/drawingml/2006/main" noGrp="1"/>
          </p:cNvSpPr>
          <p:nvPr/>
        </p:nvSpPr>
        <p:spPr>
          <a:xfrm xmlns:a="http://schemas.openxmlformats.org/drawingml/2006/main">
            <a:off x="457200" y="5760720"/>
            <a:ext cx="3703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64748B"/>
                </a:solidFill>
                <a:latin typeface="Calibri"/>
                <a:ea typeface="Calibri"/>
                <a:cs typeface="Calibri"/>
              </a:rPr>
              <a:t>Asesmen terkait:  </a:t>
            </a:r>
            <a:r>
              <a:rPr sz="1400" b="1">
                <a:solidFill>
                  <a:srgbClr val="F37021"/>
                </a:solidFill>
                <a:latin typeface="Calibri"/>
                <a:ea typeface="Calibri"/>
                <a:cs typeface="Calibri"/>
              </a:rPr>
              <a:t>UTS/UAS</a:t>
            </a:r>
            <a:endParaRPr sz="1200"/>
          </a:p>
        </p:txBody>
      </p:sp>
      <p:sp>
        <p:nvSpPr>
          <p:cNvPr id="28" name="Shape 24">
            <a:extLst xmlns:a="http://schemas.openxmlformats.org/drawingml/2006/main">
              <a:ext uri="{FF2B5EF4-FFF2-40B4-BE49-F238E27FC236}">
                <a16:creationId xmlns:a16="http://schemas.microsoft.com/office/drawing/2014/main" id="{6DA3FF8E-F281-47A8-8FC5-C294D8CD6134}"/>
              </a:ext>
            </a:extLst>
          </p:cNvPr>
          <p:cNvSpPr>
            <a:spLocks xmlns:a="http://schemas.openxmlformats.org/drawingml/2006/main" noGrp="1"/>
          </p:cNvSpPr>
          <p:nvPr/>
        </p:nvSpPr>
        <p:spPr>
          <a:xfrm xmlns:a="http://schemas.openxmlformats.org/drawingml/2006/main">
            <a:off x="4297680" y="1417320"/>
            <a:ext cx="3703320" cy="47091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9" name="Shape 25">
            <a:extLst xmlns:a="http://schemas.openxmlformats.org/drawingml/2006/main">
              <a:ext uri="{FF2B5EF4-FFF2-40B4-BE49-F238E27FC236}">
                <a16:creationId xmlns:a16="http://schemas.microsoft.com/office/drawing/2014/main" id="{E835A0C9-44DB-4180-9841-8D956DEB7426}"/>
              </a:ext>
            </a:extLst>
          </p:cNvPr>
          <p:cNvSpPr>
            <a:spLocks xmlns:a="http://schemas.openxmlformats.org/drawingml/2006/main" noGrp="1"/>
          </p:cNvSpPr>
          <p:nvPr/>
        </p:nvSpPr>
        <p:spPr>
          <a:xfrm xmlns:a="http://schemas.openxmlformats.org/drawingml/2006/main">
            <a:off x="4297680" y="1417320"/>
            <a:ext cx="3703320" cy="10515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30" name="Text 26">
            <a:extLst xmlns:a="http://schemas.openxmlformats.org/drawingml/2006/main">
              <a:ext uri="{FF2B5EF4-FFF2-40B4-BE49-F238E27FC236}">
                <a16:creationId xmlns:a16="http://schemas.microsoft.com/office/drawing/2014/main" id="{A0AF2AD1-55A9-48C8-86AC-639EC3A60760}"/>
              </a:ext>
            </a:extLst>
          </p:cNvPr>
          <p:cNvSpPr>
            <a:spLocks xmlns:a="http://schemas.openxmlformats.org/drawingml/2006/main" noGrp="1"/>
          </p:cNvSpPr>
          <p:nvPr/>
        </p:nvSpPr>
        <p:spPr>
          <a:xfrm xmlns:a="http://schemas.openxmlformats.org/drawingml/2006/main">
            <a:off x="4480560" y="1527048"/>
            <a:ext cx="1371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37021"/>
                </a:solidFill>
                <a:latin typeface="Calibri"/>
                <a:ea typeface="Calibri"/>
                <a:cs typeface="Calibri"/>
              </a:rPr>
              <a:t>LO2</a:t>
            </a:r>
            <a:endParaRPr sz="3000"/>
          </a:p>
        </p:txBody>
      </p:sp>
      <p:sp>
        <p:nvSpPr>
          <p:cNvPr id="31" name="Shape 27">
            <a:extLst xmlns:a="http://schemas.openxmlformats.org/drawingml/2006/main">
              <a:ext uri="{FF2B5EF4-FFF2-40B4-BE49-F238E27FC236}">
                <a16:creationId xmlns:a16="http://schemas.microsoft.com/office/drawing/2014/main" id="{43FE4119-7028-4144-AC21-76AE93520E55}"/>
              </a:ext>
            </a:extLst>
          </p:cNvPr>
          <p:cNvSpPr>
            <a:spLocks xmlns:a="http://schemas.openxmlformats.org/drawingml/2006/main" noGrp="1"/>
          </p:cNvSpPr>
          <p:nvPr/>
        </p:nvSpPr>
        <p:spPr>
          <a:xfrm xmlns:a="http://schemas.openxmlformats.org/drawingml/2006/main">
            <a:off x="6720840" y="1581912"/>
            <a:ext cx="1097280" cy="411480"/>
          </a:xfrm>
          <a:prstGeom xmlns:a="http://schemas.openxmlformats.org/drawingml/2006/main" prst="roundRect">
            <a:avLst>
              <a:gd name="adj" fmla="val 17778"/>
            </a:avLst>
          </a:prstGeom>
          <a:solidFill xmlns:a="http://schemas.openxmlformats.org/drawingml/2006/main">
            <a:srgbClr val="F37021"/>
          </a:solidFill>
          <a:ln xmlns:a="http://schemas.openxmlformats.org/drawingml/2006/main" w="12700">
            <a:solidFill>
              <a:srgbClr val="F37021"/>
            </a:solidFill>
            <a:prstDash val="solid"/>
          </a:ln>
        </p:spPr>
      </p:sp>
      <p:sp>
        <p:nvSpPr>
          <p:cNvPr id="32" name="Text 28">
            <a:extLst xmlns:a="http://schemas.openxmlformats.org/drawingml/2006/main">
              <a:ext uri="{FF2B5EF4-FFF2-40B4-BE49-F238E27FC236}">
                <a16:creationId xmlns:a16="http://schemas.microsoft.com/office/drawing/2014/main" id="{A1DD2B25-8362-4009-8FA9-E3AB9A760F48}"/>
              </a:ext>
            </a:extLst>
          </p:cNvPr>
          <p:cNvSpPr>
            <a:spLocks xmlns:a="http://schemas.openxmlformats.org/drawingml/2006/main" noGrp="1"/>
          </p:cNvSpPr>
          <p:nvPr/>
        </p:nvSpPr>
        <p:spPr>
          <a:xfrm xmlns:a="http://schemas.openxmlformats.org/drawingml/2006/main">
            <a:off x="6720840" y="1581912"/>
            <a:ext cx="10972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C3 - C6</a:t>
            </a:r>
            <a:endParaRPr sz="1100"/>
          </a:p>
        </p:txBody>
      </p:sp>
      <p:sp>
        <p:nvSpPr>
          <p:cNvPr id="33" name="Text 29">
            <a:extLst xmlns:a="http://schemas.openxmlformats.org/drawingml/2006/main">
              <a:ext uri="{FF2B5EF4-FFF2-40B4-BE49-F238E27FC236}">
                <a16:creationId xmlns:a16="http://schemas.microsoft.com/office/drawing/2014/main" id="{EFD1DF64-799E-408C-830C-ACBFBC3E5320}"/>
              </a:ext>
            </a:extLst>
          </p:cNvPr>
          <p:cNvSpPr>
            <a:spLocks xmlns:a="http://schemas.openxmlformats.org/drawingml/2006/main" noGrp="1"/>
          </p:cNvSpPr>
          <p:nvPr/>
        </p:nvSpPr>
        <p:spPr>
          <a:xfrm xmlns:a="http://schemas.openxmlformats.org/drawingml/2006/main">
            <a:off x="6720840" y="203911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FED7AA"/>
                </a:solidFill>
                <a:latin typeface="Calibri"/>
                <a:ea typeface="Calibri"/>
                <a:cs typeface="Calibri"/>
              </a:rPr>
              <a:t>Apply - Create</a:t>
            </a:r>
            <a:endParaRPr sz="900"/>
          </a:p>
        </p:txBody>
      </p:sp>
      <p:sp>
        <p:nvSpPr>
          <p:cNvPr id="34" name="Text 30">
            <a:extLst xmlns:a="http://schemas.openxmlformats.org/drawingml/2006/main">
              <a:ext uri="{FF2B5EF4-FFF2-40B4-BE49-F238E27FC236}">
                <a16:creationId xmlns:a16="http://schemas.microsoft.com/office/drawing/2014/main" id="{5DAFB886-4333-4E6E-9F56-0F5F2A10732C}"/>
              </a:ext>
            </a:extLst>
          </p:cNvPr>
          <p:cNvSpPr>
            <a:spLocks xmlns:a="http://schemas.openxmlformats.org/drawingml/2006/main" noGrp="1"/>
          </p:cNvSpPr>
          <p:nvPr/>
        </p:nvSpPr>
        <p:spPr>
          <a:xfrm xmlns:a="http://schemas.openxmlformats.org/drawingml/2006/main">
            <a:off x="4480560" y="205740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Merancang &amp; Implementasi</a:t>
            </a:r>
            <a:endParaRPr sz="1400"/>
          </a:p>
        </p:txBody>
      </p:sp>
      <p:sp>
        <p:nvSpPr>
          <p:cNvPr id="35" name="Text 31">
            <a:extLst xmlns:a="http://schemas.openxmlformats.org/drawingml/2006/main">
              <a:ext uri="{FF2B5EF4-FFF2-40B4-BE49-F238E27FC236}">
                <a16:creationId xmlns:a16="http://schemas.microsoft.com/office/drawing/2014/main" id="{2073CE05-8C5E-4EEC-AEF0-22764ACE27EA}"/>
              </a:ext>
            </a:extLst>
          </p:cNvPr>
          <p:cNvSpPr>
            <a:spLocks xmlns:a="http://schemas.openxmlformats.org/drawingml/2006/main" noGrp="1"/>
          </p:cNvSpPr>
          <p:nvPr/>
        </p:nvSpPr>
        <p:spPr>
          <a:xfrm xmlns:a="http://schemas.openxmlformats.org/drawingml/2006/main">
            <a:off x="4480560" y="2606040"/>
            <a:ext cx="3337560" cy="16459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Mahasiswa mampu </a:t>
            </a:r>
            <a:r>
              <a:rPr sz="1100" b="1">
                <a:solidFill>
                  <a:srgbClr val="002677"/>
                </a:solidFill>
                <a:latin typeface="Calibri"/>
                <a:ea typeface="Calibri"/>
                <a:cs typeface="Calibri"/>
              </a:rPr>
              <a:t>merancang &amp; implementasi </a:t>
            </a:r>
            <a:r>
              <a:rPr sz="1100">
                <a:solidFill>
                  <a:srgbClr val="1E293B"/>
                </a:solidFill>
                <a:latin typeface="Calibri"/>
                <a:ea typeface="Calibri"/>
                <a:cs typeface="Calibri"/>
              </a:rPr>
              <a:t>aplikasi cloud-native multi-tier menggunakan Docker, Vercel, dan Supabase, dengan praktik DevOps yang benar (Git, CI/CD, environment management).</a:t>
            </a:r>
            <a:endParaRPr sz="1100"/>
          </a:p>
        </p:txBody>
      </p:sp>
      <p:sp>
        <p:nvSpPr>
          <p:cNvPr id="36" name="Shape 32">
            <a:extLst xmlns:a="http://schemas.openxmlformats.org/drawingml/2006/main">
              <a:ext uri="{FF2B5EF4-FFF2-40B4-BE49-F238E27FC236}">
                <a16:creationId xmlns:a16="http://schemas.microsoft.com/office/drawing/2014/main" id="{7A9A1739-1A0F-4814-BFB5-7BC954F6B572}"/>
              </a:ext>
            </a:extLst>
          </p:cNvPr>
          <p:cNvSpPr>
            <a:spLocks xmlns:a="http://schemas.openxmlformats.org/drawingml/2006/main" noGrp="1"/>
          </p:cNvSpPr>
          <p:nvPr/>
        </p:nvSpPr>
        <p:spPr>
          <a:xfrm xmlns:a="http://schemas.openxmlformats.org/drawingml/2006/main">
            <a:off x="4480560" y="4343400"/>
            <a:ext cx="33375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37" name="Text 33">
            <a:extLst xmlns:a="http://schemas.openxmlformats.org/drawingml/2006/main">
              <a:ext uri="{FF2B5EF4-FFF2-40B4-BE49-F238E27FC236}">
                <a16:creationId xmlns:a16="http://schemas.microsoft.com/office/drawing/2014/main" id="{1DBC73CD-B0CF-40D6-A815-75491D403282}"/>
              </a:ext>
            </a:extLst>
          </p:cNvPr>
          <p:cNvSpPr>
            <a:spLocks xmlns:a="http://schemas.openxmlformats.org/drawingml/2006/main" noGrp="1"/>
          </p:cNvSpPr>
          <p:nvPr/>
        </p:nvSpPr>
        <p:spPr>
          <a:xfrm xmlns:a="http://schemas.openxmlformats.org/drawingml/2006/main">
            <a:off x="4480560" y="4434840"/>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Contoh kaitan SO:</a:t>
            </a:r>
            <a:endParaRPr sz="1000"/>
          </a:p>
        </p:txBody>
      </p:sp>
      <p:sp>
        <p:nvSpPr>
          <p:cNvPr id="38" name="Shape 34">
            <a:extLst xmlns:a="http://schemas.openxmlformats.org/drawingml/2006/main">
              <a:ext uri="{FF2B5EF4-FFF2-40B4-BE49-F238E27FC236}">
                <a16:creationId xmlns:a16="http://schemas.microsoft.com/office/drawing/2014/main" id="{D0A6DAD6-E561-4E4B-90B9-72543D6DEE57}"/>
              </a:ext>
            </a:extLst>
          </p:cNvPr>
          <p:cNvSpPr>
            <a:spLocks xmlns:a="http://schemas.openxmlformats.org/drawingml/2006/main" noGrp="1"/>
          </p:cNvSpPr>
          <p:nvPr/>
        </p:nvSpPr>
        <p:spPr>
          <a:xfrm xmlns:a="http://schemas.openxmlformats.org/drawingml/2006/main">
            <a:off x="4480560" y="4754880"/>
            <a:ext cx="777240" cy="347472"/>
          </a:xfrm>
          <a:prstGeom xmlns:a="http://schemas.openxmlformats.org/drawingml/2006/main" prst="roundRect">
            <a:avLst>
              <a:gd name="adj" fmla="val 13158"/>
            </a:avLst>
          </a:prstGeom>
          <a:solidFill xmlns:a="http://schemas.openxmlformats.org/drawingml/2006/main">
            <a:srgbClr val="002677"/>
          </a:solidFill>
          <a:ln xmlns:a="http://schemas.openxmlformats.org/drawingml/2006/main" w="12700">
            <a:solidFill>
              <a:srgbClr val="002677"/>
            </a:solidFill>
            <a:prstDash val="solid"/>
          </a:ln>
        </p:spPr>
      </p:sp>
      <p:sp>
        <p:nvSpPr>
          <p:cNvPr id="39" name="Text 35">
            <a:extLst xmlns:a="http://schemas.openxmlformats.org/drawingml/2006/main">
              <a:ext uri="{FF2B5EF4-FFF2-40B4-BE49-F238E27FC236}">
                <a16:creationId xmlns:a16="http://schemas.microsoft.com/office/drawing/2014/main" id="{9F78D96B-85F1-4870-A401-168E5AC24F00}"/>
              </a:ext>
            </a:extLst>
          </p:cNvPr>
          <p:cNvSpPr>
            <a:spLocks xmlns:a="http://schemas.openxmlformats.org/drawingml/2006/main" noGrp="1"/>
          </p:cNvSpPr>
          <p:nvPr/>
        </p:nvSpPr>
        <p:spPr>
          <a:xfrm xmlns:a="http://schemas.openxmlformats.org/drawingml/2006/main">
            <a:off x="4480560" y="4754880"/>
            <a:ext cx="7772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SO2</a:t>
            </a:r>
            <a:endParaRPr sz="1200"/>
          </a:p>
        </p:txBody>
      </p:sp>
      <p:sp>
        <p:nvSpPr>
          <p:cNvPr id="40" name="Shape 36">
            <a:extLst xmlns:a="http://schemas.openxmlformats.org/drawingml/2006/main">
              <a:ext uri="{FF2B5EF4-FFF2-40B4-BE49-F238E27FC236}">
                <a16:creationId xmlns:a16="http://schemas.microsoft.com/office/drawing/2014/main" id="{6F09382C-8F4D-4B99-9575-A2753D54ED1E}"/>
              </a:ext>
            </a:extLst>
          </p:cNvPr>
          <p:cNvSpPr>
            <a:spLocks xmlns:a="http://schemas.openxmlformats.org/drawingml/2006/main" noGrp="1"/>
          </p:cNvSpPr>
          <p:nvPr/>
        </p:nvSpPr>
        <p:spPr>
          <a:xfrm xmlns:a="http://schemas.openxmlformats.org/drawingml/2006/main">
            <a:off x="5349240" y="4754880"/>
            <a:ext cx="777240" cy="347472"/>
          </a:xfrm>
          <a:prstGeom xmlns:a="http://schemas.openxmlformats.org/drawingml/2006/main" prst="roundRect">
            <a:avLst>
              <a:gd name="adj" fmla="val 13158"/>
            </a:avLst>
          </a:prstGeom>
          <a:solidFill xmlns:a="http://schemas.openxmlformats.org/drawingml/2006/main">
            <a:srgbClr val="002677"/>
          </a:solidFill>
          <a:ln xmlns:a="http://schemas.openxmlformats.org/drawingml/2006/main" w="12700">
            <a:solidFill>
              <a:srgbClr val="002677"/>
            </a:solidFill>
            <a:prstDash val="solid"/>
          </a:ln>
        </p:spPr>
      </p:sp>
      <p:sp>
        <p:nvSpPr>
          <p:cNvPr id="41" name="Text 37">
            <a:extLst xmlns:a="http://schemas.openxmlformats.org/drawingml/2006/main">
              <a:ext uri="{FF2B5EF4-FFF2-40B4-BE49-F238E27FC236}">
                <a16:creationId xmlns:a16="http://schemas.microsoft.com/office/drawing/2014/main" id="{9D6E0E3A-C2A3-4E54-9F45-496FBC6B4494}"/>
              </a:ext>
            </a:extLst>
          </p:cNvPr>
          <p:cNvSpPr>
            <a:spLocks xmlns:a="http://schemas.openxmlformats.org/drawingml/2006/main" noGrp="1"/>
          </p:cNvSpPr>
          <p:nvPr/>
        </p:nvSpPr>
        <p:spPr>
          <a:xfrm xmlns:a="http://schemas.openxmlformats.org/drawingml/2006/main">
            <a:off x="5349240" y="4754880"/>
            <a:ext cx="7772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SO6</a:t>
            </a:r>
            <a:endParaRPr sz="1200"/>
          </a:p>
        </p:txBody>
      </p:sp>
      <p:sp>
        <p:nvSpPr>
          <p:cNvPr id="42" name="Text 38">
            <a:extLst xmlns:a="http://schemas.openxmlformats.org/drawingml/2006/main">
              <a:ext uri="{FF2B5EF4-FFF2-40B4-BE49-F238E27FC236}">
                <a16:creationId xmlns:a16="http://schemas.microsoft.com/office/drawing/2014/main" id="{331ED88E-B432-441B-966B-D68964465049}"/>
              </a:ext>
            </a:extLst>
          </p:cNvPr>
          <p:cNvSpPr>
            <a:spLocks xmlns:a="http://schemas.openxmlformats.org/drawingml/2006/main" noGrp="1"/>
          </p:cNvSpPr>
          <p:nvPr/>
        </p:nvSpPr>
        <p:spPr>
          <a:xfrm xmlns:a="http://schemas.openxmlformats.org/drawingml/2006/main">
            <a:off x="4480560" y="5257800"/>
            <a:ext cx="33375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Diukur lewat:</a:t>
            </a:r>
            <a:endParaRPr sz="1000"/>
          </a:p>
        </p:txBody>
      </p:sp>
      <p:sp>
        <p:nvSpPr>
          <p:cNvPr id="43" name="Text 39">
            <a:extLst xmlns:a="http://schemas.openxmlformats.org/drawingml/2006/main">
              <a:ext uri="{FF2B5EF4-FFF2-40B4-BE49-F238E27FC236}">
                <a16:creationId xmlns:a16="http://schemas.microsoft.com/office/drawing/2014/main" id="{7BCBBD25-4774-49BB-B443-D1D24BA2D408}"/>
              </a:ext>
            </a:extLst>
          </p:cNvPr>
          <p:cNvSpPr>
            <a:spLocks xmlns:a="http://schemas.openxmlformats.org/drawingml/2006/main" noGrp="1"/>
          </p:cNvSpPr>
          <p:nvPr/>
        </p:nvSpPr>
        <p:spPr>
          <a:xfrm xmlns:a="http://schemas.openxmlformats.org/drawingml/2006/main">
            <a:off x="4480560" y="5486400"/>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rgbClr val="1E293B"/>
                </a:solidFill>
                <a:latin typeface="Calibri"/>
                <a:ea typeface="Calibri"/>
                <a:cs typeface="Calibri"/>
              </a:rPr>
              <a:t>Praktikum 2-8, proyek akhir</a:t>
            </a:r>
            <a:endParaRPr sz="1100"/>
          </a:p>
        </p:txBody>
      </p:sp>
      <p:sp>
        <p:nvSpPr>
          <p:cNvPr id="44" name="Shape 40">
            <a:extLst xmlns:a="http://schemas.openxmlformats.org/drawingml/2006/main">
              <a:ext uri="{FF2B5EF4-FFF2-40B4-BE49-F238E27FC236}">
                <a16:creationId xmlns:a16="http://schemas.microsoft.com/office/drawing/2014/main" id="{5D4DD43C-87E4-4C0C-AC76-772655A6974E}"/>
              </a:ext>
            </a:extLst>
          </p:cNvPr>
          <p:cNvSpPr>
            <a:spLocks xmlns:a="http://schemas.openxmlformats.org/drawingml/2006/main" noGrp="1"/>
          </p:cNvSpPr>
          <p:nvPr/>
        </p:nvSpPr>
        <p:spPr>
          <a:xfrm xmlns:a="http://schemas.openxmlformats.org/drawingml/2006/main">
            <a:off x="4297680" y="5760720"/>
            <a:ext cx="3703320" cy="3657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5" name="Text 41">
            <a:extLst xmlns:a="http://schemas.openxmlformats.org/drawingml/2006/main">
              <a:ext uri="{FF2B5EF4-FFF2-40B4-BE49-F238E27FC236}">
                <a16:creationId xmlns:a16="http://schemas.microsoft.com/office/drawing/2014/main" id="{2806CD1D-8936-4CF5-ABBC-0276A6DC6275}"/>
              </a:ext>
            </a:extLst>
          </p:cNvPr>
          <p:cNvSpPr>
            <a:spLocks xmlns:a="http://schemas.openxmlformats.org/drawingml/2006/main" noGrp="1"/>
          </p:cNvSpPr>
          <p:nvPr/>
        </p:nvSpPr>
        <p:spPr>
          <a:xfrm xmlns:a="http://schemas.openxmlformats.org/drawingml/2006/main">
            <a:off x="4297680" y="5760720"/>
            <a:ext cx="3703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64748B"/>
                </a:solidFill>
                <a:latin typeface="Calibri"/>
                <a:ea typeface="Calibri"/>
                <a:cs typeface="Calibri"/>
              </a:rPr>
              <a:t>Asesmen terkait:  </a:t>
            </a:r>
            <a:r>
              <a:rPr sz="1400" b="1">
                <a:solidFill>
                  <a:srgbClr val="F37021"/>
                </a:solidFill>
                <a:latin typeface="Calibri"/>
                <a:ea typeface="Calibri"/>
                <a:cs typeface="Calibri"/>
              </a:rPr>
              <a:t>Proyek</a:t>
            </a:r>
            <a:endParaRPr sz="1200"/>
          </a:p>
        </p:txBody>
      </p:sp>
      <p:sp>
        <p:nvSpPr>
          <p:cNvPr id="46" name="Shape 42">
            <a:extLst xmlns:a="http://schemas.openxmlformats.org/drawingml/2006/main">
              <a:ext uri="{FF2B5EF4-FFF2-40B4-BE49-F238E27FC236}">
                <a16:creationId xmlns:a16="http://schemas.microsoft.com/office/drawing/2014/main" id="{16B8B981-F569-466D-AC9B-C485A81F108B}"/>
              </a:ext>
            </a:extLst>
          </p:cNvPr>
          <p:cNvSpPr>
            <a:spLocks xmlns:a="http://schemas.openxmlformats.org/drawingml/2006/main" noGrp="1"/>
          </p:cNvSpPr>
          <p:nvPr/>
        </p:nvSpPr>
        <p:spPr>
          <a:xfrm xmlns:a="http://schemas.openxmlformats.org/drawingml/2006/main">
            <a:off x="8138160" y="1417320"/>
            <a:ext cx="3703320" cy="47091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47" name="Shape 43">
            <a:extLst xmlns:a="http://schemas.openxmlformats.org/drawingml/2006/main">
              <a:ext uri="{FF2B5EF4-FFF2-40B4-BE49-F238E27FC236}">
                <a16:creationId xmlns:a16="http://schemas.microsoft.com/office/drawing/2014/main" id="{96F580A5-878D-4916-8616-94F3DD7416F9}"/>
              </a:ext>
            </a:extLst>
          </p:cNvPr>
          <p:cNvSpPr>
            <a:spLocks xmlns:a="http://schemas.openxmlformats.org/drawingml/2006/main" noGrp="1"/>
          </p:cNvSpPr>
          <p:nvPr/>
        </p:nvSpPr>
        <p:spPr>
          <a:xfrm xmlns:a="http://schemas.openxmlformats.org/drawingml/2006/main">
            <a:off x="8138160" y="1417320"/>
            <a:ext cx="3703320" cy="10515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48" name="Text 44">
            <a:extLst xmlns:a="http://schemas.openxmlformats.org/drawingml/2006/main">
              <a:ext uri="{FF2B5EF4-FFF2-40B4-BE49-F238E27FC236}">
                <a16:creationId xmlns:a16="http://schemas.microsoft.com/office/drawing/2014/main" id="{1CC86B6C-F218-4342-87BC-DAAFD3CB9823}"/>
              </a:ext>
            </a:extLst>
          </p:cNvPr>
          <p:cNvSpPr>
            <a:spLocks xmlns:a="http://schemas.openxmlformats.org/drawingml/2006/main" noGrp="1"/>
          </p:cNvSpPr>
          <p:nvPr/>
        </p:nvSpPr>
        <p:spPr>
          <a:xfrm xmlns:a="http://schemas.openxmlformats.org/drawingml/2006/main">
            <a:off x="8321040" y="1527048"/>
            <a:ext cx="1371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37021"/>
                </a:solidFill>
                <a:latin typeface="Calibri"/>
                <a:ea typeface="Calibri"/>
                <a:cs typeface="Calibri"/>
              </a:rPr>
              <a:t>LO3</a:t>
            </a:r>
            <a:endParaRPr sz="3000"/>
          </a:p>
        </p:txBody>
      </p:sp>
      <p:sp>
        <p:nvSpPr>
          <p:cNvPr id="49" name="Shape 45">
            <a:extLst xmlns:a="http://schemas.openxmlformats.org/drawingml/2006/main">
              <a:ext uri="{FF2B5EF4-FFF2-40B4-BE49-F238E27FC236}">
                <a16:creationId xmlns:a16="http://schemas.microsoft.com/office/drawing/2014/main" id="{080E4A44-6868-4131-8D37-5654C8609542}"/>
              </a:ext>
            </a:extLst>
          </p:cNvPr>
          <p:cNvSpPr>
            <a:spLocks xmlns:a="http://schemas.openxmlformats.org/drawingml/2006/main" noGrp="1"/>
          </p:cNvSpPr>
          <p:nvPr/>
        </p:nvSpPr>
        <p:spPr>
          <a:xfrm xmlns:a="http://schemas.openxmlformats.org/drawingml/2006/main">
            <a:off x="10561320" y="1581912"/>
            <a:ext cx="1097280" cy="411480"/>
          </a:xfrm>
          <a:prstGeom xmlns:a="http://schemas.openxmlformats.org/drawingml/2006/main" prst="roundRect">
            <a:avLst>
              <a:gd name="adj" fmla="val 17778"/>
            </a:avLst>
          </a:prstGeom>
          <a:solidFill xmlns:a="http://schemas.openxmlformats.org/drawingml/2006/main">
            <a:srgbClr val="F37021"/>
          </a:solidFill>
          <a:ln xmlns:a="http://schemas.openxmlformats.org/drawingml/2006/main" w="12700">
            <a:solidFill>
              <a:srgbClr val="F37021"/>
            </a:solidFill>
            <a:prstDash val="solid"/>
          </a:ln>
        </p:spPr>
      </p:sp>
      <p:sp>
        <p:nvSpPr>
          <p:cNvPr id="50" name="Text 46">
            <a:extLst xmlns:a="http://schemas.openxmlformats.org/drawingml/2006/main">
              <a:ext uri="{FF2B5EF4-FFF2-40B4-BE49-F238E27FC236}">
                <a16:creationId xmlns:a16="http://schemas.microsoft.com/office/drawing/2014/main" id="{FB2EF88A-5B0A-492B-A64E-1C37AC6C0256}"/>
              </a:ext>
            </a:extLst>
          </p:cNvPr>
          <p:cNvSpPr>
            <a:spLocks xmlns:a="http://schemas.openxmlformats.org/drawingml/2006/main" noGrp="1"/>
          </p:cNvSpPr>
          <p:nvPr/>
        </p:nvSpPr>
        <p:spPr>
          <a:xfrm xmlns:a="http://schemas.openxmlformats.org/drawingml/2006/main">
            <a:off x="10561320" y="1581912"/>
            <a:ext cx="10972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C5 - C6</a:t>
            </a:r>
            <a:endParaRPr sz="1100"/>
          </a:p>
        </p:txBody>
      </p:sp>
      <p:sp>
        <p:nvSpPr>
          <p:cNvPr id="51" name="Text 47">
            <a:extLst xmlns:a="http://schemas.openxmlformats.org/drawingml/2006/main">
              <a:ext uri="{FF2B5EF4-FFF2-40B4-BE49-F238E27FC236}">
                <a16:creationId xmlns:a16="http://schemas.microsoft.com/office/drawing/2014/main" id="{CE4EA12F-59A9-4EB6-B932-3882B884018A}"/>
              </a:ext>
            </a:extLst>
          </p:cNvPr>
          <p:cNvSpPr>
            <a:spLocks xmlns:a="http://schemas.openxmlformats.org/drawingml/2006/main" noGrp="1"/>
          </p:cNvSpPr>
          <p:nvPr/>
        </p:nvSpPr>
        <p:spPr>
          <a:xfrm xmlns:a="http://schemas.openxmlformats.org/drawingml/2006/main">
            <a:off x="10561320" y="2039112"/>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FED7AA"/>
                </a:solidFill>
                <a:latin typeface="Calibri"/>
                <a:ea typeface="Calibri"/>
                <a:cs typeface="Calibri"/>
              </a:rPr>
              <a:t>Evaluate - Create</a:t>
            </a:r>
            <a:endParaRPr sz="900"/>
          </a:p>
        </p:txBody>
      </p:sp>
      <p:sp>
        <p:nvSpPr>
          <p:cNvPr id="52" name="Text 48">
            <a:extLst xmlns:a="http://schemas.openxmlformats.org/drawingml/2006/main">
              <a:ext uri="{FF2B5EF4-FFF2-40B4-BE49-F238E27FC236}">
                <a16:creationId xmlns:a16="http://schemas.microsoft.com/office/drawing/2014/main" id="{57C472B0-2E82-4406-93D4-29BAF12A5DA6}"/>
              </a:ext>
            </a:extLst>
          </p:cNvPr>
          <p:cNvSpPr>
            <a:spLocks xmlns:a="http://schemas.openxmlformats.org/drawingml/2006/main" noGrp="1"/>
          </p:cNvSpPr>
          <p:nvPr/>
        </p:nvSpPr>
        <p:spPr>
          <a:xfrm xmlns:a="http://schemas.openxmlformats.org/drawingml/2006/main">
            <a:off x="8321040" y="205740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Integrasi ML &amp; Komunikasi</a:t>
            </a:r>
            <a:endParaRPr sz="1400"/>
          </a:p>
        </p:txBody>
      </p:sp>
      <p:sp>
        <p:nvSpPr>
          <p:cNvPr id="53" name="Text 49">
            <a:extLst xmlns:a="http://schemas.openxmlformats.org/drawingml/2006/main">
              <a:ext uri="{FF2B5EF4-FFF2-40B4-BE49-F238E27FC236}">
                <a16:creationId xmlns:a16="http://schemas.microsoft.com/office/drawing/2014/main" id="{C0EE84E6-A1FE-4BFB-A0F3-CECE27424060}"/>
              </a:ext>
            </a:extLst>
          </p:cNvPr>
          <p:cNvSpPr>
            <a:spLocks xmlns:a="http://schemas.openxmlformats.org/drawingml/2006/main" noGrp="1"/>
          </p:cNvSpPr>
          <p:nvPr/>
        </p:nvSpPr>
        <p:spPr>
          <a:xfrm xmlns:a="http://schemas.openxmlformats.org/drawingml/2006/main">
            <a:off x="8321040" y="2606040"/>
            <a:ext cx="3337560" cy="16459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Mahasiswa mampu </a:t>
            </a:r>
            <a:r>
              <a:rPr sz="1100" b="1">
                <a:solidFill>
                  <a:srgbClr val="002677"/>
                </a:solidFill>
                <a:latin typeface="Calibri"/>
                <a:ea typeface="Calibri"/>
                <a:cs typeface="Calibri"/>
              </a:rPr>
              <a:t>integrasi ml &amp; komunikasi </a:t>
            </a:r>
            <a:r>
              <a:rPr sz="1100">
                <a:solidFill>
                  <a:srgbClr val="1E293B"/>
                </a:solidFill>
                <a:latin typeface="Calibri"/>
                <a:ea typeface="Calibri"/>
                <a:cs typeface="Calibri"/>
              </a:rPr>
              <a:t>model machine learning ke cloud (HF Inference API, HF Spaces), evaluasi trade-off cost / latency / akurasi, dan komunikasi hasil dalam laporan IEEE conference paper.</a:t>
            </a:r>
            <a:endParaRPr sz="1100"/>
          </a:p>
        </p:txBody>
      </p:sp>
      <p:sp>
        <p:nvSpPr>
          <p:cNvPr id="54" name="Shape 50">
            <a:extLst xmlns:a="http://schemas.openxmlformats.org/drawingml/2006/main">
              <a:ext uri="{FF2B5EF4-FFF2-40B4-BE49-F238E27FC236}">
                <a16:creationId xmlns:a16="http://schemas.microsoft.com/office/drawing/2014/main" id="{CDE79921-48A2-4F4E-8A39-AF7DA6AFD9D5}"/>
              </a:ext>
            </a:extLst>
          </p:cNvPr>
          <p:cNvSpPr>
            <a:spLocks xmlns:a="http://schemas.openxmlformats.org/drawingml/2006/main" noGrp="1"/>
          </p:cNvSpPr>
          <p:nvPr/>
        </p:nvSpPr>
        <p:spPr>
          <a:xfrm xmlns:a="http://schemas.openxmlformats.org/drawingml/2006/main">
            <a:off x="8321040" y="4343400"/>
            <a:ext cx="33375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55" name="Text 51">
            <a:extLst xmlns:a="http://schemas.openxmlformats.org/drawingml/2006/main">
              <a:ext uri="{FF2B5EF4-FFF2-40B4-BE49-F238E27FC236}">
                <a16:creationId xmlns:a16="http://schemas.microsoft.com/office/drawing/2014/main" id="{D24F7E24-3BB3-43E6-A1D1-0940D8BB1650}"/>
              </a:ext>
            </a:extLst>
          </p:cNvPr>
          <p:cNvSpPr>
            <a:spLocks xmlns:a="http://schemas.openxmlformats.org/drawingml/2006/main" noGrp="1"/>
          </p:cNvSpPr>
          <p:nvPr/>
        </p:nvSpPr>
        <p:spPr>
          <a:xfrm xmlns:a="http://schemas.openxmlformats.org/drawingml/2006/main">
            <a:off x="8321040" y="4434840"/>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Contoh kaitan SO:</a:t>
            </a:r>
            <a:endParaRPr sz="1000"/>
          </a:p>
        </p:txBody>
      </p:sp>
      <p:sp>
        <p:nvSpPr>
          <p:cNvPr id="56" name="Shape 52">
            <a:extLst xmlns:a="http://schemas.openxmlformats.org/drawingml/2006/main">
              <a:ext uri="{FF2B5EF4-FFF2-40B4-BE49-F238E27FC236}">
                <a16:creationId xmlns:a16="http://schemas.microsoft.com/office/drawing/2014/main" id="{E9A067AF-4194-4108-A3B5-48692F88BFEF}"/>
              </a:ext>
            </a:extLst>
          </p:cNvPr>
          <p:cNvSpPr>
            <a:spLocks xmlns:a="http://schemas.openxmlformats.org/drawingml/2006/main" noGrp="1"/>
          </p:cNvSpPr>
          <p:nvPr/>
        </p:nvSpPr>
        <p:spPr>
          <a:xfrm xmlns:a="http://schemas.openxmlformats.org/drawingml/2006/main">
            <a:off x="8321040" y="4754880"/>
            <a:ext cx="777240" cy="347472"/>
          </a:xfrm>
          <a:prstGeom xmlns:a="http://schemas.openxmlformats.org/drawingml/2006/main" prst="roundRect">
            <a:avLst>
              <a:gd name="adj" fmla="val 13158"/>
            </a:avLst>
          </a:prstGeom>
          <a:solidFill xmlns:a="http://schemas.openxmlformats.org/drawingml/2006/main">
            <a:srgbClr val="002677"/>
          </a:solidFill>
          <a:ln xmlns:a="http://schemas.openxmlformats.org/drawingml/2006/main" w="12700">
            <a:solidFill>
              <a:srgbClr val="002677"/>
            </a:solidFill>
            <a:prstDash val="solid"/>
          </a:ln>
        </p:spPr>
      </p:sp>
      <p:sp>
        <p:nvSpPr>
          <p:cNvPr id="57" name="Text 53">
            <a:extLst xmlns:a="http://schemas.openxmlformats.org/drawingml/2006/main">
              <a:ext uri="{FF2B5EF4-FFF2-40B4-BE49-F238E27FC236}">
                <a16:creationId xmlns:a16="http://schemas.microsoft.com/office/drawing/2014/main" id="{F4D24A23-C4D1-4126-AA1D-20F25DB0EF4D}"/>
              </a:ext>
            </a:extLst>
          </p:cNvPr>
          <p:cNvSpPr>
            <a:spLocks xmlns:a="http://schemas.openxmlformats.org/drawingml/2006/main" noGrp="1"/>
          </p:cNvSpPr>
          <p:nvPr/>
        </p:nvSpPr>
        <p:spPr>
          <a:xfrm xmlns:a="http://schemas.openxmlformats.org/drawingml/2006/main">
            <a:off x="8321040" y="4754880"/>
            <a:ext cx="7772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SO2</a:t>
            </a:r>
            <a:endParaRPr sz="1200"/>
          </a:p>
        </p:txBody>
      </p:sp>
      <p:sp>
        <p:nvSpPr>
          <p:cNvPr id="58" name="Shape 54">
            <a:extLst xmlns:a="http://schemas.openxmlformats.org/drawingml/2006/main">
              <a:ext uri="{FF2B5EF4-FFF2-40B4-BE49-F238E27FC236}">
                <a16:creationId xmlns:a16="http://schemas.microsoft.com/office/drawing/2014/main" id="{38978D27-36B6-4324-8DF6-DA5319FE312C}"/>
              </a:ext>
            </a:extLst>
          </p:cNvPr>
          <p:cNvSpPr>
            <a:spLocks xmlns:a="http://schemas.openxmlformats.org/drawingml/2006/main" noGrp="1"/>
          </p:cNvSpPr>
          <p:nvPr/>
        </p:nvSpPr>
        <p:spPr>
          <a:xfrm xmlns:a="http://schemas.openxmlformats.org/drawingml/2006/main">
            <a:off x="9189720" y="4754880"/>
            <a:ext cx="777240" cy="347472"/>
          </a:xfrm>
          <a:prstGeom xmlns:a="http://schemas.openxmlformats.org/drawingml/2006/main" prst="roundRect">
            <a:avLst>
              <a:gd name="adj" fmla="val 13158"/>
            </a:avLst>
          </a:prstGeom>
          <a:solidFill xmlns:a="http://schemas.openxmlformats.org/drawingml/2006/main">
            <a:srgbClr val="002677"/>
          </a:solidFill>
          <a:ln xmlns:a="http://schemas.openxmlformats.org/drawingml/2006/main" w="12700">
            <a:solidFill>
              <a:srgbClr val="002677"/>
            </a:solidFill>
            <a:prstDash val="solid"/>
          </a:ln>
        </p:spPr>
      </p:sp>
      <p:sp>
        <p:nvSpPr>
          <p:cNvPr id="59" name="Text 55">
            <a:extLst xmlns:a="http://schemas.openxmlformats.org/drawingml/2006/main">
              <a:ext uri="{FF2B5EF4-FFF2-40B4-BE49-F238E27FC236}">
                <a16:creationId xmlns:a16="http://schemas.microsoft.com/office/drawing/2014/main" id="{B8D4AE6F-2253-47D7-B7E0-E7DF390CE87E}"/>
              </a:ext>
            </a:extLst>
          </p:cNvPr>
          <p:cNvSpPr>
            <a:spLocks xmlns:a="http://schemas.openxmlformats.org/drawingml/2006/main" noGrp="1"/>
          </p:cNvSpPr>
          <p:nvPr/>
        </p:nvSpPr>
        <p:spPr>
          <a:xfrm xmlns:a="http://schemas.openxmlformats.org/drawingml/2006/main">
            <a:off x="9189720" y="4754880"/>
            <a:ext cx="7772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SO3</a:t>
            </a:r>
            <a:endParaRPr sz="1200"/>
          </a:p>
        </p:txBody>
      </p:sp>
      <p:sp>
        <p:nvSpPr>
          <p:cNvPr id="60" name="Shape 56">
            <a:extLst xmlns:a="http://schemas.openxmlformats.org/drawingml/2006/main">
              <a:ext uri="{FF2B5EF4-FFF2-40B4-BE49-F238E27FC236}">
                <a16:creationId xmlns:a16="http://schemas.microsoft.com/office/drawing/2014/main" id="{10C6FE3F-67AA-43B5-A903-B05667826D5E}"/>
              </a:ext>
            </a:extLst>
          </p:cNvPr>
          <p:cNvSpPr>
            <a:spLocks xmlns:a="http://schemas.openxmlformats.org/drawingml/2006/main" noGrp="1"/>
          </p:cNvSpPr>
          <p:nvPr/>
        </p:nvSpPr>
        <p:spPr>
          <a:xfrm xmlns:a="http://schemas.openxmlformats.org/drawingml/2006/main">
            <a:off x="10058400" y="4754880"/>
            <a:ext cx="777240" cy="347472"/>
          </a:xfrm>
          <a:prstGeom xmlns:a="http://schemas.openxmlformats.org/drawingml/2006/main" prst="roundRect">
            <a:avLst>
              <a:gd name="adj" fmla="val 13158"/>
            </a:avLst>
          </a:prstGeom>
          <a:solidFill xmlns:a="http://schemas.openxmlformats.org/drawingml/2006/main">
            <a:srgbClr val="002677"/>
          </a:solidFill>
          <a:ln xmlns:a="http://schemas.openxmlformats.org/drawingml/2006/main" w="12700">
            <a:solidFill>
              <a:srgbClr val="002677"/>
            </a:solidFill>
            <a:prstDash val="solid"/>
          </a:ln>
        </p:spPr>
      </p:sp>
      <p:sp>
        <p:nvSpPr>
          <p:cNvPr id="61" name="Text 57">
            <a:extLst xmlns:a="http://schemas.openxmlformats.org/drawingml/2006/main">
              <a:ext uri="{FF2B5EF4-FFF2-40B4-BE49-F238E27FC236}">
                <a16:creationId xmlns:a16="http://schemas.microsoft.com/office/drawing/2014/main" id="{C03F964A-9E66-4829-875B-76FFEB000843}"/>
              </a:ext>
            </a:extLst>
          </p:cNvPr>
          <p:cNvSpPr>
            <a:spLocks xmlns:a="http://schemas.openxmlformats.org/drawingml/2006/main" noGrp="1"/>
          </p:cNvSpPr>
          <p:nvPr/>
        </p:nvSpPr>
        <p:spPr>
          <a:xfrm xmlns:a="http://schemas.openxmlformats.org/drawingml/2006/main">
            <a:off x="10058400" y="4754880"/>
            <a:ext cx="7772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SO6</a:t>
            </a:r>
            <a:endParaRPr sz="1200"/>
          </a:p>
        </p:txBody>
      </p:sp>
      <p:sp>
        <p:nvSpPr>
          <p:cNvPr id="62" name="Text 58">
            <a:extLst xmlns:a="http://schemas.openxmlformats.org/drawingml/2006/main">
              <a:ext uri="{FF2B5EF4-FFF2-40B4-BE49-F238E27FC236}">
                <a16:creationId xmlns:a16="http://schemas.microsoft.com/office/drawing/2014/main" id="{3A1C3064-DE18-439E-B7D9-A12F18D591F3}"/>
              </a:ext>
            </a:extLst>
          </p:cNvPr>
          <p:cNvSpPr>
            <a:spLocks xmlns:a="http://schemas.openxmlformats.org/drawingml/2006/main" noGrp="1"/>
          </p:cNvSpPr>
          <p:nvPr/>
        </p:nvSpPr>
        <p:spPr>
          <a:xfrm xmlns:a="http://schemas.openxmlformats.org/drawingml/2006/main">
            <a:off x="8321040" y="5257800"/>
            <a:ext cx="33375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Diukur lewat:</a:t>
            </a:r>
            <a:endParaRPr sz="1000"/>
          </a:p>
        </p:txBody>
      </p:sp>
      <p:sp>
        <p:nvSpPr>
          <p:cNvPr id="63" name="Text 59">
            <a:extLst xmlns:a="http://schemas.openxmlformats.org/drawingml/2006/main">
              <a:ext uri="{FF2B5EF4-FFF2-40B4-BE49-F238E27FC236}">
                <a16:creationId xmlns:a16="http://schemas.microsoft.com/office/drawing/2014/main" id="{B453F052-9388-48E0-B929-E84B4922413D}"/>
              </a:ext>
            </a:extLst>
          </p:cNvPr>
          <p:cNvSpPr>
            <a:spLocks xmlns:a="http://schemas.openxmlformats.org/drawingml/2006/main" noGrp="1"/>
          </p:cNvSpPr>
          <p:nvPr/>
        </p:nvSpPr>
        <p:spPr>
          <a:xfrm xmlns:a="http://schemas.openxmlformats.org/drawingml/2006/main">
            <a:off x="8321040" y="5486400"/>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rgbClr val="1E293B"/>
                </a:solidFill>
                <a:latin typeface="Calibri"/>
                <a:ea typeface="Calibri"/>
                <a:cs typeface="Calibri"/>
              </a:rPr>
              <a:t>Praktikum 9-11, paper IEEE</a:t>
            </a:r>
            <a:endParaRPr sz="1100"/>
          </a:p>
        </p:txBody>
      </p:sp>
      <p:sp>
        <p:nvSpPr>
          <p:cNvPr id="64" name="Shape 60">
            <a:extLst xmlns:a="http://schemas.openxmlformats.org/drawingml/2006/main">
              <a:ext uri="{FF2B5EF4-FFF2-40B4-BE49-F238E27FC236}">
                <a16:creationId xmlns:a16="http://schemas.microsoft.com/office/drawing/2014/main" id="{4ABCDA21-2A1A-4A68-AA21-D87FBE6BAF3F}"/>
              </a:ext>
            </a:extLst>
          </p:cNvPr>
          <p:cNvSpPr>
            <a:spLocks xmlns:a="http://schemas.openxmlformats.org/drawingml/2006/main" noGrp="1"/>
          </p:cNvSpPr>
          <p:nvPr/>
        </p:nvSpPr>
        <p:spPr>
          <a:xfrm xmlns:a="http://schemas.openxmlformats.org/drawingml/2006/main">
            <a:off x="8138160" y="5760720"/>
            <a:ext cx="3703320" cy="3657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65" name="Text 61">
            <a:extLst xmlns:a="http://schemas.openxmlformats.org/drawingml/2006/main">
              <a:ext uri="{FF2B5EF4-FFF2-40B4-BE49-F238E27FC236}">
                <a16:creationId xmlns:a16="http://schemas.microsoft.com/office/drawing/2014/main" id="{04A76252-2DAA-43BD-8C1B-578AF437DCB7}"/>
              </a:ext>
            </a:extLst>
          </p:cNvPr>
          <p:cNvSpPr>
            <a:spLocks xmlns:a="http://schemas.openxmlformats.org/drawingml/2006/main" noGrp="1"/>
          </p:cNvSpPr>
          <p:nvPr/>
        </p:nvSpPr>
        <p:spPr>
          <a:xfrm xmlns:a="http://schemas.openxmlformats.org/drawingml/2006/main">
            <a:off x="8138160" y="5760720"/>
            <a:ext cx="3703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64748B"/>
                </a:solidFill>
                <a:latin typeface="Calibri"/>
                <a:ea typeface="Calibri"/>
                <a:cs typeface="Calibri"/>
              </a:rPr>
              <a:t>Asesmen terkait:  </a:t>
            </a:r>
            <a:r>
              <a:rPr sz="1400" b="1">
                <a:solidFill>
                  <a:srgbClr val="F37021"/>
                </a:solidFill>
                <a:latin typeface="Calibri"/>
                <a:ea typeface="Calibri"/>
                <a:cs typeface="Calibri"/>
              </a:rPr>
              <a:t>UAS/Proyek</a:t>
            </a:r>
            <a:endParaRPr sz="1200"/>
          </a:p>
        </p:txBody>
      </p:sp>
      <p:sp>
        <p:nvSpPr>
          <p:cNvPr id="66" name="Text 62">
            <a:extLst xmlns:a="http://schemas.openxmlformats.org/drawingml/2006/main">
              <a:ext uri="{FF2B5EF4-FFF2-40B4-BE49-F238E27FC236}">
                <a16:creationId xmlns:a16="http://schemas.microsoft.com/office/drawing/2014/main" id="{2F15D238-435F-4812-8BFA-5E86CB792BF0}"/>
              </a:ext>
            </a:extLst>
          </p:cNvPr>
          <p:cNvSpPr>
            <a:spLocks xmlns:a="http://schemas.openxmlformats.org/drawingml/2006/main" noGrp="1"/>
          </p:cNvSpPr>
          <p:nvPr/>
        </p:nvSpPr>
        <p:spPr>
          <a:xfrm xmlns:a="http://schemas.openxmlformats.org/drawingml/2006/main">
            <a:off x="457200" y="62636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50" b="1" i="1">
                <a:solidFill>
                  <a:srgbClr val="002677"/>
                </a:solidFill>
                <a:latin typeface="Calibri"/>
                <a:ea typeface="Calibri"/>
                <a:cs typeface="Calibri"/>
              </a:rPr>
              <a:t>Catatan SO:  </a:t>
            </a:r>
            <a:r>
              <a:rPr sz="950" i="1">
                <a:solidFill>
                  <a:srgbClr val="1E293B"/>
                </a:solidFill>
                <a:latin typeface="Calibri"/>
                <a:ea typeface="Calibri"/>
                <a:cs typeface="Calibri"/>
              </a:rPr>
              <a:t>Bobot RPS: UTS teori 20%, UAS teori 30%, proyek kelompok 50%. Lab bukan tugas terpisah.</a:t>
            </a:r>
            <a:endParaRPr sz="950"/>
          </a:p>
        </p:txBody>
      </p:sp>
    </p:spTree>
    <p:extLst>
      <p:ext uri="{BB962C8B-B14F-4D97-AF65-F5344CB8AC3E}">
        <p14:creationId xmlns:p14="http://schemas.microsoft.com/office/powerpoint/2010/main" val="15332722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6D131DF-EDEA-4CB8-A296-44235710124E}"/>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58E3AC99-C7F3-427F-AD30-2C8F01ED3C39}"/>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4</a:t>
            </a:r>
            <a:endParaRPr sz="900"/>
          </a:p>
        </p:txBody>
      </p:sp>
      <p:sp>
        <p:nvSpPr>
          <p:cNvPr id="4" name="Shape 2">
            <a:extLst xmlns:a="http://schemas.openxmlformats.org/drawingml/2006/main">
              <a:ext uri="{FF2B5EF4-FFF2-40B4-BE49-F238E27FC236}">
                <a16:creationId xmlns:a16="http://schemas.microsoft.com/office/drawing/2014/main" id="{C4B5648C-C6BC-41A6-8A63-50AC55E17443}"/>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49a38c59717b480d"/>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c8a1cbcb5a62420f"/>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39494A0-CC33-4D90-AC2D-CF0972CF9AE1}"/>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3074E264-2239-49AD-9444-18503048DBE9}"/>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Learning Outcomes - Pertemuan 1</a:t>
            </a:r>
            <a:endParaRPr sz="2200"/>
          </a:p>
        </p:txBody>
      </p:sp>
      <p:sp>
        <p:nvSpPr>
          <p:cNvPr id="9" name="Text 5">
            <a:extLst xmlns:a="http://schemas.openxmlformats.org/drawingml/2006/main">
              <a:ext uri="{FF2B5EF4-FFF2-40B4-BE49-F238E27FC236}">
                <a16:creationId xmlns:a16="http://schemas.microsoft.com/office/drawing/2014/main" id="{CE7861B5-32BB-4010-B0F3-7E85FE8808AD}"/>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Capaian Sesi Hari Ini</a:t>
            </a:r>
            <a:endParaRPr sz="1200"/>
          </a:p>
        </p:txBody>
      </p:sp>
      <p:sp>
        <p:nvSpPr>
          <p:cNvPr id="10" name="Shape 6">
            <a:extLst xmlns:a="http://schemas.openxmlformats.org/drawingml/2006/main">
              <a:ext uri="{FF2B5EF4-FFF2-40B4-BE49-F238E27FC236}">
                <a16:creationId xmlns:a16="http://schemas.microsoft.com/office/drawing/2014/main" id="{FAD77B65-25DF-4F96-9593-76C096D67C75}"/>
              </a:ext>
            </a:extLst>
          </p:cNvPr>
          <p:cNvSpPr>
            <a:spLocks xmlns:a="http://schemas.openxmlformats.org/drawingml/2006/main" noGrp="1"/>
          </p:cNvSpPr>
          <p:nvPr/>
        </p:nvSpPr>
        <p:spPr>
          <a:xfrm xmlns:a="http://schemas.openxmlformats.org/drawingml/2006/main">
            <a:off x="457200" y="1691640"/>
            <a:ext cx="2697480" cy="42062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B9567E30-C1FE-4703-AB19-99B61CFEBE48}"/>
              </a:ext>
            </a:extLst>
          </p:cNvPr>
          <p:cNvSpPr>
            <a:spLocks xmlns:a="http://schemas.openxmlformats.org/drawingml/2006/main" noGrp="1"/>
          </p:cNvSpPr>
          <p:nvPr/>
        </p:nvSpPr>
        <p:spPr>
          <a:xfrm xmlns:a="http://schemas.openxmlformats.org/drawingml/2006/main">
            <a:off x="457200" y="169164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2" name="Shape 8">
            <a:extLst xmlns:a="http://schemas.openxmlformats.org/drawingml/2006/main">
              <a:ext uri="{FF2B5EF4-FFF2-40B4-BE49-F238E27FC236}">
                <a16:creationId xmlns:a16="http://schemas.microsoft.com/office/drawing/2014/main" id="{353C5C12-C4AF-40DE-A6F5-DF1BEB8DF631}"/>
              </a:ext>
            </a:extLst>
          </p:cNvPr>
          <p:cNvSpPr>
            <a:spLocks xmlns:a="http://schemas.openxmlformats.org/drawingml/2006/main" noGrp="1"/>
          </p:cNvSpPr>
          <p:nvPr/>
        </p:nvSpPr>
        <p:spPr>
          <a:xfrm xmlns:a="http://schemas.openxmlformats.org/drawingml/2006/main">
            <a:off x="731520" y="205740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13" name="Text 9">
            <a:extLst xmlns:a="http://schemas.openxmlformats.org/drawingml/2006/main">
              <a:ext uri="{FF2B5EF4-FFF2-40B4-BE49-F238E27FC236}">
                <a16:creationId xmlns:a16="http://schemas.microsoft.com/office/drawing/2014/main" id="{CB72047E-F695-4C28-8ABF-40773F17882D}"/>
              </a:ext>
            </a:extLst>
          </p:cNvPr>
          <p:cNvSpPr>
            <a:spLocks xmlns:a="http://schemas.openxmlformats.org/drawingml/2006/main" noGrp="1"/>
          </p:cNvSpPr>
          <p:nvPr/>
        </p:nvSpPr>
        <p:spPr>
          <a:xfrm xmlns:a="http://schemas.openxmlformats.org/drawingml/2006/main">
            <a:off x="731520" y="205740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1</a:t>
            </a:r>
            <a:endParaRPr sz="2200"/>
          </a:p>
        </p:txBody>
      </p:sp>
      <p:pic>
        <p:nvPicPr>
          <p:cNvPr id="57" name="Image 2"/>
          <p:cNvPicPr>
            <a:picLocks xmlns:a="http://schemas.openxmlformats.org/drawingml/2006/main" noChangeAspect="1"/>
          </p:cNvPicPr>
          <p:nvPr/>
        </p:nvPicPr>
        <p:blipFill>
          <a:blip xmlns:r="http://schemas.openxmlformats.org/officeDocument/2006/relationships" xmlns:a="http://schemas.openxmlformats.org/drawingml/2006/main" r:embed="Rf3a91574a6094803"/>
          <a:stretch xmlns:a="http://schemas.openxmlformats.org/drawingml/2006/main">
            <a:fillRect l="0" t="0" r="0" b="0"/>
          </a:stretch>
        </p:blipFill>
        <p:spPr>
          <a:xfrm xmlns:a="http://schemas.openxmlformats.org/drawingml/2006/main">
            <a:off x="2286000" y="2103120"/>
            <a:ext cx="548640" cy="548640"/>
          </a:xfrm>
          <a:prstGeom xmlns:a="http://schemas.openxmlformats.org/drawingml/2006/main" prst="rect">
            <a:avLst/>
          </a:prstGeom>
        </p:spPr>
      </p:pic>
      <p:sp>
        <p:nvSpPr>
          <p:cNvPr id="15" name="Text 10">
            <a:extLst xmlns:a="http://schemas.openxmlformats.org/drawingml/2006/main">
              <a:ext uri="{FF2B5EF4-FFF2-40B4-BE49-F238E27FC236}">
                <a16:creationId xmlns:a16="http://schemas.microsoft.com/office/drawing/2014/main" id="{3F7A8A01-8F5A-43EA-B2CE-34EA4ADE2A39}"/>
              </a:ext>
            </a:extLst>
          </p:cNvPr>
          <p:cNvSpPr>
            <a:spLocks xmlns:a="http://schemas.openxmlformats.org/drawingml/2006/main" noGrp="1"/>
          </p:cNvSpPr>
          <p:nvPr/>
        </p:nvSpPr>
        <p:spPr>
          <a:xfrm xmlns:a="http://schemas.openxmlformats.org/drawingml/2006/main">
            <a:off x="640080" y="288036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Mendefinisikan</a:t>
            </a:r>
            <a:endParaRPr sz="1800"/>
          </a:p>
        </p:txBody>
      </p:sp>
      <p:sp>
        <p:nvSpPr>
          <p:cNvPr id="16" name="Text 11">
            <a:extLst xmlns:a="http://schemas.openxmlformats.org/drawingml/2006/main">
              <a:ext uri="{FF2B5EF4-FFF2-40B4-BE49-F238E27FC236}">
                <a16:creationId xmlns:a16="http://schemas.microsoft.com/office/drawing/2014/main" id="{EBD863D2-B37A-4E7E-A028-FA65C84CE0D0}"/>
              </a:ext>
            </a:extLst>
          </p:cNvPr>
          <p:cNvSpPr>
            <a:spLocks xmlns:a="http://schemas.openxmlformats.org/drawingml/2006/main" noGrp="1"/>
          </p:cNvSpPr>
          <p:nvPr/>
        </p:nvSpPr>
        <p:spPr>
          <a:xfrm xmlns:a="http://schemas.openxmlformats.org/drawingml/2006/main">
            <a:off x="640080" y="3429000"/>
            <a:ext cx="2331720" cy="22860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konsep cloud computing dan 5 karakteristik esensial menurut NIST.</a:t>
            </a:r>
            <a:endParaRPr sz="1200"/>
          </a:p>
        </p:txBody>
      </p:sp>
      <p:sp>
        <p:nvSpPr>
          <p:cNvPr id="17" name="Shape 12">
            <a:extLst xmlns:a="http://schemas.openxmlformats.org/drawingml/2006/main">
              <a:ext uri="{FF2B5EF4-FFF2-40B4-BE49-F238E27FC236}">
                <a16:creationId xmlns:a16="http://schemas.microsoft.com/office/drawing/2014/main" id="{D50BC6D6-CB32-44CB-ACFA-2F9C15A987AB}"/>
              </a:ext>
            </a:extLst>
          </p:cNvPr>
          <p:cNvSpPr>
            <a:spLocks xmlns:a="http://schemas.openxmlformats.org/drawingml/2006/main" noGrp="1"/>
          </p:cNvSpPr>
          <p:nvPr/>
        </p:nvSpPr>
        <p:spPr>
          <a:xfrm xmlns:a="http://schemas.openxmlformats.org/drawingml/2006/main">
            <a:off x="3319272" y="1691640"/>
            <a:ext cx="2697480" cy="42062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8" name="Shape 13">
            <a:extLst xmlns:a="http://schemas.openxmlformats.org/drawingml/2006/main">
              <a:ext uri="{FF2B5EF4-FFF2-40B4-BE49-F238E27FC236}">
                <a16:creationId xmlns:a16="http://schemas.microsoft.com/office/drawing/2014/main" id="{7EFD05A1-2B9A-4E16-B925-DE67731DC9E8}"/>
              </a:ext>
            </a:extLst>
          </p:cNvPr>
          <p:cNvSpPr>
            <a:spLocks xmlns:a="http://schemas.openxmlformats.org/drawingml/2006/main" noGrp="1"/>
          </p:cNvSpPr>
          <p:nvPr/>
        </p:nvSpPr>
        <p:spPr>
          <a:xfrm xmlns:a="http://schemas.openxmlformats.org/drawingml/2006/main">
            <a:off x="3319272" y="169164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9" name="Shape 14">
            <a:extLst xmlns:a="http://schemas.openxmlformats.org/drawingml/2006/main">
              <a:ext uri="{FF2B5EF4-FFF2-40B4-BE49-F238E27FC236}">
                <a16:creationId xmlns:a16="http://schemas.microsoft.com/office/drawing/2014/main" id="{27CFBCD9-329A-421B-83FA-AC7398364726}"/>
              </a:ext>
            </a:extLst>
          </p:cNvPr>
          <p:cNvSpPr>
            <a:spLocks xmlns:a="http://schemas.openxmlformats.org/drawingml/2006/main" noGrp="1"/>
          </p:cNvSpPr>
          <p:nvPr/>
        </p:nvSpPr>
        <p:spPr>
          <a:xfrm xmlns:a="http://schemas.openxmlformats.org/drawingml/2006/main">
            <a:off x="3593592" y="205740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20" name="Text 15">
            <a:extLst xmlns:a="http://schemas.openxmlformats.org/drawingml/2006/main">
              <a:ext uri="{FF2B5EF4-FFF2-40B4-BE49-F238E27FC236}">
                <a16:creationId xmlns:a16="http://schemas.microsoft.com/office/drawing/2014/main" id="{D94EB2AF-9789-47FD-ACDD-8F71E9E73E2D}"/>
              </a:ext>
            </a:extLst>
          </p:cNvPr>
          <p:cNvSpPr>
            <a:spLocks xmlns:a="http://schemas.openxmlformats.org/drawingml/2006/main" noGrp="1"/>
          </p:cNvSpPr>
          <p:nvPr/>
        </p:nvSpPr>
        <p:spPr>
          <a:xfrm xmlns:a="http://schemas.openxmlformats.org/drawingml/2006/main">
            <a:off x="3593592" y="205740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2</a:t>
            </a:r>
            <a:endParaRPr sz="2200"/>
          </a:p>
        </p:txBody>
      </p:sp>
      <p:pic>
        <p:nvPicPr>
          <p:cNvPr id="64" name="Image 3"/>
          <p:cNvPicPr>
            <a:picLocks xmlns:a="http://schemas.openxmlformats.org/drawingml/2006/main" noChangeAspect="1"/>
          </p:cNvPicPr>
          <p:nvPr/>
        </p:nvPicPr>
        <p:blipFill>
          <a:blip xmlns:r="http://schemas.openxmlformats.org/officeDocument/2006/relationships" xmlns:a="http://schemas.openxmlformats.org/drawingml/2006/main" r:embed="R158c41fd2391455d"/>
          <a:stretch xmlns:a="http://schemas.openxmlformats.org/drawingml/2006/main">
            <a:fillRect l="0" t="0" r="0" b="0"/>
          </a:stretch>
        </p:blipFill>
        <p:spPr>
          <a:xfrm xmlns:a="http://schemas.openxmlformats.org/drawingml/2006/main">
            <a:off x="5148072" y="2103120"/>
            <a:ext cx="548640" cy="548640"/>
          </a:xfrm>
          <a:prstGeom xmlns:a="http://schemas.openxmlformats.org/drawingml/2006/main" prst="rect">
            <a:avLst/>
          </a:prstGeom>
        </p:spPr>
      </p:pic>
      <p:sp>
        <p:nvSpPr>
          <p:cNvPr id="22" name="Text 16">
            <a:extLst xmlns:a="http://schemas.openxmlformats.org/drawingml/2006/main">
              <a:ext uri="{FF2B5EF4-FFF2-40B4-BE49-F238E27FC236}">
                <a16:creationId xmlns:a16="http://schemas.microsoft.com/office/drawing/2014/main" id="{C56DDB95-578B-4602-9D0B-DA3E4AA42303}"/>
              </a:ext>
            </a:extLst>
          </p:cNvPr>
          <p:cNvSpPr>
            <a:spLocks xmlns:a="http://schemas.openxmlformats.org/drawingml/2006/main" noGrp="1"/>
          </p:cNvSpPr>
          <p:nvPr/>
        </p:nvSpPr>
        <p:spPr>
          <a:xfrm xmlns:a="http://schemas.openxmlformats.org/drawingml/2006/main">
            <a:off x="3502152" y="288036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Membedakan</a:t>
            </a:r>
            <a:endParaRPr sz="1800"/>
          </a:p>
        </p:txBody>
      </p:sp>
      <p:sp>
        <p:nvSpPr>
          <p:cNvPr id="23" name="Text 17">
            <a:extLst xmlns:a="http://schemas.openxmlformats.org/drawingml/2006/main">
              <a:ext uri="{FF2B5EF4-FFF2-40B4-BE49-F238E27FC236}">
                <a16:creationId xmlns:a16="http://schemas.microsoft.com/office/drawing/2014/main" id="{D2104F0D-2DAC-439F-A9BF-D7A1F7712776}"/>
              </a:ext>
            </a:extLst>
          </p:cNvPr>
          <p:cNvSpPr>
            <a:spLocks xmlns:a="http://schemas.openxmlformats.org/drawingml/2006/main" noGrp="1"/>
          </p:cNvSpPr>
          <p:nvPr/>
        </p:nvSpPr>
        <p:spPr>
          <a:xfrm xmlns:a="http://schemas.openxmlformats.org/drawingml/2006/main">
            <a:off x="3502152" y="3429000"/>
            <a:ext cx="2331720" cy="22860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service models: IaaS, PaaS, SaaS, BaaS, dan FaaS dengan contoh konkret.</a:t>
            </a:r>
            <a:endParaRPr sz="1200"/>
          </a:p>
        </p:txBody>
      </p:sp>
      <p:sp>
        <p:nvSpPr>
          <p:cNvPr id="24" name="Shape 18">
            <a:extLst xmlns:a="http://schemas.openxmlformats.org/drawingml/2006/main">
              <a:ext uri="{FF2B5EF4-FFF2-40B4-BE49-F238E27FC236}">
                <a16:creationId xmlns:a16="http://schemas.microsoft.com/office/drawing/2014/main" id="{F0C67FDA-97D8-469C-90AC-B4DB7314F58D}"/>
              </a:ext>
            </a:extLst>
          </p:cNvPr>
          <p:cNvSpPr>
            <a:spLocks xmlns:a="http://schemas.openxmlformats.org/drawingml/2006/main" noGrp="1"/>
          </p:cNvSpPr>
          <p:nvPr/>
        </p:nvSpPr>
        <p:spPr>
          <a:xfrm xmlns:a="http://schemas.openxmlformats.org/drawingml/2006/main">
            <a:off x="6181344" y="1691640"/>
            <a:ext cx="2697480" cy="42062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5" name="Shape 19">
            <a:extLst xmlns:a="http://schemas.openxmlformats.org/drawingml/2006/main">
              <a:ext uri="{FF2B5EF4-FFF2-40B4-BE49-F238E27FC236}">
                <a16:creationId xmlns:a16="http://schemas.microsoft.com/office/drawing/2014/main" id="{32444662-AB4B-400F-B3B3-10A3440CA231}"/>
              </a:ext>
            </a:extLst>
          </p:cNvPr>
          <p:cNvSpPr>
            <a:spLocks xmlns:a="http://schemas.openxmlformats.org/drawingml/2006/main" noGrp="1"/>
          </p:cNvSpPr>
          <p:nvPr/>
        </p:nvSpPr>
        <p:spPr>
          <a:xfrm xmlns:a="http://schemas.openxmlformats.org/drawingml/2006/main">
            <a:off x="6181344" y="169164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6" name="Shape 20">
            <a:extLst xmlns:a="http://schemas.openxmlformats.org/drawingml/2006/main">
              <a:ext uri="{FF2B5EF4-FFF2-40B4-BE49-F238E27FC236}">
                <a16:creationId xmlns:a16="http://schemas.microsoft.com/office/drawing/2014/main" id="{9CEC2B23-2AD6-45FE-B1DD-B63B9F82FA59}"/>
              </a:ext>
            </a:extLst>
          </p:cNvPr>
          <p:cNvSpPr>
            <a:spLocks xmlns:a="http://schemas.openxmlformats.org/drawingml/2006/main" noGrp="1"/>
          </p:cNvSpPr>
          <p:nvPr/>
        </p:nvSpPr>
        <p:spPr>
          <a:xfrm xmlns:a="http://schemas.openxmlformats.org/drawingml/2006/main">
            <a:off x="6455664" y="205740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27" name="Text 21">
            <a:extLst xmlns:a="http://schemas.openxmlformats.org/drawingml/2006/main">
              <a:ext uri="{FF2B5EF4-FFF2-40B4-BE49-F238E27FC236}">
                <a16:creationId xmlns:a16="http://schemas.microsoft.com/office/drawing/2014/main" id="{3D4B93AD-F317-4AD0-9AD2-F6554E489A1D}"/>
              </a:ext>
            </a:extLst>
          </p:cNvPr>
          <p:cNvSpPr>
            <a:spLocks xmlns:a="http://schemas.openxmlformats.org/drawingml/2006/main" noGrp="1"/>
          </p:cNvSpPr>
          <p:nvPr/>
        </p:nvSpPr>
        <p:spPr>
          <a:xfrm xmlns:a="http://schemas.openxmlformats.org/drawingml/2006/main">
            <a:off x="6455664" y="205740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3</a:t>
            </a:r>
            <a:endParaRPr sz="2200"/>
          </a:p>
        </p:txBody>
      </p:sp>
      <p:pic>
        <p:nvPicPr>
          <p:cNvPr id="71" name="Image 4"/>
          <p:cNvPicPr>
            <a:picLocks xmlns:a="http://schemas.openxmlformats.org/drawingml/2006/main" noChangeAspect="1"/>
          </p:cNvPicPr>
          <p:nvPr/>
        </p:nvPicPr>
        <p:blipFill>
          <a:blip xmlns:r="http://schemas.openxmlformats.org/officeDocument/2006/relationships" xmlns:a="http://schemas.openxmlformats.org/drawingml/2006/main" r:embed="R4e6112bf94414fc0"/>
          <a:stretch xmlns:a="http://schemas.openxmlformats.org/drawingml/2006/main">
            <a:fillRect l="0" t="0" r="0" b="0"/>
          </a:stretch>
        </p:blipFill>
        <p:spPr>
          <a:xfrm xmlns:a="http://schemas.openxmlformats.org/drawingml/2006/main">
            <a:off x="8010144" y="2103120"/>
            <a:ext cx="548640" cy="548640"/>
          </a:xfrm>
          <a:prstGeom xmlns:a="http://schemas.openxmlformats.org/drawingml/2006/main" prst="rect">
            <a:avLst/>
          </a:prstGeom>
        </p:spPr>
      </p:pic>
      <p:sp>
        <p:nvSpPr>
          <p:cNvPr id="29" name="Text 22">
            <a:extLst xmlns:a="http://schemas.openxmlformats.org/drawingml/2006/main">
              <a:ext uri="{FF2B5EF4-FFF2-40B4-BE49-F238E27FC236}">
                <a16:creationId xmlns:a16="http://schemas.microsoft.com/office/drawing/2014/main" id="{717CBA3C-E7E7-4A7F-B123-095F86938054}"/>
              </a:ext>
            </a:extLst>
          </p:cNvPr>
          <p:cNvSpPr>
            <a:spLocks xmlns:a="http://schemas.openxmlformats.org/drawingml/2006/main" noGrp="1"/>
          </p:cNvSpPr>
          <p:nvPr/>
        </p:nvSpPr>
        <p:spPr>
          <a:xfrm xmlns:a="http://schemas.openxmlformats.org/drawingml/2006/main">
            <a:off x="6364224" y="288036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Mengidentifikasi</a:t>
            </a:r>
            <a:endParaRPr sz="1800"/>
          </a:p>
        </p:txBody>
      </p:sp>
      <p:sp>
        <p:nvSpPr>
          <p:cNvPr id="30" name="Text 23">
            <a:extLst xmlns:a="http://schemas.openxmlformats.org/drawingml/2006/main">
              <a:ext uri="{FF2B5EF4-FFF2-40B4-BE49-F238E27FC236}">
                <a16:creationId xmlns:a16="http://schemas.microsoft.com/office/drawing/2014/main" id="{E26620E8-CABB-428D-B83B-B8D33CFE21AD}"/>
              </a:ext>
            </a:extLst>
          </p:cNvPr>
          <p:cNvSpPr>
            <a:spLocks xmlns:a="http://schemas.openxmlformats.org/drawingml/2006/main" noGrp="1"/>
          </p:cNvSpPr>
          <p:nvPr/>
        </p:nvSpPr>
        <p:spPr>
          <a:xfrm xmlns:a="http://schemas.openxmlformats.org/drawingml/2006/main">
            <a:off x="6364224" y="3429000"/>
            <a:ext cx="2331720" cy="22860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deployment models: public, private, hybrid, dan multi-cloud.</a:t>
            </a:r>
            <a:endParaRPr sz="1200"/>
          </a:p>
        </p:txBody>
      </p:sp>
      <p:sp>
        <p:nvSpPr>
          <p:cNvPr id="31" name="Shape 24">
            <a:extLst xmlns:a="http://schemas.openxmlformats.org/drawingml/2006/main">
              <a:ext uri="{FF2B5EF4-FFF2-40B4-BE49-F238E27FC236}">
                <a16:creationId xmlns:a16="http://schemas.microsoft.com/office/drawing/2014/main" id="{4A70DF56-B91F-445A-8632-4CC8296F11C7}"/>
              </a:ext>
            </a:extLst>
          </p:cNvPr>
          <p:cNvSpPr>
            <a:spLocks xmlns:a="http://schemas.openxmlformats.org/drawingml/2006/main" noGrp="1"/>
          </p:cNvSpPr>
          <p:nvPr/>
        </p:nvSpPr>
        <p:spPr>
          <a:xfrm xmlns:a="http://schemas.openxmlformats.org/drawingml/2006/main">
            <a:off x="9043416" y="1691640"/>
            <a:ext cx="2697480" cy="42062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2" name="Shape 25">
            <a:extLst xmlns:a="http://schemas.openxmlformats.org/drawingml/2006/main">
              <a:ext uri="{FF2B5EF4-FFF2-40B4-BE49-F238E27FC236}">
                <a16:creationId xmlns:a16="http://schemas.microsoft.com/office/drawing/2014/main" id="{0082774F-1046-4836-BF6A-CF5365C6EA4A}"/>
              </a:ext>
            </a:extLst>
          </p:cNvPr>
          <p:cNvSpPr>
            <a:spLocks xmlns:a="http://schemas.openxmlformats.org/drawingml/2006/main" noGrp="1"/>
          </p:cNvSpPr>
          <p:nvPr/>
        </p:nvSpPr>
        <p:spPr>
          <a:xfrm xmlns:a="http://schemas.openxmlformats.org/drawingml/2006/main">
            <a:off x="9043416" y="169164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3" name="Shape 26">
            <a:extLst xmlns:a="http://schemas.openxmlformats.org/drawingml/2006/main">
              <a:ext uri="{FF2B5EF4-FFF2-40B4-BE49-F238E27FC236}">
                <a16:creationId xmlns:a16="http://schemas.microsoft.com/office/drawing/2014/main" id="{4784FEB5-9BF9-4797-8354-8206244B17DA}"/>
              </a:ext>
            </a:extLst>
          </p:cNvPr>
          <p:cNvSpPr>
            <a:spLocks xmlns:a="http://schemas.openxmlformats.org/drawingml/2006/main" noGrp="1"/>
          </p:cNvSpPr>
          <p:nvPr/>
        </p:nvSpPr>
        <p:spPr>
          <a:xfrm xmlns:a="http://schemas.openxmlformats.org/drawingml/2006/main">
            <a:off x="9317736" y="205740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34" name="Text 27">
            <a:extLst xmlns:a="http://schemas.openxmlformats.org/drawingml/2006/main">
              <a:ext uri="{FF2B5EF4-FFF2-40B4-BE49-F238E27FC236}">
                <a16:creationId xmlns:a16="http://schemas.microsoft.com/office/drawing/2014/main" id="{6D3C256B-96EC-4ACA-A2B9-2D874E3E4950}"/>
              </a:ext>
            </a:extLst>
          </p:cNvPr>
          <p:cNvSpPr>
            <a:spLocks xmlns:a="http://schemas.openxmlformats.org/drawingml/2006/main" noGrp="1"/>
          </p:cNvSpPr>
          <p:nvPr/>
        </p:nvSpPr>
        <p:spPr>
          <a:xfrm xmlns:a="http://schemas.openxmlformats.org/drawingml/2006/main">
            <a:off x="9317736" y="205740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4</a:t>
            </a:r>
            <a:endParaRPr sz="2200"/>
          </a:p>
        </p:txBody>
      </p:sp>
      <p:pic>
        <p:nvPicPr>
          <p:cNvPr id="78" name="Image 5"/>
          <p:cNvPicPr>
            <a:picLocks xmlns:a="http://schemas.openxmlformats.org/drawingml/2006/main" noChangeAspect="1"/>
          </p:cNvPicPr>
          <p:nvPr/>
        </p:nvPicPr>
        <p:blipFill>
          <a:blip xmlns:r="http://schemas.openxmlformats.org/officeDocument/2006/relationships" xmlns:a="http://schemas.openxmlformats.org/drawingml/2006/main" r:embed="Rf5a297aa3479407e"/>
          <a:stretch xmlns:a="http://schemas.openxmlformats.org/drawingml/2006/main">
            <a:fillRect l="0" t="0" r="0" b="0"/>
          </a:stretch>
        </p:blipFill>
        <p:spPr>
          <a:xfrm xmlns:a="http://schemas.openxmlformats.org/drawingml/2006/main">
            <a:off x="10872216" y="2103120"/>
            <a:ext cx="548640" cy="548640"/>
          </a:xfrm>
          <a:prstGeom xmlns:a="http://schemas.openxmlformats.org/drawingml/2006/main" prst="rect">
            <a:avLst/>
          </a:prstGeom>
        </p:spPr>
      </p:pic>
      <p:sp>
        <p:nvSpPr>
          <p:cNvPr id="36" name="Text 28">
            <a:extLst xmlns:a="http://schemas.openxmlformats.org/drawingml/2006/main">
              <a:ext uri="{FF2B5EF4-FFF2-40B4-BE49-F238E27FC236}">
                <a16:creationId xmlns:a16="http://schemas.microsoft.com/office/drawing/2014/main" id="{4B27CD2C-ECDF-4CCA-B916-19BA059826E4}"/>
              </a:ext>
            </a:extLst>
          </p:cNvPr>
          <p:cNvSpPr>
            <a:spLocks xmlns:a="http://schemas.openxmlformats.org/drawingml/2006/main" noGrp="1"/>
          </p:cNvSpPr>
          <p:nvPr/>
        </p:nvSpPr>
        <p:spPr>
          <a:xfrm xmlns:a="http://schemas.openxmlformats.org/drawingml/2006/main">
            <a:off x="9226296" y="288036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Memetakan</a:t>
            </a:r>
            <a:endParaRPr sz="1800"/>
          </a:p>
        </p:txBody>
      </p:sp>
      <p:sp>
        <p:nvSpPr>
          <p:cNvPr id="37" name="Text 29">
            <a:extLst xmlns:a="http://schemas.openxmlformats.org/drawingml/2006/main">
              <a:ext uri="{FF2B5EF4-FFF2-40B4-BE49-F238E27FC236}">
                <a16:creationId xmlns:a16="http://schemas.microsoft.com/office/drawing/2014/main" id="{423E0CF4-FB2D-43DC-BEA7-5C60C0E7F08F}"/>
              </a:ext>
            </a:extLst>
          </p:cNvPr>
          <p:cNvSpPr>
            <a:spLocks xmlns:a="http://schemas.openxmlformats.org/drawingml/2006/main" noGrp="1"/>
          </p:cNvSpPr>
          <p:nvPr/>
        </p:nvSpPr>
        <p:spPr>
          <a:xfrm xmlns:a="http://schemas.openxmlformats.org/drawingml/2006/main">
            <a:off x="9226296" y="3429000"/>
            <a:ext cx="2331720" cy="22860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layanan free-tier (Oracle, GCP, Vercel, Supabase, HF Spaces) untuk projek kuliah.</a:t>
            </a:r>
            <a:endParaRPr sz="1200"/>
          </a:p>
        </p:txBody>
      </p:sp>
      <p:sp>
        <p:nvSpPr>
          <p:cNvPr id="38" name="Text 30">
            <a:extLst xmlns:a="http://schemas.openxmlformats.org/drawingml/2006/main">
              <a:ext uri="{FF2B5EF4-FFF2-40B4-BE49-F238E27FC236}">
                <a16:creationId xmlns:a16="http://schemas.microsoft.com/office/drawing/2014/main" id="{807F07E5-29F7-4580-9D50-683FD4A3CAA3}"/>
              </a:ext>
            </a:extLst>
          </p:cNvPr>
          <p:cNvSpPr>
            <a:spLocks xmlns:a="http://schemas.openxmlformats.org/drawingml/2006/main" noGrp="1"/>
          </p:cNvSpPr>
          <p:nvPr/>
        </p:nvSpPr>
        <p:spPr>
          <a:xfrm xmlns:a="http://schemas.openxmlformats.org/drawingml/2006/main">
            <a:off x="457200" y="60350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Sesi ini mendukung:  </a:t>
            </a:r>
            <a:r>
              <a:rPr sz="1100" b="1" i="1">
                <a:solidFill>
                  <a:srgbClr val="002677"/>
                </a:solidFill>
                <a:latin typeface="Calibri"/>
                <a:ea typeface="Calibri"/>
                <a:cs typeface="Calibri"/>
              </a:rPr>
              <a:t>LO1 (analyze service &amp; deployment models)  +  LO2 (intro stack free-tier untuk implementasi)</a:t>
            </a:r>
            <a:endParaRPr sz="1100"/>
          </a:p>
        </p:txBody>
      </p:sp>
    </p:spTree>
    <p:extLst>
      <p:ext uri="{BB962C8B-B14F-4D97-AF65-F5344CB8AC3E}">
        <p14:creationId xmlns:p14="http://schemas.microsoft.com/office/powerpoint/2010/main" val="1269448472"/>
      </p:ext>
    </p:extLst>
  </p:cSld>
</p:sld>
</file>

<file path=ppt/slides/slide5.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114956D-0E77-4470-B6A2-DCD5D3440580}"/>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777BE7C6-4A4B-42A0-B800-0113C9BBB702}"/>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3A4C310A-9C28-4B0A-ABA2-2770814AB292}"/>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5E8A9B22-1B63-4610-AC3A-79A6B94B9D2D}"/>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2A2D14AE-1901-4C7A-B8A6-5109827A20A0}"/>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CF13D8A8-F974-40F6-BE10-48E9E6CB893F}"/>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12B76467-C8E9-4E74-9A6B-230BEFE37345}"/>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fef57cc075e84035"/>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p:cNvPicPr>
            <a:picLocks xmlns:a="http://schemas.openxmlformats.org/drawingml/2006/main" noChangeAspect="1"/>
          </p:cNvPicPr>
          <p:nvPr/>
        </p:nvPicPr>
        <p:blipFill>
          <a:blip xmlns:r="http://schemas.openxmlformats.org/officeDocument/2006/relationships" xmlns:a="http://schemas.openxmlformats.org/drawingml/2006/main" r:embed="R5b14d9cd81f34eff"/>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087AB644-554D-48FC-B982-F8795780CDDE}"/>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01</a:t>
            </a:r>
            <a:endParaRPr sz="1600"/>
          </a:p>
        </p:txBody>
      </p:sp>
      <p:sp>
        <p:nvSpPr>
          <p:cNvPr id="12" name="Text 8">
            <a:extLst xmlns:a="http://schemas.openxmlformats.org/drawingml/2006/main">
              <a:ext uri="{FF2B5EF4-FFF2-40B4-BE49-F238E27FC236}">
                <a16:creationId xmlns:a16="http://schemas.microsoft.com/office/drawing/2014/main" id="{000F19C5-1020-4DAA-9CAE-15C0CAF3AD5F}"/>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Apa Itu Cloud</a:t>
            </a:r>
            <a:endParaRPr sz="5200"/>
          </a:p>
          <a:p xmlns:a="http://schemas.openxmlformats.org/drawingml/2006/main">
            <a:pPr marL="0" indent="0" algn="ctr">
              <a:buNone/>
            </a:pPr>
            <a:r>
              <a:rPr sz="5200" b="1">
                <a:solidFill>
                  <a:srgbClr val="FFFFFF"/>
                </a:solidFill>
                <a:latin typeface="Calibri"/>
                <a:ea typeface="Calibri"/>
                <a:cs typeface="Calibri"/>
              </a:rPr>
              <a:t>Computing?</a:t>
            </a:r>
            <a:endParaRPr sz="5200"/>
          </a:p>
        </p:txBody>
      </p:sp>
      <p:sp>
        <p:nvSpPr>
          <p:cNvPr id="13" name="Shape 9">
            <a:extLst xmlns:a="http://schemas.openxmlformats.org/drawingml/2006/main">
              <a:ext uri="{FF2B5EF4-FFF2-40B4-BE49-F238E27FC236}">
                <a16:creationId xmlns:a16="http://schemas.microsoft.com/office/drawing/2014/main" id="{B4AA0922-F67D-4A2C-A922-B278A0509B01}"/>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D364E18C-7CBF-493E-B22C-E5B627926A60}"/>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Definisi, sejarah singkat, dan kenapa industri pindah ke cloud.</a:t>
            </a:r>
            <a:endParaRPr sz="1400"/>
          </a:p>
        </p:txBody>
      </p:sp>
    </p:spTree>
    <p:extLst>
      <p:ext uri="{BB962C8B-B14F-4D97-AF65-F5344CB8AC3E}">
        <p14:creationId xmlns:p14="http://schemas.microsoft.com/office/powerpoint/2010/main" val="8613778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5C0EFE6-A45C-4FB5-BF98-345532964F44}"/>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F1673078-4B34-4E8D-9B7F-150BCE8CCC6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6</a:t>
            </a:r>
            <a:endParaRPr sz="900"/>
          </a:p>
        </p:txBody>
      </p:sp>
      <p:sp>
        <p:nvSpPr>
          <p:cNvPr id="4" name="Shape 2">
            <a:extLst xmlns:a="http://schemas.openxmlformats.org/drawingml/2006/main">
              <a:ext uri="{FF2B5EF4-FFF2-40B4-BE49-F238E27FC236}">
                <a16:creationId xmlns:a16="http://schemas.microsoft.com/office/drawing/2014/main" id="{A80A9E89-9741-4BC7-AD20-86102F7F6E5A}"/>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dcc6970c29c543b1"/>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28" name="Image 1"/>
          <p:cNvPicPr>
            <a:picLocks xmlns:a="http://schemas.openxmlformats.org/drawingml/2006/main" noChangeAspect="1"/>
          </p:cNvPicPr>
          <p:nvPr/>
        </p:nvPicPr>
        <p:blipFill>
          <a:blip xmlns:r="http://schemas.openxmlformats.org/officeDocument/2006/relationships" xmlns:a="http://schemas.openxmlformats.org/drawingml/2006/main" r:embed="R113de2298fc741fa"/>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DD581ACA-782C-4C3C-AB31-0FE16CB0EDFD}"/>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EC7F7C6E-3B33-4562-908E-74A13835B4A5}"/>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Definisi: Computing as a Utility</a:t>
            </a:r>
            <a:endParaRPr sz="2200"/>
          </a:p>
        </p:txBody>
      </p:sp>
      <p:sp>
        <p:nvSpPr>
          <p:cNvPr id="9" name="Text 5">
            <a:extLst xmlns:a="http://schemas.openxmlformats.org/drawingml/2006/main">
              <a:ext uri="{FF2B5EF4-FFF2-40B4-BE49-F238E27FC236}">
                <a16:creationId xmlns:a16="http://schemas.microsoft.com/office/drawing/2014/main" id="{989D8B70-5C86-485D-BD2D-CCBCDB0930DD}"/>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NIST Definition</a:t>
            </a:r>
            <a:endParaRPr sz="1200"/>
          </a:p>
        </p:txBody>
      </p:sp>
      <p:sp>
        <p:nvSpPr>
          <p:cNvPr id="10" name="Shape 6">
            <a:extLst xmlns:a="http://schemas.openxmlformats.org/drawingml/2006/main">
              <a:ext uri="{FF2B5EF4-FFF2-40B4-BE49-F238E27FC236}">
                <a16:creationId xmlns:a16="http://schemas.microsoft.com/office/drawing/2014/main" id="{652CFF3C-D225-47E6-9E5F-A2ADD9AE6774}"/>
              </a:ext>
            </a:extLst>
          </p:cNvPr>
          <p:cNvSpPr>
            <a:spLocks xmlns:a="http://schemas.openxmlformats.org/drawingml/2006/main" noGrp="1"/>
          </p:cNvSpPr>
          <p:nvPr/>
        </p:nvSpPr>
        <p:spPr>
          <a:xfrm xmlns:a="http://schemas.openxmlformats.org/drawingml/2006/main">
            <a:off x="457200" y="1691640"/>
            <a:ext cx="5943600" cy="30175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626CDA8F-87D2-49CE-91EE-94D9EE262682}"/>
              </a:ext>
            </a:extLst>
          </p:cNvPr>
          <p:cNvSpPr>
            <a:spLocks xmlns:a="http://schemas.openxmlformats.org/drawingml/2006/main" noGrp="1"/>
          </p:cNvSpPr>
          <p:nvPr/>
        </p:nvSpPr>
        <p:spPr>
          <a:xfrm xmlns:a="http://schemas.openxmlformats.org/drawingml/2006/main">
            <a:off x="457200" y="1691640"/>
            <a:ext cx="91440" cy="301752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2" name="Text 8">
            <a:extLst xmlns:a="http://schemas.openxmlformats.org/drawingml/2006/main">
              <a:ext uri="{FF2B5EF4-FFF2-40B4-BE49-F238E27FC236}">
                <a16:creationId xmlns:a16="http://schemas.microsoft.com/office/drawing/2014/main" id="{98129F66-0C10-4FCB-92EB-FA16202003BF}"/>
              </a:ext>
            </a:extLst>
          </p:cNvPr>
          <p:cNvSpPr>
            <a:spLocks xmlns:a="http://schemas.openxmlformats.org/drawingml/2006/main" noGrp="1"/>
          </p:cNvSpPr>
          <p:nvPr/>
        </p:nvSpPr>
        <p:spPr>
          <a:xfrm xmlns:a="http://schemas.openxmlformats.org/drawingml/2006/main">
            <a:off x="777240" y="1691640"/>
            <a:ext cx="914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37021"/>
                </a:solidFill>
                <a:latin typeface="Calibri"/>
                <a:ea typeface="Calibri"/>
                <a:cs typeface="Calibri"/>
              </a:rPr>
              <a:t>"</a:t>
            </a:r>
            <a:endParaRPr sz="4800"/>
          </a:p>
        </p:txBody>
      </p:sp>
      <p:sp>
        <p:nvSpPr>
          <p:cNvPr id="13" name="Text 9">
            <a:extLst xmlns:a="http://schemas.openxmlformats.org/drawingml/2006/main">
              <a:ext uri="{FF2B5EF4-FFF2-40B4-BE49-F238E27FC236}">
                <a16:creationId xmlns:a16="http://schemas.microsoft.com/office/drawing/2014/main" id="{FBB90613-29C5-430E-93ED-64321BDBF9E1}"/>
              </a:ext>
            </a:extLst>
          </p:cNvPr>
          <p:cNvSpPr>
            <a:spLocks xmlns:a="http://schemas.openxmlformats.org/drawingml/2006/main" noGrp="1"/>
          </p:cNvSpPr>
          <p:nvPr/>
        </p:nvSpPr>
        <p:spPr>
          <a:xfrm xmlns:a="http://schemas.openxmlformats.org/drawingml/2006/main">
            <a:off x="777240" y="2286000"/>
            <a:ext cx="5486400" cy="2103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i="1">
                <a:solidFill>
                  <a:srgbClr val="1E293B"/>
                </a:solidFill>
                <a:latin typeface="Calibri"/>
                <a:ea typeface="Calibri"/>
                <a:cs typeface="Calibri"/>
              </a:rPr>
              <a:t>Cloud computing is a model for enabling ubiquitous, on-demand network access to a shared pool of configurable computing resources (networks, servers, storage, applications, services) that can be rapidly provisioned and released with minimal management effort.</a:t>
            </a:r>
            <a:endParaRPr sz="1300"/>
          </a:p>
        </p:txBody>
      </p:sp>
      <p:sp>
        <p:nvSpPr>
          <p:cNvPr id="14" name="Text 10">
            <a:extLst xmlns:a="http://schemas.openxmlformats.org/drawingml/2006/main">
              <a:ext uri="{FF2B5EF4-FFF2-40B4-BE49-F238E27FC236}">
                <a16:creationId xmlns:a16="http://schemas.microsoft.com/office/drawing/2014/main" id="{D65A80E1-800E-4BF3-A861-A88B304F55CA}"/>
              </a:ext>
            </a:extLst>
          </p:cNvPr>
          <p:cNvSpPr>
            <a:spLocks xmlns:a="http://schemas.openxmlformats.org/drawingml/2006/main" noGrp="1"/>
          </p:cNvSpPr>
          <p:nvPr/>
        </p:nvSpPr>
        <p:spPr>
          <a:xfrm xmlns:a="http://schemas.openxmlformats.org/drawingml/2006/main">
            <a:off x="777240" y="4389120"/>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64748B"/>
                </a:solidFill>
                <a:latin typeface="Calibri"/>
                <a:ea typeface="Calibri"/>
                <a:cs typeface="Calibri"/>
              </a:rPr>
              <a:t>- NIST SP 800-145 (2011)</a:t>
            </a:r>
            <a:endParaRPr sz="1100"/>
          </a:p>
        </p:txBody>
      </p:sp>
      <p:sp>
        <p:nvSpPr>
          <p:cNvPr id="15" name="Text 11">
            <a:extLst xmlns:a="http://schemas.openxmlformats.org/drawingml/2006/main">
              <a:ext uri="{FF2B5EF4-FFF2-40B4-BE49-F238E27FC236}">
                <a16:creationId xmlns:a16="http://schemas.microsoft.com/office/drawing/2014/main" id="{21EA2EEC-4330-46EF-B68C-6B192123A779}"/>
              </a:ext>
            </a:extLst>
          </p:cNvPr>
          <p:cNvSpPr>
            <a:spLocks xmlns:a="http://schemas.openxmlformats.org/drawingml/2006/main" noGrp="1"/>
          </p:cNvSpPr>
          <p:nvPr/>
        </p:nvSpPr>
        <p:spPr>
          <a:xfrm xmlns:a="http://schemas.openxmlformats.org/drawingml/2006/main">
            <a:off x="6675120" y="1691640"/>
            <a:ext cx="5029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Analogi: Listrik dari PLN</a:t>
            </a:r>
            <a:endParaRPr sz="1600"/>
          </a:p>
        </p:txBody>
      </p:sp>
      <p:sp>
        <p:nvSpPr>
          <p:cNvPr id="16" name="Shape 12">
            <a:extLst xmlns:a="http://schemas.openxmlformats.org/drawingml/2006/main">
              <a:ext uri="{FF2B5EF4-FFF2-40B4-BE49-F238E27FC236}">
                <a16:creationId xmlns:a16="http://schemas.microsoft.com/office/drawing/2014/main" id="{2F3F7E98-5F5F-403C-84D8-E83DDF178035}"/>
              </a:ext>
            </a:extLst>
          </p:cNvPr>
          <p:cNvSpPr>
            <a:spLocks xmlns:a="http://schemas.openxmlformats.org/drawingml/2006/main" noGrp="1"/>
          </p:cNvSpPr>
          <p:nvPr/>
        </p:nvSpPr>
        <p:spPr>
          <a:xfrm xmlns:a="http://schemas.openxmlformats.org/drawingml/2006/main">
            <a:off x="6675120" y="2148840"/>
            <a:ext cx="5029200" cy="256032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7" name="Text 13">
            <a:extLst xmlns:a="http://schemas.openxmlformats.org/drawingml/2006/main">
              <a:ext uri="{FF2B5EF4-FFF2-40B4-BE49-F238E27FC236}">
                <a16:creationId xmlns:a16="http://schemas.microsoft.com/office/drawing/2014/main" id="{43D14335-F56C-4517-8932-D52855278300}"/>
              </a:ext>
            </a:extLst>
          </p:cNvPr>
          <p:cNvSpPr>
            <a:spLocks xmlns:a="http://schemas.openxmlformats.org/drawingml/2006/main" noGrp="1"/>
          </p:cNvSpPr>
          <p:nvPr/>
        </p:nvSpPr>
        <p:spPr>
          <a:xfrm xmlns:a="http://schemas.openxmlformats.org/drawingml/2006/main">
            <a:off x="6858000" y="2286000"/>
            <a:ext cx="4663440" cy="2286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400"/>
              </a:spcAft>
              <a:buSzPct val="100000"/>
              <a:buChar char="▸"/>
            </a:pPr>
            <a:r>
              <a:rPr sz="1300">
                <a:solidFill>
                  <a:srgbClr val="1E293B"/>
                </a:solidFill>
                <a:latin typeface="Calibri"/>
                <a:ea typeface="Calibri"/>
                <a:cs typeface="Calibri"/>
              </a:rPr>
              <a:t>Anda tidak punya generator sendiri</a:t>
            </a:r>
            <a:endParaRPr sz="1300"/>
          </a:p>
          <a:p xmlns:a="http://schemas.openxmlformats.org/drawingml/2006/main">
            <a:pPr marL="342900" indent="-342900">
              <a:spcAft>
                <a:spcPts val="400"/>
              </a:spcAft>
              <a:buSzPct val="100000"/>
              <a:buChar char="▸"/>
            </a:pPr>
            <a:r>
              <a:rPr sz="1300">
                <a:solidFill>
                  <a:srgbClr val="1E293B"/>
                </a:solidFill>
                <a:latin typeface="Calibri"/>
                <a:ea typeface="Calibri"/>
                <a:cs typeface="Calibri"/>
              </a:rPr>
              <a:t>Bayar sesuai pemakaian (kWh)</a:t>
            </a:r>
            <a:endParaRPr sz="1300"/>
          </a:p>
          <a:p xmlns:a="http://schemas.openxmlformats.org/drawingml/2006/main">
            <a:pPr marL="342900" indent="-342900">
              <a:spcAft>
                <a:spcPts val="400"/>
              </a:spcAft>
              <a:buSzPct val="100000"/>
              <a:buChar char="▸"/>
            </a:pPr>
            <a:r>
              <a:rPr sz="1300">
                <a:solidFill>
                  <a:srgbClr val="1E293B"/>
                </a:solidFill>
                <a:latin typeface="Calibri"/>
                <a:ea typeface="Calibri"/>
                <a:cs typeface="Calibri"/>
              </a:rPr>
              <a:t>Bisa pasang AC kapan saja (skalabel)</a:t>
            </a:r>
            <a:endParaRPr sz="1300"/>
          </a:p>
          <a:p xmlns:a="http://schemas.openxmlformats.org/drawingml/2006/main">
            <a:pPr marL="342900" indent="-342900">
              <a:spcAft>
                <a:spcPts val="400"/>
              </a:spcAft>
              <a:buSzPct val="100000"/>
              <a:buChar char="▸"/>
            </a:pPr>
            <a:r>
              <a:rPr sz="1300">
                <a:solidFill>
                  <a:srgbClr val="1E293B"/>
                </a:solidFill>
                <a:latin typeface="Calibri"/>
                <a:ea typeface="Calibri"/>
                <a:cs typeface="Calibri"/>
              </a:rPr>
              <a:t>Tidak peduli darimana listriknya dibuat</a:t>
            </a:r>
            <a:endParaRPr sz="1300"/>
          </a:p>
          <a:p xmlns:a="http://schemas.openxmlformats.org/drawingml/2006/main">
            <a:pPr marL="342900" indent="-342900">
              <a:spcAft>
                <a:spcPts val="400"/>
              </a:spcAft>
              <a:buSzPct val="100000"/>
              <a:buChar char="▸"/>
            </a:pPr>
            <a:r>
              <a:rPr sz="1300">
                <a:solidFill>
                  <a:srgbClr val="1E293B"/>
                </a:solidFill>
                <a:latin typeface="Calibri"/>
                <a:ea typeface="Calibri"/>
                <a:cs typeface="Calibri"/>
              </a:rPr>
              <a:t>Tinggal colok - langsung pakai</a:t>
            </a:r>
            <a:endParaRPr sz="1300"/>
          </a:p>
        </p:txBody>
      </p:sp>
      <p:sp>
        <p:nvSpPr>
          <p:cNvPr id="18" name="Shape 14">
            <a:extLst xmlns:a="http://schemas.openxmlformats.org/drawingml/2006/main">
              <a:ext uri="{FF2B5EF4-FFF2-40B4-BE49-F238E27FC236}">
                <a16:creationId xmlns:a16="http://schemas.microsoft.com/office/drawing/2014/main" id="{3431AE64-521A-487D-9285-B04EAB43157E}"/>
              </a:ext>
            </a:extLst>
          </p:cNvPr>
          <p:cNvSpPr>
            <a:spLocks xmlns:a="http://schemas.openxmlformats.org/drawingml/2006/main" noGrp="1"/>
          </p:cNvSpPr>
          <p:nvPr/>
        </p:nvSpPr>
        <p:spPr>
          <a:xfrm xmlns:a="http://schemas.openxmlformats.org/drawingml/2006/main">
            <a:off x="457200" y="5029200"/>
            <a:ext cx="11247120" cy="91440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41" name="Image 2"/>
          <p:cNvPicPr>
            <a:picLocks xmlns:a="http://schemas.openxmlformats.org/drawingml/2006/main" noChangeAspect="1"/>
          </p:cNvPicPr>
          <p:nvPr/>
        </p:nvPicPr>
        <p:blipFill>
          <a:blip xmlns:r="http://schemas.openxmlformats.org/officeDocument/2006/relationships" xmlns:a="http://schemas.openxmlformats.org/drawingml/2006/main" r:embed="Rb651cbd4f8874b7c"/>
          <a:stretch xmlns:a="http://schemas.openxmlformats.org/drawingml/2006/main">
            <a:fillRect l="0" t="0" r="0" b="0"/>
          </a:stretch>
        </p:blipFill>
        <p:spPr>
          <a:xfrm xmlns:a="http://schemas.openxmlformats.org/drawingml/2006/main">
            <a:off x="731520" y="5212080"/>
            <a:ext cx="548640" cy="548640"/>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E250DEF2-2531-4FDA-87ED-0774479845EC}"/>
              </a:ext>
            </a:extLst>
          </p:cNvPr>
          <p:cNvSpPr>
            <a:spLocks xmlns:a="http://schemas.openxmlformats.org/drawingml/2006/main" noGrp="1"/>
          </p:cNvSpPr>
          <p:nvPr/>
        </p:nvSpPr>
        <p:spPr>
          <a:xfrm xmlns:a="http://schemas.openxmlformats.org/drawingml/2006/main">
            <a:off x="1463040" y="5212080"/>
            <a:ext cx="10058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37021"/>
                </a:solidFill>
                <a:latin typeface="Calibri"/>
                <a:ea typeface="Calibri"/>
                <a:cs typeface="Calibri"/>
              </a:rPr>
              <a:t>Intinya: </a:t>
            </a:r>
            <a:r>
              <a:rPr sz="1600">
                <a:solidFill>
                  <a:srgbClr val="FFFFFF"/>
                </a:solidFill>
                <a:latin typeface="Calibri"/>
                <a:ea typeface="Calibri"/>
                <a:cs typeface="Calibri"/>
              </a:rPr>
              <a:t>komputasi diperlakukan seperti utilitas - on-demand, pay-as-you-go, self-service.</a:t>
            </a:r>
            <a:endParaRPr sz="1800"/>
          </a:p>
        </p:txBody>
      </p:sp>
    </p:spTree>
    <p:extLst>
      <p:ext uri="{BB962C8B-B14F-4D97-AF65-F5344CB8AC3E}">
        <p14:creationId xmlns:p14="http://schemas.microsoft.com/office/powerpoint/2010/main" val="18280394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12F12C5-5811-4E97-B87D-0ADE558035A8}"/>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9E975815-0800-42FD-B3F6-9084EF3D7366}"/>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7</a:t>
            </a:r>
            <a:endParaRPr sz="900"/>
          </a:p>
        </p:txBody>
      </p:sp>
      <p:sp>
        <p:nvSpPr>
          <p:cNvPr id="4" name="Shape 2">
            <a:extLst xmlns:a="http://schemas.openxmlformats.org/drawingml/2006/main">
              <a:ext uri="{FF2B5EF4-FFF2-40B4-BE49-F238E27FC236}">
                <a16:creationId xmlns:a16="http://schemas.microsoft.com/office/drawing/2014/main" id="{0DB9F006-B6AA-4A10-A675-1F0751F709CB}"/>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5" name="Image 0"/>
          <p:cNvPicPr>
            <a:picLocks xmlns:a="http://schemas.openxmlformats.org/drawingml/2006/main" noChangeAspect="1"/>
          </p:cNvPicPr>
          <p:nvPr/>
        </p:nvPicPr>
        <p:blipFill>
          <a:blip xmlns:r="http://schemas.openxmlformats.org/officeDocument/2006/relationships" xmlns:a="http://schemas.openxmlformats.org/drawingml/2006/main" r:embed="Rcddcfc46bd0842d8"/>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6" name="Image 1"/>
          <p:cNvPicPr>
            <a:picLocks xmlns:a="http://schemas.openxmlformats.org/drawingml/2006/main" noChangeAspect="1"/>
          </p:cNvPicPr>
          <p:nvPr/>
        </p:nvPicPr>
        <p:blipFill>
          <a:blip xmlns:r="http://schemas.openxmlformats.org/officeDocument/2006/relationships" xmlns:a="http://schemas.openxmlformats.org/drawingml/2006/main" r:embed="R957dbe16f550401e"/>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E7B8667A-ABBE-4F34-AF6A-49FE9072C6A5}"/>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4CA210BB-A6A4-4ED2-820A-7DD622B050D3}"/>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5 Karakteristik Esensial</a:t>
            </a:r>
            <a:endParaRPr sz="2200"/>
          </a:p>
        </p:txBody>
      </p:sp>
      <p:sp>
        <p:nvSpPr>
          <p:cNvPr id="9" name="Text 5">
            <a:extLst xmlns:a="http://schemas.openxmlformats.org/drawingml/2006/main">
              <a:ext uri="{FF2B5EF4-FFF2-40B4-BE49-F238E27FC236}">
                <a16:creationId xmlns:a16="http://schemas.microsoft.com/office/drawing/2014/main" id="{287FEFCD-D09C-4C54-9866-4E45FE51017F}"/>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Menurut NIST</a:t>
            </a:r>
            <a:endParaRPr sz="1200"/>
          </a:p>
        </p:txBody>
      </p:sp>
      <p:sp>
        <p:nvSpPr>
          <p:cNvPr id="10" name="Shape 6">
            <a:extLst xmlns:a="http://schemas.openxmlformats.org/drawingml/2006/main">
              <a:ext uri="{FF2B5EF4-FFF2-40B4-BE49-F238E27FC236}">
                <a16:creationId xmlns:a16="http://schemas.microsoft.com/office/drawing/2014/main" id="{A27F5720-6C05-42BC-A7CE-E9ABB8A405E8}"/>
              </a:ext>
            </a:extLst>
          </p:cNvPr>
          <p:cNvSpPr>
            <a:spLocks xmlns:a="http://schemas.openxmlformats.org/drawingml/2006/main" noGrp="1"/>
          </p:cNvSpPr>
          <p:nvPr/>
        </p:nvSpPr>
        <p:spPr>
          <a:xfrm xmlns:a="http://schemas.openxmlformats.org/drawingml/2006/main">
            <a:off x="457200" y="1691640"/>
            <a:ext cx="3703320" cy="2057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79B6488E-6E12-4A1C-972A-CA7E9131BDEB}"/>
              </a:ext>
            </a:extLst>
          </p:cNvPr>
          <p:cNvSpPr>
            <a:spLocks xmlns:a="http://schemas.openxmlformats.org/drawingml/2006/main" noGrp="1"/>
          </p:cNvSpPr>
          <p:nvPr/>
        </p:nvSpPr>
        <p:spPr>
          <a:xfrm xmlns:a="http://schemas.openxmlformats.org/drawingml/2006/main">
            <a:off x="457200" y="1691640"/>
            <a:ext cx="73152" cy="205740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2" name="Image 2"/>
          <p:cNvPicPr>
            <a:picLocks xmlns:a="http://schemas.openxmlformats.org/drawingml/2006/main" noChangeAspect="1"/>
          </p:cNvPicPr>
          <p:nvPr/>
        </p:nvPicPr>
        <p:blipFill>
          <a:blip xmlns:r="http://schemas.openxmlformats.org/officeDocument/2006/relationships" xmlns:a="http://schemas.openxmlformats.org/drawingml/2006/main" r:embed="Rcc93369cb8dd455d"/>
          <a:stretch xmlns:a="http://schemas.openxmlformats.org/drawingml/2006/main">
            <a:fillRect l="0" t="0" r="0" b="0"/>
          </a:stretch>
        </p:blipFill>
        <p:spPr>
          <a:xfrm xmlns:a="http://schemas.openxmlformats.org/drawingml/2006/main">
            <a:off x="731520" y="1965960"/>
            <a:ext cx="502920" cy="50292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57C5CD1E-5D11-40B8-BE58-5BF498D1963E}"/>
              </a:ext>
            </a:extLst>
          </p:cNvPr>
          <p:cNvSpPr>
            <a:spLocks xmlns:a="http://schemas.openxmlformats.org/drawingml/2006/main" noGrp="1"/>
          </p:cNvSpPr>
          <p:nvPr/>
        </p:nvSpPr>
        <p:spPr>
          <a:xfrm xmlns:a="http://schemas.openxmlformats.org/drawingml/2006/main">
            <a:off x="1371600" y="1965960"/>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2677"/>
                </a:solidFill>
                <a:latin typeface="Calibri"/>
                <a:ea typeface="Calibri"/>
                <a:cs typeface="Calibri"/>
              </a:rPr>
              <a:t>On-Demand Self-Service</a:t>
            </a:r>
            <a:endParaRPr sz="1500"/>
          </a:p>
        </p:txBody>
      </p:sp>
      <p:sp>
        <p:nvSpPr>
          <p:cNvPr id="14" name="Text 9">
            <a:extLst xmlns:a="http://schemas.openxmlformats.org/drawingml/2006/main">
              <a:ext uri="{FF2B5EF4-FFF2-40B4-BE49-F238E27FC236}">
                <a16:creationId xmlns:a16="http://schemas.microsoft.com/office/drawing/2014/main" id="{E1B03003-6D91-4BD2-B0C8-B5216A490E65}"/>
              </a:ext>
            </a:extLst>
          </p:cNvPr>
          <p:cNvSpPr>
            <a:spLocks xmlns:a="http://schemas.openxmlformats.org/drawingml/2006/main" noGrp="1"/>
          </p:cNvSpPr>
          <p:nvPr/>
        </p:nvSpPr>
        <p:spPr>
          <a:xfrm xmlns:a="http://schemas.openxmlformats.org/drawingml/2006/main">
            <a:off x="731520" y="2606040"/>
            <a:ext cx="3246120" cy="10515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User bisa provision resource (VM, storage, DB) tanpa interaksi manusia dari provider.</a:t>
            </a:r>
            <a:endParaRPr sz="1100"/>
          </a:p>
        </p:txBody>
      </p:sp>
      <p:sp>
        <p:nvSpPr>
          <p:cNvPr id="15" name="Shape 10">
            <a:extLst xmlns:a="http://schemas.openxmlformats.org/drawingml/2006/main">
              <a:ext uri="{FF2B5EF4-FFF2-40B4-BE49-F238E27FC236}">
                <a16:creationId xmlns:a16="http://schemas.microsoft.com/office/drawing/2014/main" id="{96544225-E220-4F90-B129-BA5AE73212B6}"/>
              </a:ext>
            </a:extLst>
          </p:cNvPr>
          <p:cNvSpPr>
            <a:spLocks xmlns:a="http://schemas.openxmlformats.org/drawingml/2006/main" noGrp="1"/>
          </p:cNvSpPr>
          <p:nvPr/>
        </p:nvSpPr>
        <p:spPr>
          <a:xfrm xmlns:a="http://schemas.openxmlformats.org/drawingml/2006/main">
            <a:off x="4297680" y="1691640"/>
            <a:ext cx="3703320" cy="2057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6" name="Shape 11">
            <a:extLst xmlns:a="http://schemas.openxmlformats.org/drawingml/2006/main">
              <a:ext uri="{FF2B5EF4-FFF2-40B4-BE49-F238E27FC236}">
                <a16:creationId xmlns:a16="http://schemas.microsoft.com/office/drawing/2014/main" id="{7E85F49E-3233-42C8-B38A-77924DCCF80B}"/>
              </a:ext>
            </a:extLst>
          </p:cNvPr>
          <p:cNvSpPr>
            <a:spLocks xmlns:a="http://schemas.openxmlformats.org/drawingml/2006/main" noGrp="1"/>
          </p:cNvSpPr>
          <p:nvPr/>
        </p:nvSpPr>
        <p:spPr>
          <a:xfrm xmlns:a="http://schemas.openxmlformats.org/drawingml/2006/main">
            <a:off x="4297680" y="1691640"/>
            <a:ext cx="73152" cy="205740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7" name="Image 3"/>
          <p:cNvPicPr>
            <a:picLocks xmlns:a="http://schemas.openxmlformats.org/drawingml/2006/main" noChangeAspect="1"/>
          </p:cNvPicPr>
          <p:nvPr/>
        </p:nvPicPr>
        <p:blipFill>
          <a:blip xmlns:r="http://schemas.openxmlformats.org/officeDocument/2006/relationships" xmlns:a="http://schemas.openxmlformats.org/drawingml/2006/main" r:embed="R017a157af2a14110"/>
          <a:stretch xmlns:a="http://schemas.openxmlformats.org/drawingml/2006/main">
            <a:fillRect l="0" t="0" r="0" b="0"/>
          </a:stretch>
        </p:blipFill>
        <p:spPr>
          <a:xfrm xmlns:a="http://schemas.openxmlformats.org/drawingml/2006/main">
            <a:off x="4572000" y="1965960"/>
            <a:ext cx="502920" cy="502920"/>
          </a:xfrm>
          <a:prstGeom xmlns:a="http://schemas.openxmlformats.org/drawingml/2006/main" prst="rect">
            <a:avLst/>
          </a:prstGeom>
        </p:spPr>
      </p:pic>
      <p:sp>
        <p:nvSpPr>
          <p:cNvPr id="18" name="Text 12">
            <a:extLst xmlns:a="http://schemas.openxmlformats.org/drawingml/2006/main">
              <a:ext uri="{FF2B5EF4-FFF2-40B4-BE49-F238E27FC236}">
                <a16:creationId xmlns:a16="http://schemas.microsoft.com/office/drawing/2014/main" id="{7EA51611-8ACD-4711-8359-176A0E04695B}"/>
              </a:ext>
            </a:extLst>
          </p:cNvPr>
          <p:cNvSpPr>
            <a:spLocks xmlns:a="http://schemas.openxmlformats.org/drawingml/2006/main" noGrp="1"/>
          </p:cNvSpPr>
          <p:nvPr/>
        </p:nvSpPr>
        <p:spPr>
          <a:xfrm xmlns:a="http://schemas.openxmlformats.org/drawingml/2006/main">
            <a:off x="5212080" y="1965960"/>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2677"/>
                </a:solidFill>
                <a:latin typeface="Calibri"/>
                <a:ea typeface="Calibri"/>
                <a:cs typeface="Calibri"/>
              </a:rPr>
              <a:t>Broad Network Access</a:t>
            </a:r>
            <a:endParaRPr sz="1500"/>
          </a:p>
        </p:txBody>
      </p:sp>
      <p:sp>
        <p:nvSpPr>
          <p:cNvPr id="19" name="Text 13">
            <a:extLst xmlns:a="http://schemas.openxmlformats.org/drawingml/2006/main">
              <a:ext uri="{FF2B5EF4-FFF2-40B4-BE49-F238E27FC236}">
                <a16:creationId xmlns:a16="http://schemas.microsoft.com/office/drawing/2014/main" id="{E4B73B82-4E07-4B38-A646-C602046698CD}"/>
              </a:ext>
            </a:extLst>
          </p:cNvPr>
          <p:cNvSpPr>
            <a:spLocks xmlns:a="http://schemas.openxmlformats.org/drawingml/2006/main" noGrp="1"/>
          </p:cNvSpPr>
          <p:nvPr/>
        </p:nvSpPr>
        <p:spPr>
          <a:xfrm xmlns:a="http://schemas.openxmlformats.org/drawingml/2006/main">
            <a:off x="4572000" y="2606040"/>
            <a:ext cx="3246120" cy="10515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Resource diakses lewat jaringan standar (HTTPS) dari laptop, HP, tablet, di mana saja.</a:t>
            </a:r>
            <a:endParaRPr sz="1100"/>
          </a:p>
        </p:txBody>
      </p:sp>
      <p:sp>
        <p:nvSpPr>
          <p:cNvPr id="20" name="Shape 14">
            <a:extLst xmlns:a="http://schemas.openxmlformats.org/drawingml/2006/main">
              <a:ext uri="{FF2B5EF4-FFF2-40B4-BE49-F238E27FC236}">
                <a16:creationId xmlns:a16="http://schemas.microsoft.com/office/drawing/2014/main" id="{204D22CB-7892-4584-B83E-6CEB006D3E10}"/>
              </a:ext>
            </a:extLst>
          </p:cNvPr>
          <p:cNvSpPr>
            <a:spLocks xmlns:a="http://schemas.openxmlformats.org/drawingml/2006/main" noGrp="1"/>
          </p:cNvSpPr>
          <p:nvPr/>
        </p:nvSpPr>
        <p:spPr>
          <a:xfrm xmlns:a="http://schemas.openxmlformats.org/drawingml/2006/main">
            <a:off x="8138160" y="1691640"/>
            <a:ext cx="3703320" cy="2057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1" name="Shape 15">
            <a:extLst xmlns:a="http://schemas.openxmlformats.org/drawingml/2006/main">
              <a:ext uri="{FF2B5EF4-FFF2-40B4-BE49-F238E27FC236}">
                <a16:creationId xmlns:a16="http://schemas.microsoft.com/office/drawing/2014/main" id="{EA51B0A3-1C8F-4B39-A250-BA4334607EED}"/>
              </a:ext>
            </a:extLst>
          </p:cNvPr>
          <p:cNvSpPr>
            <a:spLocks xmlns:a="http://schemas.openxmlformats.org/drawingml/2006/main" noGrp="1"/>
          </p:cNvSpPr>
          <p:nvPr/>
        </p:nvSpPr>
        <p:spPr>
          <a:xfrm xmlns:a="http://schemas.openxmlformats.org/drawingml/2006/main">
            <a:off x="8138160" y="1691640"/>
            <a:ext cx="73152" cy="205740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62" name="Image 4"/>
          <p:cNvPicPr>
            <a:picLocks xmlns:a="http://schemas.openxmlformats.org/drawingml/2006/main" noChangeAspect="1"/>
          </p:cNvPicPr>
          <p:nvPr/>
        </p:nvPicPr>
        <p:blipFill>
          <a:blip xmlns:r="http://schemas.openxmlformats.org/officeDocument/2006/relationships" xmlns:a="http://schemas.openxmlformats.org/drawingml/2006/main" r:embed="R604feab58a7a40a8"/>
          <a:stretch xmlns:a="http://schemas.openxmlformats.org/drawingml/2006/main">
            <a:fillRect l="0" t="0" r="0" b="0"/>
          </a:stretch>
        </p:blipFill>
        <p:spPr>
          <a:xfrm xmlns:a="http://schemas.openxmlformats.org/drawingml/2006/main">
            <a:off x="8412480" y="1965960"/>
            <a:ext cx="502920" cy="502920"/>
          </a:xfrm>
          <a:prstGeom xmlns:a="http://schemas.openxmlformats.org/drawingml/2006/main" prst="rect">
            <a:avLst/>
          </a:prstGeom>
        </p:spPr>
      </p:pic>
      <p:sp>
        <p:nvSpPr>
          <p:cNvPr id="23" name="Text 16">
            <a:extLst xmlns:a="http://schemas.openxmlformats.org/drawingml/2006/main">
              <a:ext uri="{FF2B5EF4-FFF2-40B4-BE49-F238E27FC236}">
                <a16:creationId xmlns:a16="http://schemas.microsoft.com/office/drawing/2014/main" id="{7A7ECB07-26AD-434F-9697-12137FD7374D}"/>
              </a:ext>
            </a:extLst>
          </p:cNvPr>
          <p:cNvSpPr>
            <a:spLocks xmlns:a="http://schemas.openxmlformats.org/drawingml/2006/main" noGrp="1"/>
          </p:cNvSpPr>
          <p:nvPr/>
        </p:nvSpPr>
        <p:spPr>
          <a:xfrm xmlns:a="http://schemas.openxmlformats.org/drawingml/2006/main">
            <a:off x="9052560" y="1965960"/>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2677"/>
                </a:solidFill>
                <a:latin typeface="Calibri"/>
                <a:ea typeface="Calibri"/>
                <a:cs typeface="Calibri"/>
              </a:rPr>
              <a:t>Resource Pooling</a:t>
            </a:r>
            <a:endParaRPr sz="1500"/>
          </a:p>
        </p:txBody>
      </p:sp>
      <p:sp>
        <p:nvSpPr>
          <p:cNvPr id="24" name="Text 17">
            <a:extLst xmlns:a="http://schemas.openxmlformats.org/drawingml/2006/main">
              <a:ext uri="{FF2B5EF4-FFF2-40B4-BE49-F238E27FC236}">
                <a16:creationId xmlns:a16="http://schemas.microsoft.com/office/drawing/2014/main" id="{26B6B530-167F-4CEC-BCDE-60A8552094F8}"/>
              </a:ext>
            </a:extLst>
          </p:cNvPr>
          <p:cNvSpPr>
            <a:spLocks xmlns:a="http://schemas.openxmlformats.org/drawingml/2006/main" noGrp="1"/>
          </p:cNvSpPr>
          <p:nvPr/>
        </p:nvSpPr>
        <p:spPr>
          <a:xfrm xmlns:a="http://schemas.openxmlformats.org/drawingml/2006/main">
            <a:off x="8412480" y="2606040"/>
            <a:ext cx="3246120" cy="10515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Provider pakai multi-tenant model: resource fisik di-share, terisolasi per pelanggan.</a:t>
            </a:r>
            <a:endParaRPr sz="1100"/>
          </a:p>
        </p:txBody>
      </p:sp>
      <p:sp>
        <p:nvSpPr>
          <p:cNvPr id="25" name="Shape 18">
            <a:extLst xmlns:a="http://schemas.openxmlformats.org/drawingml/2006/main">
              <a:ext uri="{FF2B5EF4-FFF2-40B4-BE49-F238E27FC236}">
                <a16:creationId xmlns:a16="http://schemas.microsoft.com/office/drawing/2014/main" id="{2A95DCBA-0187-4E27-820D-06859FAC9E84}"/>
              </a:ext>
            </a:extLst>
          </p:cNvPr>
          <p:cNvSpPr>
            <a:spLocks xmlns:a="http://schemas.openxmlformats.org/drawingml/2006/main" noGrp="1"/>
          </p:cNvSpPr>
          <p:nvPr/>
        </p:nvSpPr>
        <p:spPr>
          <a:xfrm xmlns:a="http://schemas.openxmlformats.org/drawingml/2006/main">
            <a:off x="2331720" y="3931920"/>
            <a:ext cx="3703320" cy="2057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6" name="Shape 19">
            <a:extLst xmlns:a="http://schemas.openxmlformats.org/drawingml/2006/main">
              <a:ext uri="{FF2B5EF4-FFF2-40B4-BE49-F238E27FC236}">
                <a16:creationId xmlns:a16="http://schemas.microsoft.com/office/drawing/2014/main" id="{5F7633A8-A1AA-4D85-9EB8-8AD058C16EED}"/>
              </a:ext>
            </a:extLst>
          </p:cNvPr>
          <p:cNvSpPr>
            <a:spLocks xmlns:a="http://schemas.openxmlformats.org/drawingml/2006/main" noGrp="1"/>
          </p:cNvSpPr>
          <p:nvPr/>
        </p:nvSpPr>
        <p:spPr>
          <a:xfrm xmlns:a="http://schemas.openxmlformats.org/drawingml/2006/main">
            <a:off x="2331720" y="3931920"/>
            <a:ext cx="73152" cy="205740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67" name="Image 5"/>
          <p:cNvPicPr>
            <a:picLocks xmlns:a="http://schemas.openxmlformats.org/drawingml/2006/main" noChangeAspect="1"/>
          </p:cNvPicPr>
          <p:nvPr/>
        </p:nvPicPr>
        <p:blipFill>
          <a:blip xmlns:r="http://schemas.openxmlformats.org/officeDocument/2006/relationships" xmlns:a="http://schemas.openxmlformats.org/drawingml/2006/main" r:embed="R95f7088de80848b0"/>
          <a:stretch xmlns:a="http://schemas.openxmlformats.org/drawingml/2006/main">
            <a:fillRect l="0" t="0" r="0" b="0"/>
          </a:stretch>
        </p:blipFill>
        <p:spPr>
          <a:xfrm xmlns:a="http://schemas.openxmlformats.org/drawingml/2006/main">
            <a:off x="2606040" y="4206240"/>
            <a:ext cx="502920" cy="502920"/>
          </a:xfrm>
          <a:prstGeom xmlns:a="http://schemas.openxmlformats.org/drawingml/2006/main" prst="rect">
            <a:avLst/>
          </a:prstGeom>
        </p:spPr>
      </p:pic>
      <p:sp>
        <p:nvSpPr>
          <p:cNvPr id="28" name="Text 20">
            <a:extLst xmlns:a="http://schemas.openxmlformats.org/drawingml/2006/main">
              <a:ext uri="{FF2B5EF4-FFF2-40B4-BE49-F238E27FC236}">
                <a16:creationId xmlns:a16="http://schemas.microsoft.com/office/drawing/2014/main" id="{0EFDF2FC-518B-4F63-95F5-D961B1184F90}"/>
              </a:ext>
            </a:extLst>
          </p:cNvPr>
          <p:cNvSpPr>
            <a:spLocks xmlns:a="http://schemas.openxmlformats.org/drawingml/2006/main" noGrp="1"/>
          </p:cNvSpPr>
          <p:nvPr/>
        </p:nvSpPr>
        <p:spPr>
          <a:xfrm xmlns:a="http://schemas.openxmlformats.org/drawingml/2006/main">
            <a:off x="3246120" y="4206240"/>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2677"/>
                </a:solidFill>
                <a:latin typeface="Calibri"/>
                <a:ea typeface="Calibri"/>
                <a:cs typeface="Calibri"/>
              </a:rPr>
              <a:t>Rapid Elasticity</a:t>
            </a:r>
            <a:endParaRPr sz="1500"/>
          </a:p>
        </p:txBody>
      </p:sp>
      <p:sp>
        <p:nvSpPr>
          <p:cNvPr id="29" name="Text 21">
            <a:extLst xmlns:a="http://schemas.openxmlformats.org/drawingml/2006/main">
              <a:ext uri="{FF2B5EF4-FFF2-40B4-BE49-F238E27FC236}">
                <a16:creationId xmlns:a16="http://schemas.microsoft.com/office/drawing/2014/main" id="{ED9EB163-7C7D-4A89-A5D9-8252717AFC61}"/>
              </a:ext>
            </a:extLst>
          </p:cNvPr>
          <p:cNvSpPr>
            <a:spLocks xmlns:a="http://schemas.openxmlformats.org/drawingml/2006/main" noGrp="1"/>
          </p:cNvSpPr>
          <p:nvPr/>
        </p:nvSpPr>
        <p:spPr>
          <a:xfrm xmlns:a="http://schemas.openxmlformats.org/drawingml/2006/main">
            <a:off x="2606040" y="4846320"/>
            <a:ext cx="3246120" cy="10515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Resource scale up/down otomatis sesuai beban - terasa 'unlimited' bagi user.</a:t>
            </a:r>
            <a:endParaRPr sz="1100"/>
          </a:p>
        </p:txBody>
      </p:sp>
      <p:sp>
        <p:nvSpPr>
          <p:cNvPr id="30" name="Shape 22">
            <a:extLst xmlns:a="http://schemas.openxmlformats.org/drawingml/2006/main">
              <a:ext uri="{FF2B5EF4-FFF2-40B4-BE49-F238E27FC236}">
                <a16:creationId xmlns:a16="http://schemas.microsoft.com/office/drawing/2014/main" id="{9422ACFB-E50F-4D24-9164-087A21F582DA}"/>
              </a:ext>
            </a:extLst>
          </p:cNvPr>
          <p:cNvSpPr>
            <a:spLocks xmlns:a="http://schemas.openxmlformats.org/drawingml/2006/main" noGrp="1"/>
          </p:cNvSpPr>
          <p:nvPr/>
        </p:nvSpPr>
        <p:spPr>
          <a:xfrm xmlns:a="http://schemas.openxmlformats.org/drawingml/2006/main">
            <a:off x="6172200" y="3931920"/>
            <a:ext cx="3703320" cy="2057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1" name="Shape 23">
            <a:extLst xmlns:a="http://schemas.openxmlformats.org/drawingml/2006/main">
              <a:ext uri="{FF2B5EF4-FFF2-40B4-BE49-F238E27FC236}">
                <a16:creationId xmlns:a16="http://schemas.microsoft.com/office/drawing/2014/main" id="{7D4DAF62-8C13-47D2-9225-3BA61C39279C}"/>
              </a:ext>
            </a:extLst>
          </p:cNvPr>
          <p:cNvSpPr>
            <a:spLocks xmlns:a="http://schemas.openxmlformats.org/drawingml/2006/main" noGrp="1"/>
          </p:cNvSpPr>
          <p:nvPr/>
        </p:nvSpPr>
        <p:spPr>
          <a:xfrm xmlns:a="http://schemas.openxmlformats.org/drawingml/2006/main">
            <a:off x="6172200" y="3931920"/>
            <a:ext cx="73152" cy="205740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72" name="Image 6"/>
          <p:cNvPicPr>
            <a:picLocks xmlns:a="http://schemas.openxmlformats.org/drawingml/2006/main" noChangeAspect="1"/>
          </p:cNvPicPr>
          <p:nvPr/>
        </p:nvPicPr>
        <p:blipFill>
          <a:blip xmlns:r="http://schemas.openxmlformats.org/officeDocument/2006/relationships" xmlns:a="http://schemas.openxmlformats.org/drawingml/2006/main" r:embed="R078bf9b32a2c4238"/>
          <a:stretch xmlns:a="http://schemas.openxmlformats.org/drawingml/2006/main">
            <a:fillRect l="0" t="0" r="0" b="0"/>
          </a:stretch>
        </p:blipFill>
        <p:spPr>
          <a:xfrm xmlns:a="http://schemas.openxmlformats.org/drawingml/2006/main">
            <a:off x="6446520" y="4206240"/>
            <a:ext cx="502920" cy="502920"/>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7B151F70-46F5-4C08-A139-AB1F3E85EF2D}"/>
              </a:ext>
            </a:extLst>
          </p:cNvPr>
          <p:cNvSpPr>
            <a:spLocks xmlns:a="http://schemas.openxmlformats.org/drawingml/2006/main" noGrp="1"/>
          </p:cNvSpPr>
          <p:nvPr/>
        </p:nvSpPr>
        <p:spPr>
          <a:xfrm xmlns:a="http://schemas.openxmlformats.org/drawingml/2006/main">
            <a:off x="7086600" y="4206240"/>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2677"/>
                </a:solidFill>
                <a:latin typeface="Calibri"/>
                <a:ea typeface="Calibri"/>
                <a:cs typeface="Calibri"/>
              </a:rPr>
              <a:t>Measured Service</a:t>
            </a:r>
            <a:endParaRPr sz="1500"/>
          </a:p>
        </p:txBody>
      </p:sp>
      <p:sp>
        <p:nvSpPr>
          <p:cNvPr id="34" name="Text 25">
            <a:extLst xmlns:a="http://schemas.openxmlformats.org/drawingml/2006/main">
              <a:ext uri="{FF2B5EF4-FFF2-40B4-BE49-F238E27FC236}">
                <a16:creationId xmlns:a16="http://schemas.microsoft.com/office/drawing/2014/main" id="{97CE7A3A-9317-4992-A0D8-6CD5F432084D}"/>
              </a:ext>
            </a:extLst>
          </p:cNvPr>
          <p:cNvSpPr>
            <a:spLocks xmlns:a="http://schemas.openxmlformats.org/drawingml/2006/main" noGrp="1"/>
          </p:cNvSpPr>
          <p:nvPr/>
        </p:nvSpPr>
        <p:spPr>
          <a:xfrm xmlns:a="http://schemas.openxmlformats.org/drawingml/2006/main">
            <a:off x="6446520" y="4846320"/>
            <a:ext cx="3246120" cy="10515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Pemakaian diukur (CPU-hour, GB, request) - transparan dan dibayar sesuai metering.</a:t>
            </a:r>
            <a:endParaRPr sz="1100"/>
          </a:p>
        </p:txBody>
      </p:sp>
    </p:spTree>
    <p:extLst>
      <p:ext uri="{BB962C8B-B14F-4D97-AF65-F5344CB8AC3E}">
        <p14:creationId xmlns:p14="http://schemas.microsoft.com/office/powerpoint/2010/main" val="10769741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F43F541-3DE8-4E60-AE5A-50402CEC9A2A}"/>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7754EEB6-0CE5-435F-A6A9-3EE1D5561437}"/>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8</a:t>
            </a:r>
            <a:endParaRPr sz="900"/>
          </a:p>
        </p:txBody>
      </p:sp>
      <p:sp>
        <p:nvSpPr>
          <p:cNvPr id="4" name="Shape 2">
            <a:extLst xmlns:a="http://schemas.openxmlformats.org/drawingml/2006/main">
              <a:ext uri="{FF2B5EF4-FFF2-40B4-BE49-F238E27FC236}">
                <a16:creationId xmlns:a16="http://schemas.microsoft.com/office/drawing/2014/main" id="{552694C2-BD55-4C77-96D9-0717977F38E3}"/>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4ee0bae627d74ab5"/>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8cc7c6ef4ae449f1"/>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A5815201-6C27-4D54-BF94-0C7C2D8DEB2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2A4DC59B-FCFE-4024-92A2-F9461E3660E1}"/>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Sejarah Singkat Cloud Computing</a:t>
            </a:r>
            <a:endParaRPr sz="2200"/>
          </a:p>
        </p:txBody>
      </p:sp>
      <p:sp>
        <p:nvSpPr>
          <p:cNvPr id="9" name="Text 5">
            <a:extLst xmlns:a="http://schemas.openxmlformats.org/drawingml/2006/main">
              <a:ext uri="{FF2B5EF4-FFF2-40B4-BE49-F238E27FC236}">
                <a16:creationId xmlns:a16="http://schemas.microsoft.com/office/drawing/2014/main" id="{1081DB1D-B188-4685-9D10-20946273515A}"/>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Dari Mainframe ke Hyperscaler</a:t>
            </a:r>
            <a:endParaRPr sz="1200"/>
          </a:p>
        </p:txBody>
      </p:sp>
      <p:sp>
        <p:nvSpPr>
          <p:cNvPr id="10" name="Shape 6">
            <a:extLst xmlns:a="http://schemas.openxmlformats.org/drawingml/2006/main">
              <a:ext uri="{FF2B5EF4-FFF2-40B4-BE49-F238E27FC236}">
                <a16:creationId xmlns:a16="http://schemas.microsoft.com/office/drawing/2014/main" id="{E1571890-A012-482A-9459-E75EE4DF7F52}"/>
              </a:ext>
            </a:extLst>
          </p:cNvPr>
          <p:cNvSpPr>
            <a:spLocks xmlns:a="http://schemas.openxmlformats.org/drawingml/2006/main" noGrp="1"/>
          </p:cNvSpPr>
          <p:nvPr/>
        </p:nvSpPr>
        <p:spPr>
          <a:xfrm xmlns:a="http://schemas.openxmlformats.org/drawingml/2006/main">
            <a:off x="731520" y="3657600"/>
            <a:ext cx="10698480" cy="73152"/>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1" name="Shape 7">
            <a:extLst xmlns:a="http://schemas.openxmlformats.org/drawingml/2006/main">
              <a:ext uri="{FF2B5EF4-FFF2-40B4-BE49-F238E27FC236}">
                <a16:creationId xmlns:a16="http://schemas.microsoft.com/office/drawing/2014/main" id="{0D7E54D3-2952-47E0-9F84-E38FE04563BB}"/>
              </a:ext>
            </a:extLst>
          </p:cNvPr>
          <p:cNvSpPr>
            <a:spLocks xmlns:a="http://schemas.openxmlformats.org/drawingml/2006/main" noGrp="1"/>
          </p:cNvSpPr>
          <p:nvPr/>
        </p:nvSpPr>
        <p:spPr>
          <a:xfrm xmlns:a="http://schemas.openxmlformats.org/drawingml/2006/main">
            <a:off x="1485900" y="3557016"/>
            <a:ext cx="274320" cy="27432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12" name="Shape 8">
            <a:extLst xmlns:a="http://schemas.openxmlformats.org/drawingml/2006/main">
              <a:ext uri="{FF2B5EF4-FFF2-40B4-BE49-F238E27FC236}">
                <a16:creationId xmlns:a16="http://schemas.microsoft.com/office/drawing/2014/main" id="{8B7A4A98-6444-4AF0-90D4-BF6DDD3AAF09}"/>
              </a:ext>
            </a:extLst>
          </p:cNvPr>
          <p:cNvSpPr>
            <a:spLocks xmlns:a="http://schemas.openxmlformats.org/drawingml/2006/main" noGrp="1"/>
          </p:cNvSpPr>
          <p:nvPr/>
        </p:nvSpPr>
        <p:spPr>
          <a:xfrm xmlns:a="http://schemas.openxmlformats.org/drawingml/2006/main">
            <a:off x="1623060" y="3383280"/>
            <a:ext cx="0" cy="274320"/>
          </a:xfrm>
          <a:prstGeom xmlns:a="http://schemas.openxmlformats.org/drawingml/2006/main" prst="line">
            <a:avLst/>
          </a:prstGeom>
          <a:noFill xmlns:a="http://schemas.openxmlformats.org/drawingml/2006/main"/>
          <a:ln xmlns:a="http://schemas.openxmlformats.org/drawingml/2006/main" w="12700">
            <a:solidFill>
              <a:srgbClr val="1E40AF"/>
            </a:solidFill>
            <a:prstDash val="dash"/>
          </a:ln>
        </p:spPr>
      </p:sp>
      <p:sp>
        <p:nvSpPr>
          <p:cNvPr id="13" name="Shape 9">
            <a:extLst xmlns:a="http://schemas.openxmlformats.org/drawingml/2006/main">
              <a:ext uri="{FF2B5EF4-FFF2-40B4-BE49-F238E27FC236}">
                <a16:creationId xmlns:a16="http://schemas.microsoft.com/office/drawing/2014/main" id="{E86BB140-64A2-47F8-9BFE-BD0D1479C14E}"/>
              </a:ext>
            </a:extLst>
          </p:cNvPr>
          <p:cNvSpPr>
            <a:spLocks xmlns:a="http://schemas.openxmlformats.org/drawingml/2006/main" noGrp="1"/>
          </p:cNvSpPr>
          <p:nvPr/>
        </p:nvSpPr>
        <p:spPr>
          <a:xfrm xmlns:a="http://schemas.openxmlformats.org/drawingml/2006/main">
            <a:off x="822960" y="1828800"/>
            <a:ext cx="1600200" cy="15544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4" name="Text 10">
            <a:extLst xmlns:a="http://schemas.openxmlformats.org/drawingml/2006/main">
              <a:ext uri="{FF2B5EF4-FFF2-40B4-BE49-F238E27FC236}">
                <a16:creationId xmlns:a16="http://schemas.microsoft.com/office/drawing/2014/main" id="{6F643C3D-595D-40FC-A82F-AB7EC29ADD52}"/>
              </a:ext>
            </a:extLst>
          </p:cNvPr>
          <p:cNvSpPr>
            <a:spLocks xmlns:a="http://schemas.openxmlformats.org/drawingml/2006/main" noGrp="1"/>
          </p:cNvSpPr>
          <p:nvPr/>
        </p:nvSpPr>
        <p:spPr>
          <a:xfrm xmlns:a="http://schemas.openxmlformats.org/drawingml/2006/main">
            <a:off x="822960" y="1920240"/>
            <a:ext cx="1600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F37021"/>
                </a:solidFill>
                <a:latin typeface="Calibri"/>
                <a:ea typeface="Calibri"/>
                <a:cs typeface="Calibri"/>
              </a:rPr>
              <a:t>1960s</a:t>
            </a:r>
            <a:endParaRPr sz="1600"/>
          </a:p>
        </p:txBody>
      </p:sp>
      <p:sp>
        <p:nvSpPr>
          <p:cNvPr id="15" name="Text 11">
            <a:extLst xmlns:a="http://schemas.openxmlformats.org/drawingml/2006/main">
              <a:ext uri="{FF2B5EF4-FFF2-40B4-BE49-F238E27FC236}">
                <a16:creationId xmlns:a16="http://schemas.microsoft.com/office/drawing/2014/main" id="{9FD1A650-1863-4ED1-830D-E97140FE7DCE}"/>
              </a:ext>
            </a:extLst>
          </p:cNvPr>
          <p:cNvSpPr>
            <a:spLocks xmlns:a="http://schemas.openxmlformats.org/drawingml/2006/main" noGrp="1"/>
          </p:cNvSpPr>
          <p:nvPr/>
        </p:nvSpPr>
        <p:spPr>
          <a:xfrm xmlns:a="http://schemas.openxmlformats.org/drawingml/2006/main">
            <a:off x="822960" y="2331720"/>
            <a:ext cx="1600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002677"/>
                </a:solidFill>
                <a:latin typeface="Calibri"/>
                <a:ea typeface="Calibri"/>
                <a:cs typeface="Calibri"/>
              </a:rPr>
              <a:t>Time-Sharing</a:t>
            </a:r>
            <a:endParaRPr sz="1200"/>
          </a:p>
        </p:txBody>
      </p:sp>
      <p:sp>
        <p:nvSpPr>
          <p:cNvPr id="16" name="Text 12">
            <a:extLst xmlns:a="http://schemas.openxmlformats.org/drawingml/2006/main">
              <a:ext uri="{FF2B5EF4-FFF2-40B4-BE49-F238E27FC236}">
                <a16:creationId xmlns:a16="http://schemas.microsoft.com/office/drawing/2014/main" id="{76D021A9-FA47-4B3D-8448-90F8261970F6}"/>
              </a:ext>
            </a:extLst>
          </p:cNvPr>
          <p:cNvSpPr>
            <a:spLocks xmlns:a="http://schemas.openxmlformats.org/drawingml/2006/main" noGrp="1"/>
          </p:cNvSpPr>
          <p:nvPr/>
        </p:nvSpPr>
        <p:spPr>
          <a:xfrm xmlns:a="http://schemas.openxmlformats.org/drawingml/2006/main">
            <a:off x="868680" y="2697480"/>
            <a:ext cx="150876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900">
                <a:solidFill>
                  <a:srgbClr val="1E293B"/>
                </a:solidFill>
                <a:latin typeface="Calibri"/>
                <a:ea typeface="Calibri"/>
                <a:cs typeface="Calibri"/>
              </a:rPr>
              <a:t>John McCarthy: 'computation as a public utility'</a:t>
            </a:r>
            <a:endParaRPr sz="900"/>
          </a:p>
        </p:txBody>
      </p:sp>
      <p:sp>
        <p:nvSpPr>
          <p:cNvPr id="17" name="Shape 13">
            <a:extLst xmlns:a="http://schemas.openxmlformats.org/drawingml/2006/main">
              <a:ext uri="{FF2B5EF4-FFF2-40B4-BE49-F238E27FC236}">
                <a16:creationId xmlns:a16="http://schemas.microsoft.com/office/drawing/2014/main" id="{FC136E60-E951-4E16-8734-88446328299B}"/>
              </a:ext>
            </a:extLst>
          </p:cNvPr>
          <p:cNvSpPr>
            <a:spLocks xmlns:a="http://schemas.openxmlformats.org/drawingml/2006/main" noGrp="1"/>
          </p:cNvSpPr>
          <p:nvPr/>
        </p:nvSpPr>
        <p:spPr>
          <a:xfrm xmlns:a="http://schemas.openxmlformats.org/drawingml/2006/main">
            <a:off x="3268980" y="3557016"/>
            <a:ext cx="274320" cy="27432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18" name="Shape 14">
            <a:extLst xmlns:a="http://schemas.openxmlformats.org/drawingml/2006/main">
              <a:ext uri="{FF2B5EF4-FFF2-40B4-BE49-F238E27FC236}">
                <a16:creationId xmlns:a16="http://schemas.microsoft.com/office/drawing/2014/main" id="{6CC81431-0A33-4893-976E-422740E30DB6}"/>
              </a:ext>
            </a:extLst>
          </p:cNvPr>
          <p:cNvSpPr>
            <a:spLocks xmlns:a="http://schemas.openxmlformats.org/drawingml/2006/main" noGrp="1"/>
          </p:cNvSpPr>
          <p:nvPr/>
        </p:nvSpPr>
        <p:spPr>
          <a:xfrm xmlns:a="http://schemas.openxmlformats.org/drawingml/2006/main">
            <a:off x="3406140" y="3703320"/>
            <a:ext cx="0" cy="320040"/>
          </a:xfrm>
          <a:prstGeom xmlns:a="http://schemas.openxmlformats.org/drawingml/2006/main" prst="line">
            <a:avLst/>
          </a:prstGeom>
          <a:noFill xmlns:a="http://schemas.openxmlformats.org/drawingml/2006/main"/>
          <a:ln xmlns:a="http://schemas.openxmlformats.org/drawingml/2006/main" w="12700">
            <a:solidFill>
              <a:srgbClr val="1E40AF"/>
            </a:solidFill>
            <a:prstDash val="dash"/>
          </a:ln>
        </p:spPr>
      </p:sp>
      <p:sp>
        <p:nvSpPr>
          <p:cNvPr id="19" name="Shape 15">
            <a:extLst xmlns:a="http://schemas.openxmlformats.org/drawingml/2006/main">
              <a:ext uri="{FF2B5EF4-FFF2-40B4-BE49-F238E27FC236}">
                <a16:creationId xmlns:a16="http://schemas.microsoft.com/office/drawing/2014/main" id="{7CEB1BAF-23DC-4208-B8BE-8DB7EC3CD433}"/>
              </a:ext>
            </a:extLst>
          </p:cNvPr>
          <p:cNvSpPr>
            <a:spLocks xmlns:a="http://schemas.openxmlformats.org/drawingml/2006/main" noGrp="1"/>
          </p:cNvSpPr>
          <p:nvPr/>
        </p:nvSpPr>
        <p:spPr>
          <a:xfrm xmlns:a="http://schemas.openxmlformats.org/drawingml/2006/main">
            <a:off x="2606040" y="4023360"/>
            <a:ext cx="1600200" cy="15544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0" name="Text 16">
            <a:extLst xmlns:a="http://schemas.openxmlformats.org/drawingml/2006/main">
              <a:ext uri="{FF2B5EF4-FFF2-40B4-BE49-F238E27FC236}">
                <a16:creationId xmlns:a16="http://schemas.microsoft.com/office/drawing/2014/main" id="{47449F72-4D65-4FED-BFAC-CA5E7A33F14A}"/>
              </a:ext>
            </a:extLst>
          </p:cNvPr>
          <p:cNvSpPr>
            <a:spLocks xmlns:a="http://schemas.openxmlformats.org/drawingml/2006/main" noGrp="1"/>
          </p:cNvSpPr>
          <p:nvPr/>
        </p:nvSpPr>
        <p:spPr>
          <a:xfrm xmlns:a="http://schemas.openxmlformats.org/drawingml/2006/main">
            <a:off x="2606040" y="4114800"/>
            <a:ext cx="1600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F37021"/>
                </a:solidFill>
                <a:latin typeface="Calibri"/>
                <a:ea typeface="Calibri"/>
                <a:cs typeface="Calibri"/>
              </a:rPr>
              <a:t>2002</a:t>
            </a:r>
            <a:endParaRPr sz="1600"/>
          </a:p>
        </p:txBody>
      </p:sp>
      <p:sp>
        <p:nvSpPr>
          <p:cNvPr id="21" name="Text 17">
            <a:extLst xmlns:a="http://schemas.openxmlformats.org/drawingml/2006/main">
              <a:ext uri="{FF2B5EF4-FFF2-40B4-BE49-F238E27FC236}">
                <a16:creationId xmlns:a16="http://schemas.microsoft.com/office/drawing/2014/main" id="{21C43FDF-9B82-4F3F-83F4-95B0AFA12D1D}"/>
              </a:ext>
            </a:extLst>
          </p:cNvPr>
          <p:cNvSpPr>
            <a:spLocks xmlns:a="http://schemas.openxmlformats.org/drawingml/2006/main" noGrp="1"/>
          </p:cNvSpPr>
          <p:nvPr/>
        </p:nvSpPr>
        <p:spPr>
          <a:xfrm xmlns:a="http://schemas.openxmlformats.org/drawingml/2006/main">
            <a:off x="2606040" y="4526280"/>
            <a:ext cx="1600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002677"/>
                </a:solidFill>
                <a:latin typeface="Calibri"/>
                <a:ea typeface="Calibri"/>
                <a:cs typeface="Calibri"/>
              </a:rPr>
              <a:t>AWS Lahir</a:t>
            </a:r>
            <a:endParaRPr sz="1200"/>
          </a:p>
        </p:txBody>
      </p:sp>
      <p:sp>
        <p:nvSpPr>
          <p:cNvPr id="22" name="Text 18">
            <a:extLst xmlns:a="http://schemas.openxmlformats.org/drawingml/2006/main">
              <a:ext uri="{FF2B5EF4-FFF2-40B4-BE49-F238E27FC236}">
                <a16:creationId xmlns:a16="http://schemas.microsoft.com/office/drawing/2014/main" id="{F86F8118-7B42-4001-AC97-DFD524391C49}"/>
              </a:ext>
            </a:extLst>
          </p:cNvPr>
          <p:cNvSpPr>
            <a:spLocks xmlns:a="http://schemas.openxmlformats.org/drawingml/2006/main" noGrp="1"/>
          </p:cNvSpPr>
          <p:nvPr/>
        </p:nvSpPr>
        <p:spPr>
          <a:xfrm xmlns:a="http://schemas.openxmlformats.org/drawingml/2006/main">
            <a:off x="2651760" y="4892040"/>
            <a:ext cx="150876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900">
                <a:solidFill>
                  <a:srgbClr val="1E293B"/>
                </a:solidFill>
                <a:latin typeface="Calibri"/>
                <a:ea typeface="Calibri"/>
                <a:cs typeface="Calibri"/>
              </a:rPr>
              <a:t>Amazon spin-off infrastructure jadi layanan</a:t>
            </a:r>
            <a:endParaRPr sz="900"/>
          </a:p>
        </p:txBody>
      </p:sp>
      <p:sp>
        <p:nvSpPr>
          <p:cNvPr id="23" name="Shape 19">
            <a:extLst xmlns:a="http://schemas.openxmlformats.org/drawingml/2006/main">
              <a:ext uri="{FF2B5EF4-FFF2-40B4-BE49-F238E27FC236}">
                <a16:creationId xmlns:a16="http://schemas.microsoft.com/office/drawing/2014/main" id="{5B88F12D-D572-4C2C-ADEC-56782F92BFD9}"/>
              </a:ext>
            </a:extLst>
          </p:cNvPr>
          <p:cNvSpPr>
            <a:spLocks xmlns:a="http://schemas.openxmlformats.org/drawingml/2006/main" noGrp="1"/>
          </p:cNvSpPr>
          <p:nvPr/>
        </p:nvSpPr>
        <p:spPr>
          <a:xfrm xmlns:a="http://schemas.openxmlformats.org/drawingml/2006/main">
            <a:off x="5052060" y="3557016"/>
            <a:ext cx="274320" cy="27432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24" name="Shape 20">
            <a:extLst xmlns:a="http://schemas.openxmlformats.org/drawingml/2006/main">
              <a:ext uri="{FF2B5EF4-FFF2-40B4-BE49-F238E27FC236}">
                <a16:creationId xmlns:a16="http://schemas.microsoft.com/office/drawing/2014/main" id="{51A0CE9F-C192-46BD-9A2E-3A12014BAFF8}"/>
              </a:ext>
            </a:extLst>
          </p:cNvPr>
          <p:cNvSpPr>
            <a:spLocks xmlns:a="http://schemas.openxmlformats.org/drawingml/2006/main" noGrp="1"/>
          </p:cNvSpPr>
          <p:nvPr/>
        </p:nvSpPr>
        <p:spPr>
          <a:xfrm xmlns:a="http://schemas.openxmlformats.org/drawingml/2006/main">
            <a:off x="5189220" y="3383280"/>
            <a:ext cx="0" cy="274320"/>
          </a:xfrm>
          <a:prstGeom xmlns:a="http://schemas.openxmlformats.org/drawingml/2006/main" prst="line">
            <a:avLst/>
          </a:prstGeom>
          <a:noFill xmlns:a="http://schemas.openxmlformats.org/drawingml/2006/main"/>
          <a:ln xmlns:a="http://schemas.openxmlformats.org/drawingml/2006/main" w="12700">
            <a:solidFill>
              <a:srgbClr val="1E40AF"/>
            </a:solidFill>
            <a:prstDash val="dash"/>
          </a:ln>
        </p:spPr>
      </p:sp>
      <p:sp>
        <p:nvSpPr>
          <p:cNvPr id="25" name="Shape 21">
            <a:extLst xmlns:a="http://schemas.openxmlformats.org/drawingml/2006/main">
              <a:ext uri="{FF2B5EF4-FFF2-40B4-BE49-F238E27FC236}">
                <a16:creationId xmlns:a16="http://schemas.microsoft.com/office/drawing/2014/main" id="{EF959523-FD0D-4DA5-8878-42538BDF7920}"/>
              </a:ext>
            </a:extLst>
          </p:cNvPr>
          <p:cNvSpPr>
            <a:spLocks xmlns:a="http://schemas.openxmlformats.org/drawingml/2006/main" noGrp="1"/>
          </p:cNvSpPr>
          <p:nvPr/>
        </p:nvSpPr>
        <p:spPr>
          <a:xfrm xmlns:a="http://schemas.openxmlformats.org/drawingml/2006/main">
            <a:off x="4389120" y="1828800"/>
            <a:ext cx="1600200" cy="15544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6" name="Text 22">
            <a:extLst xmlns:a="http://schemas.openxmlformats.org/drawingml/2006/main">
              <a:ext uri="{FF2B5EF4-FFF2-40B4-BE49-F238E27FC236}">
                <a16:creationId xmlns:a16="http://schemas.microsoft.com/office/drawing/2014/main" id="{3B9332F4-2375-4851-8100-E99A1AB17A45}"/>
              </a:ext>
            </a:extLst>
          </p:cNvPr>
          <p:cNvSpPr>
            <a:spLocks xmlns:a="http://schemas.openxmlformats.org/drawingml/2006/main" noGrp="1"/>
          </p:cNvSpPr>
          <p:nvPr/>
        </p:nvSpPr>
        <p:spPr>
          <a:xfrm xmlns:a="http://schemas.openxmlformats.org/drawingml/2006/main">
            <a:off x="4389120" y="1920240"/>
            <a:ext cx="1600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F37021"/>
                </a:solidFill>
                <a:latin typeface="Calibri"/>
                <a:ea typeface="Calibri"/>
                <a:cs typeface="Calibri"/>
              </a:rPr>
              <a:t>2006</a:t>
            </a:r>
            <a:endParaRPr sz="1600"/>
          </a:p>
        </p:txBody>
      </p:sp>
      <p:sp>
        <p:nvSpPr>
          <p:cNvPr id="27" name="Text 23">
            <a:extLst xmlns:a="http://schemas.openxmlformats.org/drawingml/2006/main">
              <a:ext uri="{FF2B5EF4-FFF2-40B4-BE49-F238E27FC236}">
                <a16:creationId xmlns:a16="http://schemas.microsoft.com/office/drawing/2014/main" id="{558634CA-A91A-4AA4-812B-7C6F2E7C08F7}"/>
              </a:ext>
            </a:extLst>
          </p:cNvPr>
          <p:cNvSpPr>
            <a:spLocks xmlns:a="http://schemas.openxmlformats.org/drawingml/2006/main" noGrp="1"/>
          </p:cNvSpPr>
          <p:nvPr/>
        </p:nvSpPr>
        <p:spPr>
          <a:xfrm xmlns:a="http://schemas.openxmlformats.org/drawingml/2006/main">
            <a:off x="4389120" y="2331720"/>
            <a:ext cx="1600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002677"/>
                </a:solidFill>
                <a:latin typeface="Calibri"/>
                <a:ea typeface="Calibri"/>
                <a:cs typeface="Calibri"/>
              </a:rPr>
              <a:t>EC2 + S3</a:t>
            </a:r>
            <a:endParaRPr sz="1200"/>
          </a:p>
        </p:txBody>
      </p:sp>
      <p:sp>
        <p:nvSpPr>
          <p:cNvPr id="28" name="Text 24">
            <a:extLst xmlns:a="http://schemas.openxmlformats.org/drawingml/2006/main">
              <a:ext uri="{FF2B5EF4-FFF2-40B4-BE49-F238E27FC236}">
                <a16:creationId xmlns:a16="http://schemas.microsoft.com/office/drawing/2014/main" id="{C999F5E1-305E-4E53-B415-A34BFB4A9E68}"/>
              </a:ext>
            </a:extLst>
          </p:cNvPr>
          <p:cNvSpPr>
            <a:spLocks xmlns:a="http://schemas.openxmlformats.org/drawingml/2006/main" noGrp="1"/>
          </p:cNvSpPr>
          <p:nvPr/>
        </p:nvSpPr>
        <p:spPr>
          <a:xfrm xmlns:a="http://schemas.openxmlformats.org/drawingml/2006/main">
            <a:off x="4434840" y="2697480"/>
            <a:ext cx="150876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900">
                <a:solidFill>
                  <a:srgbClr val="1E293B"/>
                </a:solidFill>
                <a:latin typeface="Calibri"/>
                <a:ea typeface="Calibri"/>
                <a:cs typeface="Calibri"/>
              </a:rPr>
              <a:t>Pay-per-hour VM, infinite object storage</a:t>
            </a:r>
            <a:endParaRPr sz="900"/>
          </a:p>
        </p:txBody>
      </p:sp>
      <p:sp>
        <p:nvSpPr>
          <p:cNvPr id="29" name="Shape 25">
            <a:extLst xmlns:a="http://schemas.openxmlformats.org/drawingml/2006/main">
              <a:ext uri="{FF2B5EF4-FFF2-40B4-BE49-F238E27FC236}">
                <a16:creationId xmlns:a16="http://schemas.microsoft.com/office/drawing/2014/main" id="{840F165C-4714-4369-9ABF-2FA644EE2D3F}"/>
              </a:ext>
            </a:extLst>
          </p:cNvPr>
          <p:cNvSpPr>
            <a:spLocks xmlns:a="http://schemas.openxmlformats.org/drawingml/2006/main" noGrp="1"/>
          </p:cNvSpPr>
          <p:nvPr/>
        </p:nvSpPr>
        <p:spPr>
          <a:xfrm xmlns:a="http://schemas.openxmlformats.org/drawingml/2006/main">
            <a:off x="6835140" y="3557016"/>
            <a:ext cx="274320" cy="27432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30" name="Shape 26">
            <a:extLst xmlns:a="http://schemas.openxmlformats.org/drawingml/2006/main">
              <a:ext uri="{FF2B5EF4-FFF2-40B4-BE49-F238E27FC236}">
                <a16:creationId xmlns:a16="http://schemas.microsoft.com/office/drawing/2014/main" id="{0E52EFE6-7030-42AB-AB6D-4E16D301914E}"/>
              </a:ext>
            </a:extLst>
          </p:cNvPr>
          <p:cNvSpPr>
            <a:spLocks xmlns:a="http://schemas.openxmlformats.org/drawingml/2006/main" noGrp="1"/>
          </p:cNvSpPr>
          <p:nvPr/>
        </p:nvSpPr>
        <p:spPr>
          <a:xfrm xmlns:a="http://schemas.openxmlformats.org/drawingml/2006/main">
            <a:off x="6972300" y="3703320"/>
            <a:ext cx="0" cy="320040"/>
          </a:xfrm>
          <a:prstGeom xmlns:a="http://schemas.openxmlformats.org/drawingml/2006/main" prst="line">
            <a:avLst/>
          </a:prstGeom>
          <a:noFill xmlns:a="http://schemas.openxmlformats.org/drawingml/2006/main"/>
          <a:ln xmlns:a="http://schemas.openxmlformats.org/drawingml/2006/main" w="12700">
            <a:solidFill>
              <a:srgbClr val="1E40AF"/>
            </a:solidFill>
            <a:prstDash val="dash"/>
          </a:ln>
        </p:spPr>
      </p:sp>
      <p:sp>
        <p:nvSpPr>
          <p:cNvPr id="31" name="Shape 27">
            <a:extLst xmlns:a="http://schemas.openxmlformats.org/drawingml/2006/main">
              <a:ext uri="{FF2B5EF4-FFF2-40B4-BE49-F238E27FC236}">
                <a16:creationId xmlns:a16="http://schemas.microsoft.com/office/drawing/2014/main" id="{B092B44F-CE57-4943-824E-86316A90B40B}"/>
              </a:ext>
            </a:extLst>
          </p:cNvPr>
          <p:cNvSpPr>
            <a:spLocks xmlns:a="http://schemas.openxmlformats.org/drawingml/2006/main" noGrp="1"/>
          </p:cNvSpPr>
          <p:nvPr/>
        </p:nvSpPr>
        <p:spPr>
          <a:xfrm xmlns:a="http://schemas.openxmlformats.org/drawingml/2006/main">
            <a:off x="6172200" y="4023360"/>
            <a:ext cx="1600200" cy="15544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2" name="Text 28">
            <a:extLst xmlns:a="http://schemas.openxmlformats.org/drawingml/2006/main">
              <a:ext uri="{FF2B5EF4-FFF2-40B4-BE49-F238E27FC236}">
                <a16:creationId xmlns:a16="http://schemas.microsoft.com/office/drawing/2014/main" id="{66D38CCC-A5B5-4458-BC82-B4B82E128BEB}"/>
              </a:ext>
            </a:extLst>
          </p:cNvPr>
          <p:cNvSpPr>
            <a:spLocks xmlns:a="http://schemas.openxmlformats.org/drawingml/2006/main" noGrp="1"/>
          </p:cNvSpPr>
          <p:nvPr/>
        </p:nvSpPr>
        <p:spPr>
          <a:xfrm xmlns:a="http://schemas.openxmlformats.org/drawingml/2006/main">
            <a:off x="6172200" y="4114800"/>
            <a:ext cx="1600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F37021"/>
                </a:solidFill>
                <a:latin typeface="Calibri"/>
                <a:ea typeface="Calibri"/>
                <a:cs typeface="Calibri"/>
              </a:rPr>
              <a:t>2008</a:t>
            </a:r>
            <a:endParaRPr sz="1600"/>
          </a:p>
        </p:txBody>
      </p:sp>
      <p:sp>
        <p:nvSpPr>
          <p:cNvPr id="33" name="Text 29">
            <a:extLst xmlns:a="http://schemas.openxmlformats.org/drawingml/2006/main">
              <a:ext uri="{FF2B5EF4-FFF2-40B4-BE49-F238E27FC236}">
                <a16:creationId xmlns:a16="http://schemas.microsoft.com/office/drawing/2014/main" id="{B262DA4C-11A9-4560-98D9-647DEE8F91F5}"/>
              </a:ext>
            </a:extLst>
          </p:cNvPr>
          <p:cNvSpPr>
            <a:spLocks xmlns:a="http://schemas.openxmlformats.org/drawingml/2006/main" noGrp="1"/>
          </p:cNvSpPr>
          <p:nvPr/>
        </p:nvSpPr>
        <p:spPr>
          <a:xfrm xmlns:a="http://schemas.openxmlformats.org/drawingml/2006/main">
            <a:off x="6172200" y="4526280"/>
            <a:ext cx="1600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002677"/>
                </a:solidFill>
                <a:latin typeface="Calibri"/>
                <a:ea typeface="Calibri"/>
                <a:cs typeface="Calibri"/>
              </a:rPr>
              <a:t>GCP &amp; Azure</a:t>
            </a:r>
            <a:endParaRPr sz="1200"/>
          </a:p>
        </p:txBody>
      </p:sp>
      <p:sp>
        <p:nvSpPr>
          <p:cNvPr id="34" name="Text 30">
            <a:extLst xmlns:a="http://schemas.openxmlformats.org/drawingml/2006/main">
              <a:ext uri="{FF2B5EF4-FFF2-40B4-BE49-F238E27FC236}">
                <a16:creationId xmlns:a16="http://schemas.microsoft.com/office/drawing/2014/main" id="{3F05A899-5C50-4632-968A-CD4F39C652ED}"/>
              </a:ext>
            </a:extLst>
          </p:cNvPr>
          <p:cNvSpPr>
            <a:spLocks xmlns:a="http://schemas.openxmlformats.org/drawingml/2006/main" noGrp="1"/>
          </p:cNvSpPr>
          <p:nvPr/>
        </p:nvSpPr>
        <p:spPr>
          <a:xfrm xmlns:a="http://schemas.openxmlformats.org/drawingml/2006/main">
            <a:off x="6217920" y="4892040"/>
            <a:ext cx="150876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900">
                <a:solidFill>
                  <a:srgbClr val="1E293B"/>
                </a:solidFill>
                <a:latin typeface="Calibri"/>
                <a:ea typeface="Calibri"/>
                <a:cs typeface="Calibri"/>
              </a:rPr>
              <a:t>Big Three terbentuk</a:t>
            </a:r>
            <a:endParaRPr sz="900"/>
          </a:p>
        </p:txBody>
      </p:sp>
      <p:sp>
        <p:nvSpPr>
          <p:cNvPr id="35" name="Shape 31">
            <a:extLst xmlns:a="http://schemas.openxmlformats.org/drawingml/2006/main">
              <a:ext uri="{FF2B5EF4-FFF2-40B4-BE49-F238E27FC236}">
                <a16:creationId xmlns:a16="http://schemas.microsoft.com/office/drawing/2014/main" id="{B87CE61A-F874-432E-8ABF-799313A06F5C}"/>
              </a:ext>
            </a:extLst>
          </p:cNvPr>
          <p:cNvSpPr>
            <a:spLocks xmlns:a="http://schemas.openxmlformats.org/drawingml/2006/main" noGrp="1"/>
          </p:cNvSpPr>
          <p:nvPr/>
        </p:nvSpPr>
        <p:spPr>
          <a:xfrm xmlns:a="http://schemas.openxmlformats.org/drawingml/2006/main">
            <a:off x="8618220" y="3557016"/>
            <a:ext cx="274320" cy="27432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36" name="Shape 32">
            <a:extLst xmlns:a="http://schemas.openxmlformats.org/drawingml/2006/main">
              <a:ext uri="{FF2B5EF4-FFF2-40B4-BE49-F238E27FC236}">
                <a16:creationId xmlns:a16="http://schemas.microsoft.com/office/drawing/2014/main" id="{B8FFCC92-2990-46A6-8D83-2A68381E1309}"/>
              </a:ext>
            </a:extLst>
          </p:cNvPr>
          <p:cNvSpPr>
            <a:spLocks xmlns:a="http://schemas.openxmlformats.org/drawingml/2006/main" noGrp="1"/>
          </p:cNvSpPr>
          <p:nvPr/>
        </p:nvSpPr>
        <p:spPr>
          <a:xfrm xmlns:a="http://schemas.openxmlformats.org/drawingml/2006/main">
            <a:off x="8755380" y="3383280"/>
            <a:ext cx="0" cy="274320"/>
          </a:xfrm>
          <a:prstGeom xmlns:a="http://schemas.openxmlformats.org/drawingml/2006/main" prst="line">
            <a:avLst/>
          </a:prstGeom>
          <a:noFill xmlns:a="http://schemas.openxmlformats.org/drawingml/2006/main"/>
          <a:ln xmlns:a="http://schemas.openxmlformats.org/drawingml/2006/main" w="12700">
            <a:solidFill>
              <a:srgbClr val="1E40AF"/>
            </a:solidFill>
            <a:prstDash val="dash"/>
          </a:ln>
        </p:spPr>
      </p:sp>
      <p:sp>
        <p:nvSpPr>
          <p:cNvPr id="37" name="Shape 33">
            <a:extLst xmlns:a="http://schemas.openxmlformats.org/drawingml/2006/main">
              <a:ext uri="{FF2B5EF4-FFF2-40B4-BE49-F238E27FC236}">
                <a16:creationId xmlns:a16="http://schemas.microsoft.com/office/drawing/2014/main" id="{084A15A3-66B0-4928-AFDC-409565190836}"/>
              </a:ext>
            </a:extLst>
          </p:cNvPr>
          <p:cNvSpPr>
            <a:spLocks xmlns:a="http://schemas.openxmlformats.org/drawingml/2006/main" noGrp="1"/>
          </p:cNvSpPr>
          <p:nvPr/>
        </p:nvSpPr>
        <p:spPr>
          <a:xfrm xmlns:a="http://schemas.openxmlformats.org/drawingml/2006/main">
            <a:off x="7955280" y="1828800"/>
            <a:ext cx="1600200" cy="15544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8" name="Text 34">
            <a:extLst xmlns:a="http://schemas.openxmlformats.org/drawingml/2006/main">
              <a:ext uri="{FF2B5EF4-FFF2-40B4-BE49-F238E27FC236}">
                <a16:creationId xmlns:a16="http://schemas.microsoft.com/office/drawing/2014/main" id="{3D953A67-4DE6-49F0-8DDC-84024EEDEB70}"/>
              </a:ext>
            </a:extLst>
          </p:cNvPr>
          <p:cNvSpPr>
            <a:spLocks xmlns:a="http://schemas.openxmlformats.org/drawingml/2006/main" noGrp="1"/>
          </p:cNvSpPr>
          <p:nvPr/>
        </p:nvSpPr>
        <p:spPr>
          <a:xfrm xmlns:a="http://schemas.openxmlformats.org/drawingml/2006/main">
            <a:off x="7955280" y="1920240"/>
            <a:ext cx="1600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F37021"/>
                </a:solidFill>
                <a:latin typeface="Calibri"/>
                <a:ea typeface="Calibri"/>
                <a:cs typeface="Calibri"/>
              </a:rPr>
              <a:t>2014</a:t>
            </a:r>
            <a:endParaRPr sz="1600"/>
          </a:p>
        </p:txBody>
      </p:sp>
      <p:sp>
        <p:nvSpPr>
          <p:cNvPr id="39" name="Text 35">
            <a:extLst xmlns:a="http://schemas.openxmlformats.org/drawingml/2006/main">
              <a:ext uri="{FF2B5EF4-FFF2-40B4-BE49-F238E27FC236}">
                <a16:creationId xmlns:a16="http://schemas.microsoft.com/office/drawing/2014/main" id="{9B9C3758-BFB7-4F9E-A5EA-A4821D462794}"/>
              </a:ext>
            </a:extLst>
          </p:cNvPr>
          <p:cNvSpPr>
            <a:spLocks xmlns:a="http://schemas.openxmlformats.org/drawingml/2006/main" noGrp="1"/>
          </p:cNvSpPr>
          <p:nvPr/>
        </p:nvSpPr>
        <p:spPr>
          <a:xfrm xmlns:a="http://schemas.openxmlformats.org/drawingml/2006/main">
            <a:off x="7955280" y="2331720"/>
            <a:ext cx="1600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002677"/>
                </a:solidFill>
                <a:latin typeface="Calibri"/>
                <a:ea typeface="Calibri"/>
                <a:cs typeface="Calibri"/>
              </a:rPr>
              <a:t>Era Container</a:t>
            </a:r>
            <a:endParaRPr sz="1200"/>
          </a:p>
        </p:txBody>
      </p:sp>
      <p:sp>
        <p:nvSpPr>
          <p:cNvPr id="40" name="Text 36">
            <a:extLst xmlns:a="http://schemas.openxmlformats.org/drawingml/2006/main">
              <a:ext uri="{FF2B5EF4-FFF2-40B4-BE49-F238E27FC236}">
                <a16:creationId xmlns:a16="http://schemas.microsoft.com/office/drawing/2014/main" id="{9BE03186-F12B-40E5-A325-584E8A1CD590}"/>
              </a:ext>
            </a:extLst>
          </p:cNvPr>
          <p:cNvSpPr>
            <a:spLocks xmlns:a="http://schemas.openxmlformats.org/drawingml/2006/main" noGrp="1"/>
          </p:cNvSpPr>
          <p:nvPr/>
        </p:nvSpPr>
        <p:spPr>
          <a:xfrm xmlns:a="http://schemas.openxmlformats.org/drawingml/2006/main">
            <a:off x="8001000" y="2697480"/>
            <a:ext cx="150876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900">
                <a:solidFill>
                  <a:srgbClr val="1E293B"/>
                </a:solidFill>
                <a:latin typeface="Calibri"/>
                <a:ea typeface="Calibri"/>
                <a:cs typeface="Calibri"/>
              </a:rPr>
              <a:t>Docker release - 'cloud-native' jadi standar</a:t>
            </a:r>
            <a:endParaRPr sz="900"/>
          </a:p>
        </p:txBody>
      </p:sp>
      <p:sp>
        <p:nvSpPr>
          <p:cNvPr id="41" name="Shape 37">
            <a:extLst xmlns:a="http://schemas.openxmlformats.org/drawingml/2006/main">
              <a:ext uri="{FF2B5EF4-FFF2-40B4-BE49-F238E27FC236}">
                <a16:creationId xmlns:a16="http://schemas.microsoft.com/office/drawing/2014/main" id="{E88C0562-5DF0-4C89-A900-E7C3756F86CA}"/>
              </a:ext>
            </a:extLst>
          </p:cNvPr>
          <p:cNvSpPr>
            <a:spLocks xmlns:a="http://schemas.openxmlformats.org/drawingml/2006/main" noGrp="1"/>
          </p:cNvSpPr>
          <p:nvPr/>
        </p:nvSpPr>
        <p:spPr>
          <a:xfrm xmlns:a="http://schemas.openxmlformats.org/drawingml/2006/main">
            <a:off x="10401300" y="3557016"/>
            <a:ext cx="274320" cy="27432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42" name="Shape 38">
            <a:extLst xmlns:a="http://schemas.openxmlformats.org/drawingml/2006/main">
              <a:ext uri="{FF2B5EF4-FFF2-40B4-BE49-F238E27FC236}">
                <a16:creationId xmlns:a16="http://schemas.microsoft.com/office/drawing/2014/main" id="{CBE56A94-5C1E-4F4D-98BC-6AA649C3E742}"/>
              </a:ext>
            </a:extLst>
          </p:cNvPr>
          <p:cNvSpPr>
            <a:spLocks xmlns:a="http://schemas.openxmlformats.org/drawingml/2006/main" noGrp="1"/>
          </p:cNvSpPr>
          <p:nvPr/>
        </p:nvSpPr>
        <p:spPr>
          <a:xfrm xmlns:a="http://schemas.openxmlformats.org/drawingml/2006/main">
            <a:off x="10538460" y="3703320"/>
            <a:ext cx="0" cy="320040"/>
          </a:xfrm>
          <a:prstGeom xmlns:a="http://schemas.openxmlformats.org/drawingml/2006/main" prst="line">
            <a:avLst/>
          </a:prstGeom>
          <a:noFill xmlns:a="http://schemas.openxmlformats.org/drawingml/2006/main"/>
          <a:ln xmlns:a="http://schemas.openxmlformats.org/drawingml/2006/main" w="12700">
            <a:solidFill>
              <a:srgbClr val="1E40AF"/>
            </a:solidFill>
            <a:prstDash val="dash"/>
          </a:ln>
        </p:spPr>
      </p:sp>
      <p:sp>
        <p:nvSpPr>
          <p:cNvPr id="43" name="Shape 39">
            <a:extLst xmlns:a="http://schemas.openxmlformats.org/drawingml/2006/main">
              <a:ext uri="{FF2B5EF4-FFF2-40B4-BE49-F238E27FC236}">
                <a16:creationId xmlns:a16="http://schemas.microsoft.com/office/drawing/2014/main" id="{089F0393-9F59-4C48-B9DE-FA153CD9ACC6}"/>
              </a:ext>
            </a:extLst>
          </p:cNvPr>
          <p:cNvSpPr>
            <a:spLocks xmlns:a="http://schemas.openxmlformats.org/drawingml/2006/main" noGrp="1"/>
          </p:cNvSpPr>
          <p:nvPr/>
        </p:nvSpPr>
        <p:spPr>
          <a:xfrm xmlns:a="http://schemas.openxmlformats.org/drawingml/2006/main">
            <a:off x="9738360" y="4023360"/>
            <a:ext cx="1600200" cy="15544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4" name="Text 40">
            <a:extLst xmlns:a="http://schemas.openxmlformats.org/drawingml/2006/main">
              <a:ext uri="{FF2B5EF4-FFF2-40B4-BE49-F238E27FC236}">
                <a16:creationId xmlns:a16="http://schemas.microsoft.com/office/drawing/2014/main" id="{1205AA43-022D-4DB1-86F5-F7729CFCAAA9}"/>
              </a:ext>
            </a:extLst>
          </p:cNvPr>
          <p:cNvSpPr>
            <a:spLocks xmlns:a="http://schemas.openxmlformats.org/drawingml/2006/main" noGrp="1"/>
          </p:cNvSpPr>
          <p:nvPr/>
        </p:nvSpPr>
        <p:spPr>
          <a:xfrm xmlns:a="http://schemas.openxmlformats.org/drawingml/2006/main">
            <a:off x="9738360" y="4114800"/>
            <a:ext cx="1600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F37021"/>
                </a:solidFill>
                <a:latin typeface="Calibri"/>
                <a:ea typeface="Calibri"/>
                <a:cs typeface="Calibri"/>
              </a:rPr>
              <a:t>2020+</a:t>
            </a:r>
            <a:endParaRPr sz="1600"/>
          </a:p>
        </p:txBody>
      </p:sp>
      <p:sp>
        <p:nvSpPr>
          <p:cNvPr id="45" name="Text 41">
            <a:extLst xmlns:a="http://schemas.openxmlformats.org/drawingml/2006/main">
              <a:ext uri="{FF2B5EF4-FFF2-40B4-BE49-F238E27FC236}">
                <a16:creationId xmlns:a16="http://schemas.microsoft.com/office/drawing/2014/main" id="{9D169252-0482-4AC0-B210-3BEBBAE942B8}"/>
              </a:ext>
            </a:extLst>
          </p:cNvPr>
          <p:cNvSpPr>
            <a:spLocks xmlns:a="http://schemas.openxmlformats.org/drawingml/2006/main" noGrp="1"/>
          </p:cNvSpPr>
          <p:nvPr/>
        </p:nvSpPr>
        <p:spPr>
          <a:xfrm xmlns:a="http://schemas.openxmlformats.org/drawingml/2006/main">
            <a:off x="9738360" y="4526280"/>
            <a:ext cx="1600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002677"/>
                </a:solidFill>
                <a:latin typeface="Calibri"/>
                <a:ea typeface="Calibri"/>
                <a:cs typeface="Calibri"/>
              </a:rPr>
              <a:t>Edge &amp; AI Cloud</a:t>
            </a:r>
            <a:endParaRPr sz="1200"/>
          </a:p>
        </p:txBody>
      </p:sp>
      <p:sp>
        <p:nvSpPr>
          <p:cNvPr id="46" name="Text 42">
            <a:extLst xmlns:a="http://schemas.openxmlformats.org/drawingml/2006/main">
              <a:ext uri="{FF2B5EF4-FFF2-40B4-BE49-F238E27FC236}">
                <a16:creationId xmlns:a16="http://schemas.microsoft.com/office/drawing/2014/main" id="{2C2811CE-EA77-44E5-8E65-A20DD433DAE3}"/>
              </a:ext>
            </a:extLst>
          </p:cNvPr>
          <p:cNvSpPr>
            <a:spLocks xmlns:a="http://schemas.openxmlformats.org/drawingml/2006/main" noGrp="1"/>
          </p:cNvSpPr>
          <p:nvPr/>
        </p:nvSpPr>
        <p:spPr>
          <a:xfrm xmlns:a="http://schemas.openxmlformats.org/drawingml/2006/main">
            <a:off x="9784080" y="4892040"/>
            <a:ext cx="150876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900">
                <a:solidFill>
                  <a:srgbClr val="1E293B"/>
                </a:solidFill>
                <a:latin typeface="Calibri"/>
                <a:ea typeface="Calibri"/>
                <a:cs typeface="Calibri"/>
              </a:rPr>
              <a:t>Serverless, BaaS, GPU-as-a-Service</a:t>
            </a:r>
            <a:endParaRPr sz="900"/>
          </a:p>
        </p:txBody>
      </p:sp>
    </p:spTree>
    <p:extLst>
      <p:ext uri="{BB962C8B-B14F-4D97-AF65-F5344CB8AC3E}">
        <p14:creationId xmlns:p14="http://schemas.microsoft.com/office/powerpoint/2010/main" val="15404490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7BB7895-7200-4215-8231-6BCBA9069BB7}"/>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DFF29ABB-B2DE-4111-A185-A8AB8E10AE3D}"/>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9</a:t>
            </a:r>
            <a:endParaRPr sz="900"/>
          </a:p>
        </p:txBody>
      </p:sp>
      <p:sp>
        <p:nvSpPr>
          <p:cNvPr id="4" name="Shape 2">
            <a:extLst xmlns:a="http://schemas.openxmlformats.org/drawingml/2006/main">
              <a:ext uri="{FF2B5EF4-FFF2-40B4-BE49-F238E27FC236}">
                <a16:creationId xmlns:a16="http://schemas.microsoft.com/office/drawing/2014/main" id="{43E9B6DF-24BF-4779-9676-D1C197975877}"/>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52f047e81874f99"/>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1" name="Image 1"/>
          <p:cNvPicPr>
            <a:picLocks xmlns:a="http://schemas.openxmlformats.org/drawingml/2006/main" noChangeAspect="1"/>
          </p:cNvPicPr>
          <p:nvPr/>
        </p:nvPicPr>
        <p:blipFill>
          <a:blip xmlns:r="http://schemas.openxmlformats.org/officeDocument/2006/relationships" xmlns:a="http://schemas.openxmlformats.org/drawingml/2006/main" r:embed="Rcc3e2226ac02406e"/>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5BC06898-0218-44DC-A030-B57D075FB563}"/>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A338C580-51DB-43B7-B8F3-FBB93653D0F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Cloud vs On-Premise</a:t>
            </a:r>
            <a:endParaRPr sz="2200"/>
          </a:p>
        </p:txBody>
      </p:sp>
      <p:sp>
        <p:nvSpPr>
          <p:cNvPr id="9" name="Text 5">
            <a:extLst xmlns:a="http://schemas.openxmlformats.org/drawingml/2006/main">
              <a:ext uri="{FF2B5EF4-FFF2-40B4-BE49-F238E27FC236}">
                <a16:creationId xmlns:a16="http://schemas.microsoft.com/office/drawing/2014/main" id="{E88144AF-124A-4154-9299-356EBEAAFF7E}"/>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Kenapa Perusahaan Pindah</a:t>
            </a:r>
            <a:endParaRPr sz="1200"/>
          </a:p>
        </p:txBody>
      </p:sp>
      <p:sp>
        <p:nvSpPr>
          <p:cNvPr id="10" name="Shape 6">
            <a:extLst xmlns:a="http://schemas.openxmlformats.org/drawingml/2006/main">
              <a:ext uri="{FF2B5EF4-FFF2-40B4-BE49-F238E27FC236}">
                <a16:creationId xmlns:a16="http://schemas.microsoft.com/office/drawing/2014/main" id="{4BBED529-0112-4985-9B6D-AA1C0B2AE650}"/>
              </a:ext>
            </a:extLst>
          </p:cNvPr>
          <p:cNvSpPr>
            <a:spLocks xmlns:a="http://schemas.openxmlformats.org/drawingml/2006/main" noGrp="1"/>
          </p:cNvSpPr>
          <p:nvPr/>
        </p:nvSpPr>
        <p:spPr>
          <a:xfrm xmlns:a="http://schemas.openxmlformats.org/drawingml/2006/main">
            <a:off x="457200" y="1691640"/>
            <a:ext cx="548640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6E1B1B99-1AF9-45EE-80FF-72B50C5E0CF7}"/>
              </a:ext>
            </a:extLst>
          </p:cNvPr>
          <p:cNvSpPr>
            <a:spLocks xmlns:a="http://schemas.openxmlformats.org/drawingml/2006/main" noGrp="1"/>
          </p:cNvSpPr>
          <p:nvPr/>
        </p:nvSpPr>
        <p:spPr>
          <a:xfrm xmlns:a="http://schemas.openxmlformats.org/drawingml/2006/main">
            <a:off x="457200" y="1691640"/>
            <a:ext cx="5486400" cy="640080"/>
          </a:xfrm>
          <a:prstGeom xmlns:a="http://schemas.openxmlformats.org/drawingml/2006/main" prst="rect">
            <a:avLst/>
          </a:prstGeom>
          <a:solidFill xmlns:a="http://schemas.openxmlformats.org/drawingml/2006/main">
            <a:srgbClr val="64748B"/>
          </a:solidFill>
          <a:ln xmlns:a="http://schemas.openxmlformats.org/drawingml/2006/main" w="12700">
            <a:solidFill>
              <a:srgbClr val="64748B"/>
            </a:solidFill>
            <a:prstDash val="solid"/>
          </a:ln>
        </p:spPr>
      </p:sp>
      <p:pic>
        <p:nvPicPr>
          <p:cNvPr id="57" name="Image 2"/>
          <p:cNvPicPr>
            <a:picLocks xmlns:a="http://schemas.openxmlformats.org/drawingml/2006/main" noChangeAspect="1"/>
          </p:cNvPicPr>
          <p:nvPr/>
        </p:nvPicPr>
        <p:blipFill>
          <a:blip xmlns:r="http://schemas.openxmlformats.org/officeDocument/2006/relationships" xmlns:a="http://schemas.openxmlformats.org/drawingml/2006/main" r:embed="R31c9c8ac4fd44b11"/>
          <a:stretch xmlns:a="http://schemas.openxmlformats.org/drawingml/2006/main">
            <a:fillRect l="0" t="0" r="0" b="0"/>
          </a:stretch>
        </p:blipFill>
        <p:spPr>
          <a:xfrm xmlns:a="http://schemas.openxmlformats.org/drawingml/2006/main">
            <a:off x="640080" y="1783080"/>
            <a:ext cx="457200" cy="45720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5C22E6B7-1999-40BC-9EC5-A5D852E769F3}"/>
              </a:ext>
            </a:extLst>
          </p:cNvPr>
          <p:cNvSpPr>
            <a:spLocks xmlns:a="http://schemas.openxmlformats.org/drawingml/2006/main" noGrp="1"/>
          </p:cNvSpPr>
          <p:nvPr/>
        </p:nvSpPr>
        <p:spPr>
          <a:xfrm xmlns:a="http://schemas.openxmlformats.org/drawingml/2006/main">
            <a:off x="1188720" y="1783080"/>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ON-PREMISE</a:t>
            </a:r>
            <a:endParaRPr sz="1800"/>
          </a:p>
        </p:txBody>
      </p:sp>
      <p:sp>
        <p:nvSpPr>
          <p:cNvPr id="14" name="Text 9">
            <a:extLst xmlns:a="http://schemas.openxmlformats.org/drawingml/2006/main">
              <a:ext uri="{FF2B5EF4-FFF2-40B4-BE49-F238E27FC236}">
                <a16:creationId xmlns:a16="http://schemas.microsoft.com/office/drawing/2014/main" id="{551E05C8-A765-468B-8A0C-6A8C7CDB3E3B}"/>
              </a:ext>
            </a:extLst>
          </p:cNvPr>
          <p:cNvSpPr>
            <a:spLocks xmlns:a="http://schemas.openxmlformats.org/drawingml/2006/main" noGrp="1"/>
          </p:cNvSpPr>
          <p:nvPr/>
        </p:nvSpPr>
        <p:spPr>
          <a:xfrm xmlns:a="http://schemas.openxmlformats.org/drawingml/2006/main">
            <a:off x="685800" y="251460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Modal awal</a:t>
            </a:r>
            <a:endParaRPr sz="1100"/>
          </a:p>
        </p:txBody>
      </p:sp>
      <p:sp>
        <p:nvSpPr>
          <p:cNvPr id="15" name="Text 10">
            <a:extLst xmlns:a="http://schemas.openxmlformats.org/drawingml/2006/main">
              <a:ext uri="{FF2B5EF4-FFF2-40B4-BE49-F238E27FC236}">
                <a16:creationId xmlns:a16="http://schemas.microsoft.com/office/drawing/2014/main" id="{BC0D705F-6F3D-44AA-99F8-625BC6747891}"/>
              </a:ext>
            </a:extLst>
          </p:cNvPr>
          <p:cNvSpPr>
            <a:spLocks xmlns:a="http://schemas.openxmlformats.org/drawingml/2006/main" noGrp="1"/>
          </p:cNvSpPr>
          <p:nvPr/>
        </p:nvSpPr>
        <p:spPr>
          <a:xfrm xmlns:a="http://schemas.openxmlformats.org/drawingml/2006/main">
            <a:off x="2377440" y="2514600"/>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Mahal - beli server, AC, rack, listrik</a:t>
            </a:r>
            <a:endParaRPr sz="1100"/>
          </a:p>
        </p:txBody>
      </p:sp>
      <p:sp>
        <p:nvSpPr>
          <p:cNvPr id="16" name="Text 11">
            <a:extLst xmlns:a="http://schemas.openxmlformats.org/drawingml/2006/main">
              <a:ext uri="{FF2B5EF4-FFF2-40B4-BE49-F238E27FC236}">
                <a16:creationId xmlns:a16="http://schemas.microsoft.com/office/drawing/2014/main" id="{960FBA09-6486-4E5E-A8E4-5CC7C37828F2}"/>
              </a:ext>
            </a:extLst>
          </p:cNvPr>
          <p:cNvSpPr>
            <a:spLocks xmlns:a="http://schemas.openxmlformats.org/drawingml/2006/main" noGrp="1"/>
          </p:cNvSpPr>
          <p:nvPr/>
        </p:nvSpPr>
        <p:spPr>
          <a:xfrm xmlns:a="http://schemas.openxmlformats.org/drawingml/2006/main">
            <a:off x="685800" y="310896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Waktu setup</a:t>
            </a:r>
            <a:endParaRPr sz="1100"/>
          </a:p>
        </p:txBody>
      </p:sp>
      <p:sp>
        <p:nvSpPr>
          <p:cNvPr id="17" name="Text 12">
            <a:extLst xmlns:a="http://schemas.openxmlformats.org/drawingml/2006/main">
              <a:ext uri="{FF2B5EF4-FFF2-40B4-BE49-F238E27FC236}">
                <a16:creationId xmlns:a16="http://schemas.microsoft.com/office/drawing/2014/main" id="{C8DBF6F6-B665-4605-AA68-602DBC8F87DA}"/>
              </a:ext>
            </a:extLst>
          </p:cNvPr>
          <p:cNvSpPr>
            <a:spLocks xmlns:a="http://schemas.openxmlformats.org/drawingml/2006/main" noGrp="1"/>
          </p:cNvSpPr>
          <p:nvPr/>
        </p:nvSpPr>
        <p:spPr>
          <a:xfrm xmlns:a="http://schemas.openxmlformats.org/drawingml/2006/main">
            <a:off x="2377440" y="3108960"/>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Berminggu-minggu hingga bulan</a:t>
            </a:r>
            <a:endParaRPr sz="1100"/>
          </a:p>
        </p:txBody>
      </p:sp>
      <p:sp>
        <p:nvSpPr>
          <p:cNvPr id="18" name="Text 13">
            <a:extLst xmlns:a="http://schemas.openxmlformats.org/drawingml/2006/main">
              <a:ext uri="{FF2B5EF4-FFF2-40B4-BE49-F238E27FC236}">
                <a16:creationId xmlns:a16="http://schemas.microsoft.com/office/drawing/2014/main" id="{4FEDEAA2-4334-4FD0-B04A-537F056013F3}"/>
              </a:ext>
            </a:extLst>
          </p:cNvPr>
          <p:cNvSpPr>
            <a:spLocks xmlns:a="http://schemas.openxmlformats.org/drawingml/2006/main" noGrp="1"/>
          </p:cNvSpPr>
          <p:nvPr/>
        </p:nvSpPr>
        <p:spPr>
          <a:xfrm xmlns:a="http://schemas.openxmlformats.org/drawingml/2006/main">
            <a:off x="685800" y="370332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Skalabilitas</a:t>
            </a:r>
            <a:endParaRPr sz="1100"/>
          </a:p>
        </p:txBody>
      </p:sp>
      <p:sp>
        <p:nvSpPr>
          <p:cNvPr id="19" name="Text 14">
            <a:extLst xmlns:a="http://schemas.openxmlformats.org/drawingml/2006/main">
              <a:ext uri="{FF2B5EF4-FFF2-40B4-BE49-F238E27FC236}">
                <a16:creationId xmlns:a16="http://schemas.microsoft.com/office/drawing/2014/main" id="{9594C398-F0F9-4697-83AB-515D92699130}"/>
              </a:ext>
            </a:extLst>
          </p:cNvPr>
          <p:cNvSpPr>
            <a:spLocks xmlns:a="http://schemas.openxmlformats.org/drawingml/2006/main" noGrp="1"/>
          </p:cNvSpPr>
          <p:nvPr/>
        </p:nvSpPr>
        <p:spPr>
          <a:xfrm xmlns:a="http://schemas.openxmlformats.org/drawingml/2006/main">
            <a:off x="2377440" y="3703320"/>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Terbatas kapasitas hardware fisik</a:t>
            </a:r>
            <a:endParaRPr sz="1100"/>
          </a:p>
        </p:txBody>
      </p:sp>
      <p:sp>
        <p:nvSpPr>
          <p:cNvPr id="20" name="Text 15">
            <a:extLst xmlns:a="http://schemas.openxmlformats.org/drawingml/2006/main">
              <a:ext uri="{FF2B5EF4-FFF2-40B4-BE49-F238E27FC236}">
                <a16:creationId xmlns:a16="http://schemas.microsoft.com/office/drawing/2014/main" id="{2B7E4378-C39C-4C62-BE9C-1D9F9E38574C}"/>
              </a:ext>
            </a:extLst>
          </p:cNvPr>
          <p:cNvSpPr>
            <a:spLocks xmlns:a="http://schemas.openxmlformats.org/drawingml/2006/main" noGrp="1"/>
          </p:cNvSpPr>
          <p:nvPr/>
        </p:nvSpPr>
        <p:spPr>
          <a:xfrm xmlns:a="http://schemas.openxmlformats.org/drawingml/2006/main">
            <a:off x="685800" y="429768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Maintenance</a:t>
            </a:r>
            <a:endParaRPr sz="1100"/>
          </a:p>
        </p:txBody>
      </p:sp>
      <p:sp>
        <p:nvSpPr>
          <p:cNvPr id="21" name="Text 16">
            <a:extLst xmlns:a="http://schemas.openxmlformats.org/drawingml/2006/main">
              <a:ext uri="{FF2B5EF4-FFF2-40B4-BE49-F238E27FC236}">
                <a16:creationId xmlns:a16="http://schemas.microsoft.com/office/drawing/2014/main" id="{5403842B-BEBE-455E-9D04-45F52EE1971A}"/>
              </a:ext>
            </a:extLst>
          </p:cNvPr>
          <p:cNvSpPr>
            <a:spLocks xmlns:a="http://schemas.openxmlformats.org/drawingml/2006/main" noGrp="1"/>
          </p:cNvSpPr>
          <p:nvPr/>
        </p:nvSpPr>
        <p:spPr>
          <a:xfrm xmlns:a="http://schemas.openxmlformats.org/drawingml/2006/main">
            <a:off x="2377440" y="4297680"/>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Tim IT internal, 24/7 on-call</a:t>
            </a:r>
            <a:endParaRPr sz="1100"/>
          </a:p>
        </p:txBody>
      </p:sp>
      <p:sp>
        <p:nvSpPr>
          <p:cNvPr id="22" name="Text 17">
            <a:extLst xmlns:a="http://schemas.openxmlformats.org/drawingml/2006/main">
              <a:ext uri="{FF2B5EF4-FFF2-40B4-BE49-F238E27FC236}">
                <a16:creationId xmlns:a16="http://schemas.microsoft.com/office/drawing/2014/main" id="{3EF5A21A-6542-4442-82AF-34550C3EE60B}"/>
              </a:ext>
            </a:extLst>
          </p:cNvPr>
          <p:cNvSpPr>
            <a:spLocks xmlns:a="http://schemas.openxmlformats.org/drawingml/2006/main" noGrp="1"/>
          </p:cNvSpPr>
          <p:nvPr/>
        </p:nvSpPr>
        <p:spPr>
          <a:xfrm xmlns:a="http://schemas.openxmlformats.org/drawingml/2006/main">
            <a:off x="685800" y="489204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Risiko</a:t>
            </a:r>
            <a:endParaRPr sz="1100"/>
          </a:p>
        </p:txBody>
      </p:sp>
      <p:sp>
        <p:nvSpPr>
          <p:cNvPr id="23" name="Text 18">
            <a:extLst xmlns:a="http://schemas.openxmlformats.org/drawingml/2006/main">
              <a:ext uri="{FF2B5EF4-FFF2-40B4-BE49-F238E27FC236}">
                <a16:creationId xmlns:a16="http://schemas.microsoft.com/office/drawing/2014/main" id="{764A5017-94D4-4EAD-8694-B8DDA2F74645}"/>
              </a:ext>
            </a:extLst>
          </p:cNvPr>
          <p:cNvSpPr>
            <a:spLocks xmlns:a="http://schemas.openxmlformats.org/drawingml/2006/main" noGrp="1"/>
          </p:cNvSpPr>
          <p:nvPr/>
        </p:nvSpPr>
        <p:spPr>
          <a:xfrm xmlns:a="http://schemas.openxmlformats.org/drawingml/2006/main">
            <a:off x="2377440" y="4892040"/>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Perlu redundansi dan pemulihan</a:t>
            </a:r>
            <a:endParaRPr sz="1100"/>
          </a:p>
        </p:txBody>
      </p:sp>
      <p:sp>
        <p:nvSpPr>
          <p:cNvPr id="24" name="Text 19">
            <a:extLst xmlns:a="http://schemas.openxmlformats.org/drawingml/2006/main">
              <a:ext uri="{FF2B5EF4-FFF2-40B4-BE49-F238E27FC236}">
                <a16:creationId xmlns:a16="http://schemas.microsoft.com/office/drawing/2014/main" id="{DA9C3C5F-A32F-45BB-815E-43891442924B}"/>
              </a:ext>
            </a:extLst>
          </p:cNvPr>
          <p:cNvSpPr>
            <a:spLocks xmlns:a="http://schemas.openxmlformats.org/drawingml/2006/main" noGrp="1"/>
          </p:cNvSpPr>
          <p:nvPr/>
        </p:nvSpPr>
        <p:spPr>
          <a:xfrm xmlns:a="http://schemas.openxmlformats.org/drawingml/2006/main">
            <a:off x="685800" y="548640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Cocok untuk</a:t>
            </a:r>
            <a:endParaRPr sz="1100"/>
          </a:p>
        </p:txBody>
      </p:sp>
      <p:sp>
        <p:nvSpPr>
          <p:cNvPr id="25" name="Text 20">
            <a:extLst xmlns:a="http://schemas.openxmlformats.org/drawingml/2006/main">
              <a:ext uri="{FF2B5EF4-FFF2-40B4-BE49-F238E27FC236}">
                <a16:creationId xmlns:a16="http://schemas.microsoft.com/office/drawing/2014/main" id="{A917E7E0-2970-48B3-8D99-ADD425C8EEF5}"/>
              </a:ext>
            </a:extLst>
          </p:cNvPr>
          <p:cNvSpPr>
            <a:spLocks xmlns:a="http://schemas.openxmlformats.org/drawingml/2006/main" noGrp="1"/>
          </p:cNvSpPr>
          <p:nvPr/>
        </p:nvSpPr>
        <p:spPr>
          <a:xfrm xmlns:a="http://schemas.openxmlformats.org/drawingml/2006/main">
            <a:off x="2377440" y="5486400"/>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Beban tetap, data sensitif regulasi</a:t>
            </a:r>
            <a:endParaRPr sz="1100"/>
          </a:p>
        </p:txBody>
      </p:sp>
      <p:sp>
        <p:nvSpPr>
          <p:cNvPr id="26" name="Shape 21">
            <a:extLst xmlns:a="http://schemas.openxmlformats.org/drawingml/2006/main">
              <a:ext uri="{FF2B5EF4-FFF2-40B4-BE49-F238E27FC236}">
                <a16:creationId xmlns:a16="http://schemas.microsoft.com/office/drawing/2014/main" id="{FC4270C4-E1A8-4100-9FD3-9DE87527B9D6}"/>
              </a:ext>
            </a:extLst>
          </p:cNvPr>
          <p:cNvSpPr>
            <a:spLocks xmlns:a="http://schemas.openxmlformats.org/drawingml/2006/main" noGrp="1"/>
          </p:cNvSpPr>
          <p:nvPr/>
        </p:nvSpPr>
        <p:spPr>
          <a:xfrm xmlns:a="http://schemas.openxmlformats.org/drawingml/2006/main">
            <a:off x="6217920" y="1691640"/>
            <a:ext cx="5486400" cy="4480560"/>
          </a:xfrm>
          <a:prstGeom xmlns:a="http://schemas.openxmlformats.org/drawingml/2006/main" prst="rect">
            <a:avLst/>
          </a:prstGeom>
          <a:solidFill xmlns:a="http://schemas.openxmlformats.org/drawingml/2006/main">
            <a:srgbClr val="FFFFFF"/>
          </a:solidFill>
          <a:ln xmlns:a="http://schemas.openxmlformats.org/drawingml/2006/main" w="25400">
            <a:solidFill>
              <a:srgbClr val="002677"/>
            </a:solidFill>
            <a:prstDash val="solid"/>
          </a:ln>
        </p:spPr>
      </p:sp>
      <p:sp>
        <p:nvSpPr>
          <p:cNvPr id="27" name="Shape 22">
            <a:extLst xmlns:a="http://schemas.openxmlformats.org/drawingml/2006/main">
              <a:ext uri="{FF2B5EF4-FFF2-40B4-BE49-F238E27FC236}">
                <a16:creationId xmlns:a16="http://schemas.microsoft.com/office/drawing/2014/main" id="{EB90326D-C8E6-4536-8D53-5F74DE3767AE}"/>
              </a:ext>
            </a:extLst>
          </p:cNvPr>
          <p:cNvSpPr>
            <a:spLocks xmlns:a="http://schemas.openxmlformats.org/drawingml/2006/main" noGrp="1"/>
          </p:cNvSpPr>
          <p:nvPr/>
        </p:nvSpPr>
        <p:spPr>
          <a:xfrm xmlns:a="http://schemas.openxmlformats.org/drawingml/2006/main">
            <a:off x="6217920" y="1691640"/>
            <a:ext cx="5486400" cy="6400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73" name="Image 3"/>
          <p:cNvPicPr>
            <a:picLocks xmlns:a="http://schemas.openxmlformats.org/drawingml/2006/main" noChangeAspect="1"/>
          </p:cNvPicPr>
          <p:nvPr/>
        </p:nvPicPr>
        <p:blipFill>
          <a:blip xmlns:r="http://schemas.openxmlformats.org/officeDocument/2006/relationships" xmlns:a="http://schemas.openxmlformats.org/drawingml/2006/main" r:embed="Rea14d93bb246421b"/>
          <a:stretch xmlns:a="http://schemas.openxmlformats.org/drawingml/2006/main">
            <a:fillRect l="0" t="0" r="0" b="0"/>
          </a:stretch>
        </p:blipFill>
        <p:spPr>
          <a:xfrm xmlns:a="http://schemas.openxmlformats.org/drawingml/2006/main">
            <a:off x="6400800" y="1783080"/>
            <a:ext cx="457200" cy="457200"/>
          </a:xfrm>
          <a:prstGeom xmlns:a="http://schemas.openxmlformats.org/drawingml/2006/main" prst="rect">
            <a:avLst/>
          </a:prstGeom>
        </p:spPr>
      </p:pic>
      <p:sp>
        <p:nvSpPr>
          <p:cNvPr id="29" name="Text 23">
            <a:extLst xmlns:a="http://schemas.openxmlformats.org/drawingml/2006/main">
              <a:ext uri="{FF2B5EF4-FFF2-40B4-BE49-F238E27FC236}">
                <a16:creationId xmlns:a16="http://schemas.microsoft.com/office/drawing/2014/main" id="{68270756-B9B7-43CA-81FA-A2B1E3E64F94}"/>
              </a:ext>
            </a:extLst>
          </p:cNvPr>
          <p:cNvSpPr>
            <a:spLocks xmlns:a="http://schemas.openxmlformats.org/drawingml/2006/main" noGrp="1"/>
          </p:cNvSpPr>
          <p:nvPr/>
        </p:nvSpPr>
        <p:spPr>
          <a:xfrm xmlns:a="http://schemas.openxmlformats.org/drawingml/2006/main">
            <a:off x="6949440" y="1783080"/>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CLOUD</a:t>
            </a:r>
            <a:endParaRPr sz="1800"/>
          </a:p>
        </p:txBody>
      </p:sp>
      <p:sp>
        <p:nvSpPr>
          <p:cNvPr id="30" name="Text 24">
            <a:extLst xmlns:a="http://schemas.openxmlformats.org/drawingml/2006/main">
              <a:ext uri="{FF2B5EF4-FFF2-40B4-BE49-F238E27FC236}">
                <a16:creationId xmlns:a16="http://schemas.microsoft.com/office/drawing/2014/main" id="{E968D9C1-51BC-4E10-9710-102B40F5B56B}"/>
              </a:ext>
            </a:extLst>
          </p:cNvPr>
          <p:cNvSpPr>
            <a:spLocks xmlns:a="http://schemas.openxmlformats.org/drawingml/2006/main" noGrp="1"/>
          </p:cNvSpPr>
          <p:nvPr/>
        </p:nvSpPr>
        <p:spPr>
          <a:xfrm xmlns:a="http://schemas.openxmlformats.org/drawingml/2006/main">
            <a:off x="6446520" y="251460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Modal awal</a:t>
            </a:r>
            <a:endParaRPr sz="1100"/>
          </a:p>
        </p:txBody>
      </p:sp>
      <p:sp>
        <p:nvSpPr>
          <p:cNvPr id="31" name="Text 25">
            <a:extLst xmlns:a="http://schemas.openxmlformats.org/drawingml/2006/main">
              <a:ext uri="{FF2B5EF4-FFF2-40B4-BE49-F238E27FC236}">
                <a16:creationId xmlns:a16="http://schemas.microsoft.com/office/drawing/2014/main" id="{8F970882-0B52-487A-864A-3DE858B9D521}"/>
              </a:ext>
            </a:extLst>
          </p:cNvPr>
          <p:cNvSpPr>
            <a:spLocks xmlns:a="http://schemas.openxmlformats.org/drawingml/2006/main" noGrp="1"/>
          </p:cNvSpPr>
          <p:nvPr/>
        </p:nvSpPr>
        <p:spPr>
          <a:xfrm xmlns:a="http://schemas.openxmlformats.org/drawingml/2006/main">
            <a:off x="8138160" y="2514600"/>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Minim - free tier untuk eksperimen</a:t>
            </a:r>
            <a:endParaRPr sz="1100"/>
          </a:p>
        </p:txBody>
      </p:sp>
      <p:sp>
        <p:nvSpPr>
          <p:cNvPr id="32" name="Text 26">
            <a:extLst xmlns:a="http://schemas.openxmlformats.org/drawingml/2006/main">
              <a:ext uri="{FF2B5EF4-FFF2-40B4-BE49-F238E27FC236}">
                <a16:creationId xmlns:a16="http://schemas.microsoft.com/office/drawing/2014/main" id="{C17BC6BB-D0D8-4E68-8FAB-DEDAB006234F}"/>
              </a:ext>
            </a:extLst>
          </p:cNvPr>
          <p:cNvSpPr>
            <a:spLocks xmlns:a="http://schemas.openxmlformats.org/drawingml/2006/main" noGrp="1"/>
          </p:cNvSpPr>
          <p:nvPr/>
        </p:nvSpPr>
        <p:spPr>
          <a:xfrm xmlns:a="http://schemas.openxmlformats.org/drawingml/2006/main">
            <a:off x="6446520" y="310896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Waktu setup</a:t>
            </a:r>
            <a:endParaRPr sz="1100"/>
          </a:p>
        </p:txBody>
      </p:sp>
      <p:sp>
        <p:nvSpPr>
          <p:cNvPr id="33" name="Text 27">
            <a:extLst xmlns:a="http://schemas.openxmlformats.org/drawingml/2006/main">
              <a:ext uri="{FF2B5EF4-FFF2-40B4-BE49-F238E27FC236}">
                <a16:creationId xmlns:a16="http://schemas.microsoft.com/office/drawing/2014/main" id="{C43FC277-3D56-4E2D-B906-042A5723AA6D}"/>
              </a:ext>
            </a:extLst>
          </p:cNvPr>
          <p:cNvSpPr>
            <a:spLocks xmlns:a="http://schemas.openxmlformats.org/drawingml/2006/main" noGrp="1"/>
          </p:cNvSpPr>
          <p:nvPr/>
        </p:nvSpPr>
        <p:spPr>
          <a:xfrm xmlns:a="http://schemas.openxmlformats.org/drawingml/2006/main">
            <a:off x="8138160" y="3108960"/>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Hitungan menit</a:t>
            </a:r>
            <a:endParaRPr sz="1100"/>
          </a:p>
        </p:txBody>
      </p:sp>
      <p:sp>
        <p:nvSpPr>
          <p:cNvPr id="34" name="Text 28">
            <a:extLst xmlns:a="http://schemas.openxmlformats.org/drawingml/2006/main">
              <a:ext uri="{FF2B5EF4-FFF2-40B4-BE49-F238E27FC236}">
                <a16:creationId xmlns:a16="http://schemas.microsoft.com/office/drawing/2014/main" id="{C34147E8-6957-4BC7-875D-EE0339929126}"/>
              </a:ext>
            </a:extLst>
          </p:cNvPr>
          <p:cNvSpPr>
            <a:spLocks xmlns:a="http://schemas.openxmlformats.org/drawingml/2006/main" noGrp="1"/>
          </p:cNvSpPr>
          <p:nvPr/>
        </p:nvSpPr>
        <p:spPr>
          <a:xfrm xmlns:a="http://schemas.openxmlformats.org/drawingml/2006/main">
            <a:off x="6446520" y="370332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Skalabilitas</a:t>
            </a:r>
            <a:endParaRPr sz="1100"/>
          </a:p>
        </p:txBody>
      </p:sp>
      <p:sp>
        <p:nvSpPr>
          <p:cNvPr id="35" name="Text 29">
            <a:extLst xmlns:a="http://schemas.openxmlformats.org/drawingml/2006/main">
              <a:ext uri="{FF2B5EF4-FFF2-40B4-BE49-F238E27FC236}">
                <a16:creationId xmlns:a16="http://schemas.microsoft.com/office/drawing/2014/main" id="{B792BFD5-5323-4780-908E-7A478A666392}"/>
              </a:ext>
            </a:extLst>
          </p:cNvPr>
          <p:cNvSpPr>
            <a:spLocks xmlns:a="http://schemas.openxmlformats.org/drawingml/2006/main" noGrp="1"/>
          </p:cNvSpPr>
          <p:nvPr/>
        </p:nvSpPr>
        <p:spPr>
          <a:xfrm xmlns:a="http://schemas.openxmlformats.org/drawingml/2006/main">
            <a:off x="8138160" y="3703320"/>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Elastis sesuai layanan dan konfigurasi</a:t>
            </a:r>
            <a:endParaRPr sz="1100"/>
          </a:p>
        </p:txBody>
      </p:sp>
      <p:sp>
        <p:nvSpPr>
          <p:cNvPr id="36" name="Text 30">
            <a:extLst xmlns:a="http://schemas.openxmlformats.org/drawingml/2006/main">
              <a:ext uri="{FF2B5EF4-FFF2-40B4-BE49-F238E27FC236}">
                <a16:creationId xmlns:a16="http://schemas.microsoft.com/office/drawing/2014/main" id="{F7AD41EC-BF6B-47D6-9184-6A2D24AAE3C8}"/>
              </a:ext>
            </a:extLst>
          </p:cNvPr>
          <p:cNvSpPr>
            <a:spLocks xmlns:a="http://schemas.openxmlformats.org/drawingml/2006/main" noGrp="1"/>
          </p:cNvSpPr>
          <p:nvPr/>
        </p:nvSpPr>
        <p:spPr>
          <a:xfrm xmlns:a="http://schemas.openxmlformats.org/drawingml/2006/main">
            <a:off x="6446520" y="429768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Maintenance</a:t>
            </a:r>
            <a:endParaRPr sz="1100"/>
          </a:p>
        </p:txBody>
      </p:sp>
      <p:sp>
        <p:nvSpPr>
          <p:cNvPr id="37" name="Text 31">
            <a:extLst xmlns:a="http://schemas.openxmlformats.org/drawingml/2006/main">
              <a:ext uri="{FF2B5EF4-FFF2-40B4-BE49-F238E27FC236}">
                <a16:creationId xmlns:a16="http://schemas.microsoft.com/office/drawing/2014/main" id="{D7817350-D763-49E1-A39E-5B0BBA3DCD7C}"/>
              </a:ext>
            </a:extLst>
          </p:cNvPr>
          <p:cNvSpPr>
            <a:spLocks xmlns:a="http://schemas.openxmlformats.org/drawingml/2006/main" noGrp="1"/>
          </p:cNvSpPr>
          <p:nvPr/>
        </p:nvSpPr>
        <p:spPr>
          <a:xfrm xmlns:a="http://schemas.openxmlformats.org/drawingml/2006/main">
            <a:off x="8138160" y="4297680"/>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Berbagi sesuai model layanan</a:t>
            </a:r>
            <a:endParaRPr sz="1100"/>
          </a:p>
        </p:txBody>
      </p:sp>
      <p:sp>
        <p:nvSpPr>
          <p:cNvPr id="38" name="Text 32">
            <a:extLst xmlns:a="http://schemas.openxmlformats.org/drawingml/2006/main">
              <a:ext uri="{FF2B5EF4-FFF2-40B4-BE49-F238E27FC236}">
                <a16:creationId xmlns:a16="http://schemas.microsoft.com/office/drawing/2014/main" id="{60B069DF-3944-4971-AC43-74AA09C67943}"/>
              </a:ext>
            </a:extLst>
          </p:cNvPr>
          <p:cNvSpPr>
            <a:spLocks xmlns:a="http://schemas.openxmlformats.org/drawingml/2006/main" noGrp="1"/>
          </p:cNvSpPr>
          <p:nvPr/>
        </p:nvSpPr>
        <p:spPr>
          <a:xfrm xmlns:a="http://schemas.openxmlformats.org/drawingml/2006/main">
            <a:off x="6446520" y="489204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Risiko</a:t>
            </a:r>
            <a:endParaRPr sz="1100"/>
          </a:p>
        </p:txBody>
      </p:sp>
      <p:sp>
        <p:nvSpPr>
          <p:cNvPr id="39" name="Text 33">
            <a:extLst xmlns:a="http://schemas.openxmlformats.org/drawingml/2006/main">
              <a:ext uri="{FF2B5EF4-FFF2-40B4-BE49-F238E27FC236}">
                <a16:creationId xmlns:a16="http://schemas.microsoft.com/office/drawing/2014/main" id="{53C7E236-4046-4D58-B5A1-532190764096}"/>
              </a:ext>
            </a:extLst>
          </p:cNvPr>
          <p:cNvSpPr>
            <a:spLocks xmlns:a="http://schemas.openxmlformats.org/drawingml/2006/main" noGrp="1"/>
          </p:cNvSpPr>
          <p:nvPr/>
        </p:nvSpPr>
        <p:spPr>
          <a:xfrm xmlns:a="http://schemas.openxmlformats.org/drawingml/2006/main">
            <a:off x="8138160" y="4892040"/>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Redundansi perlu dirancang dan diuji</a:t>
            </a:r>
            <a:endParaRPr sz="1100"/>
          </a:p>
        </p:txBody>
      </p:sp>
      <p:sp>
        <p:nvSpPr>
          <p:cNvPr id="40" name="Text 34">
            <a:extLst xmlns:a="http://schemas.openxmlformats.org/drawingml/2006/main">
              <a:ext uri="{FF2B5EF4-FFF2-40B4-BE49-F238E27FC236}">
                <a16:creationId xmlns:a16="http://schemas.microsoft.com/office/drawing/2014/main" id="{FE23E7AF-FD73-42A5-B485-6AD31766532D}"/>
              </a:ext>
            </a:extLst>
          </p:cNvPr>
          <p:cNvSpPr>
            <a:spLocks xmlns:a="http://schemas.openxmlformats.org/drawingml/2006/main" noGrp="1"/>
          </p:cNvSpPr>
          <p:nvPr/>
        </p:nvSpPr>
        <p:spPr>
          <a:xfrm xmlns:a="http://schemas.openxmlformats.org/drawingml/2006/main">
            <a:off x="6446520" y="548640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Cocok untuk</a:t>
            </a:r>
            <a:endParaRPr sz="1100"/>
          </a:p>
        </p:txBody>
      </p:sp>
      <p:sp>
        <p:nvSpPr>
          <p:cNvPr id="41" name="Text 35">
            <a:extLst xmlns:a="http://schemas.openxmlformats.org/drawingml/2006/main">
              <a:ext uri="{FF2B5EF4-FFF2-40B4-BE49-F238E27FC236}">
                <a16:creationId xmlns:a16="http://schemas.microsoft.com/office/drawing/2014/main" id="{C95A5956-280B-49D6-8E01-F6371C079E8D}"/>
              </a:ext>
            </a:extLst>
          </p:cNvPr>
          <p:cNvSpPr>
            <a:spLocks xmlns:a="http://schemas.openxmlformats.org/drawingml/2006/main" noGrp="1"/>
          </p:cNvSpPr>
          <p:nvPr/>
        </p:nvSpPr>
        <p:spPr>
          <a:xfrm xmlns:a="http://schemas.openxmlformats.org/drawingml/2006/main">
            <a:off x="8138160" y="5486400"/>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Beban variabel, startup, MVP, projek</a:t>
            </a:r>
            <a:endParaRPr sz="1100"/>
          </a:p>
        </p:txBody>
      </p:sp>
      <p:sp>
        <p:nvSpPr>
          <p:cNvPr id="42" name="Text 36">
            <a:extLst xmlns:a="http://schemas.openxmlformats.org/drawingml/2006/main">
              <a:ext uri="{FF2B5EF4-FFF2-40B4-BE49-F238E27FC236}">
                <a16:creationId xmlns:a16="http://schemas.microsoft.com/office/drawing/2014/main" id="{FCE5E3D4-FC62-4C3F-98B4-B33DEB665241}"/>
              </a:ext>
            </a:extLst>
          </p:cNvPr>
          <p:cNvSpPr>
            <a:spLocks xmlns:a="http://schemas.openxmlformats.org/drawingml/2006/main" noGrp="1"/>
          </p:cNvSpPr>
          <p:nvPr/>
        </p:nvSpPr>
        <p:spPr>
          <a:xfrm xmlns:a="http://schemas.openxmlformats.org/drawingml/2006/main">
            <a:off x="457200" y="62636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Tradeoff utama: kontrol penuh vs kecepatan &amp; elastisitas</a:t>
            </a:r>
            <a:endParaRPr sz="1100"/>
          </a:p>
        </p:txBody>
      </p:sp>
    </p:spTree>
    <p:extLst>
      <p:ext uri="{BB962C8B-B14F-4D97-AF65-F5344CB8AC3E}">
        <p14:creationId xmlns:p14="http://schemas.microsoft.com/office/powerpoint/2010/main" val="15218899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F4F2513-5751-452A-BFBE-900108D8C781}"/>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0AA74CB7-0A0A-4F4F-BCCA-F44EE56EFBAD}"/>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10</a:t>
            </a:r>
            <a:endParaRPr sz="900"/>
          </a:p>
        </p:txBody>
      </p:sp>
      <p:sp>
        <p:nvSpPr>
          <p:cNvPr id="4" name="Shape 2">
            <a:extLst xmlns:a="http://schemas.openxmlformats.org/drawingml/2006/main">
              <a:ext uri="{FF2B5EF4-FFF2-40B4-BE49-F238E27FC236}">
                <a16:creationId xmlns:a16="http://schemas.microsoft.com/office/drawing/2014/main" id="{640721F5-7BB7-4204-AE88-B759739DC432}"/>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7" name="Image 0"/>
          <p:cNvPicPr>
            <a:picLocks xmlns:a="http://schemas.openxmlformats.org/drawingml/2006/main" noChangeAspect="1"/>
          </p:cNvPicPr>
          <p:nvPr/>
        </p:nvPicPr>
        <p:blipFill>
          <a:blip xmlns:r="http://schemas.openxmlformats.org/officeDocument/2006/relationships" xmlns:a="http://schemas.openxmlformats.org/drawingml/2006/main" r:embed="R0a227ee7e130486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07792e656fc1411e"/>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95A323CE-5B86-4C9A-99A5-3DB3D681C82B}"/>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CD2A30A5-D425-4788-9107-2E3A33C55ED0}"/>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Skala Industri Cloud pada Q1 2026</a:t>
            </a:r>
            <a:endParaRPr sz="2200"/>
          </a:p>
        </p:txBody>
      </p:sp>
      <p:sp>
        <p:nvSpPr>
          <p:cNvPr id="9" name="Text 5">
            <a:extLst xmlns:a="http://schemas.openxmlformats.org/drawingml/2006/main">
              <a:ext uri="{FF2B5EF4-FFF2-40B4-BE49-F238E27FC236}">
                <a16:creationId xmlns:a16="http://schemas.microsoft.com/office/drawing/2014/main" id="{8277C21C-472F-451A-B8C5-06D1A9129CB5}"/>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Q1 2026 Data</a:t>
            </a:r>
            <a:endParaRPr sz="1200"/>
          </a:p>
        </p:txBody>
      </p:sp>
      <p:sp>
        <p:nvSpPr>
          <p:cNvPr id="10" name="Shape 6">
            <a:extLst xmlns:a="http://schemas.openxmlformats.org/drawingml/2006/main">
              <a:ext uri="{FF2B5EF4-FFF2-40B4-BE49-F238E27FC236}">
                <a16:creationId xmlns:a16="http://schemas.microsoft.com/office/drawing/2014/main" id="{782B7C25-EEA4-45F0-BED6-89C052CBD757}"/>
              </a:ext>
            </a:extLst>
          </p:cNvPr>
          <p:cNvSpPr>
            <a:spLocks xmlns:a="http://schemas.openxmlformats.org/drawingml/2006/main" noGrp="1"/>
          </p:cNvSpPr>
          <p:nvPr/>
        </p:nvSpPr>
        <p:spPr>
          <a:xfrm xmlns:a="http://schemas.openxmlformats.org/drawingml/2006/main">
            <a:off x="457200" y="1691640"/>
            <a:ext cx="5303520" cy="44805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1" name="Text 7">
            <a:extLst xmlns:a="http://schemas.openxmlformats.org/drawingml/2006/main">
              <a:ext uri="{FF2B5EF4-FFF2-40B4-BE49-F238E27FC236}">
                <a16:creationId xmlns:a16="http://schemas.microsoft.com/office/drawing/2014/main" id="{A6503708-EABC-4E69-B547-A1022C822FE1}"/>
              </a:ext>
            </a:extLst>
          </p:cNvPr>
          <p:cNvSpPr>
            <a:spLocks xmlns:a="http://schemas.openxmlformats.org/drawingml/2006/main" noGrp="1"/>
          </p:cNvSpPr>
          <p:nvPr/>
        </p:nvSpPr>
        <p:spPr>
          <a:xfrm xmlns:a="http://schemas.openxmlformats.org/drawingml/2006/main">
            <a:off x="457200" y="2011680"/>
            <a:ext cx="530352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600" b="1">
                <a:solidFill>
                  <a:srgbClr val="F37021"/>
                </a:solidFill>
                <a:latin typeface="Calibri"/>
                <a:ea typeface="Calibri"/>
                <a:cs typeface="Calibri"/>
              </a:rPr>
              <a:t>$129B</a:t>
            </a:r>
            <a:endParaRPr sz="9600"/>
          </a:p>
        </p:txBody>
      </p:sp>
      <p:sp>
        <p:nvSpPr>
          <p:cNvPr id="12" name="Text 8">
            <a:extLst xmlns:a="http://schemas.openxmlformats.org/drawingml/2006/main">
              <a:ext uri="{FF2B5EF4-FFF2-40B4-BE49-F238E27FC236}">
                <a16:creationId xmlns:a16="http://schemas.microsoft.com/office/drawing/2014/main" id="{0989A606-2AE0-49B3-A495-874D10BC73AA}"/>
              </a:ext>
            </a:extLst>
          </p:cNvPr>
          <p:cNvSpPr>
            <a:spLocks xmlns:a="http://schemas.openxmlformats.org/drawingml/2006/main" noGrp="1"/>
          </p:cNvSpPr>
          <p:nvPr/>
        </p:nvSpPr>
        <p:spPr>
          <a:xfrm xmlns:a="http://schemas.openxmlformats.org/drawingml/2006/main">
            <a:off x="457200" y="3383280"/>
            <a:ext cx="53035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Belanja infrastruktur cloud global</a:t>
            </a:r>
            <a:endParaRPr sz="1600"/>
          </a:p>
        </p:txBody>
      </p:sp>
      <p:sp>
        <p:nvSpPr>
          <p:cNvPr id="13" name="Text 9">
            <a:extLst xmlns:a="http://schemas.openxmlformats.org/drawingml/2006/main">
              <a:ext uri="{FF2B5EF4-FFF2-40B4-BE49-F238E27FC236}">
                <a16:creationId xmlns:a16="http://schemas.microsoft.com/office/drawing/2014/main" id="{3742B3CC-9AEA-43AA-9250-295C45B3B05B}"/>
              </a:ext>
            </a:extLst>
          </p:cNvPr>
          <p:cNvSpPr>
            <a:spLocks xmlns:a="http://schemas.openxmlformats.org/drawingml/2006/main" noGrp="1"/>
          </p:cNvSpPr>
          <p:nvPr/>
        </p:nvSpPr>
        <p:spPr>
          <a:xfrm xmlns:a="http://schemas.openxmlformats.org/drawingml/2006/main">
            <a:off x="457200" y="3749040"/>
            <a:ext cx="53035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i="1">
                <a:solidFill>
                  <a:srgbClr val="FED7AA"/>
                </a:solidFill>
                <a:latin typeface="Calibri"/>
                <a:ea typeface="Calibri"/>
                <a:cs typeface="Calibri"/>
              </a:rPr>
              <a:t>dalam satu kuartal (Q1 2026)</a:t>
            </a:r>
            <a:endParaRPr sz="1300"/>
          </a:p>
        </p:txBody>
      </p:sp>
      <p:sp>
        <p:nvSpPr>
          <p:cNvPr id="14" name="Shape 10">
            <a:extLst xmlns:a="http://schemas.openxmlformats.org/drawingml/2006/main">
              <a:ext uri="{FF2B5EF4-FFF2-40B4-BE49-F238E27FC236}">
                <a16:creationId xmlns:a16="http://schemas.microsoft.com/office/drawing/2014/main" id="{72E263EB-7BA5-4026-9189-28F5A96348FF}"/>
              </a:ext>
            </a:extLst>
          </p:cNvPr>
          <p:cNvSpPr>
            <a:spLocks xmlns:a="http://schemas.openxmlformats.org/drawingml/2006/main" noGrp="1"/>
          </p:cNvSpPr>
          <p:nvPr/>
        </p:nvSpPr>
        <p:spPr>
          <a:xfrm xmlns:a="http://schemas.openxmlformats.org/drawingml/2006/main">
            <a:off x="1828800" y="4297680"/>
            <a:ext cx="256032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5" name="Text 11">
            <a:extLst xmlns:a="http://schemas.openxmlformats.org/drawingml/2006/main">
              <a:ext uri="{FF2B5EF4-FFF2-40B4-BE49-F238E27FC236}">
                <a16:creationId xmlns:a16="http://schemas.microsoft.com/office/drawing/2014/main" id="{1D845673-0258-4525-A6F6-99449B8C845C}"/>
              </a:ext>
            </a:extLst>
          </p:cNvPr>
          <p:cNvSpPr>
            <a:spLocks xmlns:a="http://schemas.openxmlformats.org/drawingml/2006/main" noGrp="1"/>
          </p:cNvSpPr>
          <p:nvPr/>
        </p:nvSpPr>
        <p:spPr>
          <a:xfrm xmlns:a="http://schemas.openxmlformats.org/drawingml/2006/main">
            <a:off x="457200" y="4434840"/>
            <a:ext cx="53035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800" b="1">
                <a:solidFill>
                  <a:srgbClr val="FFFFFF"/>
                </a:solidFill>
                <a:latin typeface="Calibri"/>
                <a:ea typeface="Calibri"/>
                <a:cs typeface="Calibri"/>
              </a:rPr>
              <a:t>+35% year-over-year</a:t>
            </a:r>
            <a:endParaRPr sz="1800"/>
          </a:p>
        </p:txBody>
      </p:sp>
      <p:sp>
        <p:nvSpPr>
          <p:cNvPr id="16" name="Text 12">
            <a:extLst xmlns:a="http://schemas.openxmlformats.org/drawingml/2006/main">
              <a:ext uri="{FF2B5EF4-FFF2-40B4-BE49-F238E27FC236}">
                <a16:creationId xmlns:a16="http://schemas.microsoft.com/office/drawing/2014/main" id="{E3669A0D-43CD-41AB-A06A-BFF83FABB37E}"/>
              </a:ext>
            </a:extLst>
          </p:cNvPr>
          <p:cNvSpPr>
            <a:spLocks xmlns:a="http://schemas.openxmlformats.org/drawingml/2006/main" noGrp="1"/>
          </p:cNvSpPr>
          <p:nvPr/>
        </p:nvSpPr>
        <p:spPr>
          <a:xfrm xmlns:a="http://schemas.openxmlformats.org/drawingml/2006/main">
            <a:off x="457200" y="4937760"/>
            <a:ext cx="53035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i="1">
                <a:solidFill>
                  <a:srgbClr val="FED7AA"/>
                </a:solidFill>
                <a:latin typeface="Calibri"/>
                <a:ea typeface="Calibri"/>
                <a:cs typeface="Calibri"/>
              </a:rPr>
              <a:t>Run rate tahunan Q1 2026 di atas $500B</a:t>
            </a:r>
            <a:endParaRPr sz="1200"/>
          </a:p>
        </p:txBody>
      </p:sp>
      <p:sp>
        <p:nvSpPr>
          <p:cNvPr id="17" name="Shape 13">
            <a:extLst xmlns:a="http://schemas.openxmlformats.org/drawingml/2006/main">
              <a:ext uri="{FF2B5EF4-FFF2-40B4-BE49-F238E27FC236}">
                <a16:creationId xmlns:a16="http://schemas.microsoft.com/office/drawing/2014/main" id="{E73504E1-E537-48DD-A0D6-41FA8A190DE9}"/>
              </a:ext>
            </a:extLst>
          </p:cNvPr>
          <p:cNvSpPr>
            <a:spLocks xmlns:a="http://schemas.openxmlformats.org/drawingml/2006/main" noGrp="1"/>
          </p:cNvSpPr>
          <p:nvPr/>
        </p:nvSpPr>
        <p:spPr>
          <a:xfrm xmlns:a="http://schemas.openxmlformats.org/drawingml/2006/main">
            <a:off x="5943600" y="1691640"/>
            <a:ext cx="5760720" cy="10058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8" name="Shape 14">
            <a:extLst xmlns:a="http://schemas.openxmlformats.org/drawingml/2006/main">
              <a:ext uri="{FF2B5EF4-FFF2-40B4-BE49-F238E27FC236}">
                <a16:creationId xmlns:a16="http://schemas.microsoft.com/office/drawing/2014/main" id="{EB408ACB-0D41-43F3-A074-DB76BE2F335E}"/>
              </a:ext>
            </a:extLst>
          </p:cNvPr>
          <p:cNvSpPr>
            <a:spLocks xmlns:a="http://schemas.openxmlformats.org/drawingml/2006/main" noGrp="1"/>
          </p:cNvSpPr>
          <p:nvPr/>
        </p:nvSpPr>
        <p:spPr>
          <a:xfrm xmlns:a="http://schemas.openxmlformats.org/drawingml/2006/main">
            <a:off x="6126480" y="1920240"/>
            <a:ext cx="594360" cy="594360"/>
          </a:xfrm>
          <a:prstGeom xmlns:a="http://schemas.openxmlformats.org/drawingml/2006/main" prst="ellipse">
            <a:avLst/>
          </a:prstGeom>
          <a:solidFill xmlns:a="http://schemas.openxmlformats.org/drawingml/2006/main">
            <a:srgbClr val="FFFFFF"/>
          </a:solidFill>
          <a:ln xmlns:a="http://schemas.openxmlformats.org/drawingml/2006/main" w="19050">
            <a:solidFill>
              <a:srgbClr val="F37021"/>
            </a:solidFill>
            <a:prstDash val="solid"/>
          </a:ln>
        </p:spPr>
      </p:sp>
      <p:pic>
        <p:nvPicPr>
          <p:cNvPr id="61" name="Image 2"/>
          <p:cNvPicPr>
            <a:picLocks xmlns:a="http://schemas.openxmlformats.org/drawingml/2006/main" noChangeAspect="1"/>
          </p:cNvPicPr>
          <p:nvPr/>
        </p:nvPicPr>
        <p:blipFill>
          <a:blip xmlns:r="http://schemas.openxmlformats.org/officeDocument/2006/relationships" xmlns:a="http://schemas.openxmlformats.org/drawingml/2006/main" r:embed="R309c9605d94640a6"/>
          <a:stretch xmlns:a="http://schemas.openxmlformats.org/drawingml/2006/main">
            <a:fillRect l="0" t="0" r="0" b="0"/>
          </a:stretch>
        </p:blipFill>
        <p:spPr>
          <a:xfrm xmlns:a="http://schemas.openxmlformats.org/drawingml/2006/main">
            <a:off x="6199632" y="1993392"/>
            <a:ext cx="457200" cy="457200"/>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89F66643-A5B9-46E1-9B4C-DF2B16D04B80}"/>
              </a:ext>
            </a:extLst>
          </p:cNvPr>
          <p:cNvSpPr>
            <a:spLocks xmlns:a="http://schemas.openxmlformats.org/drawingml/2006/main" noGrp="1"/>
          </p:cNvSpPr>
          <p:nvPr/>
        </p:nvSpPr>
        <p:spPr>
          <a:xfrm xmlns:a="http://schemas.openxmlformats.org/drawingml/2006/main">
            <a:off x="6903720" y="1828800"/>
            <a:ext cx="4663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AI workloads</a:t>
            </a:r>
            <a:endParaRPr sz="1400"/>
          </a:p>
        </p:txBody>
      </p:sp>
      <p:sp>
        <p:nvSpPr>
          <p:cNvPr id="21" name="Text 16">
            <a:extLst xmlns:a="http://schemas.openxmlformats.org/drawingml/2006/main">
              <a:ext uri="{FF2B5EF4-FFF2-40B4-BE49-F238E27FC236}">
                <a16:creationId xmlns:a16="http://schemas.microsoft.com/office/drawing/2014/main" id="{76D70138-67F5-478D-B611-D4EFE244A486}"/>
              </a:ext>
            </a:extLst>
          </p:cNvPr>
          <p:cNvSpPr>
            <a:spLocks xmlns:a="http://schemas.openxmlformats.org/drawingml/2006/main" noGrp="1"/>
          </p:cNvSpPr>
          <p:nvPr/>
        </p:nvSpPr>
        <p:spPr>
          <a:xfrm xmlns:a="http://schemas.openxmlformats.org/drawingml/2006/main">
            <a:off x="6903720" y="2148840"/>
            <a:ext cx="46634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Pemicu utama pertumbuhan - </a:t>
            </a:r>
            <a:r>
              <a:rPr sz="1100">
                <a:solidFill>
                  <a:srgbClr val="1E293B"/>
                </a:solidFill>
                <a:latin typeface="Calibri"/>
                <a:ea typeface="Calibri"/>
                <a:cs typeface="Calibri"/>
              </a:rPr>
              <a:t>GenAI menjadi pendorong utama kenaikan, menurut Synergy</a:t>
            </a:r>
            <a:endParaRPr sz="1100"/>
          </a:p>
        </p:txBody>
      </p:sp>
      <p:sp>
        <p:nvSpPr>
          <p:cNvPr id="22" name="Shape 17">
            <a:extLst xmlns:a="http://schemas.openxmlformats.org/drawingml/2006/main">
              <a:ext uri="{FF2B5EF4-FFF2-40B4-BE49-F238E27FC236}">
                <a16:creationId xmlns:a16="http://schemas.microsoft.com/office/drawing/2014/main" id="{1B6220B1-C92C-424F-9E62-6BBCC5D6C69B}"/>
              </a:ext>
            </a:extLst>
          </p:cNvPr>
          <p:cNvSpPr>
            <a:spLocks xmlns:a="http://schemas.openxmlformats.org/drawingml/2006/main" noGrp="1"/>
          </p:cNvSpPr>
          <p:nvPr/>
        </p:nvSpPr>
        <p:spPr>
          <a:xfrm xmlns:a="http://schemas.openxmlformats.org/drawingml/2006/main">
            <a:off x="5943600" y="2834640"/>
            <a:ext cx="5760720" cy="10058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Shape 18">
            <a:extLst xmlns:a="http://schemas.openxmlformats.org/drawingml/2006/main">
              <a:ext uri="{FF2B5EF4-FFF2-40B4-BE49-F238E27FC236}">
                <a16:creationId xmlns:a16="http://schemas.microsoft.com/office/drawing/2014/main" id="{B2BBE4D5-37A4-4E8B-A507-608EE6A3FDBC}"/>
              </a:ext>
            </a:extLst>
          </p:cNvPr>
          <p:cNvSpPr>
            <a:spLocks xmlns:a="http://schemas.openxmlformats.org/drawingml/2006/main" noGrp="1"/>
          </p:cNvSpPr>
          <p:nvPr/>
        </p:nvSpPr>
        <p:spPr>
          <a:xfrm xmlns:a="http://schemas.openxmlformats.org/drawingml/2006/main">
            <a:off x="6126480" y="3063240"/>
            <a:ext cx="594360" cy="594360"/>
          </a:xfrm>
          <a:prstGeom xmlns:a="http://schemas.openxmlformats.org/drawingml/2006/main" prst="ellipse">
            <a:avLst/>
          </a:prstGeom>
          <a:solidFill xmlns:a="http://schemas.openxmlformats.org/drawingml/2006/main">
            <a:srgbClr val="FFFFFF"/>
          </a:solidFill>
          <a:ln xmlns:a="http://schemas.openxmlformats.org/drawingml/2006/main" w="19050">
            <a:solidFill>
              <a:srgbClr val="F37021"/>
            </a:solidFill>
            <a:prstDash val="solid"/>
          </a:ln>
        </p:spPr>
      </p:sp>
      <p:pic>
        <p:nvPicPr>
          <p:cNvPr id="66" name="Image 3"/>
          <p:cNvPicPr>
            <a:picLocks xmlns:a="http://schemas.openxmlformats.org/drawingml/2006/main" noChangeAspect="1"/>
          </p:cNvPicPr>
          <p:nvPr/>
        </p:nvPicPr>
        <p:blipFill>
          <a:blip xmlns:r="http://schemas.openxmlformats.org/officeDocument/2006/relationships" xmlns:a="http://schemas.openxmlformats.org/drawingml/2006/main" r:embed="Rb9b73712d075432c"/>
          <a:stretch xmlns:a="http://schemas.openxmlformats.org/drawingml/2006/main">
            <a:fillRect l="0" t="0" r="0" b="0"/>
          </a:stretch>
        </p:blipFill>
        <p:spPr>
          <a:xfrm xmlns:a="http://schemas.openxmlformats.org/drawingml/2006/main">
            <a:off x="6199632" y="3136392"/>
            <a:ext cx="457200" cy="457200"/>
          </a:xfrm>
          <a:prstGeom xmlns:a="http://schemas.openxmlformats.org/drawingml/2006/main" prst="rect">
            <a:avLst/>
          </a:prstGeom>
        </p:spPr>
      </p:pic>
      <p:sp>
        <p:nvSpPr>
          <p:cNvPr id="25" name="Text 19">
            <a:extLst xmlns:a="http://schemas.openxmlformats.org/drawingml/2006/main">
              <a:ext uri="{FF2B5EF4-FFF2-40B4-BE49-F238E27FC236}">
                <a16:creationId xmlns:a16="http://schemas.microsoft.com/office/drawing/2014/main" id="{B880B386-D122-428C-BB19-4C98231A29C0}"/>
              </a:ext>
            </a:extLst>
          </p:cNvPr>
          <p:cNvSpPr>
            <a:spLocks xmlns:a="http://schemas.openxmlformats.org/drawingml/2006/main" noGrp="1"/>
          </p:cNvSpPr>
          <p:nvPr/>
        </p:nvSpPr>
        <p:spPr>
          <a:xfrm xmlns:a="http://schemas.openxmlformats.org/drawingml/2006/main">
            <a:off x="6903720" y="2971800"/>
            <a:ext cx="4663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Big Three</a:t>
            </a:r>
            <a:endParaRPr sz="1400"/>
          </a:p>
        </p:txBody>
      </p:sp>
      <p:sp>
        <p:nvSpPr>
          <p:cNvPr id="26" name="Text 20">
            <a:extLst xmlns:a="http://schemas.openxmlformats.org/drawingml/2006/main">
              <a:ext uri="{FF2B5EF4-FFF2-40B4-BE49-F238E27FC236}">
                <a16:creationId xmlns:a16="http://schemas.microsoft.com/office/drawing/2014/main" id="{1C2DFB00-B9E5-46AB-8AFC-482CCA754B71}"/>
              </a:ext>
            </a:extLst>
          </p:cNvPr>
          <p:cNvSpPr>
            <a:spLocks xmlns:a="http://schemas.openxmlformats.org/drawingml/2006/main" noGrp="1"/>
          </p:cNvSpPr>
          <p:nvPr/>
        </p:nvSpPr>
        <p:spPr>
          <a:xfrm xmlns:a="http://schemas.openxmlformats.org/drawingml/2006/main">
            <a:off x="6903720" y="3291840"/>
            <a:ext cx="46634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AWS + Azure + GCP menguasai ~63% pasar global</a:t>
            </a:r>
            <a:endParaRPr sz="1100"/>
          </a:p>
        </p:txBody>
      </p:sp>
      <p:sp>
        <p:nvSpPr>
          <p:cNvPr id="27" name="Shape 21">
            <a:extLst xmlns:a="http://schemas.openxmlformats.org/drawingml/2006/main">
              <a:ext uri="{FF2B5EF4-FFF2-40B4-BE49-F238E27FC236}">
                <a16:creationId xmlns:a16="http://schemas.microsoft.com/office/drawing/2014/main" id="{A89C02C7-810D-46B4-B67C-8B02FBAD20D1}"/>
              </a:ext>
            </a:extLst>
          </p:cNvPr>
          <p:cNvSpPr>
            <a:spLocks xmlns:a="http://schemas.openxmlformats.org/drawingml/2006/main" noGrp="1"/>
          </p:cNvSpPr>
          <p:nvPr/>
        </p:nvSpPr>
        <p:spPr>
          <a:xfrm xmlns:a="http://schemas.openxmlformats.org/drawingml/2006/main">
            <a:off x="5943600" y="3977640"/>
            <a:ext cx="5760720" cy="10058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8" name="Shape 22">
            <a:extLst xmlns:a="http://schemas.openxmlformats.org/drawingml/2006/main">
              <a:ext uri="{FF2B5EF4-FFF2-40B4-BE49-F238E27FC236}">
                <a16:creationId xmlns:a16="http://schemas.microsoft.com/office/drawing/2014/main" id="{7410AFAA-8474-4844-AA4B-CD3DC2713DA9}"/>
              </a:ext>
            </a:extLst>
          </p:cNvPr>
          <p:cNvSpPr>
            <a:spLocks xmlns:a="http://schemas.openxmlformats.org/drawingml/2006/main" noGrp="1"/>
          </p:cNvSpPr>
          <p:nvPr/>
        </p:nvSpPr>
        <p:spPr>
          <a:xfrm xmlns:a="http://schemas.openxmlformats.org/drawingml/2006/main">
            <a:off x="6126480" y="4206240"/>
            <a:ext cx="594360" cy="594360"/>
          </a:xfrm>
          <a:prstGeom xmlns:a="http://schemas.openxmlformats.org/drawingml/2006/main" prst="ellipse">
            <a:avLst/>
          </a:prstGeom>
          <a:solidFill xmlns:a="http://schemas.openxmlformats.org/drawingml/2006/main">
            <a:srgbClr val="FFFFFF"/>
          </a:solidFill>
          <a:ln xmlns:a="http://schemas.openxmlformats.org/drawingml/2006/main" w="19050">
            <a:solidFill>
              <a:srgbClr val="F37021"/>
            </a:solidFill>
            <a:prstDash val="solid"/>
          </a:ln>
        </p:spPr>
      </p:sp>
      <p:pic>
        <p:nvPicPr>
          <p:cNvPr id="71" name="Image 4"/>
          <p:cNvPicPr>
            <a:picLocks xmlns:a="http://schemas.openxmlformats.org/drawingml/2006/main" noChangeAspect="1"/>
          </p:cNvPicPr>
          <p:nvPr/>
        </p:nvPicPr>
        <p:blipFill>
          <a:blip xmlns:r="http://schemas.openxmlformats.org/officeDocument/2006/relationships" xmlns:a="http://schemas.openxmlformats.org/drawingml/2006/main" r:embed="R620730a23d2a4977"/>
          <a:stretch xmlns:a="http://schemas.openxmlformats.org/drawingml/2006/main">
            <a:fillRect l="0" t="0" r="0" b="0"/>
          </a:stretch>
        </p:blipFill>
        <p:spPr>
          <a:xfrm xmlns:a="http://schemas.openxmlformats.org/drawingml/2006/main">
            <a:off x="6199632" y="4279392"/>
            <a:ext cx="457200" cy="457200"/>
          </a:xfrm>
          <a:prstGeom xmlns:a="http://schemas.openxmlformats.org/drawingml/2006/main" prst="rect">
            <a:avLst/>
          </a:prstGeom>
        </p:spPr>
      </p:pic>
      <p:sp>
        <p:nvSpPr>
          <p:cNvPr id="30" name="Text 23">
            <a:extLst xmlns:a="http://schemas.openxmlformats.org/drawingml/2006/main">
              <a:ext uri="{FF2B5EF4-FFF2-40B4-BE49-F238E27FC236}">
                <a16:creationId xmlns:a16="http://schemas.microsoft.com/office/drawing/2014/main" id="{FF70D731-9E04-4F08-A59C-8DD83B25E963}"/>
              </a:ext>
            </a:extLst>
          </p:cNvPr>
          <p:cNvSpPr>
            <a:spLocks xmlns:a="http://schemas.openxmlformats.org/drawingml/2006/main" noGrp="1"/>
          </p:cNvSpPr>
          <p:nvPr/>
        </p:nvSpPr>
        <p:spPr>
          <a:xfrm xmlns:a="http://schemas.openxmlformats.org/drawingml/2006/main">
            <a:off x="6903720" y="4114800"/>
            <a:ext cx="4663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Run rate Q1 2026</a:t>
            </a:r>
            <a:endParaRPr sz="1400"/>
          </a:p>
        </p:txBody>
      </p:sp>
      <p:sp>
        <p:nvSpPr>
          <p:cNvPr id="31" name="Text 24">
            <a:extLst xmlns:a="http://schemas.openxmlformats.org/drawingml/2006/main">
              <a:ext uri="{FF2B5EF4-FFF2-40B4-BE49-F238E27FC236}">
                <a16:creationId xmlns:a16="http://schemas.microsoft.com/office/drawing/2014/main" id="{D116EE0F-181D-44D8-A3E0-8D7B5597893C}"/>
              </a:ext>
            </a:extLst>
          </p:cNvPr>
          <p:cNvSpPr>
            <a:spLocks xmlns:a="http://schemas.openxmlformats.org/drawingml/2006/main" noGrp="1"/>
          </p:cNvSpPr>
          <p:nvPr/>
        </p:nvSpPr>
        <p:spPr>
          <a:xfrm xmlns:a="http://schemas.openxmlformats.org/drawingml/2006/main">
            <a:off x="6903720" y="4434840"/>
            <a:ext cx="46634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Belanja infrastruktur cloud melampaui run rate $500B per tahun</a:t>
            </a:r>
            <a:endParaRPr sz="1100"/>
          </a:p>
        </p:txBody>
      </p:sp>
      <p:sp>
        <p:nvSpPr>
          <p:cNvPr id="32" name="Shape 25">
            <a:extLst xmlns:a="http://schemas.openxmlformats.org/drawingml/2006/main">
              <a:ext uri="{FF2B5EF4-FFF2-40B4-BE49-F238E27FC236}">
                <a16:creationId xmlns:a16="http://schemas.microsoft.com/office/drawing/2014/main" id="{A695D796-1121-4926-82CA-B803688CE820}"/>
              </a:ext>
            </a:extLst>
          </p:cNvPr>
          <p:cNvSpPr>
            <a:spLocks xmlns:a="http://schemas.openxmlformats.org/drawingml/2006/main" noGrp="1"/>
          </p:cNvSpPr>
          <p:nvPr/>
        </p:nvSpPr>
        <p:spPr>
          <a:xfrm xmlns:a="http://schemas.openxmlformats.org/drawingml/2006/main">
            <a:off x="5943600" y="5120640"/>
            <a:ext cx="5760720" cy="10058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3" name="Shape 26">
            <a:extLst xmlns:a="http://schemas.openxmlformats.org/drawingml/2006/main">
              <a:ext uri="{FF2B5EF4-FFF2-40B4-BE49-F238E27FC236}">
                <a16:creationId xmlns:a16="http://schemas.microsoft.com/office/drawing/2014/main" id="{829A83AA-8D61-4E5C-A781-2534F94EA8A1}"/>
              </a:ext>
            </a:extLst>
          </p:cNvPr>
          <p:cNvSpPr>
            <a:spLocks xmlns:a="http://schemas.openxmlformats.org/drawingml/2006/main" noGrp="1"/>
          </p:cNvSpPr>
          <p:nvPr/>
        </p:nvSpPr>
        <p:spPr>
          <a:xfrm xmlns:a="http://schemas.openxmlformats.org/drawingml/2006/main">
            <a:off x="6126480" y="5349240"/>
            <a:ext cx="594360" cy="594360"/>
          </a:xfrm>
          <a:prstGeom xmlns:a="http://schemas.openxmlformats.org/drawingml/2006/main" prst="ellipse">
            <a:avLst/>
          </a:prstGeom>
          <a:solidFill xmlns:a="http://schemas.openxmlformats.org/drawingml/2006/main">
            <a:srgbClr val="FFFFFF"/>
          </a:solidFill>
          <a:ln xmlns:a="http://schemas.openxmlformats.org/drawingml/2006/main" w="19050">
            <a:solidFill>
              <a:srgbClr val="F37021"/>
            </a:solidFill>
            <a:prstDash val="solid"/>
          </a:ln>
        </p:spPr>
      </p:sp>
      <p:pic>
        <p:nvPicPr>
          <p:cNvPr id="76" name="Image 5"/>
          <p:cNvPicPr>
            <a:picLocks xmlns:a="http://schemas.openxmlformats.org/drawingml/2006/main" noChangeAspect="1"/>
          </p:cNvPicPr>
          <p:nvPr/>
        </p:nvPicPr>
        <p:blipFill>
          <a:blip xmlns:r="http://schemas.openxmlformats.org/officeDocument/2006/relationships" xmlns:a="http://schemas.openxmlformats.org/drawingml/2006/main" r:embed="R56f8fb07939740a9"/>
          <a:stretch xmlns:a="http://schemas.openxmlformats.org/drawingml/2006/main">
            <a:fillRect l="0" t="0" r="0" b="0"/>
          </a:stretch>
        </p:blipFill>
        <p:spPr>
          <a:xfrm xmlns:a="http://schemas.openxmlformats.org/drawingml/2006/main">
            <a:off x="6199632" y="5422392"/>
            <a:ext cx="457200" cy="457200"/>
          </a:xfrm>
          <a:prstGeom xmlns:a="http://schemas.openxmlformats.org/drawingml/2006/main" prst="rect">
            <a:avLst/>
          </a:prstGeom>
        </p:spPr>
      </p:pic>
      <p:sp>
        <p:nvSpPr>
          <p:cNvPr id="35" name="Text 27">
            <a:extLst xmlns:a="http://schemas.openxmlformats.org/drawingml/2006/main">
              <a:ext uri="{FF2B5EF4-FFF2-40B4-BE49-F238E27FC236}">
                <a16:creationId xmlns:a16="http://schemas.microsoft.com/office/drawing/2014/main" id="{249CE527-9309-4AEB-A9B9-9893F9F806F3}"/>
              </a:ext>
            </a:extLst>
          </p:cNvPr>
          <p:cNvSpPr>
            <a:spLocks xmlns:a="http://schemas.openxmlformats.org/drawingml/2006/main" noGrp="1"/>
          </p:cNvSpPr>
          <p:nvPr/>
        </p:nvSpPr>
        <p:spPr>
          <a:xfrm xmlns:a="http://schemas.openxmlformats.org/drawingml/2006/main">
            <a:off x="6903720" y="5257800"/>
            <a:ext cx="4663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Lapangan kerja</a:t>
            </a:r>
            <a:endParaRPr sz="1400"/>
          </a:p>
        </p:txBody>
      </p:sp>
      <p:sp>
        <p:nvSpPr>
          <p:cNvPr id="36" name="Text 28">
            <a:extLst xmlns:a="http://schemas.openxmlformats.org/drawingml/2006/main">
              <a:ext uri="{FF2B5EF4-FFF2-40B4-BE49-F238E27FC236}">
                <a16:creationId xmlns:a16="http://schemas.microsoft.com/office/drawing/2014/main" id="{04B273E3-48CE-4F22-B1D2-120A5964D0B6}"/>
              </a:ext>
            </a:extLst>
          </p:cNvPr>
          <p:cNvSpPr>
            <a:spLocks xmlns:a="http://schemas.openxmlformats.org/drawingml/2006/main" noGrp="1"/>
          </p:cNvSpPr>
          <p:nvPr/>
        </p:nvSpPr>
        <p:spPr>
          <a:xfrm xmlns:a="http://schemas.openxmlformats.org/drawingml/2006/main">
            <a:off x="6903720" y="5577840"/>
            <a:ext cx="46634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Biaya, keamanan, dan operasi cloud menjadi keputusan kerja harian</a:t>
            </a:r>
            <a:endParaRPr sz="1100"/>
          </a:p>
        </p:txBody>
      </p:sp>
      <p:sp>
        <p:nvSpPr>
          <p:cNvPr id="37" name="Text 29">
            <a:extLst xmlns:a="http://schemas.openxmlformats.org/drawingml/2006/main">
              <a:ext uri="{FF2B5EF4-FFF2-40B4-BE49-F238E27FC236}">
                <a16:creationId xmlns:a16="http://schemas.microsoft.com/office/drawing/2014/main" id="{DB879C70-53EB-48C9-9333-EF3545DE6875}"/>
              </a:ext>
            </a:extLst>
          </p:cNvPr>
          <p:cNvSpPr>
            <a:spLocks xmlns:a="http://schemas.openxmlformats.org/drawingml/2006/main" noGrp="1"/>
          </p:cNvSpPr>
          <p:nvPr/>
        </p:nvSpPr>
        <p:spPr>
          <a:xfrm xmlns:a="http://schemas.openxmlformats.org/drawingml/2006/main">
            <a:off x="457200" y="6217920"/>
            <a:ext cx="1124712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i="1">
                <a:solidFill>
                  <a:srgbClr val="64748B"/>
                </a:solidFill>
                <a:latin typeface="Calibri"/>
                <a:ea typeface="Calibri"/>
                <a:cs typeface="Calibri"/>
              </a:rPr>
              <a:t>Sumber: Synergy Research Group, 29 Apr 2026</a:t>
            </a:r>
            <a:endParaRPr sz="900"/>
          </a:p>
        </p:txBody>
      </p:sp>
    </p:spTree>
    <p:extLst>
      <p:ext uri="{BB962C8B-B14F-4D97-AF65-F5344CB8AC3E}">
        <p14:creationId xmlns:p14="http://schemas.microsoft.com/office/powerpoint/2010/main" val="1657259718"/>
      </p:ext>
    </p:extLst>
  </p:cSld>
</p:sld>
</file>

<file path=ppt/slides/slide11.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75BBF23-569A-4980-9332-84ED9FD662E5}"/>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748E10DB-6BF7-4D25-A470-18AF1AC937C5}"/>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64047B09-06A4-4192-A0DC-99FF9C873B83}"/>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C35B27AC-3D04-4F92-B1EF-8F4A443E71CC}"/>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32FACE32-7B90-4AF4-96C5-F60575EFDD05}"/>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5EE9021B-9793-441B-B462-19BF4112F30A}"/>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A6165EFE-6220-485C-AB31-6D55E140955C}"/>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a2aaec57e8aa4e84"/>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p:cNvPicPr>
            <a:picLocks xmlns:a="http://schemas.openxmlformats.org/drawingml/2006/main" noChangeAspect="1"/>
          </p:cNvPicPr>
          <p:nvPr/>
        </p:nvPicPr>
        <p:blipFill>
          <a:blip xmlns:r="http://schemas.openxmlformats.org/officeDocument/2006/relationships" xmlns:a="http://schemas.openxmlformats.org/drawingml/2006/main" r:embed="R364ac2d91d6f4baf"/>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AFCE670E-9D6C-4E3B-B3BD-E69E0C8681EF}"/>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02</a:t>
            </a:r>
            <a:endParaRPr sz="1600"/>
          </a:p>
        </p:txBody>
      </p:sp>
      <p:sp>
        <p:nvSpPr>
          <p:cNvPr id="12" name="Text 8">
            <a:extLst xmlns:a="http://schemas.openxmlformats.org/drawingml/2006/main">
              <a:ext uri="{FF2B5EF4-FFF2-40B4-BE49-F238E27FC236}">
                <a16:creationId xmlns:a16="http://schemas.microsoft.com/office/drawing/2014/main" id="{D44CED36-8E9B-4A34-AD53-883AC26C7D29}"/>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Service Models</a:t>
            </a:r>
            <a:endParaRPr sz="5200"/>
          </a:p>
        </p:txBody>
      </p:sp>
      <p:sp>
        <p:nvSpPr>
          <p:cNvPr id="13" name="Shape 9">
            <a:extLst xmlns:a="http://schemas.openxmlformats.org/drawingml/2006/main">
              <a:ext uri="{FF2B5EF4-FFF2-40B4-BE49-F238E27FC236}">
                <a16:creationId xmlns:a16="http://schemas.microsoft.com/office/drawing/2014/main" id="{6A4017A9-1E6A-4C16-AFAE-0BF5ED3007E5}"/>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92DFA3C0-5606-41E1-9AF1-748962D5526C}"/>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IaaS - PaaS - SaaS - BaaS - FaaS: lima cara cloud dijual.</a:t>
            </a:r>
            <a:endParaRPr sz="1400"/>
          </a:p>
        </p:txBody>
      </p:sp>
    </p:spTree>
    <p:extLst>
      <p:ext uri="{BB962C8B-B14F-4D97-AF65-F5344CB8AC3E}">
        <p14:creationId xmlns:p14="http://schemas.microsoft.com/office/powerpoint/2010/main" val="2356552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33DD71A-9AAF-4E6B-A3FE-C076A420308A}"/>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FDBB1A0A-174A-4058-AB96-7D9169174848}"/>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12</a:t>
            </a:r>
            <a:endParaRPr sz="900"/>
          </a:p>
        </p:txBody>
      </p:sp>
      <p:sp>
        <p:nvSpPr>
          <p:cNvPr id="4" name="Shape 2">
            <a:extLst xmlns:a="http://schemas.openxmlformats.org/drawingml/2006/main">
              <a:ext uri="{FF2B5EF4-FFF2-40B4-BE49-F238E27FC236}">
                <a16:creationId xmlns:a16="http://schemas.microsoft.com/office/drawing/2014/main" id="{79FCE784-E2E8-466A-9DB1-ED2E3AD779D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62" name="Image 0"/>
          <p:cNvPicPr>
            <a:picLocks xmlns:a="http://schemas.openxmlformats.org/drawingml/2006/main" noChangeAspect="1"/>
          </p:cNvPicPr>
          <p:nvPr/>
        </p:nvPicPr>
        <p:blipFill>
          <a:blip xmlns:r="http://schemas.openxmlformats.org/officeDocument/2006/relationships" xmlns:a="http://schemas.openxmlformats.org/drawingml/2006/main" r:embed="Rc409c72f7f604239"/>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7354584efc2845cb"/>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18537900-133A-48AC-9ACC-97AEB1306874}"/>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978D0065-EB41-4E5B-9BE2-6D96FCA96387}"/>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Lima Service Models</a:t>
            </a:r>
            <a:endParaRPr sz="2200"/>
          </a:p>
        </p:txBody>
      </p:sp>
      <p:sp>
        <p:nvSpPr>
          <p:cNvPr id="9" name="Text 5">
            <a:extLst xmlns:a="http://schemas.openxmlformats.org/drawingml/2006/main">
              <a:ext uri="{FF2B5EF4-FFF2-40B4-BE49-F238E27FC236}">
                <a16:creationId xmlns:a16="http://schemas.microsoft.com/office/drawing/2014/main" id="{DACD518D-3A66-4F51-9CFA-2D42D77EB497}"/>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Semakin Atas, Semakin 'Managed'</a:t>
            </a:r>
            <a:endParaRPr sz="1200"/>
          </a:p>
        </p:txBody>
      </p:sp>
      <p:sp>
        <p:nvSpPr>
          <p:cNvPr id="10" name="Shape 6">
            <a:extLst xmlns:a="http://schemas.openxmlformats.org/drawingml/2006/main">
              <a:ext uri="{FF2B5EF4-FFF2-40B4-BE49-F238E27FC236}">
                <a16:creationId xmlns:a16="http://schemas.microsoft.com/office/drawing/2014/main" id="{7CCA6428-5ED7-4E82-942C-01BF147288D3}"/>
              </a:ext>
            </a:extLst>
          </p:cNvPr>
          <p:cNvSpPr>
            <a:spLocks xmlns:a="http://schemas.openxmlformats.org/drawingml/2006/main" noGrp="1"/>
          </p:cNvSpPr>
          <p:nvPr/>
        </p:nvSpPr>
        <p:spPr>
          <a:xfrm xmlns:a="http://schemas.openxmlformats.org/drawingml/2006/main">
            <a:off x="320040" y="1783080"/>
            <a:ext cx="2194560" cy="91440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1" name="Text 7">
            <a:extLst xmlns:a="http://schemas.openxmlformats.org/drawingml/2006/main">
              <a:ext uri="{FF2B5EF4-FFF2-40B4-BE49-F238E27FC236}">
                <a16:creationId xmlns:a16="http://schemas.microsoft.com/office/drawing/2014/main" id="{CE273C55-84ED-4683-BA86-98443AC710A1}"/>
              </a:ext>
            </a:extLst>
          </p:cNvPr>
          <p:cNvSpPr>
            <a:spLocks xmlns:a="http://schemas.openxmlformats.org/drawingml/2006/main" noGrp="1"/>
          </p:cNvSpPr>
          <p:nvPr/>
        </p:nvSpPr>
        <p:spPr>
          <a:xfrm xmlns:a="http://schemas.openxmlformats.org/drawingml/2006/main">
            <a:off x="320040" y="1783080"/>
            <a:ext cx="2194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FFFFFF"/>
                </a:solidFill>
                <a:latin typeface="Calibri"/>
                <a:ea typeface="Calibri"/>
                <a:cs typeface="Calibri"/>
              </a:rPr>
              <a:t>IaaS</a:t>
            </a:r>
            <a:endParaRPr sz="2800"/>
          </a:p>
        </p:txBody>
      </p:sp>
      <p:sp>
        <p:nvSpPr>
          <p:cNvPr id="12" name="Text 8">
            <a:extLst xmlns:a="http://schemas.openxmlformats.org/drawingml/2006/main">
              <a:ext uri="{FF2B5EF4-FFF2-40B4-BE49-F238E27FC236}">
                <a16:creationId xmlns:a16="http://schemas.microsoft.com/office/drawing/2014/main" id="{5A0EB81F-8B5D-48A5-9EAB-029A455BD13C}"/>
              </a:ext>
            </a:extLst>
          </p:cNvPr>
          <p:cNvSpPr>
            <a:spLocks xmlns:a="http://schemas.openxmlformats.org/drawingml/2006/main" noGrp="1"/>
          </p:cNvSpPr>
          <p:nvPr/>
        </p:nvSpPr>
        <p:spPr>
          <a:xfrm xmlns:a="http://schemas.openxmlformats.org/drawingml/2006/main">
            <a:off x="320040" y="228600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FFFFFF"/>
                </a:solidFill>
                <a:latin typeface="Calibri"/>
                <a:ea typeface="Calibri"/>
                <a:cs typeface="Calibri"/>
              </a:rPr>
              <a:t>Infrastructure</a:t>
            </a:r>
            <a:endParaRPr sz="1300"/>
          </a:p>
        </p:txBody>
      </p:sp>
      <p:sp>
        <p:nvSpPr>
          <p:cNvPr id="13" name="Shape 9">
            <a:extLst xmlns:a="http://schemas.openxmlformats.org/drawingml/2006/main">
              <a:ext uri="{FF2B5EF4-FFF2-40B4-BE49-F238E27FC236}">
                <a16:creationId xmlns:a16="http://schemas.microsoft.com/office/drawing/2014/main" id="{0D22672F-026F-470D-A949-6C6569BE17ED}"/>
              </a:ext>
            </a:extLst>
          </p:cNvPr>
          <p:cNvSpPr>
            <a:spLocks xmlns:a="http://schemas.openxmlformats.org/drawingml/2006/main" noGrp="1"/>
          </p:cNvSpPr>
          <p:nvPr/>
        </p:nvSpPr>
        <p:spPr>
          <a:xfrm xmlns:a="http://schemas.openxmlformats.org/drawingml/2006/main">
            <a:off x="320040" y="2697480"/>
            <a:ext cx="2194560" cy="3200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4" name="Text 10">
            <a:extLst xmlns:a="http://schemas.openxmlformats.org/drawingml/2006/main">
              <a:ext uri="{FF2B5EF4-FFF2-40B4-BE49-F238E27FC236}">
                <a16:creationId xmlns:a16="http://schemas.microsoft.com/office/drawing/2014/main" id="{358201A6-E989-4628-95EC-80218FF783EF}"/>
              </a:ext>
            </a:extLst>
          </p:cNvPr>
          <p:cNvSpPr>
            <a:spLocks xmlns:a="http://schemas.openxmlformats.org/drawingml/2006/main" noGrp="1"/>
          </p:cNvSpPr>
          <p:nvPr/>
        </p:nvSpPr>
        <p:spPr>
          <a:xfrm xmlns:a="http://schemas.openxmlformats.org/drawingml/2006/main">
            <a:off x="457200" y="2834640"/>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Yang di-manage:</a:t>
            </a:r>
            <a:endParaRPr sz="1000"/>
          </a:p>
        </p:txBody>
      </p:sp>
      <p:sp>
        <p:nvSpPr>
          <p:cNvPr id="15" name="Text 11">
            <a:extLst xmlns:a="http://schemas.openxmlformats.org/drawingml/2006/main">
              <a:ext uri="{FF2B5EF4-FFF2-40B4-BE49-F238E27FC236}">
                <a16:creationId xmlns:a16="http://schemas.microsoft.com/office/drawing/2014/main" id="{FE55BAA3-CCE9-4155-8E8B-65142270D648}"/>
              </a:ext>
            </a:extLst>
          </p:cNvPr>
          <p:cNvSpPr>
            <a:spLocks xmlns:a="http://schemas.openxmlformats.org/drawingml/2006/main" noGrp="1"/>
          </p:cNvSpPr>
          <p:nvPr/>
        </p:nvSpPr>
        <p:spPr>
          <a:xfrm xmlns:a="http://schemas.openxmlformats.org/drawingml/2006/main">
            <a:off x="457200" y="3108960"/>
            <a:ext cx="1920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1E293B"/>
                </a:solidFill>
                <a:latin typeface="Calibri"/>
                <a:ea typeface="Calibri"/>
                <a:cs typeface="Calibri"/>
              </a:rPr>
              <a:t>VM, storage, network</a:t>
            </a:r>
            <a:endParaRPr sz="1300"/>
          </a:p>
        </p:txBody>
      </p:sp>
      <p:sp>
        <p:nvSpPr>
          <p:cNvPr id="16" name="Shape 12">
            <a:extLst xmlns:a="http://schemas.openxmlformats.org/drawingml/2006/main">
              <a:ext uri="{FF2B5EF4-FFF2-40B4-BE49-F238E27FC236}">
                <a16:creationId xmlns:a16="http://schemas.microsoft.com/office/drawing/2014/main" id="{9DC572DF-7489-41FE-8F96-5ACA35DE12A0}"/>
              </a:ext>
            </a:extLst>
          </p:cNvPr>
          <p:cNvSpPr>
            <a:spLocks xmlns:a="http://schemas.openxmlformats.org/drawingml/2006/main" noGrp="1"/>
          </p:cNvSpPr>
          <p:nvPr/>
        </p:nvSpPr>
        <p:spPr>
          <a:xfrm xmlns:a="http://schemas.openxmlformats.org/drawingml/2006/main">
            <a:off x="457200" y="4069080"/>
            <a:ext cx="192024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17" name="Text 13">
            <a:extLst xmlns:a="http://schemas.openxmlformats.org/drawingml/2006/main">
              <a:ext uri="{FF2B5EF4-FFF2-40B4-BE49-F238E27FC236}">
                <a16:creationId xmlns:a16="http://schemas.microsoft.com/office/drawing/2014/main" id="{DCE8D8FF-B9F2-4E01-93C8-291ECE24B59E}"/>
              </a:ext>
            </a:extLst>
          </p:cNvPr>
          <p:cNvSpPr>
            <a:spLocks xmlns:a="http://schemas.openxmlformats.org/drawingml/2006/main" noGrp="1"/>
          </p:cNvSpPr>
          <p:nvPr/>
        </p:nvSpPr>
        <p:spPr>
          <a:xfrm xmlns:a="http://schemas.openxmlformats.org/drawingml/2006/main">
            <a:off x="457200" y="4160520"/>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Contoh:</a:t>
            </a:r>
            <a:endParaRPr sz="1000"/>
          </a:p>
        </p:txBody>
      </p:sp>
      <p:sp>
        <p:nvSpPr>
          <p:cNvPr id="18" name="Text 14">
            <a:extLst xmlns:a="http://schemas.openxmlformats.org/drawingml/2006/main">
              <a:ext uri="{FF2B5EF4-FFF2-40B4-BE49-F238E27FC236}">
                <a16:creationId xmlns:a16="http://schemas.microsoft.com/office/drawing/2014/main" id="{1ED7A929-2008-4C04-BDE9-B027079C4DFB}"/>
              </a:ext>
            </a:extLst>
          </p:cNvPr>
          <p:cNvSpPr>
            <a:spLocks xmlns:a="http://schemas.openxmlformats.org/drawingml/2006/main" noGrp="1"/>
          </p:cNvSpPr>
          <p:nvPr/>
        </p:nvSpPr>
        <p:spPr>
          <a:xfrm xmlns:a="http://schemas.openxmlformats.org/drawingml/2006/main">
            <a:off x="457200" y="4434840"/>
            <a:ext cx="19202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rgbClr val="1E293B"/>
                </a:solidFill>
                <a:latin typeface="Calibri"/>
                <a:ea typeface="Calibri"/>
                <a:cs typeface="Calibri"/>
              </a:rPr>
              <a:t>AWS EC2, GCP Compute</a:t>
            </a:r>
            <a:endParaRPr sz="1100"/>
          </a:p>
        </p:txBody>
      </p:sp>
      <p:sp>
        <p:nvSpPr>
          <p:cNvPr id="19" name="Shape 15">
            <a:extLst xmlns:a="http://schemas.openxmlformats.org/drawingml/2006/main">
              <a:ext uri="{FF2B5EF4-FFF2-40B4-BE49-F238E27FC236}">
                <a16:creationId xmlns:a16="http://schemas.microsoft.com/office/drawing/2014/main" id="{47461C5E-A4C5-420A-A9CA-05CB14966328}"/>
              </a:ext>
            </a:extLst>
          </p:cNvPr>
          <p:cNvSpPr>
            <a:spLocks xmlns:a="http://schemas.openxmlformats.org/drawingml/2006/main" noGrp="1"/>
          </p:cNvSpPr>
          <p:nvPr/>
        </p:nvSpPr>
        <p:spPr>
          <a:xfrm xmlns:a="http://schemas.openxmlformats.org/drawingml/2006/main">
            <a:off x="2651760" y="1783080"/>
            <a:ext cx="2194560" cy="91440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20" name="Text 16">
            <a:extLst xmlns:a="http://schemas.openxmlformats.org/drawingml/2006/main">
              <a:ext uri="{FF2B5EF4-FFF2-40B4-BE49-F238E27FC236}">
                <a16:creationId xmlns:a16="http://schemas.microsoft.com/office/drawing/2014/main" id="{6D92984C-3C5A-4111-8844-C9F0A13D0293}"/>
              </a:ext>
            </a:extLst>
          </p:cNvPr>
          <p:cNvSpPr>
            <a:spLocks xmlns:a="http://schemas.openxmlformats.org/drawingml/2006/main" noGrp="1"/>
          </p:cNvSpPr>
          <p:nvPr/>
        </p:nvSpPr>
        <p:spPr>
          <a:xfrm xmlns:a="http://schemas.openxmlformats.org/drawingml/2006/main">
            <a:off x="2651760" y="1783080"/>
            <a:ext cx="2194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FFFFFF"/>
                </a:solidFill>
                <a:latin typeface="Calibri"/>
                <a:ea typeface="Calibri"/>
                <a:cs typeface="Calibri"/>
              </a:rPr>
              <a:t>PaaS</a:t>
            </a:r>
            <a:endParaRPr sz="2800"/>
          </a:p>
        </p:txBody>
      </p:sp>
      <p:sp>
        <p:nvSpPr>
          <p:cNvPr id="21" name="Text 17">
            <a:extLst xmlns:a="http://schemas.openxmlformats.org/drawingml/2006/main">
              <a:ext uri="{FF2B5EF4-FFF2-40B4-BE49-F238E27FC236}">
                <a16:creationId xmlns:a16="http://schemas.microsoft.com/office/drawing/2014/main" id="{D593E6FC-6CEF-43D1-9A50-2E3A474A3056}"/>
              </a:ext>
            </a:extLst>
          </p:cNvPr>
          <p:cNvSpPr>
            <a:spLocks xmlns:a="http://schemas.openxmlformats.org/drawingml/2006/main" noGrp="1"/>
          </p:cNvSpPr>
          <p:nvPr/>
        </p:nvSpPr>
        <p:spPr>
          <a:xfrm xmlns:a="http://schemas.openxmlformats.org/drawingml/2006/main">
            <a:off x="2651760" y="228600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FFFFFF"/>
                </a:solidFill>
                <a:latin typeface="Calibri"/>
                <a:ea typeface="Calibri"/>
                <a:cs typeface="Calibri"/>
              </a:rPr>
              <a:t>Platform</a:t>
            </a:r>
            <a:endParaRPr sz="1300"/>
          </a:p>
        </p:txBody>
      </p:sp>
      <p:sp>
        <p:nvSpPr>
          <p:cNvPr id="22" name="Shape 18">
            <a:extLst xmlns:a="http://schemas.openxmlformats.org/drawingml/2006/main">
              <a:ext uri="{FF2B5EF4-FFF2-40B4-BE49-F238E27FC236}">
                <a16:creationId xmlns:a16="http://schemas.microsoft.com/office/drawing/2014/main" id="{051C3F5C-9A6E-4EFD-A71F-732E961AA5F5}"/>
              </a:ext>
            </a:extLst>
          </p:cNvPr>
          <p:cNvSpPr>
            <a:spLocks xmlns:a="http://schemas.openxmlformats.org/drawingml/2006/main" noGrp="1"/>
          </p:cNvSpPr>
          <p:nvPr/>
        </p:nvSpPr>
        <p:spPr>
          <a:xfrm xmlns:a="http://schemas.openxmlformats.org/drawingml/2006/main">
            <a:off x="2651760" y="2697480"/>
            <a:ext cx="2194560" cy="3200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Text 19">
            <a:extLst xmlns:a="http://schemas.openxmlformats.org/drawingml/2006/main">
              <a:ext uri="{FF2B5EF4-FFF2-40B4-BE49-F238E27FC236}">
                <a16:creationId xmlns:a16="http://schemas.microsoft.com/office/drawing/2014/main" id="{CE219DB0-8758-48E8-AC43-5C79D40D95D1}"/>
              </a:ext>
            </a:extLst>
          </p:cNvPr>
          <p:cNvSpPr>
            <a:spLocks xmlns:a="http://schemas.openxmlformats.org/drawingml/2006/main" noGrp="1"/>
          </p:cNvSpPr>
          <p:nvPr/>
        </p:nvSpPr>
        <p:spPr>
          <a:xfrm xmlns:a="http://schemas.openxmlformats.org/drawingml/2006/main">
            <a:off x="2788920" y="2834640"/>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Yang di-manage:</a:t>
            </a:r>
            <a:endParaRPr sz="1000"/>
          </a:p>
        </p:txBody>
      </p:sp>
      <p:sp>
        <p:nvSpPr>
          <p:cNvPr id="24" name="Text 20">
            <a:extLst xmlns:a="http://schemas.openxmlformats.org/drawingml/2006/main">
              <a:ext uri="{FF2B5EF4-FFF2-40B4-BE49-F238E27FC236}">
                <a16:creationId xmlns:a16="http://schemas.microsoft.com/office/drawing/2014/main" id="{D2E5C383-BCFD-4793-BE52-BE5B0496DA4B}"/>
              </a:ext>
            </a:extLst>
          </p:cNvPr>
          <p:cNvSpPr>
            <a:spLocks xmlns:a="http://schemas.openxmlformats.org/drawingml/2006/main" noGrp="1"/>
          </p:cNvSpPr>
          <p:nvPr/>
        </p:nvSpPr>
        <p:spPr>
          <a:xfrm xmlns:a="http://schemas.openxmlformats.org/drawingml/2006/main">
            <a:off x="2788920" y="3108960"/>
            <a:ext cx="1920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1E293B"/>
                </a:solidFill>
                <a:latin typeface="Calibri"/>
                <a:ea typeface="Calibri"/>
                <a:cs typeface="Calibri"/>
              </a:rPr>
              <a:t>Runtime + DB managed</a:t>
            </a:r>
            <a:endParaRPr sz="1300"/>
          </a:p>
        </p:txBody>
      </p:sp>
      <p:sp>
        <p:nvSpPr>
          <p:cNvPr id="25" name="Shape 21">
            <a:extLst xmlns:a="http://schemas.openxmlformats.org/drawingml/2006/main">
              <a:ext uri="{FF2B5EF4-FFF2-40B4-BE49-F238E27FC236}">
                <a16:creationId xmlns:a16="http://schemas.microsoft.com/office/drawing/2014/main" id="{0CF1F8C2-C163-4BFC-8798-5BBD532C7A72}"/>
              </a:ext>
            </a:extLst>
          </p:cNvPr>
          <p:cNvSpPr>
            <a:spLocks xmlns:a="http://schemas.openxmlformats.org/drawingml/2006/main" noGrp="1"/>
          </p:cNvSpPr>
          <p:nvPr/>
        </p:nvSpPr>
        <p:spPr>
          <a:xfrm xmlns:a="http://schemas.openxmlformats.org/drawingml/2006/main">
            <a:off x="2788920" y="4069080"/>
            <a:ext cx="192024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26" name="Text 22">
            <a:extLst xmlns:a="http://schemas.openxmlformats.org/drawingml/2006/main">
              <a:ext uri="{FF2B5EF4-FFF2-40B4-BE49-F238E27FC236}">
                <a16:creationId xmlns:a16="http://schemas.microsoft.com/office/drawing/2014/main" id="{0E57B3EE-781A-43EC-BCC9-DF37F400D695}"/>
              </a:ext>
            </a:extLst>
          </p:cNvPr>
          <p:cNvSpPr>
            <a:spLocks xmlns:a="http://schemas.openxmlformats.org/drawingml/2006/main" noGrp="1"/>
          </p:cNvSpPr>
          <p:nvPr/>
        </p:nvSpPr>
        <p:spPr>
          <a:xfrm xmlns:a="http://schemas.openxmlformats.org/drawingml/2006/main">
            <a:off x="2788920" y="4160520"/>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Contoh:</a:t>
            </a:r>
            <a:endParaRPr sz="1000"/>
          </a:p>
        </p:txBody>
      </p:sp>
      <p:sp>
        <p:nvSpPr>
          <p:cNvPr id="27" name="Text 23">
            <a:extLst xmlns:a="http://schemas.openxmlformats.org/drawingml/2006/main">
              <a:ext uri="{FF2B5EF4-FFF2-40B4-BE49-F238E27FC236}">
                <a16:creationId xmlns:a16="http://schemas.microsoft.com/office/drawing/2014/main" id="{436EC730-C854-4237-AF62-3CE1FDA3F92E}"/>
              </a:ext>
            </a:extLst>
          </p:cNvPr>
          <p:cNvSpPr>
            <a:spLocks xmlns:a="http://schemas.openxmlformats.org/drawingml/2006/main" noGrp="1"/>
          </p:cNvSpPr>
          <p:nvPr/>
        </p:nvSpPr>
        <p:spPr>
          <a:xfrm xmlns:a="http://schemas.openxmlformats.org/drawingml/2006/main">
            <a:off x="2788920" y="4434840"/>
            <a:ext cx="19202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rgbClr val="1E293B"/>
                </a:solidFill>
                <a:latin typeface="Calibri"/>
                <a:ea typeface="Calibri"/>
                <a:cs typeface="Calibri"/>
              </a:rPr>
              <a:t>Heroku, App Engine</a:t>
            </a:r>
            <a:endParaRPr sz="1100"/>
          </a:p>
        </p:txBody>
      </p:sp>
      <p:sp>
        <p:nvSpPr>
          <p:cNvPr id="28" name="Shape 24">
            <a:extLst xmlns:a="http://schemas.openxmlformats.org/drawingml/2006/main">
              <a:ext uri="{FF2B5EF4-FFF2-40B4-BE49-F238E27FC236}">
                <a16:creationId xmlns:a16="http://schemas.microsoft.com/office/drawing/2014/main" id="{E8FADCE8-5B72-4569-8E57-80FC42B2BE85}"/>
              </a:ext>
            </a:extLst>
          </p:cNvPr>
          <p:cNvSpPr>
            <a:spLocks xmlns:a="http://schemas.openxmlformats.org/drawingml/2006/main" noGrp="1"/>
          </p:cNvSpPr>
          <p:nvPr/>
        </p:nvSpPr>
        <p:spPr>
          <a:xfrm xmlns:a="http://schemas.openxmlformats.org/drawingml/2006/main">
            <a:off x="4983480" y="1783080"/>
            <a:ext cx="2194560" cy="914400"/>
          </a:xfrm>
          <a:prstGeom xmlns:a="http://schemas.openxmlformats.org/drawingml/2006/main" prst="rect">
            <a:avLst/>
          </a:prstGeom>
          <a:solidFill xmlns:a="http://schemas.openxmlformats.org/drawingml/2006/main">
            <a:srgbClr val="3B82F6"/>
          </a:solidFill>
          <a:ln xmlns:a="http://schemas.openxmlformats.org/drawingml/2006/main" w="12700">
            <a:solidFill>
              <a:srgbClr val="3B82F6"/>
            </a:solidFill>
            <a:prstDash val="solid"/>
          </a:ln>
        </p:spPr>
      </p:sp>
      <p:sp>
        <p:nvSpPr>
          <p:cNvPr id="29" name="Text 25">
            <a:extLst xmlns:a="http://schemas.openxmlformats.org/drawingml/2006/main">
              <a:ext uri="{FF2B5EF4-FFF2-40B4-BE49-F238E27FC236}">
                <a16:creationId xmlns:a16="http://schemas.microsoft.com/office/drawing/2014/main" id="{2100F204-7B6D-482C-A4A3-4C1E89EF1A79}"/>
              </a:ext>
            </a:extLst>
          </p:cNvPr>
          <p:cNvSpPr>
            <a:spLocks xmlns:a="http://schemas.openxmlformats.org/drawingml/2006/main" noGrp="1"/>
          </p:cNvSpPr>
          <p:nvPr/>
        </p:nvSpPr>
        <p:spPr>
          <a:xfrm xmlns:a="http://schemas.openxmlformats.org/drawingml/2006/main">
            <a:off x="4983480" y="1783080"/>
            <a:ext cx="2194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FFFFFF"/>
                </a:solidFill>
                <a:latin typeface="Calibri"/>
                <a:ea typeface="Calibri"/>
                <a:cs typeface="Calibri"/>
              </a:rPr>
              <a:t>SaaS</a:t>
            </a:r>
            <a:endParaRPr sz="2800"/>
          </a:p>
        </p:txBody>
      </p:sp>
      <p:sp>
        <p:nvSpPr>
          <p:cNvPr id="30" name="Text 26">
            <a:extLst xmlns:a="http://schemas.openxmlformats.org/drawingml/2006/main">
              <a:ext uri="{FF2B5EF4-FFF2-40B4-BE49-F238E27FC236}">
                <a16:creationId xmlns:a16="http://schemas.microsoft.com/office/drawing/2014/main" id="{DD768779-5F62-4D81-8796-FEDFD0BA7D46}"/>
              </a:ext>
            </a:extLst>
          </p:cNvPr>
          <p:cNvSpPr>
            <a:spLocks xmlns:a="http://schemas.openxmlformats.org/drawingml/2006/main" noGrp="1"/>
          </p:cNvSpPr>
          <p:nvPr/>
        </p:nvSpPr>
        <p:spPr>
          <a:xfrm xmlns:a="http://schemas.openxmlformats.org/drawingml/2006/main">
            <a:off x="4983480" y="228600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FFFFFF"/>
                </a:solidFill>
                <a:latin typeface="Calibri"/>
                <a:ea typeface="Calibri"/>
                <a:cs typeface="Calibri"/>
              </a:rPr>
              <a:t>Software</a:t>
            </a:r>
            <a:endParaRPr sz="1300"/>
          </a:p>
        </p:txBody>
      </p:sp>
      <p:sp>
        <p:nvSpPr>
          <p:cNvPr id="31" name="Shape 27">
            <a:extLst xmlns:a="http://schemas.openxmlformats.org/drawingml/2006/main">
              <a:ext uri="{FF2B5EF4-FFF2-40B4-BE49-F238E27FC236}">
                <a16:creationId xmlns:a16="http://schemas.microsoft.com/office/drawing/2014/main" id="{37E81F24-B0F7-42B2-8837-8C91DE36FDF3}"/>
              </a:ext>
            </a:extLst>
          </p:cNvPr>
          <p:cNvSpPr>
            <a:spLocks xmlns:a="http://schemas.openxmlformats.org/drawingml/2006/main" noGrp="1"/>
          </p:cNvSpPr>
          <p:nvPr/>
        </p:nvSpPr>
        <p:spPr>
          <a:xfrm xmlns:a="http://schemas.openxmlformats.org/drawingml/2006/main">
            <a:off x="4983480" y="2697480"/>
            <a:ext cx="2194560" cy="3200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2" name="Text 28">
            <a:extLst xmlns:a="http://schemas.openxmlformats.org/drawingml/2006/main">
              <a:ext uri="{FF2B5EF4-FFF2-40B4-BE49-F238E27FC236}">
                <a16:creationId xmlns:a16="http://schemas.microsoft.com/office/drawing/2014/main" id="{6ABE4E7C-BA1E-4AC0-8E03-9070C45152EF}"/>
              </a:ext>
            </a:extLst>
          </p:cNvPr>
          <p:cNvSpPr>
            <a:spLocks xmlns:a="http://schemas.openxmlformats.org/drawingml/2006/main" noGrp="1"/>
          </p:cNvSpPr>
          <p:nvPr/>
        </p:nvSpPr>
        <p:spPr>
          <a:xfrm xmlns:a="http://schemas.openxmlformats.org/drawingml/2006/main">
            <a:off x="5120640" y="2834640"/>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Yang di-manage:</a:t>
            </a:r>
            <a:endParaRPr sz="1000"/>
          </a:p>
        </p:txBody>
      </p:sp>
      <p:sp>
        <p:nvSpPr>
          <p:cNvPr id="33" name="Text 29">
            <a:extLst xmlns:a="http://schemas.openxmlformats.org/drawingml/2006/main">
              <a:ext uri="{FF2B5EF4-FFF2-40B4-BE49-F238E27FC236}">
                <a16:creationId xmlns:a16="http://schemas.microsoft.com/office/drawing/2014/main" id="{9C9D4527-24EE-41CB-BA48-C365FBB0886F}"/>
              </a:ext>
            </a:extLst>
          </p:cNvPr>
          <p:cNvSpPr>
            <a:spLocks xmlns:a="http://schemas.openxmlformats.org/drawingml/2006/main" noGrp="1"/>
          </p:cNvSpPr>
          <p:nvPr/>
        </p:nvSpPr>
        <p:spPr>
          <a:xfrm xmlns:a="http://schemas.openxmlformats.org/drawingml/2006/main">
            <a:off x="5120640" y="3108960"/>
            <a:ext cx="1920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1E293B"/>
                </a:solidFill>
                <a:latin typeface="Calibri"/>
                <a:ea typeface="Calibri"/>
                <a:cs typeface="Calibri"/>
              </a:rPr>
              <a:t>Aplikasi siap pakai</a:t>
            </a:r>
            <a:endParaRPr sz="1300"/>
          </a:p>
        </p:txBody>
      </p:sp>
      <p:sp>
        <p:nvSpPr>
          <p:cNvPr id="34" name="Shape 30">
            <a:extLst xmlns:a="http://schemas.openxmlformats.org/drawingml/2006/main">
              <a:ext uri="{FF2B5EF4-FFF2-40B4-BE49-F238E27FC236}">
                <a16:creationId xmlns:a16="http://schemas.microsoft.com/office/drawing/2014/main" id="{166CA0A7-9BC1-47E8-8E74-42BC754E1FAE}"/>
              </a:ext>
            </a:extLst>
          </p:cNvPr>
          <p:cNvSpPr>
            <a:spLocks xmlns:a="http://schemas.openxmlformats.org/drawingml/2006/main" noGrp="1"/>
          </p:cNvSpPr>
          <p:nvPr/>
        </p:nvSpPr>
        <p:spPr>
          <a:xfrm xmlns:a="http://schemas.openxmlformats.org/drawingml/2006/main">
            <a:off x="5120640" y="4069080"/>
            <a:ext cx="192024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35" name="Text 31">
            <a:extLst xmlns:a="http://schemas.openxmlformats.org/drawingml/2006/main">
              <a:ext uri="{FF2B5EF4-FFF2-40B4-BE49-F238E27FC236}">
                <a16:creationId xmlns:a16="http://schemas.microsoft.com/office/drawing/2014/main" id="{C58F9832-AEEF-42D6-98DF-386407BFBB24}"/>
              </a:ext>
            </a:extLst>
          </p:cNvPr>
          <p:cNvSpPr>
            <a:spLocks xmlns:a="http://schemas.openxmlformats.org/drawingml/2006/main" noGrp="1"/>
          </p:cNvSpPr>
          <p:nvPr/>
        </p:nvSpPr>
        <p:spPr>
          <a:xfrm xmlns:a="http://schemas.openxmlformats.org/drawingml/2006/main">
            <a:off x="5120640" y="4160520"/>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Contoh:</a:t>
            </a:r>
            <a:endParaRPr sz="1000"/>
          </a:p>
        </p:txBody>
      </p:sp>
      <p:sp>
        <p:nvSpPr>
          <p:cNvPr id="36" name="Text 32">
            <a:extLst xmlns:a="http://schemas.openxmlformats.org/drawingml/2006/main">
              <a:ext uri="{FF2B5EF4-FFF2-40B4-BE49-F238E27FC236}">
                <a16:creationId xmlns:a16="http://schemas.microsoft.com/office/drawing/2014/main" id="{134AEE8A-2AA2-4C86-838E-49B75C65DBF5}"/>
              </a:ext>
            </a:extLst>
          </p:cNvPr>
          <p:cNvSpPr>
            <a:spLocks xmlns:a="http://schemas.openxmlformats.org/drawingml/2006/main" noGrp="1"/>
          </p:cNvSpPr>
          <p:nvPr/>
        </p:nvSpPr>
        <p:spPr>
          <a:xfrm xmlns:a="http://schemas.openxmlformats.org/drawingml/2006/main">
            <a:off x="5120640" y="4434840"/>
            <a:ext cx="19202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rgbClr val="1E293B"/>
                </a:solidFill>
                <a:latin typeface="Calibri"/>
                <a:ea typeface="Calibri"/>
                <a:cs typeface="Calibri"/>
              </a:rPr>
              <a:t>Gmail, Notion, Figma</a:t>
            </a:r>
            <a:endParaRPr sz="1100"/>
          </a:p>
        </p:txBody>
      </p:sp>
      <p:sp>
        <p:nvSpPr>
          <p:cNvPr id="37" name="Shape 33">
            <a:extLst xmlns:a="http://schemas.openxmlformats.org/drawingml/2006/main">
              <a:ext uri="{FF2B5EF4-FFF2-40B4-BE49-F238E27FC236}">
                <a16:creationId xmlns:a16="http://schemas.microsoft.com/office/drawing/2014/main" id="{CB3C6239-875B-43C6-A201-19398ABDA2B1}"/>
              </a:ext>
            </a:extLst>
          </p:cNvPr>
          <p:cNvSpPr>
            <a:spLocks xmlns:a="http://schemas.openxmlformats.org/drawingml/2006/main" noGrp="1"/>
          </p:cNvSpPr>
          <p:nvPr/>
        </p:nvSpPr>
        <p:spPr>
          <a:xfrm xmlns:a="http://schemas.openxmlformats.org/drawingml/2006/main">
            <a:off x="7315200" y="1783080"/>
            <a:ext cx="2194560" cy="914400"/>
          </a:xfrm>
          <a:prstGeom xmlns:a="http://schemas.openxmlformats.org/drawingml/2006/main" prst="rect">
            <a:avLst/>
          </a:prstGeom>
          <a:solidFill xmlns:a="http://schemas.openxmlformats.org/drawingml/2006/main">
            <a:srgbClr val="06B6D4"/>
          </a:solidFill>
          <a:ln xmlns:a="http://schemas.openxmlformats.org/drawingml/2006/main" w="12700">
            <a:solidFill>
              <a:srgbClr val="06B6D4"/>
            </a:solidFill>
            <a:prstDash val="solid"/>
          </a:ln>
        </p:spPr>
      </p:sp>
      <p:sp>
        <p:nvSpPr>
          <p:cNvPr id="38" name="Text 34">
            <a:extLst xmlns:a="http://schemas.openxmlformats.org/drawingml/2006/main">
              <a:ext uri="{FF2B5EF4-FFF2-40B4-BE49-F238E27FC236}">
                <a16:creationId xmlns:a16="http://schemas.microsoft.com/office/drawing/2014/main" id="{5E66EECD-676E-4974-A41F-1B49CDD6B3F0}"/>
              </a:ext>
            </a:extLst>
          </p:cNvPr>
          <p:cNvSpPr>
            <a:spLocks xmlns:a="http://schemas.openxmlformats.org/drawingml/2006/main" noGrp="1"/>
          </p:cNvSpPr>
          <p:nvPr/>
        </p:nvSpPr>
        <p:spPr>
          <a:xfrm xmlns:a="http://schemas.openxmlformats.org/drawingml/2006/main">
            <a:off x="7315200" y="1783080"/>
            <a:ext cx="2194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FFFFFF"/>
                </a:solidFill>
                <a:latin typeface="Calibri"/>
                <a:ea typeface="Calibri"/>
                <a:cs typeface="Calibri"/>
              </a:rPr>
              <a:t>BaaS</a:t>
            </a:r>
            <a:endParaRPr sz="2800"/>
          </a:p>
        </p:txBody>
      </p:sp>
      <p:sp>
        <p:nvSpPr>
          <p:cNvPr id="39" name="Text 35">
            <a:extLst xmlns:a="http://schemas.openxmlformats.org/drawingml/2006/main">
              <a:ext uri="{FF2B5EF4-FFF2-40B4-BE49-F238E27FC236}">
                <a16:creationId xmlns:a16="http://schemas.microsoft.com/office/drawing/2014/main" id="{E2C4E5FD-2752-49F9-95AA-0B50F9050284}"/>
              </a:ext>
            </a:extLst>
          </p:cNvPr>
          <p:cNvSpPr>
            <a:spLocks xmlns:a="http://schemas.openxmlformats.org/drawingml/2006/main" noGrp="1"/>
          </p:cNvSpPr>
          <p:nvPr/>
        </p:nvSpPr>
        <p:spPr>
          <a:xfrm xmlns:a="http://schemas.openxmlformats.org/drawingml/2006/main">
            <a:off x="7315200" y="228600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FFFFFF"/>
                </a:solidFill>
                <a:latin typeface="Calibri"/>
                <a:ea typeface="Calibri"/>
                <a:cs typeface="Calibri"/>
              </a:rPr>
              <a:t>Backend</a:t>
            </a:r>
            <a:endParaRPr sz="1300"/>
          </a:p>
        </p:txBody>
      </p:sp>
      <p:sp>
        <p:nvSpPr>
          <p:cNvPr id="40" name="Shape 36">
            <a:extLst xmlns:a="http://schemas.openxmlformats.org/drawingml/2006/main">
              <a:ext uri="{FF2B5EF4-FFF2-40B4-BE49-F238E27FC236}">
                <a16:creationId xmlns:a16="http://schemas.microsoft.com/office/drawing/2014/main" id="{88830B19-314E-4F42-83B3-C8ACF752FA7D}"/>
              </a:ext>
            </a:extLst>
          </p:cNvPr>
          <p:cNvSpPr>
            <a:spLocks xmlns:a="http://schemas.openxmlformats.org/drawingml/2006/main" noGrp="1"/>
          </p:cNvSpPr>
          <p:nvPr/>
        </p:nvSpPr>
        <p:spPr>
          <a:xfrm xmlns:a="http://schemas.openxmlformats.org/drawingml/2006/main">
            <a:off x="7315200" y="2697480"/>
            <a:ext cx="2194560" cy="3200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1" name="Text 37">
            <a:extLst xmlns:a="http://schemas.openxmlformats.org/drawingml/2006/main">
              <a:ext uri="{FF2B5EF4-FFF2-40B4-BE49-F238E27FC236}">
                <a16:creationId xmlns:a16="http://schemas.microsoft.com/office/drawing/2014/main" id="{412F7EF0-26BA-4200-91FA-2B1617945385}"/>
              </a:ext>
            </a:extLst>
          </p:cNvPr>
          <p:cNvSpPr>
            <a:spLocks xmlns:a="http://schemas.openxmlformats.org/drawingml/2006/main" noGrp="1"/>
          </p:cNvSpPr>
          <p:nvPr/>
        </p:nvSpPr>
        <p:spPr>
          <a:xfrm xmlns:a="http://schemas.openxmlformats.org/drawingml/2006/main">
            <a:off x="7452360" y="2834640"/>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Yang di-manage:</a:t>
            </a:r>
            <a:endParaRPr sz="1000"/>
          </a:p>
        </p:txBody>
      </p:sp>
      <p:sp>
        <p:nvSpPr>
          <p:cNvPr id="42" name="Text 38">
            <a:extLst xmlns:a="http://schemas.openxmlformats.org/drawingml/2006/main">
              <a:ext uri="{FF2B5EF4-FFF2-40B4-BE49-F238E27FC236}">
                <a16:creationId xmlns:a16="http://schemas.microsoft.com/office/drawing/2014/main" id="{66A6343D-EEC9-44A1-A99D-FABB837B61F1}"/>
              </a:ext>
            </a:extLst>
          </p:cNvPr>
          <p:cNvSpPr>
            <a:spLocks xmlns:a="http://schemas.openxmlformats.org/drawingml/2006/main" noGrp="1"/>
          </p:cNvSpPr>
          <p:nvPr/>
        </p:nvSpPr>
        <p:spPr>
          <a:xfrm xmlns:a="http://schemas.openxmlformats.org/drawingml/2006/main">
            <a:off x="7452360" y="3108960"/>
            <a:ext cx="1920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1E293B"/>
                </a:solidFill>
                <a:latin typeface="Calibri"/>
                <a:ea typeface="Calibri"/>
                <a:cs typeface="Calibri"/>
              </a:rPr>
              <a:t>DB + Auth + Storage</a:t>
            </a:r>
            <a:endParaRPr sz="1300"/>
          </a:p>
        </p:txBody>
      </p:sp>
      <p:sp>
        <p:nvSpPr>
          <p:cNvPr id="43" name="Shape 39">
            <a:extLst xmlns:a="http://schemas.openxmlformats.org/drawingml/2006/main">
              <a:ext uri="{FF2B5EF4-FFF2-40B4-BE49-F238E27FC236}">
                <a16:creationId xmlns:a16="http://schemas.microsoft.com/office/drawing/2014/main" id="{DD543B0D-0D8A-4947-829C-494CD04CE0CA}"/>
              </a:ext>
            </a:extLst>
          </p:cNvPr>
          <p:cNvSpPr>
            <a:spLocks xmlns:a="http://schemas.openxmlformats.org/drawingml/2006/main" noGrp="1"/>
          </p:cNvSpPr>
          <p:nvPr/>
        </p:nvSpPr>
        <p:spPr>
          <a:xfrm xmlns:a="http://schemas.openxmlformats.org/drawingml/2006/main">
            <a:off x="7452360" y="4069080"/>
            <a:ext cx="192024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44" name="Text 40">
            <a:extLst xmlns:a="http://schemas.openxmlformats.org/drawingml/2006/main">
              <a:ext uri="{FF2B5EF4-FFF2-40B4-BE49-F238E27FC236}">
                <a16:creationId xmlns:a16="http://schemas.microsoft.com/office/drawing/2014/main" id="{8EF20EA4-01D5-42F7-9729-9928F28A7A2F}"/>
              </a:ext>
            </a:extLst>
          </p:cNvPr>
          <p:cNvSpPr>
            <a:spLocks xmlns:a="http://schemas.openxmlformats.org/drawingml/2006/main" noGrp="1"/>
          </p:cNvSpPr>
          <p:nvPr/>
        </p:nvSpPr>
        <p:spPr>
          <a:xfrm xmlns:a="http://schemas.openxmlformats.org/drawingml/2006/main">
            <a:off x="7452360" y="4160520"/>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Contoh:</a:t>
            </a:r>
            <a:endParaRPr sz="1000"/>
          </a:p>
        </p:txBody>
      </p:sp>
      <p:sp>
        <p:nvSpPr>
          <p:cNvPr id="45" name="Text 41">
            <a:extLst xmlns:a="http://schemas.openxmlformats.org/drawingml/2006/main">
              <a:ext uri="{FF2B5EF4-FFF2-40B4-BE49-F238E27FC236}">
                <a16:creationId xmlns:a16="http://schemas.microsoft.com/office/drawing/2014/main" id="{4A110EBD-AC3F-49D7-8063-99E8A0A42379}"/>
              </a:ext>
            </a:extLst>
          </p:cNvPr>
          <p:cNvSpPr>
            <a:spLocks xmlns:a="http://schemas.openxmlformats.org/drawingml/2006/main" noGrp="1"/>
          </p:cNvSpPr>
          <p:nvPr/>
        </p:nvSpPr>
        <p:spPr>
          <a:xfrm xmlns:a="http://schemas.openxmlformats.org/drawingml/2006/main">
            <a:off x="7452360" y="4434840"/>
            <a:ext cx="19202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rgbClr val="1E293B"/>
                </a:solidFill>
                <a:latin typeface="Calibri"/>
                <a:ea typeface="Calibri"/>
                <a:cs typeface="Calibri"/>
              </a:rPr>
              <a:t>Supabase, Firebase</a:t>
            </a:r>
            <a:endParaRPr sz="1100"/>
          </a:p>
        </p:txBody>
      </p:sp>
      <p:sp>
        <p:nvSpPr>
          <p:cNvPr id="46" name="Shape 42">
            <a:extLst xmlns:a="http://schemas.openxmlformats.org/drawingml/2006/main">
              <a:ext uri="{FF2B5EF4-FFF2-40B4-BE49-F238E27FC236}">
                <a16:creationId xmlns:a16="http://schemas.microsoft.com/office/drawing/2014/main" id="{6F4559A5-176C-43D4-B67A-29C3342F3D04}"/>
              </a:ext>
            </a:extLst>
          </p:cNvPr>
          <p:cNvSpPr>
            <a:spLocks xmlns:a="http://schemas.openxmlformats.org/drawingml/2006/main" noGrp="1"/>
          </p:cNvSpPr>
          <p:nvPr/>
        </p:nvSpPr>
        <p:spPr>
          <a:xfrm xmlns:a="http://schemas.openxmlformats.org/drawingml/2006/main">
            <a:off x="9646920" y="1783080"/>
            <a:ext cx="2194560" cy="91440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47" name="Text 43">
            <a:extLst xmlns:a="http://schemas.openxmlformats.org/drawingml/2006/main">
              <a:ext uri="{FF2B5EF4-FFF2-40B4-BE49-F238E27FC236}">
                <a16:creationId xmlns:a16="http://schemas.microsoft.com/office/drawing/2014/main" id="{531F187A-B1F3-42D9-825B-B95BB56AE40E}"/>
              </a:ext>
            </a:extLst>
          </p:cNvPr>
          <p:cNvSpPr>
            <a:spLocks xmlns:a="http://schemas.openxmlformats.org/drawingml/2006/main" noGrp="1"/>
          </p:cNvSpPr>
          <p:nvPr/>
        </p:nvSpPr>
        <p:spPr>
          <a:xfrm xmlns:a="http://schemas.openxmlformats.org/drawingml/2006/main">
            <a:off x="9646920" y="1783080"/>
            <a:ext cx="2194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FFFFFF"/>
                </a:solidFill>
                <a:latin typeface="Calibri"/>
                <a:ea typeface="Calibri"/>
                <a:cs typeface="Calibri"/>
              </a:rPr>
              <a:t>FaaS</a:t>
            </a:r>
            <a:endParaRPr sz="2800"/>
          </a:p>
        </p:txBody>
      </p:sp>
      <p:sp>
        <p:nvSpPr>
          <p:cNvPr id="48" name="Text 44">
            <a:extLst xmlns:a="http://schemas.openxmlformats.org/drawingml/2006/main">
              <a:ext uri="{FF2B5EF4-FFF2-40B4-BE49-F238E27FC236}">
                <a16:creationId xmlns:a16="http://schemas.microsoft.com/office/drawing/2014/main" id="{86B67F2E-19D7-440E-8D68-AE501E2BE1A9}"/>
              </a:ext>
            </a:extLst>
          </p:cNvPr>
          <p:cNvSpPr>
            <a:spLocks xmlns:a="http://schemas.openxmlformats.org/drawingml/2006/main" noGrp="1"/>
          </p:cNvSpPr>
          <p:nvPr/>
        </p:nvSpPr>
        <p:spPr>
          <a:xfrm xmlns:a="http://schemas.openxmlformats.org/drawingml/2006/main">
            <a:off x="9646920" y="228600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FFFFFF"/>
                </a:solidFill>
                <a:latin typeface="Calibri"/>
                <a:ea typeface="Calibri"/>
                <a:cs typeface="Calibri"/>
              </a:rPr>
              <a:t>Function</a:t>
            </a:r>
            <a:endParaRPr sz="1300"/>
          </a:p>
        </p:txBody>
      </p:sp>
      <p:sp>
        <p:nvSpPr>
          <p:cNvPr id="49" name="Shape 45">
            <a:extLst xmlns:a="http://schemas.openxmlformats.org/drawingml/2006/main">
              <a:ext uri="{FF2B5EF4-FFF2-40B4-BE49-F238E27FC236}">
                <a16:creationId xmlns:a16="http://schemas.microsoft.com/office/drawing/2014/main" id="{63017AB4-32B3-40B9-8CB3-E0FCDE87AB25}"/>
              </a:ext>
            </a:extLst>
          </p:cNvPr>
          <p:cNvSpPr>
            <a:spLocks xmlns:a="http://schemas.openxmlformats.org/drawingml/2006/main" noGrp="1"/>
          </p:cNvSpPr>
          <p:nvPr/>
        </p:nvSpPr>
        <p:spPr>
          <a:xfrm xmlns:a="http://schemas.openxmlformats.org/drawingml/2006/main">
            <a:off x="9646920" y="2697480"/>
            <a:ext cx="2194560" cy="3200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50" name="Text 46">
            <a:extLst xmlns:a="http://schemas.openxmlformats.org/drawingml/2006/main">
              <a:ext uri="{FF2B5EF4-FFF2-40B4-BE49-F238E27FC236}">
                <a16:creationId xmlns:a16="http://schemas.microsoft.com/office/drawing/2014/main" id="{7B233835-5D54-406E-8B5A-4B94FF7EBED0}"/>
              </a:ext>
            </a:extLst>
          </p:cNvPr>
          <p:cNvSpPr>
            <a:spLocks xmlns:a="http://schemas.openxmlformats.org/drawingml/2006/main" noGrp="1"/>
          </p:cNvSpPr>
          <p:nvPr/>
        </p:nvSpPr>
        <p:spPr>
          <a:xfrm xmlns:a="http://schemas.openxmlformats.org/drawingml/2006/main">
            <a:off x="9784080" y="2834640"/>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Yang di-manage:</a:t>
            </a:r>
            <a:endParaRPr sz="1000"/>
          </a:p>
        </p:txBody>
      </p:sp>
      <p:sp>
        <p:nvSpPr>
          <p:cNvPr id="51" name="Text 47">
            <a:extLst xmlns:a="http://schemas.openxmlformats.org/drawingml/2006/main">
              <a:ext uri="{FF2B5EF4-FFF2-40B4-BE49-F238E27FC236}">
                <a16:creationId xmlns:a16="http://schemas.microsoft.com/office/drawing/2014/main" id="{1C25F64B-37B5-402A-84E0-C410FEBCBA78}"/>
              </a:ext>
            </a:extLst>
          </p:cNvPr>
          <p:cNvSpPr>
            <a:spLocks xmlns:a="http://schemas.openxmlformats.org/drawingml/2006/main" noGrp="1"/>
          </p:cNvSpPr>
          <p:nvPr/>
        </p:nvSpPr>
        <p:spPr>
          <a:xfrm xmlns:a="http://schemas.openxmlformats.org/drawingml/2006/main">
            <a:off x="9784080" y="3108960"/>
            <a:ext cx="1920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1E293B"/>
                </a:solidFill>
                <a:latin typeface="Calibri"/>
                <a:ea typeface="Calibri"/>
                <a:cs typeface="Calibri"/>
              </a:rPr>
              <a:t>Event-driven code</a:t>
            </a:r>
            <a:endParaRPr sz="1300"/>
          </a:p>
        </p:txBody>
      </p:sp>
      <p:sp>
        <p:nvSpPr>
          <p:cNvPr id="52" name="Shape 48">
            <a:extLst xmlns:a="http://schemas.openxmlformats.org/drawingml/2006/main">
              <a:ext uri="{FF2B5EF4-FFF2-40B4-BE49-F238E27FC236}">
                <a16:creationId xmlns:a16="http://schemas.microsoft.com/office/drawing/2014/main" id="{0A6A0922-4071-4D80-9371-BCDA4142D29A}"/>
              </a:ext>
            </a:extLst>
          </p:cNvPr>
          <p:cNvSpPr>
            <a:spLocks xmlns:a="http://schemas.openxmlformats.org/drawingml/2006/main" noGrp="1"/>
          </p:cNvSpPr>
          <p:nvPr/>
        </p:nvSpPr>
        <p:spPr>
          <a:xfrm xmlns:a="http://schemas.openxmlformats.org/drawingml/2006/main">
            <a:off x="9784080" y="4069080"/>
            <a:ext cx="192024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53" name="Text 49">
            <a:extLst xmlns:a="http://schemas.openxmlformats.org/drawingml/2006/main">
              <a:ext uri="{FF2B5EF4-FFF2-40B4-BE49-F238E27FC236}">
                <a16:creationId xmlns:a16="http://schemas.microsoft.com/office/drawing/2014/main" id="{230045F4-A08B-4833-8CC8-687F129F0711}"/>
              </a:ext>
            </a:extLst>
          </p:cNvPr>
          <p:cNvSpPr>
            <a:spLocks xmlns:a="http://schemas.openxmlformats.org/drawingml/2006/main" noGrp="1"/>
          </p:cNvSpPr>
          <p:nvPr/>
        </p:nvSpPr>
        <p:spPr>
          <a:xfrm xmlns:a="http://schemas.openxmlformats.org/drawingml/2006/main">
            <a:off x="9784080" y="4160520"/>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4748B"/>
                </a:solidFill>
                <a:latin typeface="Calibri"/>
                <a:ea typeface="Calibri"/>
                <a:cs typeface="Calibri"/>
              </a:rPr>
              <a:t>Contoh:</a:t>
            </a:r>
            <a:endParaRPr sz="1000"/>
          </a:p>
        </p:txBody>
      </p:sp>
      <p:sp>
        <p:nvSpPr>
          <p:cNvPr id="54" name="Text 50">
            <a:extLst xmlns:a="http://schemas.openxmlformats.org/drawingml/2006/main">
              <a:ext uri="{FF2B5EF4-FFF2-40B4-BE49-F238E27FC236}">
                <a16:creationId xmlns:a16="http://schemas.microsoft.com/office/drawing/2014/main" id="{8E256F48-82E7-4B13-896B-3BF3361A638B}"/>
              </a:ext>
            </a:extLst>
          </p:cNvPr>
          <p:cNvSpPr>
            <a:spLocks xmlns:a="http://schemas.openxmlformats.org/drawingml/2006/main" noGrp="1"/>
          </p:cNvSpPr>
          <p:nvPr/>
        </p:nvSpPr>
        <p:spPr>
          <a:xfrm xmlns:a="http://schemas.openxmlformats.org/drawingml/2006/main">
            <a:off x="9784080" y="4434840"/>
            <a:ext cx="19202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rgbClr val="1E293B"/>
                </a:solidFill>
                <a:latin typeface="Calibri"/>
                <a:ea typeface="Calibri"/>
                <a:cs typeface="Calibri"/>
              </a:rPr>
              <a:t>Vercel, Lambda</a:t>
            </a:r>
            <a:endParaRPr sz="1100"/>
          </a:p>
        </p:txBody>
      </p:sp>
      <p:sp>
        <p:nvSpPr>
          <p:cNvPr id="55" name="Shape 51">
            <a:extLst xmlns:a="http://schemas.openxmlformats.org/drawingml/2006/main">
              <a:ext uri="{FF2B5EF4-FFF2-40B4-BE49-F238E27FC236}">
                <a16:creationId xmlns:a16="http://schemas.microsoft.com/office/drawing/2014/main" id="{F266AFF4-916F-42D0-B789-AD09BD0D6116}"/>
              </a:ext>
            </a:extLst>
          </p:cNvPr>
          <p:cNvSpPr>
            <a:spLocks xmlns:a="http://schemas.openxmlformats.org/drawingml/2006/main" noGrp="1"/>
          </p:cNvSpPr>
          <p:nvPr/>
        </p:nvSpPr>
        <p:spPr>
          <a:xfrm xmlns:a="http://schemas.openxmlformats.org/drawingml/2006/main">
            <a:off x="457200" y="5760720"/>
            <a:ext cx="11247120" cy="45720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56" name="Text 52">
            <a:extLst xmlns:a="http://schemas.openxmlformats.org/drawingml/2006/main">
              <a:ext uri="{FF2B5EF4-FFF2-40B4-BE49-F238E27FC236}">
                <a16:creationId xmlns:a16="http://schemas.microsoft.com/office/drawing/2014/main" id="{F4BCD429-7820-40FC-B3A7-C72CE2978F65}"/>
              </a:ext>
            </a:extLst>
          </p:cNvPr>
          <p:cNvSpPr>
            <a:spLocks xmlns:a="http://schemas.openxmlformats.org/drawingml/2006/main" noGrp="1"/>
          </p:cNvSpPr>
          <p:nvPr/>
        </p:nvSpPr>
        <p:spPr>
          <a:xfrm xmlns:a="http://schemas.openxmlformats.org/drawingml/2006/main">
            <a:off x="457200" y="5760720"/>
            <a:ext cx="11247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FFFFFF"/>
                </a:solidFill>
                <a:latin typeface="Calibri"/>
                <a:ea typeface="Calibri"/>
                <a:cs typeface="Calibri"/>
              </a:rPr>
              <a:t>Semakin ke kanan: lebih abstrak, lebih 'managed', lebih cepat build  -  tapi kurang fleksibel &amp; lebih vendor-locked</a:t>
            </a:r>
            <a:endParaRPr sz="1200"/>
          </a:p>
        </p:txBody>
      </p:sp>
    </p:spTree>
    <p:extLst>
      <p:ext uri="{BB962C8B-B14F-4D97-AF65-F5344CB8AC3E}">
        <p14:creationId xmlns:p14="http://schemas.microsoft.com/office/powerpoint/2010/main" val="124405537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A1D6465-480A-4713-9A62-6D9691D50991}"/>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E71F87DA-D0FD-4674-958D-65AE2AA7AAAE}"/>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13</a:t>
            </a:r>
            <a:endParaRPr sz="900"/>
          </a:p>
        </p:txBody>
      </p:sp>
      <p:sp>
        <p:nvSpPr>
          <p:cNvPr id="4" name="Shape 2">
            <a:extLst xmlns:a="http://schemas.openxmlformats.org/drawingml/2006/main">
              <a:ext uri="{FF2B5EF4-FFF2-40B4-BE49-F238E27FC236}">
                <a16:creationId xmlns:a16="http://schemas.microsoft.com/office/drawing/2014/main" id="{EC5BC1F4-638F-422C-8207-14C066962EEF}"/>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8e0ecdc809a04822"/>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8710cb497d394f38"/>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EFCACFDE-13D2-44A9-B7EC-6CAC543FE12F}"/>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F40CA22F-4808-47AA-A7CC-D876EF5772F8}"/>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IaaS - Infrastructure as a Service</a:t>
            </a:r>
            <a:endParaRPr sz="2200"/>
          </a:p>
        </p:txBody>
      </p:sp>
      <p:sp>
        <p:nvSpPr>
          <p:cNvPr id="9" name="Text 5">
            <a:extLst xmlns:a="http://schemas.openxmlformats.org/drawingml/2006/main">
              <a:ext uri="{FF2B5EF4-FFF2-40B4-BE49-F238E27FC236}">
                <a16:creationId xmlns:a16="http://schemas.microsoft.com/office/drawing/2014/main" id="{D0AE187F-78CC-47C1-9CB7-F7E2C720AAB0}"/>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Virtual Hardware on Rent</a:t>
            </a:r>
            <a:endParaRPr sz="1200"/>
          </a:p>
        </p:txBody>
      </p:sp>
      <p:sp>
        <p:nvSpPr>
          <p:cNvPr id="10" name="Shape 6">
            <a:extLst xmlns:a="http://schemas.openxmlformats.org/drawingml/2006/main">
              <a:ext uri="{FF2B5EF4-FFF2-40B4-BE49-F238E27FC236}">
                <a16:creationId xmlns:a16="http://schemas.microsoft.com/office/drawing/2014/main" id="{EEECE9AC-F760-4040-B9C5-E06B0D3E3716}"/>
              </a:ext>
            </a:extLst>
          </p:cNvPr>
          <p:cNvSpPr>
            <a:spLocks xmlns:a="http://schemas.openxmlformats.org/drawingml/2006/main" noGrp="1"/>
          </p:cNvSpPr>
          <p:nvPr/>
        </p:nvSpPr>
        <p:spPr>
          <a:xfrm xmlns:a="http://schemas.openxmlformats.org/drawingml/2006/main">
            <a:off x="457200" y="1691640"/>
            <a:ext cx="56692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5c994ee2211842bf"/>
          <a:stretch xmlns:a="http://schemas.openxmlformats.org/drawingml/2006/main">
            <a:fillRect l="0" t="0" r="0" b="0"/>
          </a:stretch>
        </p:blipFill>
        <p:spPr>
          <a:xfrm xmlns:a="http://schemas.openxmlformats.org/drawingml/2006/main">
            <a:off x="731520" y="1920240"/>
            <a:ext cx="640080" cy="64008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8692306F-0E2C-4863-A38C-7A6D1A59C9B3}"/>
              </a:ext>
            </a:extLst>
          </p:cNvPr>
          <p:cNvSpPr>
            <a:spLocks xmlns:a="http://schemas.openxmlformats.org/drawingml/2006/main" noGrp="1"/>
          </p:cNvSpPr>
          <p:nvPr/>
        </p:nvSpPr>
        <p:spPr>
          <a:xfrm xmlns:a="http://schemas.openxmlformats.org/drawingml/2006/main">
            <a:off x="1554480" y="1920240"/>
            <a:ext cx="4114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Apa yang Anda dapat?</a:t>
            </a:r>
            <a:endParaRPr sz="1600"/>
          </a:p>
        </p:txBody>
      </p:sp>
      <p:sp>
        <p:nvSpPr>
          <p:cNvPr id="13" name="Text 8">
            <a:extLst xmlns:a="http://schemas.openxmlformats.org/drawingml/2006/main">
              <a:ext uri="{FF2B5EF4-FFF2-40B4-BE49-F238E27FC236}">
                <a16:creationId xmlns:a16="http://schemas.microsoft.com/office/drawing/2014/main" id="{6AD44E18-EF43-467E-8CCD-C6C3F9DDB554}"/>
              </a:ext>
            </a:extLst>
          </p:cNvPr>
          <p:cNvSpPr>
            <a:spLocks xmlns:a="http://schemas.openxmlformats.org/drawingml/2006/main" noGrp="1"/>
          </p:cNvSpPr>
          <p:nvPr/>
        </p:nvSpPr>
        <p:spPr>
          <a:xfrm xmlns:a="http://schemas.openxmlformats.org/drawingml/2006/main">
            <a:off x="731520" y="2651760"/>
            <a:ext cx="512064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1E293B"/>
                </a:solidFill>
                <a:latin typeface="Calibri"/>
                <a:ea typeface="Calibri"/>
                <a:cs typeface="Calibri"/>
              </a:rPr>
              <a:t>Virtual Machine, storage, network sebagai resource - Anda kelola OS, runtime, app sendiri.</a:t>
            </a:r>
            <a:endParaRPr sz="1300"/>
          </a:p>
        </p:txBody>
      </p:sp>
      <p:sp>
        <p:nvSpPr>
          <p:cNvPr id="14" name="Shape 9">
            <a:extLst xmlns:a="http://schemas.openxmlformats.org/drawingml/2006/main">
              <a:ext uri="{FF2B5EF4-FFF2-40B4-BE49-F238E27FC236}">
                <a16:creationId xmlns:a16="http://schemas.microsoft.com/office/drawing/2014/main" id="{A48F7F31-3347-41F3-AC14-DE9BDA70AE10}"/>
              </a:ext>
            </a:extLst>
          </p:cNvPr>
          <p:cNvSpPr>
            <a:spLocks xmlns:a="http://schemas.openxmlformats.org/drawingml/2006/main" noGrp="1"/>
          </p:cNvSpPr>
          <p:nvPr/>
        </p:nvSpPr>
        <p:spPr>
          <a:xfrm xmlns:a="http://schemas.openxmlformats.org/drawingml/2006/main">
            <a:off x="731520" y="3474720"/>
            <a:ext cx="512064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15" name="Text 10">
            <a:extLst xmlns:a="http://schemas.openxmlformats.org/drawingml/2006/main">
              <a:ext uri="{FF2B5EF4-FFF2-40B4-BE49-F238E27FC236}">
                <a16:creationId xmlns:a16="http://schemas.microsoft.com/office/drawing/2014/main" id="{B1B7E293-3813-455D-9224-8993F9E7E655}"/>
              </a:ext>
            </a:extLst>
          </p:cNvPr>
          <p:cNvSpPr>
            <a:spLocks xmlns:a="http://schemas.openxmlformats.org/drawingml/2006/main" noGrp="1"/>
          </p:cNvSpPr>
          <p:nvPr/>
        </p:nvSpPr>
        <p:spPr>
          <a:xfrm xmlns:a="http://schemas.openxmlformats.org/drawingml/2006/main">
            <a:off x="731520" y="3566160"/>
            <a:ext cx="51206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64748B"/>
                </a:solidFill>
                <a:latin typeface="Calibri"/>
                <a:ea typeface="Calibri"/>
                <a:cs typeface="Calibri"/>
              </a:rPr>
              <a:t>Anda bertanggung jawab atas:</a:t>
            </a:r>
            <a:endParaRPr sz="1300"/>
          </a:p>
        </p:txBody>
      </p:sp>
      <p:sp>
        <p:nvSpPr>
          <p:cNvPr id="16" name="Text 11">
            <a:extLst xmlns:a="http://schemas.openxmlformats.org/drawingml/2006/main">
              <a:ext uri="{FF2B5EF4-FFF2-40B4-BE49-F238E27FC236}">
                <a16:creationId xmlns:a16="http://schemas.microsoft.com/office/drawing/2014/main" id="{24F285C4-1278-4E53-98E2-5769BC0426D6}"/>
              </a:ext>
            </a:extLst>
          </p:cNvPr>
          <p:cNvSpPr>
            <a:spLocks xmlns:a="http://schemas.openxmlformats.org/drawingml/2006/main" noGrp="1"/>
          </p:cNvSpPr>
          <p:nvPr/>
        </p:nvSpPr>
        <p:spPr>
          <a:xfrm xmlns:a="http://schemas.openxmlformats.org/drawingml/2006/main">
            <a:off x="914400" y="3931920"/>
            <a:ext cx="4937760" cy="21031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200"/>
              </a:spcAft>
              <a:buSzPct val="100000"/>
              <a:buChar char="▸"/>
            </a:pPr>
            <a:r>
              <a:rPr sz="1200">
                <a:solidFill>
                  <a:srgbClr val="1E293B"/>
                </a:solidFill>
                <a:latin typeface="Calibri"/>
                <a:ea typeface="Calibri"/>
                <a:cs typeface="Calibri"/>
              </a:rPr>
              <a:t>OS (Linux, Windows)</a:t>
            </a:r>
            <a:endParaRPr sz="1200"/>
          </a:p>
          <a:p xmlns:a="http://schemas.openxmlformats.org/drawingml/2006/main">
            <a:pPr marL="342900" indent="-342900">
              <a:spcAft>
                <a:spcPts val="200"/>
              </a:spcAft>
              <a:buSzPct val="100000"/>
              <a:buChar char="▸"/>
            </a:pPr>
            <a:r>
              <a:rPr sz="1200">
                <a:solidFill>
                  <a:srgbClr val="1E293B"/>
                </a:solidFill>
                <a:latin typeface="Calibri"/>
                <a:ea typeface="Calibri"/>
                <a:cs typeface="Calibri"/>
              </a:rPr>
              <a:t>Patching &amp; update</a:t>
            </a:r>
            <a:endParaRPr sz="1200"/>
          </a:p>
          <a:p xmlns:a="http://schemas.openxmlformats.org/drawingml/2006/main">
            <a:pPr marL="342900" indent="-342900">
              <a:spcAft>
                <a:spcPts val="200"/>
              </a:spcAft>
              <a:buSzPct val="100000"/>
              <a:buChar char="▸"/>
            </a:pPr>
            <a:r>
              <a:rPr sz="1200">
                <a:solidFill>
                  <a:srgbClr val="1E293B"/>
                </a:solidFill>
                <a:latin typeface="Calibri"/>
                <a:ea typeface="Calibri"/>
                <a:cs typeface="Calibri"/>
              </a:rPr>
              <a:t>Runtime &amp; framework</a:t>
            </a:r>
            <a:endParaRPr sz="1200"/>
          </a:p>
          <a:p xmlns:a="http://schemas.openxmlformats.org/drawingml/2006/main">
            <a:pPr marL="342900" indent="-342900">
              <a:spcAft>
                <a:spcPts val="200"/>
              </a:spcAft>
              <a:buSzPct val="100000"/>
              <a:buChar char="▸"/>
            </a:pPr>
            <a:r>
              <a:rPr sz="1200">
                <a:solidFill>
                  <a:srgbClr val="1E293B"/>
                </a:solidFill>
                <a:latin typeface="Calibri"/>
                <a:ea typeface="Calibri"/>
                <a:cs typeface="Calibri"/>
              </a:rPr>
              <a:t>Aplikasi &amp; data</a:t>
            </a:r>
            <a:endParaRPr sz="1200"/>
          </a:p>
          <a:p xmlns:a="http://schemas.openxmlformats.org/drawingml/2006/main">
            <a:pPr marL="342900" indent="-342900">
              <a:spcAft>
                <a:spcPts val="200"/>
              </a:spcAft>
              <a:buSzPct val="100000"/>
              <a:buChar char="▸"/>
            </a:pPr>
            <a:r>
              <a:rPr sz="1200">
                <a:solidFill>
                  <a:srgbClr val="1E293B"/>
                </a:solidFill>
                <a:latin typeface="Calibri"/>
                <a:ea typeface="Calibri"/>
                <a:cs typeface="Calibri"/>
              </a:rPr>
              <a:t>Backup &amp; monitoring</a:t>
            </a:r>
            <a:endParaRPr sz="1200"/>
          </a:p>
        </p:txBody>
      </p:sp>
      <p:sp>
        <p:nvSpPr>
          <p:cNvPr id="17" name="Text 12">
            <a:extLst xmlns:a="http://schemas.openxmlformats.org/drawingml/2006/main">
              <a:ext uri="{FF2B5EF4-FFF2-40B4-BE49-F238E27FC236}">
                <a16:creationId xmlns:a16="http://schemas.microsoft.com/office/drawing/2014/main" id="{CF2E37CC-5990-4EC9-BC26-D07834C80870}"/>
              </a:ext>
            </a:extLst>
          </p:cNvPr>
          <p:cNvSpPr>
            <a:spLocks xmlns:a="http://schemas.openxmlformats.org/drawingml/2006/main" noGrp="1"/>
          </p:cNvSpPr>
          <p:nvPr/>
        </p:nvSpPr>
        <p:spPr>
          <a:xfrm xmlns:a="http://schemas.openxmlformats.org/drawingml/2006/main">
            <a:off x="6400800" y="1691640"/>
            <a:ext cx="53035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Contoh layanan:</a:t>
            </a:r>
            <a:endParaRPr sz="1400"/>
          </a:p>
        </p:txBody>
      </p:sp>
      <p:sp>
        <p:nvSpPr>
          <p:cNvPr id="18" name="Shape 13">
            <a:extLst xmlns:a="http://schemas.openxmlformats.org/drawingml/2006/main">
              <a:ext uri="{FF2B5EF4-FFF2-40B4-BE49-F238E27FC236}">
                <a16:creationId xmlns:a16="http://schemas.microsoft.com/office/drawing/2014/main" id="{0FE5CDE8-8305-40CF-BA9F-4383155A6724}"/>
              </a:ext>
            </a:extLst>
          </p:cNvPr>
          <p:cNvSpPr>
            <a:spLocks xmlns:a="http://schemas.openxmlformats.org/drawingml/2006/main" noGrp="1"/>
          </p:cNvSpPr>
          <p:nvPr/>
        </p:nvSpPr>
        <p:spPr>
          <a:xfrm xmlns:a="http://schemas.openxmlformats.org/drawingml/2006/main">
            <a:off x="6400800" y="2103120"/>
            <a:ext cx="5303520" cy="77724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pic>
        <p:nvPicPr>
          <p:cNvPr id="56" name="Image 3"/>
          <p:cNvPicPr>
            <a:picLocks xmlns:a="http://schemas.openxmlformats.org/drawingml/2006/main" noChangeAspect="1"/>
          </p:cNvPicPr>
          <p:nvPr/>
        </p:nvPicPr>
        <p:blipFill>
          <a:blip xmlns:r="http://schemas.openxmlformats.org/officeDocument/2006/relationships" xmlns:a="http://schemas.openxmlformats.org/drawingml/2006/main" r:embed="Rc8da684b30ce4d87"/>
          <a:stretch xmlns:a="http://schemas.openxmlformats.org/drawingml/2006/main">
            <a:fillRect l="0" t="0" r="0" b="0"/>
          </a:stretch>
        </p:blipFill>
        <p:spPr>
          <a:xfrm xmlns:a="http://schemas.openxmlformats.org/drawingml/2006/main">
            <a:off x="6537960" y="2258568"/>
            <a:ext cx="457200" cy="457200"/>
          </a:xfrm>
          <a:prstGeom xmlns:a="http://schemas.openxmlformats.org/drawingml/2006/main" prst="rect">
            <a:avLst/>
          </a:prstGeom>
        </p:spPr>
      </p:pic>
      <p:sp>
        <p:nvSpPr>
          <p:cNvPr id="20" name="Text 14">
            <a:extLst xmlns:a="http://schemas.openxmlformats.org/drawingml/2006/main">
              <a:ext uri="{FF2B5EF4-FFF2-40B4-BE49-F238E27FC236}">
                <a16:creationId xmlns:a16="http://schemas.microsoft.com/office/drawing/2014/main" id="{8082E86D-01BE-41A2-A95B-6C6EADDC267A}"/>
              </a:ext>
            </a:extLst>
          </p:cNvPr>
          <p:cNvSpPr>
            <a:spLocks xmlns:a="http://schemas.openxmlformats.org/drawingml/2006/main" noGrp="1"/>
          </p:cNvSpPr>
          <p:nvPr/>
        </p:nvSpPr>
        <p:spPr>
          <a:xfrm xmlns:a="http://schemas.openxmlformats.org/drawingml/2006/main">
            <a:off x="7132320" y="2148840"/>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AWS EC2</a:t>
            </a:r>
            <a:endParaRPr sz="1300"/>
          </a:p>
        </p:txBody>
      </p:sp>
      <p:sp>
        <p:nvSpPr>
          <p:cNvPr id="21" name="Text 15">
            <a:extLst xmlns:a="http://schemas.openxmlformats.org/drawingml/2006/main">
              <a:ext uri="{FF2B5EF4-FFF2-40B4-BE49-F238E27FC236}">
                <a16:creationId xmlns:a16="http://schemas.microsoft.com/office/drawing/2014/main" id="{C62ABFEA-20EA-418A-A6E4-B81B015F1F4E}"/>
              </a:ext>
            </a:extLst>
          </p:cNvPr>
          <p:cNvSpPr>
            <a:spLocks xmlns:a="http://schemas.openxmlformats.org/drawingml/2006/main" noGrp="1"/>
          </p:cNvSpPr>
          <p:nvPr/>
        </p:nvSpPr>
        <p:spPr>
          <a:xfrm xmlns:a="http://schemas.openxmlformats.org/drawingml/2006/main">
            <a:off x="7132320" y="2468880"/>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Layanan VM original sejak 2006</a:t>
            </a:r>
            <a:endParaRPr sz="1000"/>
          </a:p>
        </p:txBody>
      </p:sp>
      <p:sp>
        <p:nvSpPr>
          <p:cNvPr id="22" name="Shape 16">
            <a:extLst xmlns:a="http://schemas.openxmlformats.org/drawingml/2006/main">
              <a:ext uri="{FF2B5EF4-FFF2-40B4-BE49-F238E27FC236}">
                <a16:creationId xmlns:a16="http://schemas.microsoft.com/office/drawing/2014/main" id="{95210DF8-17D6-4EDE-A08F-872804A08556}"/>
              </a:ext>
            </a:extLst>
          </p:cNvPr>
          <p:cNvSpPr>
            <a:spLocks xmlns:a="http://schemas.openxmlformats.org/drawingml/2006/main" noGrp="1"/>
          </p:cNvSpPr>
          <p:nvPr/>
        </p:nvSpPr>
        <p:spPr>
          <a:xfrm xmlns:a="http://schemas.openxmlformats.org/drawingml/2006/main">
            <a:off x="6400800" y="2971800"/>
            <a:ext cx="5303520" cy="77724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pic>
        <p:nvPicPr>
          <p:cNvPr id="60" name="Image 4"/>
          <p:cNvPicPr>
            <a:picLocks xmlns:a="http://schemas.openxmlformats.org/drawingml/2006/main" noChangeAspect="1"/>
          </p:cNvPicPr>
          <p:nvPr/>
        </p:nvPicPr>
        <p:blipFill>
          <a:blip xmlns:r="http://schemas.openxmlformats.org/officeDocument/2006/relationships" xmlns:a="http://schemas.openxmlformats.org/drawingml/2006/main" r:embed="R888f02b0a3974408"/>
          <a:stretch xmlns:a="http://schemas.openxmlformats.org/drawingml/2006/main">
            <a:fillRect l="0" t="0" r="0" b="0"/>
          </a:stretch>
        </p:blipFill>
        <p:spPr>
          <a:xfrm xmlns:a="http://schemas.openxmlformats.org/drawingml/2006/main">
            <a:off x="6537960" y="3127248"/>
            <a:ext cx="457200" cy="457200"/>
          </a:xfrm>
          <a:prstGeom xmlns:a="http://schemas.openxmlformats.org/drawingml/2006/main" prst="rect">
            <a:avLst/>
          </a:prstGeom>
        </p:spPr>
      </p:pic>
      <p:sp>
        <p:nvSpPr>
          <p:cNvPr id="24" name="Text 17">
            <a:extLst xmlns:a="http://schemas.openxmlformats.org/drawingml/2006/main">
              <a:ext uri="{FF2B5EF4-FFF2-40B4-BE49-F238E27FC236}">
                <a16:creationId xmlns:a16="http://schemas.microsoft.com/office/drawing/2014/main" id="{0E2CFF63-E4ED-4A5A-9A02-5CE9F2F28D67}"/>
              </a:ext>
            </a:extLst>
          </p:cNvPr>
          <p:cNvSpPr>
            <a:spLocks xmlns:a="http://schemas.openxmlformats.org/drawingml/2006/main" noGrp="1"/>
          </p:cNvSpPr>
          <p:nvPr/>
        </p:nvSpPr>
        <p:spPr>
          <a:xfrm xmlns:a="http://schemas.openxmlformats.org/drawingml/2006/main">
            <a:off x="7132320" y="3017520"/>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GCP Compute Engine</a:t>
            </a:r>
            <a:endParaRPr sz="1300"/>
          </a:p>
        </p:txBody>
      </p:sp>
      <p:sp>
        <p:nvSpPr>
          <p:cNvPr id="25" name="Text 18">
            <a:extLst xmlns:a="http://schemas.openxmlformats.org/drawingml/2006/main">
              <a:ext uri="{FF2B5EF4-FFF2-40B4-BE49-F238E27FC236}">
                <a16:creationId xmlns:a16="http://schemas.microsoft.com/office/drawing/2014/main" id="{6C6EE45D-9B33-4768-A7A3-D38763B9AA4C}"/>
              </a:ext>
            </a:extLst>
          </p:cNvPr>
          <p:cNvSpPr>
            <a:spLocks xmlns:a="http://schemas.openxmlformats.org/drawingml/2006/main" noGrp="1"/>
          </p:cNvSpPr>
          <p:nvPr/>
        </p:nvSpPr>
        <p:spPr>
          <a:xfrm xmlns:a="http://schemas.openxmlformats.org/drawingml/2006/main">
            <a:off x="7132320" y="3337560"/>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VM dengan custom machine types</a:t>
            </a:r>
            <a:endParaRPr sz="1000"/>
          </a:p>
        </p:txBody>
      </p:sp>
      <p:sp>
        <p:nvSpPr>
          <p:cNvPr id="26" name="Shape 19">
            <a:extLst xmlns:a="http://schemas.openxmlformats.org/drawingml/2006/main">
              <a:ext uri="{FF2B5EF4-FFF2-40B4-BE49-F238E27FC236}">
                <a16:creationId xmlns:a16="http://schemas.microsoft.com/office/drawing/2014/main" id="{E9168D91-9691-4776-9BF3-D0876933A101}"/>
              </a:ext>
            </a:extLst>
          </p:cNvPr>
          <p:cNvSpPr>
            <a:spLocks xmlns:a="http://schemas.openxmlformats.org/drawingml/2006/main" noGrp="1"/>
          </p:cNvSpPr>
          <p:nvPr/>
        </p:nvSpPr>
        <p:spPr>
          <a:xfrm xmlns:a="http://schemas.openxmlformats.org/drawingml/2006/main">
            <a:off x="6400800" y="3840480"/>
            <a:ext cx="5303520" cy="77724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pic>
        <p:nvPicPr>
          <p:cNvPr id="64" name="Image 5"/>
          <p:cNvPicPr>
            <a:picLocks xmlns:a="http://schemas.openxmlformats.org/drawingml/2006/main" noChangeAspect="1"/>
          </p:cNvPicPr>
          <p:nvPr/>
        </p:nvPicPr>
        <p:blipFill>
          <a:blip xmlns:r="http://schemas.openxmlformats.org/officeDocument/2006/relationships" xmlns:a="http://schemas.openxmlformats.org/drawingml/2006/main" r:embed="R7151ccbb26364c24"/>
          <a:stretch xmlns:a="http://schemas.openxmlformats.org/drawingml/2006/main">
            <a:fillRect l="0" t="0" r="0" b="0"/>
          </a:stretch>
        </p:blipFill>
        <p:spPr>
          <a:xfrm xmlns:a="http://schemas.openxmlformats.org/drawingml/2006/main">
            <a:off x="6537960" y="3995928"/>
            <a:ext cx="457200" cy="457200"/>
          </a:xfrm>
          <a:prstGeom xmlns:a="http://schemas.openxmlformats.org/drawingml/2006/main" prst="rect">
            <a:avLst/>
          </a:prstGeom>
        </p:spPr>
      </p:pic>
      <p:sp>
        <p:nvSpPr>
          <p:cNvPr id="28" name="Text 20">
            <a:extLst xmlns:a="http://schemas.openxmlformats.org/drawingml/2006/main">
              <a:ext uri="{FF2B5EF4-FFF2-40B4-BE49-F238E27FC236}">
                <a16:creationId xmlns:a16="http://schemas.microsoft.com/office/drawing/2014/main" id="{0D1825E1-2B60-4D5E-B76F-06DEDADC699D}"/>
              </a:ext>
            </a:extLst>
          </p:cNvPr>
          <p:cNvSpPr>
            <a:spLocks xmlns:a="http://schemas.openxmlformats.org/drawingml/2006/main" noGrp="1"/>
          </p:cNvSpPr>
          <p:nvPr/>
        </p:nvSpPr>
        <p:spPr>
          <a:xfrm xmlns:a="http://schemas.openxmlformats.org/drawingml/2006/main">
            <a:off x="7132320" y="3886200"/>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Oracle Cloud Compute</a:t>
            </a:r>
            <a:endParaRPr sz="1300"/>
          </a:p>
        </p:txBody>
      </p:sp>
      <p:sp>
        <p:nvSpPr>
          <p:cNvPr id="29" name="Text 21">
            <a:extLst xmlns:a="http://schemas.openxmlformats.org/drawingml/2006/main">
              <a:ext uri="{FF2B5EF4-FFF2-40B4-BE49-F238E27FC236}">
                <a16:creationId xmlns:a16="http://schemas.microsoft.com/office/drawing/2014/main" id="{4208B0E2-C152-4A3C-8B6E-5D7B5B512FA0}"/>
              </a:ext>
            </a:extLst>
          </p:cNvPr>
          <p:cNvSpPr>
            <a:spLocks xmlns:a="http://schemas.openxmlformats.org/drawingml/2006/main" noGrp="1"/>
          </p:cNvSpPr>
          <p:nvPr/>
        </p:nvSpPr>
        <p:spPr>
          <a:xfrm xmlns:a="http://schemas.openxmlformats.org/drawingml/2006/main">
            <a:off x="7132320" y="4206240"/>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Free tier paling generous (lihat slide nanti)</a:t>
            </a:r>
            <a:endParaRPr sz="1000"/>
          </a:p>
        </p:txBody>
      </p:sp>
      <p:sp>
        <p:nvSpPr>
          <p:cNvPr id="30" name="Shape 22">
            <a:extLst xmlns:a="http://schemas.openxmlformats.org/drawingml/2006/main">
              <a:ext uri="{FF2B5EF4-FFF2-40B4-BE49-F238E27FC236}">
                <a16:creationId xmlns:a16="http://schemas.microsoft.com/office/drawing/2014/main" id="{B1AA65D5-0C84-4750-A99A-7FA8252551FB}"/>
              </a:ext>
            </a:extLst>
          </p:cNvPr>
          <p:cNvSpPr>
            <a:spLocks xmlns:a="http://schemas.openxmlformats.org/drawingml/2006/main" noGrp="1"/>
          </p:cNvSpPr>
          <p:nvPr/>
        </p:nvSpPr>
        <p:spPr>
          <a:xfrm xmlns:a="http://schemas.openxmlformats.org/drawingml/2006/main">
            <a:off x="6400800" y="4937760"/>
            <a:ext cx="5303520" cy="123444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31" name="Text 23">
            <a:extLst xmlns:a="http://schemas.openxmlformats.org/drawingml/2006/main">
              <a:ext uri="{FF2B5EF4-FFF2-40B4-BE49-F238E27FC236}">
                <a16:creationId xmlns:a16="http://schemas.microsoft.com/office/drawing/2014/main" id="{59AD5F7B-D2D8-4433-8D4C-C080008A1F8B}"/>
              </a:ext>
            </a:extLst>
          </p:cNvPr>
          <p:cNvSpPr>
            <a:spLocks xmlns:a="http://schemas.openxmlformats.org/drawingml/2006/main" noGrp="1"/>
          </p:cNvSpPr>
          <p:nvPr/>
        </p:nvSpPr>
        <p:spPr>
          <a:xfrm xmlns:a="http://schemas.openxmlformats.org/drawingml/2006/main">
            <a:off x="6583680" y="5029200"/>
            <a:ext cx="49377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37021"/>
                </a:solidFill>
                <a:latin typeface="Calibri"/>
                <a:ea typeface="Calibri"/>
                <a:cs typeface="Calibri"/>
              </a:rPr>
              <a:t>Kapan pilih IaaS?</a:t>
            </a:r>
            <a:endParaRPr sz="1300"/>
          </a:p>
        </p:txBody>
      </p:sp>
      <p:sp>
        <p:nvSpPr>
          <p:cNvPr id="32" name="Text 24">
            <a:extLst xmlns:a="http://schemas.openxmlformats.org/drawingml/2006/main">
              <a:ext uri="{FF2B5EF4-FFF2-40B4-BE49-F238E27FC236}">
                <a16:creationId xmlns:a16="http://schemas.microsoft.com/office/drawing/2014/main" id="{E6963EA6-C4E4-42BE-9E69-0017EFD6A821}"/>
              </a:ext>
            </a:extLst>
          </p:cNvPr>
          <p:cNvSpPr>
            <a:spLocks xmlns:a="http://schemas.openxmlformats.org/drawingml/2006/main" noGrp="1"/>
          </p:cNvSpPr>
          <p:nvPr/>
        </p:nvSpPr>
        <p:spPr>
          <a:xfrm xmlns:a="http://schemas.openxmlformats.org/drawingml/2006/main">
            <a:off x="6583680" y="5394960"/>
            <a:ext cx="493776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FFFFFF"/>
                </a:solidFill>
                <a:latin typeface="Calibri"/>
                <a:ea typeface="Calibri"/>
                <a:cs typeface="Calibri"/>
              </a:rPr>
              <a:t>Butuh kontrol penuh OS, migrasi legacy app, custom networking, atau workload spesifik (GPU training, HPC).</a:t>
            </a:r>
            <a:endParaRPr sz="1100"/>
          </a:p>
        </p:txBody>
      </p:sp>
    </p:spTree>
    <p:extLst>
      <p:ext uri="{BB962C8B-B14F-4D97-AF65-F5344CB8AC3E}">
        <p14:creationId xmlns:p14="http://schemas.microsoft.com/office/powerpoint/2010/main" val="10977267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E1EDA0D-A927-4F87-80B8-F41AD5303494}"/>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974BC74E-CEB4-492D-BA87-92CCD58ACC80}"/>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14</a:t>
            </a:r>
            <a:endParaRPr sz="900"/>
          </a:p>
        </p:txBody>
      </p:sp>
      <p:sp>
        <p:nvSpPr>
          <p:cNvPr id="4" name="Shape 2">
            <a:extLst xmlns:a="http://schemas.openxmlformats.org/drawingml/2006/main">
              <a:ext uri="{FF2B5EF4-FFF2-40B4-BE49-F238E27FC236}">
                <a16:creationId xmlns:a16="http://schemas.microsoft.com/office/drawing/2014/main" id="{2117B65A-419B-475A-859F-11BC7B548D3A}"/>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3" name="Image 0"/>
          <p:cNvPicPr>
            <a:picLocks xmlns:a="http://schemas.openxmlformats.org/drawingml/2006/main" noChangeAspect="1"/>
          </p:cNvPicPr>
          <p:nvPr/>
        </p:nvPicPr>
        <p:blipFill>
          <a:blip xmlns:r="http://schemas.openxmlformats.org/officeDocument/2006/relationships" xmlns:a="http://schemas.openxmlformats.org/drawingml/2006/main" r:embed="R28d8d9430c1642b6"/>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4" name="Image 1"/>
          <p:cNvPicPr>
            <a:picLocks xmlns:a="http://schemas.openxmlformats.org/drawingml/2006/main" noChangeAspect="1"/>
          </p:cNvPicPr>
          <p:nvPr/>
        </p:nvPicPr>
        <p:blipFill>
          <a:blip xmlns:r="http://schemas.openxmlformats.org/officeDocument/2006/relationships" xmlns:a="http://schemas.openxmlformats.org/drawingml/2006/main" r:embed="Red5e18b8820a490e"/>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CDCDA9C-A19A-402A-A5BA-A28A7E16672B}"/>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01702BC4-79C3-4D0B-95DD-B73EBC5B0FAF}"/>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PaaS - Platform as a Service</a:t>
            </a:r>
            <a:endParaRPr sz="2200"/>
          </a:p>
        </p:txBody>
      </p:sp>
      <p:sp>
        <p:nvSpPr>
          <p:cNvPr id="9" name="Text 5">
            <a:extLst xmlns:a="http://schemas.openxmlformats.org/drawingml/2006/main">
              <a:ext uri="{FF2B5EF4-FFF2-40B4-BE49-F238E27FC236}">
                <a16:creationId xmlns:a16="http://schemas.microsoft.com/office/drawing/2014/main" id="{D5EBC500-D04B-4742-9E01-FF96039773C3}"/>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Tinggal Push, Provider yang Jalankan</a:t>
            </a:r>
            <a:endParaRPr sz="1200"/>
          </a:p>
        </p:txBody>
      </p:sp>
      <p:sp>
        <p:nvSpPr>
          <p:cNvPr id="10" name="Shape 6">
            <a:extLst xmlns:a="http://schemas.openxmlformats.org/drawingml/2006/main">
              <a:ext uri="{FF2B5EF4-FFF2-40B4-BE49-F238E27FC236}">
                <a16:creationId xmlns:a16="http://schemas.microsoft.com/office/drawing/2014/main" id="{6BE9C778-522F-497E-9B50-520D02B44E86}"/>
              </a:ext>
            </a:extLst>
          </p:cNvPr>
          <p:cNvSpPr>
            <a:spLocks xmlns:a="http://schemas.openxmlformats.org/drawingml/2006/main" noGrp="1"/>
          </p:cNvSpPr>
          <p:nvPr/>
        </p:nvSpPr>
        <p:spPr>
          <a:xfrm xmlns:a="http://schemas.openxmlformats.org/drawingml/2006/main">
            <a:off x="457200" y="1691640"/>
            <a:ext cx="56692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49" name="Image 2"/>
          <p:cNvPicPr>
            <a:picLocks xmlns:a="http://schemas.openxmlformats.org/drawingml/2006/main" noChangeAspect="1"/>
          </p:cNvPicPr>
          <p:nvPr/>
        </p:nvPicPr>
        <p:blipFill>
          <a:blip xmlns:r="http://schemas.openxmlformats.org/officeDocument/2006/relationships" xmlns:a="http://schemas.openxmlformats.org/drawingml/2006/main" r:embed="Rd58c4c1876cd4720"/>
          <a:stretch xmlns:a="http://schemas.openxmlformats.org/drawingml/2006/main">
            <a:fillRect l="0" t="0" r="0" b="0"/>
          </a:stretch>
        </p:blipFill>
        <p:spPr>
          <a:xfrm xmlns:a="http://schemas.openxmlformats.org/drawingml/2006/main">
            <a:off x="731520" y="1920240"/>
            <a:ext cx="640080" cy="64008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116DD0A4-1236-4049-BAAC-F10767914C4A}"/>
              </a:ext>
            </a:extLst>
          </p:cNvPr>
          <p:cNvSpPr>
            <a:spLocks xmlns:a="http://schemas.openxmlformats.org/drawingml/2006/main" noGrp="1"/>
          </p:cNvSpPr>
          <p:nvPr/>
        </p:nvSpPr>
        <p:spPr>
          <a:xfrm xmlns:a="http://schemas.openxmlformats.org/drawingml/2006/main">
            <a:off x="1554480" y="1920240"/>
            <a:ext cx="4114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Apa yang Anda dapat?</a:t>
            </a:r>
            <a:endParaRPr sz="1600"/>
          </a:p>
        </p:txBody>
      </p:sp>
      <p:sp>
        <p:nvSpPr>
          <p:cNvPr id="13" name="Text 8">
            <a:extLst xmlns:a="http://schemas.openxmlformats.org/drawingml/2006/main">
              <a:ext uri="{FF2B5EF4-FFF2-40B4-BE49-F238E27FC236}">
                <a16:creationId xmlns:a16="http://schemas.microsoft.com/office/drawing/2014/main" id="{E3CD777E-D68D-4EB6-8B23-A781FB78B837}"/>
              </a:ext>
            </a:extLst>
          </p:cNvPr>
          <p:cNvSpPr>
            <a:spLocks xmlns:a="http://schemas.openxmlformats.org/drawingml/2006/main" noGrp="1"/>
          </p:cNvSpPr>
          <p:nvPr/>
        </p:nvSpPr>
        <p:spPr>
          <a:xfrm xmlns:a="http://schemas.openxmlformats.org/drawingml/2006/main">
            <a:off x="731520" y="2651760"/>
            <a:ext cx="512064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1E293B"/>
                </a:solidFill>
                <a:latin typeface="Calibri"/>
                <a:ea typeface="Calibri"/>
                <a:cs typeface="Calibri"/>
              </a:rPr>
              <a:t>Runtime + database + load balancer sudah di-manage. Anda fokus ke kode aplikasi &amp; data.</a:t>
            </a:r>
            <a:endParaRPr sz="1300"/>
          </a:p>
        </p:txBody>
      </p:sp>
      <p:sp>
        <p:nvSpPr>
          <p:cNvPr id="14" name="Shape 9">
            <a:extLst xmlns:a="http://schemas.openxmlformats.org/drawingml/2006/main">
              <a:ext uri="{FF2B5EF4-FFF2-40B4-BE49-F238E27FC236}">
                <a16:creationId xmlns:a16="http://schemas.microsoft.com/office/drawing/2014/main" id="{A85823C8-5CE5-41B5-A73D-6F3E8F8E6000}"/>
              </a:ext>
            </a:extLst>
          </p:cNvPr>
          <p:cNvSpPr>
            <a:spLocks xmlns:a="http://schemas.openxmlformats.org/drawingml/2006/main" noGrp="1"/>
          </p:cNvSpPr>
          <p:nvPr/>
        </p:nvSpPr>
        <p:spPr>
          <a:xfrm xmlns:a="http://schemas.openxmlformats.org/drawingml/2006/main">
            <a:off x="731520" y="3474720"/>
            <a:ext cx="512064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15" name="Text 10">
            <a:extLst xmlns:a="http://schemas.openxmlformats.org/drawingml/2006/main">
              <a:ext uri="{FF2B5EF4-FFF2-40B4-BE49-F238E27FC236}">
                <a16:creationId xmlns:a16="http://schemas.microsoft.com/office/drawing/2014/main" id="{FE2F204E-FDE6-45E9-9007-97EABBFB379F}"/>
              </a:ext>
            </a:extLst>
          </p:cNvPr>
          <p:cNvSpPr>
            <a:spLocks xmlns:a="http://schemas.openxmlformats.org/drawingml/2006/main" noGrp="1"/>
          </p:cNvSpPr>
          <p:nvPr/>
        </p:nvSpPr>
        <p:spPr>
          <a:xfrm xmlns:a="http://schemas.openxmlformats.org/drawingml/2006/main">
            <a:off x="731520" y="3566160"/>
            <a:ext cx="51206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64748B"/>
                </a:solidFill>
                <a:latin typeface="Calibri"/>
                <a:ea typeface="Calibri"/>
                <a:cs typeface="Calibri"/>
              </a:rPr>
              <a:t>Provider yang urus:</a:t>
            </a:r>
            <a:endParaRPr sz="1300"/>
          </a:p>
        </p:txBody>
      </p:sp>
      <p:sp>
        <p:nvSpPr>
          <p:cNvPr id="16" name="Text 11">
            <a:extLst xmlns:a="http://schemas.openxmlformats.org/drawingml/2006/main">
              <a:ext uri="{FF2B5EF4-FFF2-40B4-BE49-F238E27FC236}">
                <a16:creationId xmlns:a16="http://schemas.microsoft.com/office/drawing/2014/main" id="{3870B0C8-1CDE-4997-A337-08D5E5F629A8}"/>
              </a:ext>
            </a:extLst>
          </p:cNvPr>
          <p:cNvSpPr>
            <a:spLocks xmlns:a="http://schemas.openxmlformats.org/drawingml/2006/main" noGrp="1"/>
          </p:cNvSpPr>
          <p:nvPr/>
        </p:nvSpPr>
        <p:spPr>
          <a:xfrm xmlns:a="http://schemas.openxmlformats.org/drawingml/2006/main">
            <a:off x="914400" y="3931920"/>
            <a:ext cx="4937760" cy="21031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200"/>
              </a:spcAft>
              <a:buSzPct val="100000"/>
              <a:buChar char="▸"/>
            </a:pPr>
            <a:r>
              <a:rPr sz="1200">
                <a:solidFill>
                  <a:srgbClr val="1E293B"/>
                </a:solidFill>
                <a:latin typeface="Calibri"/>
                <a:ea typeface="Calibri"/>
                <a:cs typeface="Calibri"/>
              </a:rPr>
              <a:t>OS &amp; patching</a:t>
            </a:r>
            <a:endParaRPr sz="1200"/>
          </a:p>
          <a:p xmlns:a="http://schemas.openxmlformats.org/drawingml/2006/main">
            <a:pPr marL="342900" indent="-342900">
              <a:spcAft>
                <a:spcPts val="200"/>
              </a:spcAft>
              <a:buSzPct val="100000"/>
              <a:buChar char="▸"/>
            </a:pPr>
            <a:r>
              <a:rPr sz="1200">
                <a:solidFill>
                  <a:srgbClr val="1E293B"/>
                </a:solidFill>
                <a:latin typeface="Calibri"/>
                <a:ea typeface="Calibri"/>
                <a:cs typeface="Calibri"/>
              </a:rPr>
              <a:t>Runtime (Node, Python, JVM)</a:t>
            </a:r>
            <a:endParaRPr sz="1200"/>
          </a:p>
          <a:p xmlns:a="http://schemas.openxmlformats.org/drawingml/2006/main">
            <a:pPr marL="342900" indent="-342900">
              <a:spcAft>
                <a:spcPts val="200"/>
              </a:spcAft>
              <a:buSzPct val="100000"/>
              <a:buChar char="▸"/>
            </a:pPr>
            <a:r>
              <a:rPr sz="1200">
                <a:solidFill>
                  <a:srgbClr val="1E293B"/>
                </a:solidFill>
                <a:latin typeface="Calibri"/>
                <a:ea typeface="Calibri"/>
                <a:cs typeface="Calibri"/>
              </a:rPr>
              <a:t>Web server &amp; SSL</a:t>
            </a:r>
            <a:endParaRPr sz="1200"/>
          </a:p>
          <a:p xmlns:a="http://schemas.openxmlformats.org/drawingml/2006/main">
            <a:pPr marL="342900" indent="-342900">
              <a:spcAft>
                <a:spcPts val="200"/>
              </a:spcAft>
              <a:buSzPct val="100000"/>
              <a:buChar char="▸"/>
            </a:pPr>
            <a:r>
              <a:rPr sz="1200">
                <a:solidFill>
                  <a:srgbClr val="1E293B"/>
                </a:solidFill>
                <a:latin typeface="Calibri"/>
                <a:ea typeface="Calibri"/>
                <a:cs typeface="Calibri"/>
              </a:rPr>
              <a:t>Auto-scaling</a:t>
            </a:r>
            <a:endParaRPr sz="1200"/>
          </a:p>
          <a:p xmlns:a="http://schemas.openxmlformats.org/drawingml/2006/main">
            <a:pPr marL="342900" indent="-342900">
              <a:spcAft>
                <a:spcPts val="200"/>
              </a:spcAft>
              <a:buSzPct val="100000"/>
              <a:buChar char="▸"/>
            </a:pPr>
            <a:r>
              <a:rPr sz="1200">
                <a:solidFill>
                  <a:srgbClr val="1E293B"/>
                </a:solidFill>
                <a:latin typeface="Calibri"/>
                <a:ea typeface="Calibri"/>
                <a:cs typeface="Calibri"/>
              </a:rPr>
              <a:t>Health checks &amp; restart</a:t>
            </a:r>
            <a:endParaRPr sz="1200"/>
          </a:p>
        </p:txBody>
      </p:sp>
      <p:sp>
        <p:nvSpPr>
          <p:cNvPr id="17" name="Text 12">
            <a:extLst xmlns:a="http://schemas.openxmlformats.org/drawingml/2006/main">
              <a:ext uri="{FF2B5EF4-FFF2-40B4-BE49-F238E27FC236}">
                <a16:creationId xmlns:a16="http://schemas.microsoft.com/office/drawing/2014/main" id="{6050B7F7-86DE-4F78-8CC7-12B291BA7ACA}"/>
              </a:ext>
            </a:extLst>
          </p:cNvPr>
          <p:cNvSpPr>
            <a:spLocks xmlns:a="http://schemas.openxmlformats.org/drawingml/2006/main" noGrp="1"/>
          </p:cNvSpPr>
          <p:nvPr/>
        </p:nvSpPr>
        <p:spPr>
          <a:xfrm xmlns:a="http://schemas.openxmlformats.org/drawingml/2006/main">
            <a:off x="6400800" y="1691640"/>
            <a:ext cx="53035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Contoh layanan:</a:t>
            </a:r>
            <a:endParaRPr sz="1400"/>
          </a:p>
        </p:txBody>
      </p:sp>
      <p:sp>
        <p:nvSpPr>
          <p:cNvPr id="18" name="Shape 13">
            <a:extLst xmlns:a="http://schemas.openxmlformats.org/drawingml/2006/main">
              <a:ext uri="{FF2B5EF4-FFF2-40B4-BE49-F238E27FC236}">
                <a16:creationId xmlns:a16="http://schemas.microsoft.com/office/drawing/2014/main" id="{C8D570AF-C06B-4AAF-B5DE-11625C0D4899}"/>
              </a:ext>
            </a:extLst>
          </p:cNvPr>
          <p:cNvSpPr>
            <a:spLocks xmlns:a="http://schemas.openxmlformats.org/drawingml/2006/main" noGrp="1"/>
          </p:cNvSpPr>
          <p:nvPr/>
        </p:nvSpPr>
        <p:spPr>
          <a:xfrm xmlns:a="http://schemas.openxmlformats.org/drawingml/2006/main">
            <a:off x="6400800" y="2103120"/>
            <a:ext cx="5303520" cy="5943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9" name="Shape 14">
            <a:extLst xmlns:a="http://schemas.openxmlformats.org/drawingml/2006/main">
              <a:ext uri="{FF2B5EF4-FFF2-40B4-BE49-F238E27FC236}">
                <a16:creationId xmlns:a16="http://schemas.microsoft.com/office/drawing/2014/main" id="{468A2A37-3037-4ADA-A2B7-DF13735F97CB}"/>
              </a:ext>
            </a:extLst>
          </p:cNvPr>
          <p:cNvSpPr>
            <a:spLocks xmlns:a="http://schemas.openxmlformats.org/drawingml/2006/main" noGrp="1"/>
          </p:cNvSpPr>
          <p:nvPr/>
        </p:nvSpPr>
        <p:spPr>
          <a:xfrm xmlns:a="http://schemas.openxmlformats.org/drawingml/2006/main">
            <a:off x="6400800" y="2103120"/>
            <a:ext cx="73152" cy="59436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20" name="Text 15">
            <a:extLst xmlns:a="http://schemas.openxmlformats.org/drawingml/2006/main">
              <a:ext uri="{FF2B5EF4-FFF2-40B4-BE49-F238E27FC236}">
                <a16:creationId xmlns:a16="http://schemas.microsoft.com/office/drawing/2014/main" id="{C25A71F6-C182-4A5A-A06D-1B4218BCEF07}"/>
              </a:ext>
            </a:extLst>
          </p:cNvPr>
          <p:cNvSpPr>
            <a:spLocks xmlns:a="http://schemas.openxmlformats.org/drawingml/2006/main" noGrp="1"/>
          </p:cNvSpPr>
          <p:nvPr/>
        </p:nvSpPr>
        <p:spPr>
          <a:xfrm xmlns:a="http://schemas.openxmlformats.org/drawingml/2006/main">
            <a:off x="6583680" y="2148840"/>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Heroku</a:t>
            </a:r>
            <a:endParaRPr sz="1300"/>
          </a:p>
        </p:txBody>
      </p:sp>
      <p:sp>
        <p:nvSpPr>
          <p:cNvPr id="21" name="Text 16">
            <a:extLst xmlns:a="http://schemas.openxmlformats.org/drawingml/2006/main">
              <a:ext uri="{FF2B5EF4-FFF2-40B4-BE49-F238E27FC236}">
                <a16:creationId xmlns:a16="http://schemas.microsoft.com/office/drawing/2014/main" id="{541359BF-F6F0-4872-AE84-440DFF18593B}"/>
              </a:ext>
            </a:extLst>
          </p:cNvPr>
          <p:cNvSpPr>
            <a:spLocks xmlns:a="http://schemas.openxmlformats.org/drawingml/2006/main" noGrp="1"/>
          </p:cNvSpPr>
          <p:nvPr/>
        </p:nvSpPr>
        <p:spPr>
          <a:xfrm xmlns:a="http://schemas.openxmlformats.org/drawingml/2006/main">
            <a:off x="6583680" y="2395728"/>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Pioneer PaaS - 'git push heroku main'</a:t>
            </a:r>
            <a:endParaRPr sz="1000"/>
          </a:p>
        </p:txBody>
      </p:sp>
      <p:sp>
        <p:nvSpPr>
          <p:cNvPr id="22" name="Shape 17">
            <a:extLst xmlns:a="http://schemas.openxmlformats.org/drawingml/2006/main">
              <a:ext uri="{FF2B5EF4-FFF2-40B4-BE49-F238E27FC236}">
                <a16:creationId xmlns:a16="http://schemas.microsoft.com/office/drawing/2014/main" id="{4C9766FC-C243-44A4-9C3E-C259CDE89F90}"/>
              </a:ext>
            </a:extLst>
          </p:cNvPr>
          <p:cNvSpPr>
            <a:spLocks xmlns:a="http://schemas.openxmlformats.org/drawingml/2006/main" noGrp="1"/>
          </p:cNvSpPr>
          <p:nvPr/>
        </p:nvSpPr>
        <p:spPr>
          <a:xfrm xmlns:a="http://schemas.openxmlformats.org/drawingml/2006/main">
            <a:off x="6400800" y="2788920"/>
            <a:ext cx="5303520" cy="5943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3" name="Shape 18">
            <a:extLst xmlns:a="http://schemas.openxmlformats.org/drawingml/2006/main">
              <a:ext uri="{FF2B5EF4-FFF2-40B4-BE49-F238E27FC236}">
                <a16:creationId xmlns:a16="http://schemas.microsoft.com/office/drawing/2014/main" id="{3D1B47C3-F510-4A57-B211-163131E93509}"/>
              </a:ext>
            </a:extLst>
          </p:cNvPr>
          <p:cNvSpPr>
            <a:spLocks xmlns:a="http://schemas.openxmlformats.org/drawingml/2006/main" noGrp="1"/>
          </p:cNvSpPr>
          <p:nvPr/>
        </p:nvSpPr>
        <p:spPr>
          <a:xfrm xmlns:a="http://schemas.openxmlformats.org/drawingml/2006/main">
            <a:off x="6400800" y="2788920"/>
            <a:ext cx="73152" cy="59436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24" name="Text 19">
            <a:extLst xmlns:a="http://schemas.openxmlformats.org/drawingml/2006/main">
              <a:ext uri="{FF2B5EF4-FFF2-40B4-BE49-F238E27FC236}">
                <a16:creationId xmlns:a16="http://schemas.microsoft.com/office/drawing/2014/main" id="{8D56E830-D521-4D8D-82A4-D3464EF42038}"/>
              </a:ext>
            </a:extLst>
          </p:cNvPr>
          <p:cNvSpPr>
            <a:spLocks xmlns:a="http://schemas.openxmlformats.org/drawingml/2006/main" noGrp="1"/>
          </p:cNvSpPr>
          <p:nvPr/>
        </p:nvSpPr>
        <p:spPr>
          <a:xfrm xmlns:a="http://schemas.openxmlformats.org/drawingml/2006/main">
            <a:off x="6583680" y="2834640"/>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Google App Engine</a:t>
            </a:r>
            <a:endParaRPr sz="1300"/>
          </a:p>
        </p:txBody>
      </p:sp>
      <p:sp>
        <p:nvSpPr>
          <p:cNvPr id="25" name="Text 20">
            <a:extLst xmlns:a="http://schemas.openxmlformats.org/drawingml/2006/main">
              <a:ext uri="{FF2B5EF4-FFF2-40B4-BE49-F238E27FC236}">
                <a16:creationId xmlns:a16="http://schemas.microsoft.com/office/drawing/2014/main" id="{28B9826A-4411-47EF-B07E-D51FF52E5FC4}"/>
              </a:ext>
            </a:extLst>
          </p:cNvPr>
          <p:cNvSpPr>
            <a:spLocks xmlns:a="http://schemas.openxmlformats.org/drawingml/2006/main" noGrp="1"/>
          </p:cNvSpPr>
          <p:nvPr/>
        </p:nvSpPr>
        <p:spPr>
          <a:xfrm xmlns:a="http://schemas.openxmlformats.org/drawingml/2006/main">
            <a:off x="6583680" y="3081528"/>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Auto-scaling untuk web app</a:t>
            </a:r>
            <a:endParaRPr sz="1000"/>
          </a:p>
        </p:txBody>
      </p:sp>
      <p:sp>
        <p:nvSpPr>
          <p:cNvPr id="26" name="Shape 21">
            <a:extLst xmlns:a="http://schemas.openxmlformats.org/drawingml/2006/main">
              <a:ext uri="{FF2B5EF4-FFF2-40B4-BE49-F238E27FC236}">
                <a16:creationId xmlns:a16="http://schemas.microsoft.com/office/drawing/2014/main" id="{E6808D50-E7B2-4699-B311-235E21E37BB7}"/>
              </a:ext>
            </a:extLst>
          </p:cNvPr>
          <p:cNvSpPr>
            <a:spLocks xmlns:a="http://schemas.openxmlformats.org/drawingml/2006/main" noGrp="1"/>
          </p:cNvSpPr>
          <p:nvPr/>
        </p:nvSpPr>
        <p:spPr>
          <a:xfrm xmlns:a="http://schemas.openxmlformats.org/drawingml/2006/main">
            <a:off x="6400800" y="3474720"/>
            <a:ext cx="5303520" cy="5943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7" name="Shape 22">
            <a:extLst xmlns:a="http://schemas.openxmlformats.org/drawingml/2006/main">
              <a:ext uri="{FF2B5EF4-FFF2-40B4-BE49-F238E27FC236}">
                <a16:creationId xmlns:a16="http://schemas.microsoft.com/office/drawing/2014/main" id="{3B730E80-A051-4438-AE21-17D6E7E107C0}"/>
              </a:ext>
            </a:extLst>
          </p:cNvPr>
          <p:cNvSpPr>
            <a:spLocks xmlns:a="http://schemas.openxmlformats.org/drawingml/2006/main" noGrp="1"/>
          </p:cNvSpPr>
          <p:nvPr/>
        </p:nvSpPr>
        <p:spPr>
          <a:xfrm xmlns:a="http://schemas.openxmlformats.org/drawingml/2006/main">
            <a:off x="6400800" y="3474720"/>
            <a:ext cx="73152" cy="59436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28" name="Text 23">
            <a:extLst xmlns:a="http://schemas.openxmlformats.org/drawingml/2006/main">
              <a:ext uri="{FF2B5EF4-FFF2-40B4-BE49-F238E27FC236}">
                <a16:creationId xmlns:a16="http://schemas.microsoft.com/office/drawing/2014/main" id="{12FA7D6B-5239-4688-894D-0A4CDDFB2624}"/>
              </a:ext>
            </a:extLst>
          </p:cNvPr>
          <p:cNvSpPr>
            <a:spLocks xmlns:a="http://schemas.openxmlformats.org/drawingml/2006/main" noGrp="1"/>
          </p:cNvSpPr>
          <p:nvPr/>
        </p:nvSpPr>
        <p:spPr>
          <a:xfrm xmlns:a="http://schemas.openxmlformats.org/drawingml/2006/main">
            <a:off x="6583680" y="3520440"/>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AWS Elastic Beanstalk</a:t>
            </a:r>
            <a:endParaRPr sz="1300"/>
          </a:p>
        </p:txBody>
      </p:sp>
      <p:sp>
        <p:nvSpPr>
          <p:cNvPr id="29" name="Text 24">
            <a:extLst xmlns:a="http://schemas.openxmlformats.org/drawingml/2006/main">
              <a:ext uri="{FF2B5EF4-FFF2-40B4-BE49-F238E27FC236}">
                <a16:creationId xmlns:a16="http://schemas.microsoft.com/office/drawing/2014/main" id="{C3C8B52F-A02A-4031-941D-13530D11A1CE}"/>
              </a:ext>
            </a:extLst>
          </p:cNvPr>
          <p:cNvSpPr>
            <a:spLocks xmlns:a="http://schemas.openxmlformats.org/drawingml/2006/main" noGrp="1"/>
          </p:cNvSpPr>
          <p:nvPr/>
        </p:nvSpPr>
        <p:spPr>
          <a:xfrm xmlns:a="http://schemas.openxmlformats.org/drawingml/2006/main">
            <a:off x="6583680" y="3767328"/>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PaaS di atas EC2</a:t>
            </a:r>
            <a:endParaRPr sz="1000"/>
          </a:p>
        </p:txBody>
      </p:sp>
      <p:sp>
        <p:nvSpPr>
          <p:cNvPr id="30" name="Shape 25">
            <a:extLst xmlns:a="http://schemas.openxmlformats.org/drawingml/2006/main">
              <a:ext uri="{FF2B5EF4-FFF2-40B4-BE49-F238E27FC236}">
                <a16:creationId xmlns:a16="http://schemas.microsoft.com/office/drawing/2014/main" id="{55E84FAF-E573-4389-A302-F562DA0B455A}"/>
              </a:ext>
            </a:extLst>
          </p:cNvPr>
          <p:cNvSpPr>
            <a:spLocks xmlns:a="http://schemas.openxmlformats.org/drawingml/2006/main" noGrp="1"/>
          </p:cNvSpPr>
          <p:nvPr/>
        </p:nvSpPr>
        <p:spPr>
          <a:xfrm xmlns:a="http://schemas.openxmlformats.org/drawingml/2006/main">
            <a:off x="6400800" y="4160520"/>
            <a:ext cx="5303520" cy="5943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1" name="Shape 26">
            <a:extLst xmlns:a="http://schemas.openxmlformats.org/drawingml/2006/main">
              <a:ext uri="{FF2B5EF4-FFF2-40B4-BE49-F238E27FC236}">
                <a16:creationId xmlns:a16="http://schemas.microsoft.com/office/drawing/2014/main" id="{3C49C23B-70BB-4FCA-B3FD-6A3145FD1E73}"/>
              </a:ext>
            </a:extLst>
          </p:cNvPr>
          <p:cNvSpPr>
            <a:spLocks xmlns:a="http://schemas.openxmlformats.org/drawingml/2006/main" noGrp="1"/>
          </p:cNvSpPr>
          <p:nvPr/>
        </p:nvSpPr>
        <p:spPr>
          <a:xfrm xmlns:a="http://schemas.openxmlformats.org/drawingml/2006/main">
            <a:off x="6400800" y="4160520"/>
            <a:ext cx="73152" cy="59436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32" name="Text 27">
            <a:extLst xmlns:a="http://schemas.openxmlformats.org/drawingml/2006/main">
              <a:ext uri="{FF2B5EF4-FFF2-40B4-BE49-F238E27FC236}">
                <a16:creationId xmlns:a16="http://schemas.microsoft.com/office/drawing/2014/main" id="{657A9BF9-F438-4FDD-95CC-8AFC6B7B757C}"/>
              </a:ext>
            </a:extLst>
          </p:cNvPr>
          <p:cNvSpPr>
            <a:spLocks xmlns:a="http://schemas.openxmlformats.org/drawingml/2006/main" noGrp="1"/>
          </p:cNvSpPr>
          <p:nvPr/>
        </p:nvSpPr>
        <p:spPr>
          <a:xfrm xmlns:a="http://schemas.openxmlformats.org/drawingml/2006/main">
            <a:off x="6583680" y="4206240"/>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Railway, Render</a:t>
            </a:r>
            <a:endParaRPr sz="1300"/>
          </a:p>
        </p:txBody>
      </p:sp>
      <p:sp>
        <p:nvSpPr>
          <p:cNvPr id="33" name="Text 28">
            <a:extLst xmlns:a="http://schemas.openxmlformats.org/drawingml/2006/main">
              <a:ext uri="{FF2B5EF4-FFF2-40B4-BE49-F238E27FC236}">
                <a16:creationId xmlns:a16="http://schemas.microsoft.com/office/drawing/2014/main" id="{50C9AF94-5A54-4007-9DAA-E2697A9F0ED3}"/>
              </a:ext>
            </a:extLst>
          </p:cNvPr>
          <p:cNvSpPr>
            <a:spLocks xmlns:a="http://schemas.openxmlformats.org/drawingml/2006/main" noGrp="1"/>
          </p:cNvSpPr>
          <p:nvPr/>
        </p:nvSpPr>
        <p:spPr>
          <a:xfrm xmlns:a="http://schemas.openxmlformats.org/drawingml/2006/main">
            <a:off x="6583680" y="4453128"/>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Modern PaaS, developer-friendly</a:t>
            </a:r>
            <a:endParaRPr sz="1000"/>
          </a:p>
        </p:txBody>
      </p:sp>
      <p:sp>
        <p:nvSpPr>
          <p:cNvPr id="34" name="Shape 29">
            <a:extLst xmlns:a="http://schemas.openxmlformats.org/drawingml/2006/main">
              <a:ext uri="{FF2B5EF4-FFF2-40B4-BE49-F238E27FC236}">
                <a16:creationId xmlns:a16="http://schemas.microsoft.com/office/drawing/2014/main" id="{D522A587-F3A0-4012-9FEA-5E31F9DA3F8E}"/>
              </a:ext>
            </a:extLst>
          </p:cNvPr>
          <p:cNvSpPr>
            <a:spLocks xmlns:a="http://schemas.openxmlformats.org/drawingml/2006/main" noGrp="1"/>
          </p:cNvSpPr>
          <p:nvPr/>
        </p:nvSpPr>
        <p:spPr>
          <a:xfrm xmlns:a="http://schemas.openxmlformats.org/drawingml/2006/main">
            <a:off x="6400800" y="4983480"/>
            <a:ext cx="5303520" cy="118872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35" name="Text 30">
            <a:extLst xmlns:a="http://schemas.openxmlformats.org/drawingml/2006/main">
              <a:ext uri="{FF2B5EF4-FFF2-40B4-BE49-F238E27FC236}">
                <a16:creationId xmlns:a16="http://schemas.microsoft.com/office/drawing/2014/main" id="{226E1A39-A8C3-44EE-8695-19F08E2A6376}"/>
              </a:ext>
            </a:extLst>
          </p:cNvPr>
          <p:cNvSpPr>
            <a:spLocks xmlns:a="http://schemas.openxmlformats.org/drawingml/2006/main" noGrp="1"/>
          </p:cNvSpPr>
          <p:nvPr/>
        </p:nvSpPr>
        <p:spPr>
          <a:xfrm xmlns:a="http://schemas.openxmlformats.org/drawingml/2006/main">
            <a:off x="6583680" y="5074920"/>
            <a:ext cx="49377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37021"/>
                </a:solidFill>
                <a:latin typeface="Calibri"/>
                <a:ea typeface="Calibri"/>
                <a:cs typeface="Calibri"/>
              </a:rPr>
              <a:t>Trade-off:</a:t>
            </a:r>
            <a:endParaRPr sz="1300"/>
          </a:p>
        </p:txBody>
      </p:sp>
      <p:sp>
        <p:nvSpPr>
          <p:cNvPr id="36" name="Text 31">
            <a:extLst xmlns:a="http://schemas.openxmlformats.org/drawingml/2006/main">
              <a:ext uri="{FF2B5EF4-FFF2-40B4-BE49-F238E27FC236}">
                <a16:creationId xmlns:a16="http://schemas.microsoft.com/office/drawing/2014/main" id="{056D8609-9EA5-430A-A939-93817C16B4EA}"/>
              </a:ext>
            </a:extLst>
          </p:cNvPr>
          <p:cNvSpPr>
            <a:spLocks xmlns:a="http://schemas.openxmlformats.org/drawingml/2006/main" noGrp="1"/>
          </p:cNvSpPr>
          <p:nvPr/>
        </p:nvSpPr>
        <p:spPr>
          <a:xfrm xmlns:a="http://schemas.openxmlformats.org/drawingml/2006/main">
            <a:off x="6583680" y="5440680"/>
            <a:ext cx="493776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FFFFFF"/>
                </a:solidFill>
                <a:latin typeface="Calibri"/>
                <a:ea typeface="Calibri"/>
                <a:cs typeface="Calibri"/>
              </a:rPr>
              <a:t>Cepat deploy, tapi konfigurasi terbatas dan vendor lock-in lebih tinggi.</a:t>
            </a:r>
            <a:endParaRPr sz="1100"/>
          </a:p>
        </p:txBody>
      </p:sp>
    </p:spTree>
    <p:extLst>
      <p:ext uri="{BB962C8B-B14F-4D97-AF65-F5344CB8AC3E}">
        <p14:creationId xmlns:p14="http://schemas.microsoft.com/office/powerpoint/2010/main" val="11901879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786BFC7-39E1-451D-B248-A5E6DAA13285}"/>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2B7788AC-C221-41D4-91DC-9F70E089935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15</a:t>
            </a:r>
            <a:endParaRPr sz="900"/>
          </a:p>
        </p:txBody>
      </p:sp>
      <p:sp>
        <p:nvSpPr>
          <p:cNvPr id="4" name="Shape 2">
            <a:extLst xmlns:a="http://schemas.openxmlformats.org/drawingml/2006/main">
              <a:ext uri="{FF2B5EF4-FFF2-40B4-BE49-F238E27FC236}">
                <a16:creationId xmlns:a16="http://schemas.microsoft.com/office/drawing/2014/main" id="{15ECDB17-10AA-446E-80DE-1F3282EE2B71}"/>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5" name="Image 0"/>
          <p:cNvPicPr>
            <a:picLocks xmlns:a="http://schemas.openxmlformats.org/drawingml/2006/main" noChangeAspect="1"/>
          </p:cNvPicPr>
          <p:nvPr/>
        </p:nvPicPr>
        <p:blipFill>
          <a:blip xmlns:r="http://schemas.openxmlformats.org/officeDocument/2006/relationships" xmlns:a="http://schemas.openxmlformats.org/drawingml/2006/main" r:embed="Rc0565a0dfb5241c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6" name="Image 1"/>
          <p:cNvPicPr>
            <a:picLocks xmlns:a="http://schemas.openxmlformats.org/drawingml/2006/main" noChangeAspect="1"/>
          </p:cNvPicPr>
          <p:nvPr/>
        </p:nvPicPr>
        <p:blipFill>
          <a:blip xmlns:r="http://schemas.openxmlformats.org/officeDocument/2006/relationships" xmlns:a="http://schemas.openxmlformats.org/drawingml/2006/main" r:embed="Ra5c92c8fc55e4cea"/>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1FCB959B-C089-4639-B4AE-4FEEA7B3D825}"/>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73A5A7F2-CD04-4931-AD02-34B275D96EEA}"/>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SaaS - Software as a Service</a:t>
            </a:r>
            <a:endParaRPr sz="2200"/>
          </a:p>
        </p:txBody>
      </p:sp>
      <p:sp>
        <p:nvSpPr>
          <p:cNvPr id="9" name="Text 5">
            <a:extLst xmlns:a="http://schemas.openxmlformats.org/drawingml/2006/main">
              <a:ext uri="{FF2B5EF4-FFF2-40B4-BE49-F238E27FC236}">
                <a16:creationId xmlns:a16="http://schemas.microsoft.com/office/drawing/2014/main" id="{B74A5EE5-0FB2-4165-9D73-D3E42BF4DFB5}"/>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Tinggal Pakai, Lewat Browser</a:t>
            </a:r>
            <a:endParaRPr sz="1200"/>
          </a:p>
        </p:txBody>
      </p:sp>
      <p:sp>
        <p:nvSpPr>
          <p:cNvPr id="10" name="Shape 6">
            <a:extLst xmlns:a="http://schemas.openxmlformats.org/drawingml/2006/main">
              <a:ext uri="{FF2B5EF4-FFF2-40B4-BE49-F238E27FC236}">
                <a16:creationId xmlns:a16="http://schemas.microsoft.com/office/drawing/2014/main" id="{C54E6AED-82DE-44CA-A0B4-F147C50A383A}"/>
              </a:ext>
            </a:extLst>
          </p:cNvPr>
          <p:cNvSpPr>
            <a:spLocks xmlns:a="http://schemas.openxmlformats.org/drawingml/2006/main" noGrp="1"/>
          </p:cNvSpPr>
          <p:nvPr/>
        </p:nvSpPr>
        <p:spPr>
          <a:xfrm xmlns:a="http://schemas.openxmlformats.org/drawingml/2006/main">
            <a:off x="457200" y="1691640"/>
            <a:ext cx="56692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51" name="Image 2"/>
          <p:cNvPicPr>
            <a:picLocks xmlns:a="http://schemas.openxmlformats.org/drawingml/2006/main" noChangeAspect="1"/>
          </p:cNvPicPr>
          <p:nvPr/>
        </p:nvPicPr>
        <p:blipFill>
          <a:blip xmlns:r="http://schemas.openxmlformats.org/officeDocument/2006/relationships" xmlns:a="http://schemas.openxmlformats.org/drawingml/2006/main" r:embed="R602d1d8d95114bd6"/>
          <a:stretch xmlns:a="http://schemas.openxmlformats.org/drawingml/2006/main">
            <a:fillRect l="0" t="0" r="0" b="0"/>
          </a:stretch>
        </p:blipFill>
        <p:spPr>
          <a:xfrm xmlns:a="http://schemas.openxmlformats.org/drawingml/2006/main">
            <a:off x="731520" y="1920240"/>
            <a:ext cx="640080" cy="64008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26AD74AD-DAF6-4012-B950-CF01C965E1F0}"/>
              </a:ext>
            </a:extLst>
          </p:cNvPr>
          <p:cNvSpPr>
            <a:spLocks xmlns:a="http://schemas.openxmlformats.org/drawingml/2006/main" noGrp="1"/>
          </p:cNvSpPr>
          <p:nvPr/>
        </p:nvSpPr>
        <p:spPr>
          <a:xfrm xmlns:a="http://schemas.openxmlformats.org/drawingml/2006/main">
            <a:off x="1554480" y="1920240"/>
            <a:ext cx="4114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Apa yang Anda dapat?</a:t>
            </a:r>
            <a:endParaRPr sz="1600"/>
          </a:p>
        </p:txBody>
      </p:sp>
      <p:sp>
        <p:nvSpPr>
          <p:cNvPr id="13" name="Text 8">
            <a:extLst xmlns:a="http://schemas.openxmlformats.org/drawingml/2006/main">
              <a:ext uri="{FF2B5EF4-FFF2-40B4-BE49-F238E27FC236}">
                <a16:creationId xmlns:a16="http://schemas.microsoft.com/office/drawing/2014/main" id="{33247391-47DD-498C-9A8A-0DDB3442FB58}"/>
              </a:ext>
            </a:extLst>
          </p:cNvPr>
          <p:cNvSpPr>
            <a:spLocks xmlns:a="http://schemas.openxmlformats.org/drawingml/2006/main" noGrp="1"/>
          </p:cNvSpPr>
          <p:nvPr/>
        </p:nvSpPr>
        <p:spPr>
          <a:xfrm xmlns:a="http://schemas.openxmlformats.org/drawingml/2006/main">
            <a:off x="731520" y="2651760"/>
            <a:ext cx="512064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1E293B"/>
                </a:solidFill>
                <a:latin typeface="Calibri"/>
                <a:ea typeface="Calibri"/>
                <a:cs typeface="Calibri"/>
              </a:rPr>
              <a:t>Aplikasi lengkap end-user, multi-tenant, diakses via browser/mobile - subscription model.</a:t>
            </a:r>
            <a:endParaRPr sz="1300"/>
          </a:p>
        </p:txBody>
      </p:sp>
      <p:sp>
        <p:nvSpPr>
          <p:cNvPr id="14" name="Shape 9">
            <a:extLst xmlns:a="http://schemas.openxmlformats.org/drawingml/2006/main">
              <a:ext uri="{FF2B5EF4-FFF2-40B4-BE49-F238E27FC236}">
                <a16:creationId xmlns:a16="http://schemas.microsoft.com/office/drawing/2014/main" id="{CF6FBBF7-D514-4F91-A63C-EB53DEB04139}"/>
              </a:ext>
            </a:extLst>
          </p:cNvPr>
          <p:cNvSpPr>
            <a:spLocks xmlns:a="http://schemas.openxmlformats.org/drawingml/2006/main" noGrp="1"/>
          </p:cNvSpPr>
          <p:nvPr/>
        </p:nvSpPr>
        <p:spPr>
          <a:xfrm xmlns:a="http://schemas.openxmlformats.org/drawingml/2006/main">
            <a:off x="731520" y="3474720"/>
            <a:ext cx="512064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15" name="Text 10">
            <a:extLst xmlns:a="http://schemas.openxmlformats.org/drawingml/2006/main">
              <a:ext uri="{FF2B5EF4-FFF2-40B4-BE49-F238E27FC236}">
                <a16:creationId xmlns:a16="http://schemas.microsoft.com/office/drawing/2014/main" id="{6FC87CB8-998D-4861-B4D8-8450F5BB6CD7}"/>
              </a:ext>
            </a:extLst>
          </p:cNvPr>
          <p:cNvSpPr>
            <a:spLocks xmlns:a="http://schemas.openxmlformats.org/drawingml/2006/main" noGrp="1"/>
          </p:cNvSpPr>
          <p:nvPr/>
        </p:nvSpPr>
        <p:spPr>
          <a:xfrm xmlns:a="http://schemas.openxmlformats.org/drawingml/2006/main">
            <a:off x="731520" y="3566160"/>
            <a:ext cx="51206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64748B"/>
                </a:solidFill>
                <a:latin typeface="Calibri"/>
                <a:ea typeface="Calibri"/>
                <a:cs typeface="Calibri"/>
              </a:rPr>
              <a:t>Karakteristik:</a:t>
            </a:r>
            <a:endParaRPr sz="1300"/>
          </a:p>
        </p:txBody>
      </p:sp>
      <p:sp>
        <p:nvSpPr>
          <p:cNvPr id="16" name="Text 11">
            <a:extLst xmlns:a="http://schemas.openxmlformats.org/drawingml/2006/main">
              <a:ext uri="{FF2B5EF4-FFF2-40B4-BE49-F238E27FC236}">
                <a16:creationId xmlns:a16="http://schemas.microsoft.com/office/drawing/2014/main" id="{4AF5AF8D-8CC5-41B6-9961-05B0A02617CC}"/>
              </a:ext>
            </a:extLst>
          </p:cNvPr>
          <p:cNvSpPr>
            <a:spLocks xmlns:a="http://schemas.openxmlformats.org/drawingml/2006/main" noGrp="1"/>
          </p:cNvSpPr>
          <p:nvPr/>
        </p:nvSpPr>
        <p:spPr>
          <a:xfrm xmlns:a="http://schemas.openxmlformats.org/drawingml/2006/main">
            <a:off x="914400" y="3931920"/>
            <a:ext cx="4937760" cy="21031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200"/>
              </a:spcAft>
              <a:buSzPct val="100000"/>
              <a:buChar char="▸"/>
            </a:pPr>
            <a:r>
              <a:rPr sz="1200">
                <a:solidFill>
                  <a:srgbClr val="1E293B"/>
                </a:solidFill>
                <a:latin typeface="Calibri"/>
                <a:ea typeface="Calibri"/>
                <a:cs typeface="Calibri"/>
              </a:rPr>
              <a:t>Tidak ada instalasi - cukup login</a:t>
            </a:r>
            <a:endParaRPr sz="1200"/>
          </a:p>
          <a:p xmlns:a="http://schemas.openxmlformats.org/drawingml/2006/main">
            <a:pPr marL="342900" indent="-342900">
              <a:spcAft>
                <a:spcPts val="200"/>
              </a:spcAft>
              <a:buSzPct val="100000"/>
              <a:buChar char="▸"/>
            </a:pPr>
            <a:r>
              <a:rPr sz="1200">
                <a:solidFill>
                  <a:srgbClr val="1E293B"/>
                </a:solidFill>
                <a:latin typeface="Calibri"/>
                <a:ea typeface="Calibri"/>
                <a:cs typeface="Calibri"/>
              </a:rPr>
              <a:t>Update otomatis di sisi provider</a:t>
            </a:r>
            <a:endParaRPr sz="1200"/>
          </a:p>
          <a:p xmlns:a="http://schemas.openxmlformats.org/drawingml/2006/main">
            <a:pPr marL="342900" indent="-342900">
              <a:spcAft>
                <a:spcPts val="200"/>
              </a:spcAft>
              <a:buSzPct val="100000"/>
              <a:buChar char="▸"/>
            </a:pPr>
            <a:r>
              <a:rPr sz="1200">
                <a:solidFill>
                  <a:srgbClr val="1E293B"/>
                </a:solidFill>
                <a:latin typeface="Calibri"/>
                <a:ea typeface="Calibri"/>
                <a:cs typeface="Calibri"/>
              </a:rPr>
              <a:t>Subscription bulanan/tahunan</a:t>
            </a:r>
            <a:endParaRPr sz="1200"/>
          </a:p>
          <a:p xmlns:a="http://schemas.openxmlformats.org/drawingml/2006/main">
            <a:pPr marL="342900" indent="-342900">
              <a:spcAft>
                <a:spcPts val="200"/>
              </a:spcAft>
              <a:buSzPct val="100000"/>
              <a:buChar char="▸"/>
            </a:pPr>
            <a:r>
              <a:rPr sz="1200">
                <a:solidFill>
                  <a:srgbClr val="1E293B"/>
                </a:solidFill>
                <a:latin typeface="Calibri"/>
                <a:ea typeface="Calibri"/>
                <a:cs typeface="Calibri"/>
              </a:rPr>
              <a:t>Cocok untuk B2B &amp; B2C massal</a:t>
            </a:r>
            <a:endParaRPr sz="1200"/>
          </a:p>
          <a:p xmlns:a="http://schemas.openxmlformats.org/drawingml/2006/main">
            <a:pPr marL="342900" indent="-342900">
              <a:spcAft>
                <a:spcPts val="200"/>
              </a:spcAft>
              <a:buSzPct val="100000"/>
              <a:buChar char="▸"/>
            </a:pPr>
            <a:r>
              <a:rPr sz="1200">
                <a:solidFill>
                  <a:srgbClr val="1E293B"/>
                </a:solidFill>
                <a:latin typeface="Calibri"/>
                <a:ea typeface="Calibri"/>
                <a:cs typeface="Calibri"/>
              </a:rPr>
              <a:t>User hanya kelola data &amp; konfigurasi</a:t>
            </a:r>
            <a:endParaRPr sz="1200"/>
          </a:p>
        </p:txBody>
      </p:sp>
      <p:sp>
        <p:nvSpPr>
          <p:cNvPr id="17" name="Text 12">
            <a:extLst xmlns:a="http://schemas.openxmlformats.org/drawingml/2006/main">
              <a:ext uri="{FF2B5EF4-FFF2-40B4-BE49-F238E27FC236}">
                <a16:creationId xmlns:a16="http://schemas.microsoft.com/office/drawing/2014/main" id="{B9CEE75B-7CE6-47C7-8BC9-011BBCB0BC83}"/>
              </a:ext>
            </a:extLst>
          </p:cNvPr>
          <p:cNvSpPr>
            <a:spLocks xmlns:a="http://schemas.openxmlformats.org/drawingml/2006/main" noGrp="1"/>
          </p:cNvSpPr>
          <p:nvPr/>
        </p:nvSpPr>
        <p:spPr>
          <a:xfrm xmlns:a="http://schemas.openxmlformats.org/drawingml/2006/main">
            <a:off x="6400800" y="1691640"/>
            <a:ext cx="53035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Contoh yang Anda pakai sehari-hari:</a:t>
            </a:r>
            <a:endParaRPr sz="1400"/>
          </a:p>
        </p:txBody>
      </p:sp>
      <p:sp>
        <p:nvSpPr>
          <p:cNvPr id="18" name="Shape 13">
            <a:extLst xmlns:a="http://schemas.openxmlformats.org/drawingml/2006/main">
              <a:ext uri="{FF2B5EF4-FFF2-40B4-BE49-F238E27FC236}">
                <a16:creationId xmlns:a16="http://schemas.microsoft.com/office/drawing/2014/main" id="{8397F36F-7BA3-4300-B9CD-D14A758FC0BD}"/>
              </a:ext>
            </a:extLst>
          </p:cNvPr>
          <p:cNvSpPr>
            <a:spLocks xmlns:a="http://schemas.openxmlformats.org/drawingml/2006/main" noGrp="1"/>
          </p:cNvSpPr>
          <p:nvPr/>
        </p:nvSpPr>
        <p:spPr>
          <a:xfrm xmlns:a="http://schemas.openxmlformats.org/drawingml/2006/main">
            <a:off x="6400800" y="2103120"/>
            <a:ext cx="5303520" cy="50292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9" name="Shape 14">
            <a:extLst xmlns:a="http://schemas.openxmlformats.org/drawingml/2006/main">
              <a:ext uri="{FF2B5EF4-FFF2-40B4-BE49-F238E27FC236}">
                <a16:creationId xmlns:a16="http://schemas.microsoft.com/office/drawing/2014/main" id="{75A4B1C5-5F7E-4592-BC3A-EB06C6426544}"/>
              </a:ext>
            </a:extLst>
          </p:cNvPr>
          <p:cNvSpPr>
            <a:spLocks xmlns:a="http://schemas.openxmlformats.org/drawingml/2006/main" noGrp="1"/>
          </p:cNvSpPr>
          <p:nvPr/>
        </p:nvSpPr>
        <p:spPr>
          <a:xfrm xmlns:a="http://schemas.openxmlformats.org/drawingml/2006/main">
            <a:off x="6492240" y="2240280"/>
            <a:ext cx="228600" cy="22860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20" name="Text 15">
            <a:extLst xmlns:a="http://schemas.openxmlformats.org/drawingml/2006/main">
              <a:ext uri="{FF2B5EF4-FFF2-40B4-BE49-F238E27FC236}">
                <a16:creationId xmlns:a16="http://schemas.microsoft.com/office/drawing/2014/main" id="{1B20D1AF-89D6-4C2C-B7AC-67B51AE8CB18}"/>
              </a:ext>
            </a:extLst>
          </p:cNvPr>
          <p:cNvSpPr>
            <a:spLocks xmlns:a="http://schemas.openxmlformats.org/drawingml/2006/main" noGrp="1"/>
          </p:cNvSpPr>
          <p:nvPr/>
        </p:nvSpPr>
        <p:spPr>
          <a:xfrm xmlns:a="http://schemas.openxmlformats.org/drawingml/2006/main">
            <a:off x="6858000" y="2121408"/>
            <a:ext cx="2468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677"/>
                </a:solidFill>
                <a:latin typeface="Calibri"/>
                <a:ea typeface="Calibri"/>
                <a:cs typeface="Calibri"/>
              </a:rPr>
              <a:t>Google Workspace</a:t>
            </a:r>
            <a:endParaRPr sz="1200"/>
          </a:p>
        </p:txBody>
      </p:sp>
      <p:sp>
        <p:nvSpPr>
          <p:cNvPr id="21" name="Text 16">
            <a:extLst xmlns:a="http://schemas.openxmlformats.org/drawingml/2006/main">
              <a:ext uri="{FF2B5EF4-FFF2-40B4-BE49-F238E27FC236}">
                <a16:creationId xmlns:a16="http://schemas.microsoft.com/office/drawing/2014/main" id="{C0F30C5C-DA74-48BA-AE6A-F609BD35F129}"/>
              </a:ext>
            </a:extLst>
          </p:cNvPr>
          <p:cNvSpPr>
            <a:spLocks xmlns:a="http://schemas.openxmlformats.org/drawingml/2006/main" noGrp="1"/>
          </p:cNvSpPr>
          <p:nvPr/>
        </p:nvSpPr>
        <p:spPr>
          <a:xfrm xmlns:a="http://schemas.openxmlformats.org/drawingml/2006/main">
            <a:off x="9326880" y="2121408"/>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1E293B"/>
                </a:solidFill>
                <a:latin typeface="Calibri"/>
                <a:ea typeface="Calibri"/>
                <a:cs typeface="Calibri"/>
              </a:rPr>
              <a:t>Gmail, Docs, Sheets, Drive</a:t>
            </a:r>
            <a:endParaRPr sz="1000"/>
          </a:p>
        </p:txBody>
      </p:sp>
      <p:sp>
        <p:nvSpPr>
          <p:cNvPr id="22" name="Shape 17">
            <a:extLst xmlns:a="http://schemas.openxmlformats.org/drawingml/2006/main">
              <a:ext uri="{FF2B5EF4-FFF2-40B4-BE49-F238E27FC236}">
                <a16:creationId xmlns:a16="http://schemas.microsoft.com/office/drawing/2014/main" id="{2BEF78E3-2426-49EB-96B7-B305055F7094}"/>
              </a:ext>
            </a:extLst>
          </p:cNvPr>
          <p:cNvSpPr>
            <a:spLocks xmlns:a="http://schemas.openxmlformats.org/drawingml/2006/main" noGrp="1"/>
          </p:cNvSpPr>
          <p:nvPr/>
        </p:nvSpPr>
        <p:spPr>
          <a:xfrm xmlns:a="http://schemas.openxmlformats.org/drawingml/2006/main">
            <a:off x="6400800" y="2670048"/>
            <a:ext cx="5303520" cy="50292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3" name="Shape 18">
            <a:extLst xmlns:a="http://schemas.openxmlformats.org/drawingml/2006/main">
              <a:ext uri="{FF2B5EF4-FFF2-40B4-BE49-F238E27FC236}">
                <a16:creationId xmlns:a16="http://schemas.microsoft.com/office/drawing/2014/main" id="{2BC6DC84-8287-475D-B609-CD2C351D0F40}"/>
              </a:ext>
            </a:extLst>
          </p:cNvPr>
          <p:cNvSpPr>
            <a:spLocks xmlns:a="http://schemas.openxmlformats.org/drawingml/2006/main" noGrp="1"/>
          </p:cNvSpPr>
          <p:nvPr/>
        </p:nvSpPr>
        <p:spPr>
          <a:xfrm xmlns:a="http://schemas.openxmlformats.org/drawingml/2006/main">
            <a:off x="6492240" y="2807208"/>
            <a:ext cx="228600" cy="22860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24" name="Text 19">
            <a:extLst xmlns:a="http://schemas.openxmlformats.org/drawingml/2006/main">
              <a:ext uri="{FF2B5EF4-FFF2-40B4-BE49-F238E27FC236}">
                <a16:creationId xmlns:a16="http://schemas.microsoft.com/office/drawing/2014/main" id="{EC62DC2F-9177-427A-9576-84CE4A1114DB}"/>
              </a:ext>
            </a:extLst>
          </p:cNvPr>
          <p:cNvSpPr>
            <a:spLocks xmlns:a="http://schemas.openxmlformats.org/drawingml/2006/main" noGrp="1"/>
          </p:cNvSpPr>
          <p:nvPr/>
        </p:nvSpPr>
        <p:spPr>
          <a:xfrm xmlns:a="http://schemas.openxmlformats.org/drawingml/2006/main">
            <a:off x="6858000" y="2688336"/>
            <a:ext cx="2468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677"/>
                </a:solidFill>
                <a:latin typeface="Calibri"/>
                <a:ea typeface="Calibri"/>
                <a:cs typeface="Calibri"/>
              </a:rPr>
              <a:t>Microsoft 365</a:t>
            </a:r>
            <a:endParaRPr sz="1200"/>
          </a:p>
        </p:txBody>
      </p:sp>
      <p:sp>
        <p:nvSpPr>
          <p:cNvPr id="25" name="Text 20">
            <a:extLst xmlns:a="http://schemas.openxmlformats.org/drawingml/2006/main">
              <a:ext uri="{FF2B5EF4-FFF2-40B4-BE49-F238E27FC236}">
                <a16:creationId xmlns:a16="http://schemas.microsoft.com/office/drawing/2014/main" id="{A0E70431-0BEF-40F9-9285-ACDDB9171D9E}"/>
              </a:ext>
            </a:extLst>
          </p:cNvPr>
          <p:cNvSpPr>
            <a:spLocks xmlns:a="http://schemas.openxmlformats.org/drawingml/2006/main" noGrp="1"/>
          </p:cNvSpPr>
          <p:nvPr/>
        </p:nvSpPr>
        <p:spPr>
          <a:xfrm xmlns:a="http://schemas.openxmlformats.org/drawingml/2006/main">
            <a:off x="9326880" y="2688336"/>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1E293B"/>
                </a:solidFill>
                <a:latin typeface="Calibri"/>
                <a:ea typeface="Calibri"/>
                <a:cs typeface="Calibri"/>
              </a:rPr>
              <a:t>Outlook, Teams, OneDrive</a:t>
            </a:r>
            <a:endParaRPr sz="1000"/>
          </a:p>
        </p:txBody>
      </p:sp>
      <p:sp>
        <p:nvSpPr>
          <p:cNvPr id="26" name="Shape 21">
            <a:extLst xmlns:a="http://schemas.openxmlformats.org/drawingml/2006/main">
              <a:ext uri="{FF2B5EF4-FFF2-40B4-BE49-F238E27FC236}">
                <a16:creationId xmlns:a16="http://schemas.microsoft.com/office/drawing/2014/main" id="{1CFD1EDE-CD4C-4245-9A64-7B72D8645AFF}"/>
              </a:ext>
            </a:extLst>
          </p:cNvPr>
          <p:cNvSpPr>
            <a:spLocks xmlns:a="http://schemas.openxmlformats.org/drawingml/2006/main" noGrp="1"/>
          </p:cNvSpPr>
          <p:nvPr/>
        </p:nvSpPr>
        <p:spPr>
          <a:xfrm xmlns:a="http://schemas.openxmlformats.org/drawingml/2006/main">
            <a:off x="6400800" y="3236976"/>
            <a:ext cx="5303520" cy="50292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7" name="Shape 22">
            <a:extLst xmlns:a="http://schemas.openxmlformats.org/drawingml/2006/main">
              <a:ext uri="{FF2B5EF4-FFF2-40B4-BE49-F238E27FC236}">
                <a16:creationId xmlns:a16="http://schemas.microsoft.com/office/drawing/2014/main" id="{41D999FA-8690-4057-91E9-80857F51E564}"/>
              </a:ext>
            </a:extLst>
          </p:cNvPr>
          <p:cNvSpPr>
            <a:spLocks xmlns:a="http://schemas.openxmlformats.org/drawingml/2006/main" noGrp="1"/>
          </p:cNvSpPr>
          <p:nvPr/>
        </p:nvSpPr>
        <p:spPr>
          <a:xfrm xmlns:a="http://schemas.openxmlformats.org/drawingml/2006/main">
            <a:off x="6492240" y="3374136"/>
            <a:ext cx="228600" cy="22860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28" name="Text 23">
            <a:extLst xmlns:a="http://schemas.openxmlformats.org/drawingml/2006/main">
              <a:ext uri="{FF2B5EF4-FFF2-40B4-BE49-F238E27FC236}">
                <a16:creationId xmlns:a16="http://schemas.microsoft.com/office/drawing/2014/main" id="{B7212E24-BCCF-4C12-84E0-96EB981D37C3}"/>
              </a:ext>
            </a:extLst>
          </p:cNvPr>
          <p:cNvSpPr>
            <a:spLocks xmlns:a="http://schemas.openxmlformats.org/drawingml/2006/main" noGrp="1"/>
          </p:cNvSpPr>
          <p:nvPr/>
        </p:nvSpPr>
        <p:spPr>
          <a:xfrm xmlns:a="http://schemas.openxmlformats.org/drawingml/2006/main">
            <a:off x="6858000" y="3255264"/>
            <a:ext cx="2468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677"/>
                </a:solidFill>
                <a:latin typeface="Calibri"/>
                <a:ea typeface="Calibri"/>
                <a:cs typeface="Calibri"/>
              </a:rPr>
              <a:t>Notion, Figma</a:t>
            </a:r>
            <a:endParaRPr sz="1200"/>
          </a:p>
        </p:txBody>
      </p:sp>
      <p:sp>
        <p:nvSpPr>
          <p:cNvPr id="29" name="Text 24">
            <a:extLst xmlns:a="http://schemas.openxmlformats.org/drawingml/2006/main">
              <a:ext uri="{FF2B5EF4-FFF2-40B4-BE49-F238E27FC236}">
                <a16:creationId xmlns:a16="http://schemas.microsoft.com/office/drawing/2014/main" id="{5E5593E4-AEBB-4FDF-9451-7B4341EF139C}"/>
              </a:ext>
            </a:extLst>
          </p:cNvPr>
          <p:cNvSpPr>
            <a:spLocks xmlns:a="http://schemas.openxmlformats.org/drawingml/2006/main" noGrp="1"/>
          </p:cNvSpPr>
          <p:nvPr/>
        </p:nvSpPr>
        <p:spPr>
          <a:xfrm xmlns:a="http://schemas.openxmlformats.org/drawingml/2006/main">
            <a:off x="9326880" y="3255264"/>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1E293B"/>
                </a:solidFill>
                <a:latin typeface="Calibri"/>
                <a:ea typeface="Calibri"/>
                <a:cs typeface="Calibri"/>
              </a:rPr>
              <a:t>Productivity &amp; desain kolaboratif</a:t>
            </a:r>
            <a:endParaRPr sz="1000"/>
          </a:p>
        </p:txBody>
      </p:sp>
      <p:sp>
        <p:nvSpPr>
          <p:cNvPr id="30" name="Shape 25">
            <a:extLst xmlns:a="http://schemas.openxmlformats.org/drawingml/2006/main">
              <a:ext uri="{FF2B5EF4-FFF2-40B4-BE49-F238E27FC236}">
                <a16:creationId xmlns:a16="http://schemas.microsoft.com/office/drawing/2014/main" id="{E297F903-C10D-4478-84C5-82C2AFB1ADA8}"/>
              </a:ext>
            </a:extLst>
          </p:cNvPr>
          <p:cNvSpPr>
            <a:spLocks xmlns:a="http://schemas.openxmlformats.org/drawingml/2006/main" noGrp="1"/>
          </p:cNvSpPr>
          <p:nvPr/>
        </p:nvSpPr>
        <p:spPr>
          <a:xfrm xmlns:a="http://schemas.openxmlformats.org/drawingml/2006/main">
            <a:off x="6400800" y="3803904"/>
            <a:ext cx="5303520" cy="50292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1" name="Shape 26">
            <a:extLst xmlns:a="http://schemas.openxmlformats.org/drawingml/2006/main">
              <a:ext uri="{FF2B5EF4-FFF2-40B4-BE49-F238E27FC236}">
                <a16:creationId xmlns:a16="http://schemas.microsoft.com/office/drawing/2014/main" id="{F1F78540-620C-4ED5-9B6D-330541473405}"/>
              </a:ext>
            </a:extLst>
          </p:cNvPr>
          <p:cNvSpPr>
            <a:spLocks xmlns:a="http://schemas.openxmlformats.org/drawingml/2006/main" noGrp="1"/>
          </p:cNvSpPr>
          <p:nvPr/>
        </p:nvSpPr>
        <p:spPr>
          <a:xfrm xmlns:a="http://schemas.openxmlformats.org/drawingml/2006/main">
            <a:off x="6492240" y="3941064"/>
            <a:ext cx="228600" cy="22860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32" name="Text 27">
            <a:extLst xmlns:a="http://schemas.openxmlformats.org/drawingml/2006/main">
              <a:ext uri="{FF2B5EF4-FFF2-40B4-BE49-F238E27FC236}">
                <a16:creationId xmlns:a16="http://schemas.microsoft.com/office/drawing/2014/main" id="{18A43E83-7219-4E51-929F-8E589F7522CB}"/>
              </a:ext>
            </a:extLst>
          </p:cNvPr>
          <p:cNvSpPr>
            <a:spLocks xmlns:a="http://schemas.openxmlformats.org/drawingml/2006/main" noGrp="1"/>
          </p:cNvSpPr>
          <p:nvPr/>
        </p:nvSpPr>
        <p:spPr>
          <a:xfrm xmlns:a="http://schemas.openxmlformats.org/drawingml/2006/main">
            <a:off x="6858000" y="3822192"/>
            <a:ext cx="2468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677"/>
                </a:solidFill>
                <a:latin typeface="Calibri"/>
                <a:ea typeface="Calibri"/>
                <a:cs typeface="Calibri"/>
              </a:rPr>
              <a:t>Salesforce, HubSpot</a:t>
            </a:r>
            <a:endParaRPr sz="1200"/>
          </a:p>
        </p:txBody>
      </p:sp>
      <p:sp>
        <p:nvSpPr>
          <p:cNvPr id="33" name="Text 28">
            <a:extLst xmlns:a="http://schemas.openxmlformats.org/drawingml/2006/main">
              <a:ext uri="{FF2B5EF4-FFF2-40B4-BE49-F238E27FC236}">
                <a16:creationId xmlns:a16="http://schemas.microsoft.com/office/drawing/2014/main" id="{57E57219-7A2C-451E-B01A-207157206C7E}"/>
              </a:ext>
            </a:extLst>
          </p:cNvPr>
          <p:cNvSpPr>
            <a:spLocks xmlns:a="http://schemas.openxmlformats.org/drawingml/2006/main" noGrp="1"/>
          </p:cNvSpPr>
          <p:nvPr/>
        </p:nvSpPr>
        <p:spPr>
          <a:xfrm xmlns:a="http://schemas.openxmlformats.org/drawingml/2006/main">
            <a:off x="9326880" y="3822192"/>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1E293B"/>
                </a:solidFill>
                <a:latin typeface="Calibri"/>
                <a:ea typeface="Calibri"/>
                <a:cs typeface="Calibri"/>
              </a:rPr>
              <a:t>CRM enterprise</a:t>
            </a:r>
            <a:endParaRPr sz="1000"/>
          </a:p>
        </p:txBody>
      </p:sp>
      <p:sp>
        <p:nvSpPr>
          <p:cNvPr id="34" name="Shape 29">
            <a:extLst xmlns:a="http://schemas.openxmlformats.org/drawingml/2006/main">
              <a:ext uri="{FF2B5EF4-FFF2-40B4-BE49-F238E27FC236}">
                <a16:creationId xmlns:a16="http://schemas.microsoft.com/office/drawing/2014/main" id="{BDF31E6C-F817-476F-9629-BB953E967CB3}"/>
              </a:ext>
            </a:extLst>
          </p:cNvPr>
          <p:cNvSpPr>
            <a:spLocks xmlns:a="http://schemas.openxmlformats.org/drawingml/2006/main" noGrp="1"/>
          </p:cNvSpPr>
          <p:nvPr/>
        </p:nvSpPr>
        <p:spPr>
          <a:xfrm xmlns:a="http://schemas.openxmlformats.org/drawingml/2006/main">
            <a:off x="6400800" y="4370832"/>
            <a:ext cx="5303520" cy="50292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5" name="Shape 30">
            <a:extLst xmlns:a="http://schemas.openxmlformats.org/drawingml/2006/main">
              <a:ext uri="{FF2B5EF4-FFF2-40B4-BE49-F238E27FC236}">
                <a16:creationId xmlns:a16="http://schemas.microsoft.com/office/drawing/2014/main" id="{A6632564-62BB-4064-810F-AC2650332F0F}"/>
              </a:ext>
            </a:extLst>
          </p:cNvPr>
          <p:cNvSpPr>
            <a:spLocks xmlns:a="http://schemas.openxmlformats.org/drawingml/2006/main" noGrp="1"/>
          </p:cNvSpPr>
          <p:nvPr/>
        </p:nvSpPr>
        <p:spPr>
          <a:xfrm xmlns:a="http://schemas.openxmlformats.org/drawingml/2006/main">
            <a:off x="6492240" y="4507992"/>
            <a:ext cx="228600" cy="22860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36" name="Text 31">
            <a:extLst xmlns:a="http://schemas.openxmlformats.org/drawingml/2006/main">
              <a:ext uri="{FF2B5EF4-FFF2-40B4-BE49-F238E27FC236}">
                <a16:creationId xmlns:a16="http://schemas.microsoft.com/office/drawing/2014/main" id="{BA1FCEBC-AD3D-41F2-9327-4BF259CC3A56}"/>
              </a:ext>
            </a:extLst>
          </p:cNvPr>
          <p:cNvSpPr>
            <a:spLocks xmlns:a="http://schemas.openxmlformats.org/drawingml/2006/main" noGrp="1"/>
          </p:cNvSpPr>
          <p:nvPr/>
        </p:nvSpPr>
        <p:spPr>
          <a:xfrm xmlns:a="http://schemas.openxmlformats.org/drawingml/2006/main">
            <a:off x="6858000" y="4389120"/>
            <a:ext cx="2468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677"/>
                </a:solidFill>
                <a:latin typeface="Calibri"/>
                <a:ea typeface="Calibri"/>
                <a:cs typeface="Calibri"/>
              </a:rPr>
              <a:t>ChatGPT, Claude</a:t>
            </a:r>
            <a:endParaRPr sz="1200"/>
          </a:p>
        </p:txBody>
      </p:sp>
      <p:sp>
        <p:nvSpPr>
          <p:cNvPr id="37" name="Text 32">
            <a:extLst xmlns:a="http://schemas.openxmlformats.org/drawingml/2006/main">
              <a:ext uri="{FF2B5EF4-FFF2-40B4-BE49-F238E27FC236}">
                <a16:creationId xmlns:a16="http://schemas.microsoft.com/office/drawing/2014/main" id="{178C641C-F2C9-49C2-9313-80CF48ACB0D7}"/>
              </a:ext>
            </a:extLst>
          </p:cNvPr>
          <p:cNvSpPr>
            <a:spLocks xmlns:a="http://schemas.openxmlformats.org/drawingml/2006/main" noGrp="1"/>
          </p:cNvSpPr>
          <p:nvPr/>
        </p:nvSpPr>
        <p:spPr>
          <a:xfrm xmlns:a="http://schemas.openxmlformats.org/drawingml/2006/main">
            <a:off x="9326880" y="4389120"/>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1E293B"/>
                </a:solidFill>
                <a:latin typeface="Calibri"/>
                <a:ea typeface="Calibri"/>
                <a:cs typeface="Calibri"/>
              </a:rPr>
              <a:t>AI assistant berbasis subscription</a:t>
            </a:r>
            <a:endParaRPr sz="1000"/>
          </a:p>
        </p:txBody>
      </p:sp>
      <p:sp>
        <p:nvSpPr>
          <p:cNvPr id="38" name="Text 33">
            <a:extLst xmlns:a="http://schemas.openxmlformats.org/drawingml/2006/main">
              <a:ext uri="{FF2B5EF4-FFF2-40B4-BE49-F238E27FC236}">
                <a16:creationId xmlns:a16="http://schemas.microsoft.com/office/drawing/2014/main" id="{1B9B1B35-D09B-4356-A6F0-C1D486432AB0}"/>
              </a:ext>
            </a:extLst>
          </p:cNvPr>
          <p:cNvSpPr>
            <a:spLocks xmlns:a="http://schemas.openxmlformats.org/drawingml/2006/main" noGrp="1"/>
          </p:cNvSpPr>
          <p:nvPr/>
        </p:nvSpPr>
        <p:spPr>
          <a:xfrm xmlns:a="http://schemas.openxmlformats.org/drawingml/2006/main">
            <a:off x="6400800" y="5029200"/>
            <a:ext cx="530352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i="1">
                <a:solidFill>
                  <a:srgbClr val="64748B"/>
                </a:solidFill>
                <a:latin typeface="Calibri"/>
                <a:ea typeface="Calibri"/>
                <a:cs typeface="Calibri"/>
              </a:rPr>
              <a:t>SaaS adalah layanan cloud yang langsung dipakai pengguna akhir.</a:t>
            </a:r>
            <a:endParaRPr sz="1100"/>
          </a:p>
        </p:txBody>
      </p:sp>
    </p:spTree>
    <p:extLst>
      <p:ext uri="{BB962C8B-B14F-4D97-AF65-F5344CB8AC3E}">
        <p14:creationId xmlns:p14="http://schemas.microsoft.com/office/powerpoint/2010/main" val="163717293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06A81F8-96CE-4C05-890D-C944E71CD7E4}"/>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B3D7DC81-20ED-4B70-BAEF-8E50127D0257}"/>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16</a:t>
            </a:r>
            <a:endParaRPr sz="900"/>
          </a:p>
        </p:txBody>
      </p:sp>
      <p:sp>
        <p:nvSpPr>
          <p:cNvPr id="4" name="Shape 2">
            <a:extLst xmlns:a="http://schemas.openxmlformats.org/drawingml/2006/main">
              <a:ext uri="{FF2B5EF4-FFF2-40B4-BE49-F238E27FC236}">
                <a16:creationId xmlns:a16="http://schemas.microsoft.com/office/drawing/2014/main" id="{C5C9BC9A-FAC7-4126-AE9D-3FB61A88C4F3}"/>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2fa011bd752445e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6" name="Image 1"/>
          <p:cNvPicPr>
            <a:picLocks xmlns:a="http://schemas.openxmlformats.org/drawingml/2006/main" noChangeAspect="1"/>
          </p:cNvPicPr>
          <p:nvPr/>
        </p:nvPicPr>
        <p:blipFill>
          <a:blip xmlns:r="http://schemas.openxmlformats.org/officeDocument/2006/relationships" xmlns:a="http://schemas.openxmlformats.org/drawingml/2006/main" r:embed="Rccd96419d8ce426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8F1FD6C4-EC88-4FD2-982B-5C0220826AE1}"/>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09B0238F-732C-4DA1-A387-695998FF5C6B}"/>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BaaS - Backend as a Service</a:t>
            </a:r>
            <a:endParaRPr sz="2200"/>
          </a:p>
        </p:txBody>
      </p:sp>
      <p:sp>
        <p:nvSpPr>
          <p:cNvPr id="9" name="Text 5">
            <a:extLst xmlns:a="http://schemas.openxmlformats.org/drawingml/2006/main">
              <a:ext uri="{FF2B5EF4-FFF2-40B4-BE49-F238E27FC236}">
                <a16:creationId xmlns:a16="http://schemas.microsoft.com/office/drawing/2014/main" id="{339E7507-6B2F-4077-9C38-2B4BCDD2BD6E}"/>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Database + Auth + Storage dalam Satu Paket</a:t>
            </a:r>
            <a:endParaRPr sz="1200"/>
          </a:p>
        </p:txBody>
      </p:sp>
      <p:sp>
        <p:nvSpPr>
          <p:cNvPr id="10" name="Shape 6">
            <a:extLst xmlns:a="http://schemas.openxmlformats.org/drawingml/2006/main">
              <a:ext uri="{FF2B5EF4-FFF2-40B4-BE49-F238E27FC236}">
                <a16:creationId xmlns:a16="http://schemas.microsoft.com/office/drawing/2014/main" id="{2C96B134-5257-427C-902E-776F96D96212}"/>
              </a:ext>
            </a:extLst>
          </p:cNvPr>
          <p:cNvSpPr>
            <a:spLocks xmlns:a="http://schemas.openxmlformats.org/drawingml/2006/main" noGrp="1"/>
          </p:cNvSpPr>
          <p:nvPr/>
        </p:nvSpPr>
        <p:spPr>
          <a:xfrm xmlns:a="http://schemas.openxmlformats.org/drawingml/2006/main">
            <a:off x="457200" y="1691640"/>
            <a:ext cx="56692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41" name="Image 2"/>
          <p:cNvPicPr>
            <a:picLocks xmlns:a="http://schemas.openxmlformats.org/drawingml/2006/main" noChangeAspect="1"/>
          </p:cNvPicPr>
          <p:nvPr/>
        </p:nvPicPr>
        <p:blipFill>
          <a:blip xmlns:r="http://schemas.openxmlformats.org/officeDocument/2006/relationships" xmlns:a="http://schemas.openxmlformats.org/drawingml/2006/main" r:embed="R766a4599809d413b"/>
          <a:stretch xmlns:a="http://schemas.openxmlformats.org/drawingml/2006/main">
            <a:fillRect l="0" t="0" r="0" b="0"/>
          </a:stretch>
        </p:blipFill>
        <p:spPr>
          <a:xfrm xmlns:a="http://schemas.openxmlformats.org/drawingml/2006/main">
            <a:off x="731520" y="1920240"/>
            <a:ext cx="640080" cy="64008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7B89F731-B3CB-4EAE-A7D7-FE26EABC14CC}"/>
              </a:ext>
            </a:extLst>
          </p:cNvPr>
          <p:cNvSpPr>
            <a:spLocks xmlns:a="http://schemas.openxmlformats.org/drawingml/2006/main" noGrp="1"/>
          </p:cNvSpPr>
          <p:nvPr/>
        </p:nvSpPr>
        <p:spPr>
          <a:xfrm xmlns:a="http://schemas.openxmlformats.org/drawingml/2006/main">
            <a:off x="1554480" y="1920240"/>
            <a:ext cx="4114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Apa yang Anda dapat?</a:t>
            </a:r>
            <a:endParaRPr sz="1600"/>
          </a:p>
        </p:txBody>
      </p:sp>
      <p:sp>
        <p:nvSpPr>
          <p:cNvPr id="13" name="Text 8">
            <a:extLst xmlns:a="http://schemas.openxmlformats.org/drawingml/2006/main">
              <a:ext uri="{FF2B5EF4-FFF2-40B4-BE49-F238E27FC236}">
                <a16:creationId xmlns:a16="http://schemas.microsoft.com/office/drawing/2014/main" id="{11C9E2BA-E23B-4F02-B50C-8693C597F236}"/>
              </a:ext>
            </a:extLst>
          </p:cNvPr>
          <p:cNvSpPr>
            <a:spLocks xmlns:a="http://schemas.openxmlformats.org/drawingml/2006/main" noGrp="1"/>
          </p:cNvSpPr>
          <p:nvPr/>
        </p:nvSpPr>
        <p:spPr>
          <a:xfrm xmlns:a="http://schemas.openxmlformats.org/drawingml/2006/main">
            <a:off x="731520" y="2651760"/>
            <a:ext cx="5120640"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1E293B"/>
                </a:solidFill>
                <a:latin typeface="Calibri"/>
                <a:ea typeface="Calibri"/>
                <a:cs typeface="Calibri"/>
              </a:rPr>
              <a:t>Backend lengkap - DB, autentikasi, file storage, realtime, REST/GraphQL API - tanpa nulis server code.</a:t>
            </a:r>
            <a:endParaRPr sz="1300"/>
          </a:p>
        </p:txBody>
      </p:sp>
      <p:sp>
        <p:nvSpPr>
          <p:cNvPr id="14" name="Shape 9">
            <a:extLst xmlns:a="http://schemas.openxmlformats.org/drawingml/2006/main">
              <a:ext uri="{FF2B5EF4-FFF2-40B4-BE49-F238E27FC236}">
                <a16:creationId xmlns:a16="http://schemas.microsoft.com/office/drawing/2014/main" id="{323E529E-56B3-4E64-94F5-241FF127BD18}"/>
              </a:ext>
            </a:extLst>
          </p:cNvPr>
          <p:cNvSpPr>
            <a:spLocks xmlns:a="http://schemas.openxmlformats.org/drawingml/2006/main" noGrp="1"/>
          </p:cNvSpPr>
          <p:nvPr/>
        </p:nvSpPr>
        <p:spPr>
          <a:xfrm xmlns:a="http://schemas.openxmlformats.org/drawingml/2006/main">
            <a:off x="731520" y="3611880"/>
            <a:ext cx="512064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15" name="Text 10">
            <a:extLst xmlns:a="http://schemas.openxmlformats.org/drawingml/2006/main">
              <a:ext uri="{FF2B5EF4-FFF2-40B4-BE49-F238E27FC236}">
                <a16:creationId xmlns:a16="http://schemas.microsoft.com/office/drawing/2014/main" id="{59178C54-FE9D-4B25-860C-6B175C5A095A}"/>
              </a:ext>
            </a:extLst>
          </p:cNvPr>
          <p:cNvSpPr>
            <a:spLocks xmlns:a="http://schemas.openxmlformats.org/drawingml/2006/main" noGrp="1"/>
          </p:cNvSpPr>
          <p:nvPr/>
        </p:nvSpPr>
        <p:spPr>
          <a:xfrm xmlns:a="http://schemas.openxmlformats.org/drawingml/2006/main">
            <a:off x="731520" y="3703320"/>
            <a:ext cx="51206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64748B"/>
                </a:solidFill>
                <a:latin typeface="Calibri"/>
                <a:ea typeface="Calibri"/>
                <a:cs typeface="Calibri"/>
              </a:rPr>
              <a:t>Yang sudah disediakan:</a:t>
            </a:r>
            <a:endParaRPr sz="1300"/>
          </a:p>
        </p:txBody>
      </p:sp>
      <p:sp>
        <p:nvSpPr>
          <p:cNvPr id="16" name="Text 11">
            <a:extLst xmlns:a="http://schemas.openxmlformats.org/drawingml/2006/main">
              <a:ext uri="{FF2B5EF4-FFF2-40B4-BE49-F238E27FC236}">
                <a16:creationId xmlns:a16="http://schemas.microsoft.com/office/drawing/2014/main" id="{D9D05C21-EADC-473E-8BFC-505728A3B276}"/>
              </a:ext>
            </a:extLst>
          </p:cNvPr>
          <p:cNvSpPr>
            <a:spLocks xmlns:a="http://schemas.openxmlformats.org/drawingml/2006/main" noGrp="1"/>
          </p:cNvSpPr>
          <p:nvPr/>
        </p:nvSpPr>
        <p:spPr>
          <a:xfrm xmlns:a="http://schemas.openxmlformats.org/drawingml/2006/main">
            <a:off x="914400" y="4069080"/>
            <a:ext cx="493776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200"/>
              </a:spcAft>
              <a:buSzPct val="100000"/>
              <a:buChar char="▸"/>
            </a:pPr>
            <a:r>
              <a:rPr sz="1100">
                <a:solidFill>
                  <a:srgbClr val="1E293B"/>
                </a:solidFill>
                <a:latin typeface="Calibri"/>
                <a:ea typeface="Calibri"/>
                <a:cs typeface="Calibri"/>
              </a:rPr>
              <a:t>Database (Postgres / NoSQL) + auto-generated API</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User authentication (email, OAuth, magic link)</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File storage (mirip S3)</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Realtime channel (websocket)</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Edge functions untuk logic ringan</a:t>
            </a:r>
            <a:endParaRPr sz="1100"/>
          </a:p>
        </p:txBody>
      </p:sp>
      <p:sp>
        <p:nvSpPr>
          <p:cNvPr id="17" name="Shape 12">
            <a:extLst xmlns:a="http://schemas.openxmlformats.org/drawingml/2006/main">
              <a:ext uri="{FF2B5EF4-FFF2-40B4-BE49-F238E27FC236}">
                <a16:creationId xmlns:a16="http://schemas.microsoft.com/office/drawing/2014/main" id="{AE8E65B6-DAAC-4957-8BE8-365F093BDA6D}"/>
              </a:ext>
            </a:extLst>
          </p:cNvPr>
          <p:cNvSpPr>
            <a:spLocks xmlns:a="http://schemas.openxmlformats.org/drawingml/2006/main" noGrp="1"/>
          </p:cNvSpPr>
          <p:nvPr/>
        </p:nvSpPr>
        <p:spPr>
          <a:xfrm xmlns:a="http://schemas.openxmlformats.org/drawingml/2006/main">
            <a:off x="6400800" y="1691640"/>
            <a:ext cx="5303520" cy="2194560"/>
          </a:xfrm>
          <a:prstGeom xmlns:a="http://schemas.openxmlformats.org/drawingml/2006/main" prst="rect">
            <a:avLst/>
          </a:prstGeom>
          <a:solidFill xmlns:a="http://schemas.openxmlformats.org/drawingml/2006/main">
            <a:srgbClr val="FFFFFF"/>
          </a:solidFill>
          <a:ln xmlns:a="http://schemas.openxmlformats.org/drawingml/2006/main" w="25400">
            <a:solidFill>
              <a:srgbClr val="3ECF8E"/>
            </a:solidFill>
            <a:prstDash val="solid"/>
          </a:ln>
        </p:spPr>
      </p:sp>
      <p:pic>
        <p:nvPicPr>
          <p:cNvPr id="48" name="Image 3"/>
          <p:cNvPicPr>
            <a:picLocks xmlns:a="http://schemas.openxmlformats.org/drawingml/2006/main" noChangeAspect="1"/>
          </p:cNvPicPr>
          <p:nvPr/>
        </p:nvPicPr>
        <p:blipFill>
          <a:blip xmlns:r="http://schemas.openxmlformats.org/officeDocument/2006/relationships" xmlns:a="http://schemas.openxmlformats.org/drawingml/2006/main" r:embed="Ree55bf67845c46df"/>
          <a:stretch xmlns:a="http://schemas.openxmlformats.org/drawingml/2006/main">
            <a:fillRect l="0" t="0" r="0" b="0"/>
          </a:stretch>
        </p:blipFill>
        <p:spPr>
          <a:xfrm xmlns:a="http://schemas.openxmlformats.org/drawingml/2006/main">
            <a:off x="6583680" y="1874520"/>
            <a:ext cx="640080" cy="640080"/>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A79467B2-C676-4EB9-850E-63B0DA38FC0E}"/>
              </a:ext>
            </a:extLst>
          </p:cNvPr>
          <p:cNvSpPr>
            <a:spLocks xmlns:a="http://schemas.openxmlformats.org/drawingml/2006/main" noGrp="1"/>
          </p:cNvSpPr>
          <p:nvPr/>
        </p:nvSpPr>
        <p:spPr>
          <a:xfrm xmlns:a="http://schemas.openxmlformats.org/drawingml/2006/main">
            <a:off x="7315200" y="1874520"/>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002677"/>
                </a:solidFill>
                <a:latin typeface="Calibri"/>
                <a:ea typeface="Calibri"/>
                <a:cs typeface="Calibri"/>
              </a:rPr>
              <a:t>Supabase</a:t>
            </a:r>
            <a:endParaRPr sz="2000"/>
          </a:p>
        </p:txBody>
      </p:sp>
      <p:sp>
        <p:nvSpPr>
          <p:cNvPr id="20" name="Text 14">
            <a:extLst xmlns:a="http://schemas.openxmlformats.org/drawingml/2006/main">
              <a:ext uri="{FF2B5EF4-FFF2-40B4-BE49-F238E27FC236}">
                <a16:creationId xmlns:a16="http://schemas.microsoft.com/office/drawing/2014/main" id="{B5374110-2D9A-4C57-95D8-13286FF98D30}"/>
              </a:ext>
            </a:extLst>
          </p:cNvPr>
          <p:cNvSpPr>
            <a:spLocks xmlns:a="http://schemas.openxmlformats.org/drawingml/2006/main" noGrp="1"/>
          </p:cNvSpPr>
          <p:nvPr/>
        </p:nvSpPr>
        <p:spPr>
          <a:xfrm xmlns:a="http://schemas.openxmlformats.org/drawingml/2006/main">
            <a:off x="7315200" y="2331720"/>
            <a:ext cx="4297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200">
                <a:solidFill>
                  <a:srgbClr val="F37021"/>
                </a:solidFill>
                <a:latin typeface="Calibri"/>
                <a:ea typeface="Calibri"/>
                <a:cs typeface="Calibri"/>
              </a:rPr>
              <a:t>BAGIAN PRAKTIKUM KITA</a:t>
            </a:r>
            <a:endParaRPr sz="900"/>
          </a:p>
        </p:txBody>
      </p:sp>
      <p:sp>
        <p:nvSpPr>
          <p:cNvPr id="21" name="Text 15">
            <a:extLst xmlns:a="http://schemas.openxmlformats.org/drawingml/2006/main">
              <a:ext uri="{FF2B5EF4-FFF2-40B4-BE49-F238E27FC236}">
                <a16:creationId xmlns:a16="http://schemas.microsoft.com/office/drawing/2014/main" id="{5076F667-60F1-4425-B423-C8331982B543}"/>
              </a:ext>
            </a:extLst>
          </p:cNvPr>
          <p:cNvSpPr>
            <a:spLocks xmlns:a="http://schemas.openxmlformats.org/drawingml/2006/main" noGrp="1"/>
          </p:cNvSpPr>
          <p:nvPr/>
        </p:nvSpPr>
        <p:spPr>
          <a:xfrm xmlns:a="http://schemas.openxmlformats.org/drawingml/2006/main">
            <a:off x="6583680" y="2697480"/>
            <a:ext cx="502920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Open-source Firebase alternative. PostgreSQL + Row-Level Security + Auth + Storage + Realtime. Integrasi smooth dengan Next.js &amp; Vercel.</a:t>
            </a:r>
            <a:endParaRPr sz="1100"/>
          </a:p>
        </p:txBody>
      </p:sp>
      <p:sp>
        <p:nvSpPr>
          <p:cNvPr id="22" name="Shape 16">
            <a:extLst xmlns:a="http://schemas.openxmlformats.org/drawingml/2006/main">
              <a:ext uri="{FF2B5EF4-FFF2-40B4-BE49-F238E27FC236}">
                <a16:creationId xmlns:a16="http://schemas.microsoft.com/office/drawing/2014/main" id="{BA9485E3-59C1-4839-BF20-5329EB5030D0}"/>
              </a:ext>
            </a:extLst>
          </p:cNvPr>
          <p:cNvSpPr>
            <a:spLocks xmlns:a="http://schemas.openxmlformats.org/drawingml/2006/main" noGrp="1"/>
          </p:cNvSpPr>
          <p:nvPr/>
        </p:nvSpPr>
        <p:spPr>
          <a:xfrm xmlns:a="http://schemas.openxmlformats.org/drawingml/2006/main">
            <a:off x="6400800" y="4069080"/>
            <a:ext cx="2560320" cy="21031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Text 17">
            <a:extLst xmlns:a="http://schemas.openxmlformats.org/drawingml/2006/main">
              <a:ext uri="{FF2B5EF4-FFF2-40B4-BE49-F238E27FC236}">
                <a16:creationId xmlns:a16="http://schemas.microsoft.com/office/drawing/2014/main" id="{0E341B28-EF1F-4D53-9996-D14051BD55A5}"/>
              </a:ext>
            </a:extLst>
          </p:cNvPr>
          <p:cNvSpPr>
            <a:spLocks xmlns:a="http://schemas.openxmlformats.org/drawingml/2006/main" noGrp="1"/>
          </p:cNvSpPr>
          <p:nvPr/>
        </p:nvSpPr>
        <p:spPr>
          <a:xfrm xmlns:a="http://schemas.openxmlformats.org/drawingml/2006/main">
            <a:off x="6537960" y="4206240"/>
            <a:ext cx="22860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Firebase</a:t>
            </a:r>
            <a:endParaRPr sz="1400"/>
          </a:p>
        </p:txBody>
      </p:sp>
      <p:sp>
        <p:nvSpPr>
          <p:cNvPr id="24" name="Text 18">
            <a:extLst xmlns:a="http://schemas.openxmlformats.org/drawingml/2006/main">
              <a:ext uri="{FF2B5EF4-FFF2-40B4-BE49-F238E27FC236}">
                <a16:creationId xmlns:a16="http://schemas.microsoft.com/office/drawing/2014/main" id="{0A617BF2-5CDC-4B36-ABCA-0CD0722206FF}"/>
              </a:ext>
            </a:extLst>
          </p:cNvPr>
          <p:cNvSpPr>
            <a:spLocks xmlns:a="http://schemas.openxmlformats.org/drawingml/2006/main" noGrp="1"/>
          </p:cNvSpPr>
          <p:nvPr/>
        </p:nvSpPr>
        <p:spPr>
          <a:xfrm xmlns:a="http://schemas.openxmlformats.org/drawingml/2006/main">
            <a:off x="6537960" y="4526280"/>
            <a:ext cx="2286000" cy="1554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Google. NoSQL Firestore + Auth. Pioneer di kategori ini.</a:t>
            </a:r>
            <a:endParaRPr sz="1000"/>
          </a:p>
        </p:txBody>
      </p:sp>
      <p:sp>
        <p:nvSpPr>
          <p:cNvPr id="25" name="Shape 19">
            <a:extLst xmlns:a="http://schemas.openxmlformats.org/drawingml/2006/main">
              <a:ext uri="{FF2B5EF4-FFF2-40B4-BE49-F238E27FC236}">
                <a16:creationId xmlns:a16="http://schemas.microsoft.com/office/drawing/2014/main" id="{B3B1B64D-6BF7-4468-B40C-099701FFB712}"/>
              </a:ext>
            </a:extLst>
          </p:cNvPr>
          <p:cNvSpPr>
            <a:spLocks xmlns:a="http://schemas.openxmlformats.org/drawingml/2006/main" noGrp="1"/>
          </p:cNvSpPr>
          <p:nvPr/>
        </p:nvSpPr>
        <p:spPr>
          <a:xfrm xmlns:a="http://schemas.openxmlformats.org/drawingml/2006/main">
            <a:off x="9144000" y="4069080"/>
            <a:ext cx="2560320" cy="21031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6" name="Text 20">
            <a:extLst xmlns:a="http://schemas.openxmlformats.org/drawingml/2006/main">
              <a:ext uri="{FF2B5EF4-FFF2-40B4-BE49-F238E27FC236}">
                <a16:creationId xmlns:a16="http://schemas.microsoft.com/office/drawing/2014/main" id="{B087D084-65E7-4335-92DB-FBF54F2086C7}"/>
              </a:ext>
            </a:extLst>
          </p:cNvPr>
          <p:cNvSpPr>
            <a:spLocks xmlns:a="http://schemas.openxmlformats.org/drawingml/2006/main" noGrp="1"/>
          </p:cNvSpPr>
          <p:nvPr/>
        </p:nvSpPr>
        <p:spPr>
          <a:xfrm xmlns:a="http://schemas.openxmlformats.org/drawingml/2006/main">
            <a:off x="9281160" y="4206240"/>
            <a:ext cx="22860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Appwrite</a:t>
            </a:r>
            <a:endParaRPr sz="1400"/>
          </a:p>
        </p:txBody>
      </p:sp>
      <p:sp>
        <p:nvSpPr>
          <p:cNvPr id="27" name="Text 21">
            <a:extLst xmlns:a="http://schemas.openxmlformats.org/drawingml/2006/main">
              <a:ext uri="{FF2B5EF4-FFF2-40B4-BE49-F238E27FC236}">
                <a16:creationId xmlns:a16="http://schemas.microsoft.com/office/drawing/2014/main" id="{9AF0F23F-DA0F-4249-A204-01FF7FCECF04}"/>
              </a:ext>
            </a:extLst>
          </p:cNvPr>
          <p:cNvSpPr>
            <a:spLocks xmlns:a="http://schemas.openxmlformats.org/drawingml/2006/main" noGrp="1"/>
          </p:cNvSpPr>
          <p:nvPr/>
        </p:nvSpPr>
        <p:spPr>
          <a:xfrm xmlns:a="http://schemas.openxmlformats.org/drawingml/2006/main">
            <a:off x="9281160" y="4526280"/>
            <a:ext cx="2286000" cy="1554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Open-source self-hostable. Mirip Firebase, bisa di-deploy di home server.</a:t>
            </a:r>
            <a:endParaRPr sz="1000"/>
          </a:p>
        </p:txBody>
      </p:sp>
    </p:spTree>
    <p:extLst>
      <p:ext uri="{BB962C8B-B14F-4D97-AF65-F5344CB8AC3E}">
        <p14:creationId xmlns:p14="http://schemas.microsoft.com/office/powerpoint/2010/main" val="57327478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5CCCFE-E1BE-4F64-91BE-194B26010B4B}"/>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42D93C32-DCA1-4BEF-9D34-481C38F74471}"/>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17</a:t>
            </a:r>
            <a:endParaRPr sz="900"/>
          </a:p>
        </p:txBody>
      </p:sp>
      <p:sp>
        <p:nvSpPr>
          <p:cNvPr id="4" name="Shape 2">
            <a:extLst xmlns:a="http://schemas.openxmlformats.org/drawingml/2006/main">
              <a:ext uri="{FF2B5EF4-FFF2-40B4-BE49-F238E27FC236}">
                <a16:creationId xmlns:a16="http://schemas.microsoft.com/office/drawing/2014/main" id="{ACB8C8E4-64B5-4A5C-8EC3-CF2AAE58118B}"/>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e98d4838856b4f10"/>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6" name="Image 1"/>
          <p:cNvPicPr>
            <a:picLocks xmlns:a="http://schemas.openxmlformats.org/drawingml/2006/main" noChangeAspect="1"/>
          </p:cNvPicPr>
          <p:nvPr/>
        </p:nvPicPr>
        <p:blipFill>
          <a:blip xmlns:r="http://schemas.openxmlformats.org/officeDocument/2006/relationships" xmlns:a="http://schemas.openxmlformats.org/drawingml/2006/main" r:embed="R0bb8a54693194073"/>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7D935504-BDCA-41C1-AB4F-AFD9A8AE2781}"/>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BBE020B6-A981-48DF-8A86-F4F8B803A9CE}"/>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FaaS - Function as a Service (Serverless)</a:t>
            </a:r>
            <a:endParaRPr sz="2200"/>
          </a:p>
        </p:txBody>
      </p:sp>
      <p:sp>
        <p:nvSpPr>
          <p:cNvPr id="9" name="Text 5">
            <a:extLst xmlns:a="http://schemas.openxmlformats.org/drawingml/2006/main">
              <a:ext uri="{FF2B5EF4-FFF2-40B4-BE49-F238E27FC236}">
                <a16:creationId xmlns:a16="http://schemas.microsoft.com/office/drawing/2014/main" id="{9B3FDBA7-C1C7-4B55-B403-FF14BCD70AD8}"/>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Bayar Per Eksekusi, Bukan Per Jam</a:t>
            </a:r>
            <a:endParaRPr sz="1200"/>
          </a:p>
        </p:txBody>
      </p:sp>
      <p:sp>
        <p:nvSpPr>
          <p:cNvPr id="10" name="Shape 6">
            <a:extLst xmlns:a="http://schemas.openxmlformats.org/drawingml/2006/main">
              <a:ext uri="{FF2B5EF4-FFF2-40B4-BE49-F238E27FC236}">
                <a16:creationId xmlns:a16="http://schemas.microsoft.com/office/drawing/2014/main" id="{F0CB27FE-657D-4678-99A2-116F8991F6B8}"/>
              </a:ext>
            </a:extLst>
          </p:cNvPr>
          <p:cNvSpPr>
            <a:spLocks xmlns:a="http://schemas.openxmlformats.org/drawingml/2006/main" noGrp="1"/>
          </p:cNvSpPr>
          <p:nvPr/>
        </p:nvSpPr>
        <p:spPr>
          <a:xfrm xmlns:a="http://schemas.openxmlformats.org/drawingml/2006/main">
            <a:off x="457200" y="1691640"/>
            <a:ext cx="56692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41" name="Image 2"/>
          <p:cNvPicPr>
            <a:picLocks xmlns:a="http://schemas.openxmlformats.org/drawingml/2006/main" noChangeAspect="1"/>
          </p:cNvPicPr>
          <p:nvPr/>
        </p:nvPicPr>
        <p:blipFill>
          <a:blip xmlns:r="http://schemas.openxmlformats.org/officeDocument/2006/relationships" xmlns:a="http://schemas.openxmlformats.org/drawingml/2006/main" r:embed="Rd2fd8582a19e49fe"/>
          <a:stretch xmlns:a="http://schemas.openxmlformats.org/drawingml/2006/main">
            <a:fillRect l="0" t="0" r="0" b="0"/>
          </a:stretch>
        </p:blipFill>
        <p:spPr>
          <a:xfrm xmlns:a="http://schemas.openxmlformats.org/drawingml/2006/main">
            <a:off x="731520" y="1920240"/>
            <a:ext cx="640080" cy="64008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D91F97FB-A0AB-4C4F-B673-59D43829193D}"/>
              </a:ext>
            </a:extLst>
          </p:cNvPr>
          <p:cNvSpPr>
            <a:spLocks xmlns:a="http://schemas.openxmlformats.org/drawingml/2006/main" noGrp="1"/>
          </p:cNvSpPr>
          <p:nvPr/>
        </p:nvSpPr>
        <p:spPr>
          <a:xfrm xmlns:a="http://schemas.openxmlformats.org/drawingml/2006/main">
            <a:off x="1554480" y="1920240"/>
            <a:ext cx="4114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Apa yang Anda dapat?</a:t>
            </a:r>
            <a:endParaRPr sz="1600"/>
          </a:p>
        </p:txBody>
      </p:sp>
      <p:sp>
        <p:nvSpPr>
          <p:cNvPr id="13" name="Text 8">
            <a:extLst xmlns:a="http://schemas.openxmlformats.org/drawingml/2006/main">
              <a:ext uri="{FF2B5EF4-FFF2-40B4-BE49-F238E27FC236}">
                <a16:creationId xmlns:a16="http://schemas.microsoft.com/office/drawing/2014/main" id="{98C4C4C6-19D5-42D6-A573-74A1BEC7F88A}"/>
              </a:ext>
            </a:extLst>
          </p:cNvPr>
          <p:cNvSpPr>
            <a:spLocks xmlns:a="http://schemas.openxmlformats.org/drawingml/2006/main" noGrp="1"/>
          </p:cNvSpPr>
          <p:nvPr/>
        </p:nvSpPr>
        <p:spPr>
          <a:xfrm xmlns:a="http://schemas.openxmlformats.org/drawingml/2006/main">
            <a:off x="731520" y="2651760"/>
            <a:ext cx="5120640"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1E293B"/>
                </a:solidFill>
                <a:latin typeface="Calibri"/>
                <a:ea typeface="Calibri"/>
                <a:cs typeface="Calibri"/>
              </a:rPr>
              <a:t>Anda upload fungsi (Node, Python, dll). Provider jalankan saat ada event - HTTP request, cron, queue message.</a:t>
            </a:r>
            <a:endParaRPr sz="1300"/>
          </a:p>
        </p:txBody>
      </p:sp>
      <p:sp>
        <p:nvSpPr>
          <p:cNvPr id="14" name="Shape 9">
            <a:extLst xmlns:a="http://schemas.openxmlformats.org/drawingml/2006/main">
              <a:ext uri="{FF2B5EF4-FFF2-40B4-BE49-F238E27FC236}">
                <a16:creationId xmlns:a16="http://schemas.microsoft.com/office/drawing/2014/main" id="{AF4E76A6-57F2-4CF0-B1F2-B96130288600}"/>
              </a:ext>
            </a:extLst>
          </p:cNvPr>
          <p:cNvSpPr>
            <a:spLocks xmlns:a="http://schemas.openxmlformats.org/drawingml/2006/main" noGrp="1"/>
          </p:cNvSpPr>
          <p:nvPr/>
        </p:nvSpPr>
        <p:spPr>
          <a:xfrm xmlns:a="http://schemas.openxmlformats.org/drawingml/2006/main">
            <a:off x="731520" y="3611880"/>
            <a:ext cx="512064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15" name="Text 10">
            <a:extLst xmlns:a="http://schemas.openxmlformats.org/drawingml/2006/main">
              <a:ext uri="{FF2B5EF4-FFF2-40B4-BE49-F238E27FC236}">
                <a16:creationId xmlns:a16="http://schemas.microsoft.com/office/drawing/2014/main" id="{3AD0867A-3533-45FB-8433-D7288145A5DC}"/>
              </a:ext>
            </a:extLst>
          </p:cNvPr>
          <p:cNvSpPr>
            <a:spLocks xmlns:a="http://schemas.openxmlformats.org/drawingml/2006/main" noGrp="1"/>
          </p:cNvSpPr>
          <p:nvPr/>
        </p:nvSpPr>
        <p:spPr>
          <a:xfrm xmlns:a="http://schemas.openxmlformats.org/drawingml/2006/main">
            <a:off x="731520" y="3703320"/>
            <a:ext cx="51206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64748B"/>
                </a:solidFill>
                <a:latin typeface="Calibri"/>
                <a:ea typeface="Calibri"/>
                <a:cs typeface="Calibri"/>
              </a:rPr>
              <a:t>Karakteristik:</a:t>
            </a:r>
            <a:endParaRPr sz="1300"/>
          </a:p>
        </p:txBody>
      </p:sp>
      <p:sp>
        <p:nvSpPr>
          <p:cNvPr id="16" name="Text 11">
            <a:extLst xmlns:a="http://schemas.openxmlformats.org/drawingml/2006/main">
              <a:ext uri="{FF2B5EF4-FFF2-40B4-BE49-F238E27FC236}">
                <a16:creationId xmlns:a16="http://schemas.microsoft.com/office/drawing/2014/main" id="{29FE9EEA-5401-4A29-943A-4E27980F1B35}"/>
              </a:ext>
            </a:extLst>
          </p:cNvPr>
          <p:cNvSpPr>
            <a:spLocks xmlns:a="http://schemas.openxmlformats.org/drawingml/2006/main" noGrp="1"/>
          </p:cNvSpPr>
          <p:nvPr/>
        </p:nvSpPr>
        <p:spPr>
          <a:xfrm xmlns:a="http://schemas.openxmlformats.org/drawingml/2006/main">
            <a:off x="914400" y="4069080"/>
            <a:ext cx="493776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200"/>
              </a:spcAft>
              <a:buSzPct val="100000"/>
              <a:buChar char="▸"/>
            </a:pPr>
            <a:r>
              <a:rPr sz="1100">
                <a:solidFill>
                  <a:srgbClr val="1E293B"/>
                </a:solidFill>
                <a:latin typeface="Calibri"/>
                <a:ea typeface="Calibri"/>
                <a:cs typeface="Calibri"/>
              </a:rPr>
              <a:t>Tidak ada server idle - scale to zero</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Bayar per millisecond eksekusi</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Stateless - state harus di luar (DB, cache)</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Cold start: latency saat fungsi 'tidur'</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Durasi maksimal mengikuti platform dan konfigurasi</a:t>
            </a:r>
            <a:endParaRPr sz="1100"/>
          </a:p>
        </p:txBody>
      </p:sp>
      <p:sp>
        <p:nvSpPr>
          <p:cNvPr id="17" name="Shape 12">
            <a:extLst xmlns:a="http://schemas.openxmlformats.org/drawingml/2006/main">
              <a:ext uri="{FF2B5EF4-FFF2-40B4-BE49-F238E27FC236}">
                <a16:creationId xmlns:a16="http://schemas.microsoft.com/office/drawing/2014/main" id="{9EDF484B-327B-48A5-A412-9DCB1607EAA3}"/>
              </a:ext>
            </a:extLst>
          </p:cNvPr>
          <p:cNvSpPr>
            <a:spLocks xmlns:a="http://schemas.openxmlformats.org/drawingml/2006/main" noGrp="1"/>
          </p:cNvSpPr>
          <p:nvPr/>
        </p:nvSpPr>
        <p:spPr>
          <a:xfrm xmlns:a="http://schemas.openxmlformats.org/drawingml/2006/main">
            <a:off x="6400800" y="1691640"/>
            <a:ext cx="5303520" cy="2194560"/>
          </a:xfrm>
          <a:prstGeom xmlns:a="http://schemas.openxmlformats.org/drawingml/2006/main" prst="rect">
            <a:avLst/>
          </a:prstGeom>
          <a:solidFill xmlns:a="http://schemas.openxmlformats.org/drawingml/2006/main">
            <a:srgbClr val="FFFFFF"/>
          </a:solidFill>
          <a:ln xmlns:a="http://schemas.openxmlformats.org/drawingml/2006/main" w="25400">
            <a:solidFill>
              <a:srgbClr val="000000"/>
            </a:solidFill>
            <a:prstDash val="solid"/>
          </a:ln>
        </p:spPr>
      </p:sp>
      <p:pic>
        <p:nvPicPr>
          <p:cNvPr id="48" name="Image 3"/>
          <p:cNvPicPr>
            <a:picLocks xmlns:a="http://schemas.openxmlformats.org/drawingml/2006/main" noChangeAspect="1"/>
          </p:cNvPicPr>
          <p:nvPr/>
        </p:nvPicPr>
        <p:blipFill>
          <a:blip xmlns:r="http://schemas.openxmlformats.org/officeDocument/2006/relationships" xmlns:a="http://schemas.openxmlformats.org/drawingml/2006/main" r:embed="R072082d42109494b"/>
          <a:stretch xmlns:a="http://schemas.openxmlformats.org/drawingml/2006/main">
            <a:fillRect l="0" t="0" r="0" b="0"/>
          </a:stretch>
        </p:blipFill>
        <p:spPr>
          <a:xfrm xmlns:a="http://schemas.openxmlformats.org/drawingml/2006/main">
            <a:off x="6583680" y="1874520"/>
            <a:ext cx="640080" cy="640080"/>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70B2F503-6C9A-4BA9-AD0F-C11861643501}"/>
              </a:ext>
            </a:extLst>
          </p:cNvPr>
          <p:cNvSpPr>
            <a:spLocks xmlns:a="http://schemas.openxmlformats.org/drawingml/2006/main" noGrp="1"/>
          </p:cNvSpPr>
          <p:nvPr/>
        </p:nvSpPr>
        <p:spPr>
          <a:xfrm xmlns:a="http://schemas.openxmlformats.org/drawingml/2006/main">
            <a:off x="7315200" y="1874520"/>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002677"/>
                </a:solidFill>
                <a:latin typeface="Calibri"/>
                <a:ea typeface="Calibri"/>
                <a:cs typeface="Calibri"/>
              </a:rPr>
              <a:t>Vercel</a:t>
            </a:r>
            <a:endParaRPr sz="2000"/>
          </a:p>
        </p:txBody>
      </p:sp>
      <p:sp>
        <p:nvSpPr>
          <p:cNvPr id="20" name="Text 14">
            <a:extLst xmlns:a="http://schemas.openxmlformats.org/drawingml/2006/main">
              <a:ext uri="{FF2B5EF4-FFF2-40B4-BE49-F238E27FC236}">
                <a16:creationId xmlns:a16="http://schemas.microsoft.com/office/drawing/2014/main" id="{ED270F61-5195-49C9-9EB1-26820B763F92}"/>
              </a:ext>
            </a:extLst>
          </p:cNvPr>
          <p:cNvSpPr>
            <a:spLocks xmlns:a="http://schemas.openxmlformats.org/drawingml/2006/main" noGrp="1"/>
          </p:cNvSpPr>
          <p:nvPr/>
        </p:nvSpPr>
        <p:spPr>
          <a:xfrm xmlns:a="http://schemas.openxmlformats.org/drawingml/2006/main">
            <a:off x="7315200" y="2331720"/>
            <a:ext cx="4297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200">
                <a:solidFill>
                  <a:srgbClr val="F37021"/>
                </a:solidFill>
                <a:latin typeface="Calibri"/>
                <a:ea typeface="Calibri"/>
                <a:cs typeface="Calibri"/>
              </a:rPr>
              <a:t>BAGIAN PRAKTIKUM KITA</a:t>
            </a:r>
            <a:endParaRPr sz="900"/>
          </a:p>
        </p:txBody>
      </p:sp>
      <p:sp>
        <p:nvSpPr>
          <p:cNvPr id="21" name="Text 15">
            <a:extLst xmlns:a="http://schemas.openxmlformats.org/drawingml/2006/main">
              <a:ext uri="{FF2B5EF4-FFF2-40B4-BE49-F238E27FC236}">
                <a16:creationId xmlns:a16="http://schemas.microsoft.com/office/drawing/2014/main" id="{55BDB2F0-B977-4E90-99B9-972D8312748F}"/>
              </a:ext>
            </a:extLst>
          </p:cNvPr>
          <p:cNvSpPr>
            <a:spLocks xmlns:a="http://schemas.openxmlformats.org/drawingml/2006/main" noGrp="1"/>
          </p:cNvSpPr>
          <p:nvPr/>
        </p:nvSpPr>
        <p:spPr>
          <a:xfrm xmlns:a="http://schemas.openxmlformats.org/drawingml/2006/main">
            <a:off x="6583680" y="2697480"/>
            <a:ext cx="502920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Edge platform untuk Next.js (dan framework lain). 'git push' = deploy. Static site + serverless functions + edge functions di satu tempat.</a:t>
            </a:r>
            <a:endParaRPr sz="1100"/>
          </a:p>
        </p:txBody>
      </p:sp>
      <p:sp>
        <p:nvSpPr>
          <p:cNvPr id="22" name="Shape 16">
            <a:extLst xmlns:a="http://schemas.openxmlformats.org/drawingml/2006/main">
              <a:ext uri="{FF2B5EF4-FFF2-40B4-BE49-F238E27FC236}">
                <a16:creationId xmlns:a16="http://schemas.microsoft.com/office/drawing/2014/main" id="{FDF8FBAA-F835-40AC-AADF-F1D3F20CF61F}"/>
              </a:ext>
            </a:extLst>
          </p:cNvPr>
          <p:cNvSpPr>
            <a:spLocks xmlns:a="http://schemas.openxmlformats.org/drawingml/2006/main" noGrp="1"/>
          </p:cNvSpPr>
          <p:nvPr/>
        </p:nvSpPr>
        <p:spPr>
          <a:xfrm xmlns:a="http://schemas.openxmlformats.org/drawingml/2006/main">
            <a:off x="6400800" y="4069080"/>
            <a:ext cx="2560320" cy="21031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Text 17">
            <a:extLst xmlns:a="http://schemas.openxmlformats.org/drawingml/2006/main">
              <a:ext uri="{FF2B5EF4-FFF2-40B4-BE49-F238E27FC236}">
                <a16:creationId xmlns:a16="http://schemas.microsoft.com/office/drawing/2014/main" id="{33323770-B199-4EAE-A038-E93B12972AE2}"/>
              </a:ext>
            </a:extLst>
          </p:cNvPr>
          <p:cNvSpPr>
            <a:spLocks xmlns:a="http://schemas.openxmlformats.org/drawingml/2006/main" noGrp="1"/>
          </p:cNvSpPr>
          <p:nvPr/>
        </p:nvSpPr>
        <p:spPr>
          <a:xfrm xmlns:a="http://schemas.openxmlformats.org/drawingml/2006/main">
            <a:off x="6537960" y="4206240"/>
            <a:ext cx="22860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AWS Lambda</a:t>
            </a:r>
            <a:endParaRPr sz="1400"/>
          </a:p>
        </p:txBody>
      </p:sp>
      <p:sp>
        <p:nvSpPr>
          <p:cNvPr id="24" name="Text 18">
            <a:extLst xmlns:a="http://schemas.openxmlformats.org/drawingml/2006/main">
              <a:ext uri="{FF2B5EF4-FFF2-40B4-BE49-F238E27FC236}">
                <a16:creationId xmlns:a16="http://schemas.microsoft.com/office/drawing/2014/main" id="{F2365C8F-4178-4CCD-A813-33ECB5CEF202}"/>
              </a:ext>
            </a:extLst>
          </p:cNvPr>
          <p:cNvSpPr>
            <a:spLocks xmlns:a="http://schemas.openxmlformats.org/drawingml/2006/main" noGrp="1"/>
          </p:cNvSpPr>
          <p:nvPr/>
        </p:nvSpPr>
        <p:spPr>
          <a:xfrm xmlns:a="http://schemas.openxmlformats.org/drawingml/2006/main">
            <a:off x="6537960" y="4526280"/>
            <a:ext cx="2286000" cy="1554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Original FaaS sejak 2014. Banyak runtime, integrasi penuh AWS.</a:t>
            </a:r>
            <a:endParaRPr sz="1000"/>
          </a:p>
        </p:txBody>
      </p:sp>
      <p:sp>
        <p:nvSpPr>
          <p:cNvPr id="25" name="Shape 19">
            <a:extLst xmlns:a="http://schemas.openxmlformats.org/drawingml/2006/main">
              <a:ext uri="{FF2B5EF4-FFF2-40B4-BE49-F238E27FC236}">
                <a16:creationId xmlns:a16="http://schemas.microsoft.com/office/drawing/2014/main" id="{93E4E0D9-B05B-449B-87CB-A703749234E8}"/>
              </a:ext>
            </a:extLst>
          </p:cNvPr>
          <p:cNvSpPr>
            <a:spLocks xmlns:a="http://schemas.openxmlformats.org/drawingml/2006/main" noGrp="1"/>
          </p:cNvSpPr>
          <p:nvPr/>
        </p:nvSpPr>
        <p:spPr>
          <a:xfrm xmlns:a="http://schemas.openxmlformats.org/drawingml/2006/main">
            <a:off x="9144000" y="4069080"/>
            <a:ext cx="2560320" cy="21031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6" name="Text 20">
            <a:extLst xmlns:a="http://schemas.openxmlformats.org/drawingml/2006/main">
              <a:ext uri="{FF2B5EF4-FFF2-40B4-BE49-F238E27FC236}">
                <a16:creationId xmlns:a16="http://schemas.microsoft.com/office/drawing/2014/main" id="{33FD2D21-F32B-4775-9396-F6E696ED5678}"/>
              </a:ext>
            </a:extLst>
          </p:cNvPr>
          <p:cNvSpPr>
            <a:spLocks xmlns:a="http://schemas.openxmlformats.org/drawingml/2006/main" noGrp="1"/>
          </p:cNvSpPr>
          <p:nvPr/>
        </p:nvSpPr>
        <p:spPr>
          <a:xfrm xmlns:a="http://schemas.openxmlformats.org/drawingml/2006/main">
            <a:off x="9281160" y="4206240"/>
            <a:ext cx="22860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Cloudflare Workers</a:t>
            </a:r>
            <a:endParaRPr sz="1400"/>
          </a:p>
        </p:txBody>
      </p:sp>
      <p:sp>
        <p:nvSpPr>
          <p:cNvPr id="27" name="Text 21">
            <a:extLst xmlns:a="http://schemas.openxmlformats.org/drawingml/2006/main">
              <a:ext uri="{FF2B5EF4-FFF2-40B4-BE49-F238E27FC236}">
                <a16:creationId xmlns:a16="http://schemas.microsoft.com/office/drawing/2014/main" id="{C57C4C12-3505-4CB2-9B04-4F3429F18E34}"/>
              </a:ext>
            </a:extLst>
          </p:cNvPr>
          <p:cNvSpPr>
            <a:spLocks xmlns:a="http://schemas.openxmlformats.org/drawingml/2006/main" noGrp="1"/>
          </p:cNvSpPr>
          <p:nvPr/>
        </p:nvSpPr>
        <p:spPr>
          <a:xfrm xmlns:a="http://schemas.openxmlformats.org/drawingml/2006/main">
            <a:off x="9281160" y="4526280"/>
            <a:ext cx="2286000" cy="1554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Edge runtime; startup bergantung beban dan lokasi.</a:t>
            </a:r>
            <a:r>
              <a:rPr sz="1000">
                <a:solidFill>
                  <a:srgbClr val="1E293B"/>
                </a:solidFill>
                <a:latin typeface="Calibri"/>
                <a:ea typeface="Calibri"/>
                <a:cs typeface="Calibri"/>
              </a:rPr>
              <a:t> Bagus untuk middleware global.</a:t>
            </a:r>
            <a:endParaRPr sz="1000"/>
          </a:p>
        </p:txBody>
      </p:sp>
    </p:spTree>
    <p:extLst>
      <p:ext uri="{BB962C8B-B14F-4D97-AF65-F5344CB8AC3E}">
        <p14:creationId xmlns:p14="http://schemas.microsoft.com/office/powerpoint/2010/main" val="93834501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EF242F4-BAD7-4A11-BD62-52974C3F6B41}"/>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2F065164-45DD-45FA-85A4-607DC1FE76DF}"/>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18</a:t>
            </a:r>
            <a:endParaRPr sz="900"/>
          </a:p>
        </p:txBody>
      </p:sp>
      <p:sp>
        <p:nvSpPr>
          <p:cNvPr id="4" name="Shape 2">
            <a:extLst xmlns:a="http://schemas.openxmlformats.org/drawingml/2006/main">
              <a:ext uri="{FF2B5EF4-FFF2-40B4-BE49-F238E27FC236}">
                <a16:creationId xmlns:a16="http://schemas.microsoft.com/office/drawing/2014/main" id="{83444358-686A-4705-A6C0-ED7C4E898390}"/>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70976b9fe3df4a08"/>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1" name="Image 1"/>
          <p:cNvPicPr>
            <a:picLocks xmlns:a="http://schemas.openxmlformats.org/drawingml/2006/main" noChangeAspect="1"/>
          </p:cNvPicPr>
          <p:nvPr/>
        </p:nvPicPr>
        <p:blipFill>
          <a:blip xmlns:r="http://schemas.openxmlformats.org/officeDocument/2006/relationships" xmlns:a="http://schemas.openxmlformats.org/drawingml/2006/main" r:embed="R35c4ced893e34aa8"/>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67EB7C1B-1508-4E4F-982C-1D49ED6E2698}"/>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D11AA924-9DBA-48B6-B03F-29066EC6D4E2}"/>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Analogi 'Pizza as a Service'</a:t>
            </a:r>
            <a:endParaRPr sz="2200"/>
          </a:p>
        </p:txBody>
      </p:sp>
      <p:sp>
        <p:nvSpPr>
          <p:cNvPr id="9" name="Text 5">
            <a:extLst xmlns:a="http://schemas.openxmlformats.org/drawingml/2006/main">
              <a:ext uri="{FF2B5EF4-FFF2-40B4-BE49-F238E27FC236}">
                <a16:creationId xmlns:a16="http://schemas.microsoft.com/office/drawing/2014/main" id="{18245443-2019-41DC-9252-09769FCED065}"/>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Cara Mudah Mengingat Service Models</a:t>
            </a:r>
            <a:endParaRPr sz="1200"/>
          </a:p>
        </p:txBody>
      </p:sp>
      <p:pic>
        <p:nvPicPr>
          <p:cNvPr id="45" name="Image 2"/>
          <p:cNvPicPr>
            <a:picLocks xmlns:a="http://schemas.openxmlformats.org/drawingml/2006/main" noChangeAspect="1"/>
          </p:cNvPicPr>
          <p:nvPr/>
        </p:nvPicPr>
        <p:blipFill>
          <a:blip xmlns:r="http://schemas.openxmlformats.org/officeDocument/2006/relationships" xmlns:a="http://schemas.openxmlformats.org/drawingml/2006/main" r:embed="R007a0141b4374186"/>
          <a:stretch xmlns:a="http://schemas.openxmlformats.org/drawingml/2006/main">
            <a:fillRect l="0" t="0" r="0" b="0"/>
          </a:stretch>
        </p:blipFill>
        <p:spPr>
          <a:xfrm xmlns:a="http://schemas.openxmlformats.org/drawingml/2006/main">
            <a:off x="457200" y="1691640"/>
            <a:ext cx="640080" cy="640080"/>
          </a:xfrm>
          <a:prstGeom xmlns:a="http://schemas.openxmlformats.org/drawingml/2006/main" prst="rect">
            <a:avLst/>
          </a:prstGeom>
        </p:spPr>
      </p:pic>
      <p:sp>
        <p:nvSpPr>
          <p:cNvPr id="11" name="Text 6">
            <a:extLst xmlns:a="http://schemas.openxmlformats.org/drawingml/2006/main">
              <a:ext uri="{FF2B5EF4-FFF2-40B4-BE49-F238E27FC236}">
                <a16:creationId xmlns:a16="http://schemas.microsoft.com/office/drawing/2014/main" id="{5F08DBD9-B155-4D54-AFCE-2BAEE19EF537}"/>
              </a:ext>
            </a:extLst>
          </p:cNvPr>
          <p:cNvSpPr>
            <a:spLocks xmlns:a="http://schemas.openxmlformats.org/drawingml/2006/main" noGrp="1"/>
          </p:cNvSpPr>
          <p:nvPr/>
        </p:nvSpPr>
        <p:spPr>
          <a:xfrm xmlns:a="http://schemas.openxmlformats.org/drawingml/2006/main">
            <a:off x="1188720" y="1691640"/>
            <a:ext cx="100584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i="1">
                <a:solidFill>
                  <a:srgbClr val="1E293B"/>
                </a:solidFill>
                <a:latin typeface="Calibri"/>
                <a:ea typeface="Calibri"/>
                <a:cs typeface="Calibri"/>
              </a:rPr>
              <a:t>Bayangkan Anda ingin makan pizza. Ada 4 cara:</a:t>
            </a:r>
            <a:endParaRPr sz="1600"/>
          </a:p>
        </p:txBody>
      </p:sp>
      <p:sp>
        <p:nvSpPr>
          <p:cNvPr id="12" name="Shape 7">
            <a:extLst xmlns:a="http://schemas.openxmlformats.org/drawingml/2006/main">
              <a:ext uri="{FF2B5EF4-FFF2-40B4-BE49-F238E27FC236}">
                <a16:creationId xmlns:a16="http://schemas.microsoft.com/office/drawing/2014/main" id="{236A5D4D-8A1D-43BB-8D2E-C002C7EE1F1D}"/>
              </a:ext>
            </a:extLst>
          </p:cNvPr>
          <p:cNvSpPr>
            <a:spLocks xmlns:a="http://schemas.openxmlformats.org/drawingml/2006/main" noGrp="1"/>
          </p:cNvSpPr>
          <p:nvPr/>
        </p:nvSpPr>
        <p:spPr>
          <a:xfrm xmlns:a="http://schemas.openxmlformats.org/drawingml/2006/main">
            <a:off x="457200" y="2514600"/>
            <a:ext cx="2697480" cy="822960"/>
          </a:xfrm>
          <a:prstGeom xmlns:a="http://schemas.openxmlformats.org/drawingml/2006/main" prst="rect">
            <a:avLst/>
          </a:prstGeom>
          <a:solidFill xmlns:a="http://schemas.openxmlformats.org/drawingml/2006/main">
            <a:srgbClr val="64748B"/>
          </a:solidFill>
          <a:ln xmlns:a="http://schemas.openxmlformats.org/drawingml/2006/main" w="12700">
            <a:solidFill>
              <a:srgbClr val="64748B"/>
            </a:solidFill>
            <a:prstDash val="solid"/>
          </a:ln>
        </p:spPr>
      </p:sp>
      <p:sp>
        <p:nvSpPr>
          <p:cNvPr id="13" name="Text 8">
            <a:extLst xmlns:a="http://schemas.openxmlformats.org/drawingml/2006/main">
              <a:ext uri="{FF2B5EF4-FFF2-40B4-BE49-F238E27FC236}">
                <a16:creationId xmlns:a16="http://schemas.microsoft.com/office/drawing/2014/main" id="{1B2FD512-4594-4B48-BFC5-F3E11CD7A4C9}"/>
              </a:ext>
            </a:extLst>
          </p:cNvPr>
          <p:cNvSpPr>
            <a:spLocks xmlns:a="http://schemas.openxmlformats.org/drawingml/2006/main" noGrp="1"/>
          </p:cNvSpPr>
          <p:nvPr/>
        </p:nvSpPr>
        <p:spPr>
          <a:xfrm xmlns:a="http://schemas.openxmlformats.org/drawingml/2006/main">
            <a:off x="457200" y="2606040"/>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alibri"/>
                <a:ea typeface="Calibri"/>
                <a:cs typeface="Calibri"/>
              </a:rPr>
              <a:t>On-Premise</a:t>
            </a:r>
            <a:endParaRPr sz="1800"/>
          </a:p>
        </p:txBody>
      </p:sp>
      <p:sp>
        <p:nvSpPr>
          <p:cNvPr id="14" name="Text 9">
            <a:extLst xmlns:a="http://schemas.openxmlformats.org/drawingml/2006/main">
              <a:ext uri="{FF2B5EF4-FFF2-40B4-BE49-F238E27FC236}">
                <a16:creationId xmlns:a16="http://schemas.microsoft.com/office/drawing/2014/main" id="{E7790F02-A63B-4131-91E3-80F13D629EC4}"/>
              </a:ext>
            </a:extLst>
          </p:cNvPr>
          <p:cNvSpPr>
            <a:spLocks xmlns:a="http://schemas.openxmlformats.org/drawingml/2006/main" noGrp="1"/>
          </p:cNvSpPr>
          <p:nvPr/>
        </p:nvSpPr>
        <p:spPr>
          <a:xfrm xmlns:a="http://schemas.openxmlformats.org/drawingml/2006/main">
            <a:off x="548640" y="2971800"/>
            <a:ext cx="2514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FFFFFF"/>
                </a:solidFill>
                <a:latin typeface="Calibri"/>
                <a:ea typeface="Calibri"/>
                <a:cs typeface="Calibri"/>
              </a:rPr>
              <a:t>Bikin sendiri dari nol</a:t>
            </a:r>
            <a:endParaRPr sz="1000"/>
          </a:p>
        </p:txBody>
      </p:sp>
      <p:sp>
        <p:nvSpPr>
          <p:cNvPr id="15" name="Shape 10">
            <a:extLst xmlns:a="http://schemas.openxmlformats.org/drawingml/2006/main">
              <a:ext uri="{FF2B5EF4-FFF2-40B4-BE49-F238E27FC236}">
                <a16:creationId xmlns:a16="http://schemas.microsoft.com/office/drawing/2014/main" id="{E75947EB-23BF-4ECD-94AF-22BAB974B3D5}"/>
              </a:ext>
            </a:extLst>
          </p:cNvPr>
          <p:cNvSpPr>
            <a:spLocks xmlns:a="http://schemas.openxmlformats.org/drawingml/2006/main" noGrp="1"/>
          </p:cNvSpPr>
          <p:nvPr/>
        </p:nvSpPr>
        <p:spPr>
          <a:xfrm xmlns:a="http://schemas.openxmlformats.org/drawingml/2006/main">
            <a:off x="457200" y="3337560"/>
            <a:ext cx="2697480" cy="2468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6" name="Text 11">
            <a:extLst xmlns:a="http://schemas.openxmlformats.org/drawingml/2006/main">
              <a:ext uri="{FF2B5EF4-FFF2-40B4-BE49-F238E27FC236}">
                <a16:creationId xmlns:a16="http://schemas.microsoft.com/office/drawing/2014/main" id="{4899D373-F985-4C8C-A6EB-4FB95CD9A55C}"/>
              </a:ext>
            </a:extLst>
          </p:cNvPr>
          <p:cNvSpPr>
            <a:spLocks xmlns:a="http://schemas.openxmlformats.org/drawingml/2006/main" noGrp="1"/>
          </p:cNvSpPr>
          <p:nvPr/>
        </p:nvSpPr>
        <p:spPr>
          <a:xfrm xmlns:a="http://schemas.openxmlformats.org/drawingml/2006/main">
            <a:off x="640080" y="3474720"/>
            <a:ext cx="2423160" cy="2286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200"/>
              </a:spcAft>
              <a:buSzPct val="100000"/>
              <a:buChar char="▸"/>
            </a:pPr>
            <a:r>
              <a:rPr sz="1100">
                <a:solidFill>
                  <a:srgbClr val="1E293B"/>
                </a:solidFill>
                <a:latin typeface="Calibri"/>
                <a:ea typeface="Calibri"/>
                <a:cs typeface="Calibri"/>
              </a:rPr>
              <a:t>Meja makan</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Kompor</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Listrik &amp; gas</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Bahan mentah</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Pizza</a:t>
            </a:r>
            <a:endParaRPr sz="1100"/>
          </a:p>
        </p:txBody>
      </p:sp>
      <p:sp>
        <p:nvSpPr>
          <p:cNvPr id="17" name="Shape 12">
            <a:extLst xmlns:a="http://schemas.openxmlformats.org/drawingml/2006/main">
              <a:ext uri="{FF2B5EF4-FFF2-40B4-BE49-F238E27FC236}">
                <a16:creationId xmlns:a16="http://schemas.microsoft.com/office/drawing/2014/main" id="{98E5247E-4931-4310-BB76-A0B3B00A3B65}"/>
              </a:ext>
            </a:extLst>
          </p:cNvPr>
          <p:cNvSpPr>
            <a:spLocks xmlns:a="http://schemas.openxmlformats.org/drawingml/2006/main" noGrp="1"/>
          </p:cNvSpPr>
          <p:nvPr/>
        </p:nvSpPr>
        <p:spPr>
          <a:xfrm xmlns:a="http://schemas.openxmlformats.org/drawingml/2006/main">
            <a:off x="3319272" y="2514600"/>
            <a:ext cx="2697480" cy="8229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8" name="Text 13">
            <a:extLst xmlns:a="http://schemas.openxmlformats.org/drawingml/2006/main">
              <a:ext uri="{FF2B5EF4-FFF2-40B4-BE49-F238E27FC236}">
                <a16:creationId xmlns:a16="http://schemas.microsoft.com/office/drawing/2014/main" id="{006A1DE4-DDA1-45E7-B5A6-409BCC57658B}"/>
              </a:ext>
            </a:extLst>
          </p:cNvPr>
          <p:cNvSpPr>
            <a:spLocks xmlns:a="http://schemas.openxmlformats.org/drawingml/2006/main" noGrp="1"/>
          </p:cNvSpPr>
          <p:nvPr/>
        </p:nvSpPr>
        <p:spPr>
          <a:xfrm xmlns:a="http://schemas.openxmlformats.org/drawingml/2006/main">
            <a:off x="3319272" y="2606040"/>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alibri"/>
                <a:ea typeface="Calibri"/>
                <a:cs typeface="Calibri"/>
              </a:rPr>
              <a:t>IaaS</a:t>
            </a:r>
            <a:endParaRPr sz="1800"/>
          </a:p>
        </p:txBody>
      </p:sp>
      <p:sp>
        <p:nvSpPr>
          <p:cNvPr id="19" name="Text 14">
            <a:extLst xmlns:a="http://schemas.openxmlformats.org/drawingml/2006/main">
              <a:ext uri="{FF2B5EF4-FFF2-40B4-BE49-F238E27FC236}">
                <a16:creationId xmlns:a16="http://schemas.microsoft.com/office/drawing/2014/main" id="{2E3CA025-940B-4972-A812-4C6817000ED1}"/>
              </a:ext>
            </a:extLst>
          </p:cNvPr>
          <p:cNvSpPr>
            <a:spLocks xmlns:a="http://schemas.openxmlformats.org/drawingml/2006/main" noGrp="1"/>
          </p:cNvSpPr>
          <p:nvPr/>
        </p:nvSpPr>
        <p:spPr>
          <a:xfrm xmlns:a="http://schemas.openxmlformats.org/drawingml/2006/main">
            <a:off x="3410712" y="2971800"/>
            <a:ext cx="2514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FFFFFF"/>
                </a:solidFill>
                <a:latin typeface="Calibri"/>
                <a:ea typeface="Calibri"/>
                <a:cs typeface="Calibri"/>
              </a:rPr>
              <a:t>Beli pizza beku, panaskan sendiri</a:t>
            </a:r>
            <a:endParaRPr sz="1000"/>
          </a:p>
        </p:txBody>
      </p:sp>
      <p:sp>
        <p:nvSpPr>
          <p:cNvPr id="20" name="Shape 15">
            <a:extLst xmlns:a="http://schemas.openxmlformats.org/drawingml/2006/main">
              <a:ext uri="{FF2B5EF4-FFF2-40B4-BE49-F238E27FC236}">
                <a16:creationId xmlns:a16="http://schemas.microsoft.com/office/drawing/2014/main" id="{8681F221-FC7B-4003-904D-C7BDFEC8503F}"/>
              </a:ext>
            </a:extLst>
          </p:cNvPr>
          <p:cNvSpPr>
            <a:spLocks xmlns:a="http://schemas.openxmlformats.org/drawingml/2006/main" noGrp="1"/>
          </p:cNvSpPr>
          <p:nvPr/>
        </p:nvSpPr>
        <p:spPr>
          <a:xfrm xmlns:a="http://schemas.openxmlformats.org/drawingml/2006/main">
            <a:off x="3319272" y="3337560"/>
            <a:ext cx="2697480" cy="2468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1" name="Text 16">
            <a:extLst xmlns:a="http://schemas.openxmlformats.org/drawingml/2006/main">
              <a:ext uri="{FF2B5EF4-FFF2-40B4-BE49-F238E27FC236}">
                <a16:creationId xmlns:a16="http://schemas.microsoft.com/office/drawing/2014/main" id="{8C67883E-7EA7-4B57-81F0-0B0AE4360870}"/>
              </a:ext>
            </a:extLst>
          </p:cNvPr>
          <p:cNvSpPr>
            <a:spLocks xmlns:a="http://schemas.openxmlformats.org/drawingml/2006/main" noGrp="1"/>
          </p:cNvSpPr>
          <p:nvPr/>
        </p:nvSpPr>
        <p:spPr>
          <a:xfrm xmlns:a="http://schemas.openxmlformats.org/drawingml/2006/main">
            <a:off x="3502152" y="3474720"/>
            <a:ext cx="2423160" cy="2286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200"/>
              </a:spcAft>
              <a:buSzPct val="100000"/>
              <a:buChar char="▸"/>
            </a:pPr>
            <a:r>
              <a:rPr sz="1100">
                <a:solidFill>
                  <a:srgbClr val="1E293B"/>
                </a:solidFill>
                <a:latin typeface="Calibri"/>
                <a:ea typeface="Calibri"/>
                <a:cs typeface="Calibri"/>
              </a:rPr>
              <a:t>Meja makan</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Kompor</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Listrik &amp; gas</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Pizza beku jadi</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Panggang</a:t>
            </a:r>
            <a:endParaRPr sz="1100"/>
          </a:p>
        </p:txBody>
      </p:sp>
      <p:sp>
        <p:nvSpPr>
          <p:cNvPr id="22" name="Shape 17">
            <a:extLst xmlns:a="http://schemas.openxmlformats.org/drawingml/2006/main">
              <a:ext uri="{FF2B5EF4-FFF2-40B4-BE49-F238E27FC236}">
                <a16:creationId xmlns:a16="http://schemas.microsoft.com/office/drawing/2014/main" id="{A8E417F4-FECA-4730-9B5E-01EDDFC1B50E}"/>
              </a:ext>
            </a:extLst>
          </p:cNvPr>
          <p:cNvSpPr>
            <a:spLocks xmlns:a="http://schemas.openxmlformats.org/drawingml/2006/main" noGrp="1"/>
          </p:cNvSpPr>
          <p:nvPr/>
        </p:nvSpPr>
        <p:spPr>
          <a:xfrm xmlns:a="http://schemas.openxmlformats.org/drawingml/2006/main">
            <a:off x="6181344" y="2514600"/>
            <a:ext cx="2697480" cy="82296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23" name="Text 18">
            <a:extLst xmlns:a="http://schemas.openxmlformats.org/drawingml/2006/main">
              <a:ext uri="{FF2B5EF4-FFF2-40B4-BE49-F238E27FC236}">
                <a16:creationId xmlns:a16="http://schemas.microsoft.com/office/drawing/2014/main" id="{CF67E725-C492-4AF3-9823-BB268F71DD40}"/>
              </a:ext>
            </a:extLst>
          </p:cNvPr>
          <p:cNvSpPr>
            <a:spLocks xmlns:a="http://schemas.openxmlformats.org/drawingml/2006/main" noGrp="1"/>
          </p:cNvSpPr>
          <p:nvPr/>
        </p:nvSpPr>
        <p:spPr>
          <a:xfrm xmlns:a="http://schemas.openxmlformats.org/drawingml/2006/main">
            <a:off x="6181344" y="2606040"/>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alibri"/>
                <a:ea typeface="Calibri"/>
                <a:cs typeface="Calibri"/>
              </a:rPr>
              <a:t>PaaS</a:t>
            </a:r>
            <a:endParaRPr sz="1800"/>
          </a:p>
        </p:txBody>
      </p:sp>
      <p:sp>
        <p:nvSpPr>
          <p:cNvPr id="24" name="Text 19">
            <a:extLst xmlns:a="http://schemas.openxmlformats.org/drawingml/2006/main">
              <a:ext uri="{FF2B5EF4-FFF2-40B4-BE49-F238E27FC236}">
                <a16:creationId xmlns:a16="http://schemas.microsoft.com/office/drawing/2014/main" id="{DC8B0B03-C317-4120-B89B-B91398A2BD5E}"/>
              </a:ext>
            </a:extLst>
          </p:cNvPr>
          <p:cNvSpPr>
            <a:spLocks xmlns:a="http://schemas.openxmlformats.org/drawingml/2006/main" noGrp="1"/>
          </p:cNvSpPr>
          <p:nvPr/>
        </p:nvSpPr>
        <p:spPr>
          <a:xfrm xmlns:a="http://schemas.openxmlformats.org/drawingml/2006/main">
            <a:off x="6272784" y="2971800"/>
            <a:ext cx="2514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FFFFFF"/>
                </a:solidFill>
                <a:latin typeface="Calibri"/>
                <a:ea typeface="Calibri"/>
                <a:cs typeface="Calibri"/>
              </a:rPr>
              <a:t>Pesan ke restoran, makan di rumah</a:t>
            </a:r>
            <a:endParaRPr sz="1000"/>
          </a:p>
        </p:txBody>
      </p:sp>
      <p:sp>
        <p:nvSpPr>
          <p:cNvPr id="25" name="Shape 20">
            <a:extLst xmlns:a="http://schemas.openxmlformats.org/drawingml/2006/main">
              <a:ext uri="{FF2B5EF4-FFF2-40B4-BE49-F238E27FC236}">
                <a16:creationId xmlns:a16="http://schemas.microsoft.com/office/drawing/2014/main" id="{486DC062-2391-40F0-B34D-4DEE9B666604}"/>
              </a:ext>
            </a:extLst>
          </p:cNvPr>
          <p:cNvSpPr>
            <a:spLocks xmlns:a="http://schemas.openxmlformats.org/drawingml/2006/main" noGrp="1"/>
          </p:cNvSpPr>
          <p:nvPr/>
        </p:nvSpPr>
        <p:spPr>
          <a:xfrm xmlns:a="http://schemas.openxmlformats.org/drawingml/2006/main">
            <a:off x="6181344" y="3337560"/>
            <a:ext cx="2697480" cy="2468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6" name="Text 21">
            <a:extLst xmlns:a="http://schemas.openxmlformats.org/drawingml/2006/main">
              <a:ext uri="{FF2B5EF4-FFF2-40B4-BE49-F238E27FC236}">
                <a16:creationId xmlns:a16="http://schemas.microsoft.com/office/drawing/2014/main" id="{6FFE9202-399C-49A2-B7AA-8C2C6793059A}"/>
              </a:ext>
            </a:extLst>
          </p:cNvPr>
          <p:cNvSpPr>
            <a:spLocks xmlns:a="http://schemas.openxmlformats.org/drawingml/2006/main" noGrp="1"/>
          </p:cNvSpPr>
          <p:nvPr/>
        </p:nvSpPr>
        <p:spPr>
          <a:xfrm xmlns:a="http://schemas.openxmlformats.org/drawingml/2006/main">
            <a:off x="6364224" y="3474720"/>
            <a:ext cx="2423160" cy="2286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200"/>
              </a:spcAft>
              <a:buSzPct val="100000"/>
              <a:buChar char="▸"/>
            </a:pPr>
            <a:r>
              <a:rPr sz="1100">
                <a:solidFill>
                  <a:srgbClr val="1E293B"/>
                </a:solidFill>
                <a:latin typeface="Calibri"/>
                <a:ea typeface="Calibri"/>
                <a:cs typeface="Calibri"/>
              </a:rPr>
              <a:t>Meja makan</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Listrik &amp; gas</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Pizza siap saji</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Antar</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Anda makan</a:t>
            </a:r>
            <a:endParaRPr sz="1100"/>
          </a:p>
        </p:txBody>
      </p:sp>
      <p:sp>
        <p:nvSpPr>
          <p:cNvPr id="27" name="Shape 22">
            <a:extLst xmlns:a="http://schemas.openxmlformats.org/drawingml/2006/main">
              <a:ext uri="{FF2B5EF4-FFF2-40B4-BE49-F238E27FC236}">
                <a16:creationId xmlns:a16="http://schemas.microsoft.com/office/drawing/2014/main" id="{3F876975-8401-40ED-B61B-C1E75311C88B}"/>
              </a:ext>
            </a:extLst>
          </p:cNvPr>
          <p:cNvSpPr>
            <a:spLocks xmlns:a="http://schemas.openxmlformats.org/drawingml/2006/main" noGrp="1"/>
          </p:cNvSpPr>
          <p:nvPr/>
        </p:nvSpPr>
        <p:spPr>
          <a:xfrm xmlns:a="http://schemas.openxmlformats.org/drawingml/2006/main">
            <a:off x="9043416" y="2514600"/>
            <a:ext cx="2697480" cy="8229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8" name="Text 23">
            <a:extLst xmlns:a="http://schemas.openxmlformats.org/drawingml/2006/main">
              <a:ext uri="{FF2B5EF4-FFF2-40B4-BE49-F238E27FC236}">
                <a16:creationId xmlns:a16="http://schemas.microsoft.com/office/drawing/2014/main" id="{7CE792C0-C4B8-4581-B72B-24547CCA6A37}"/>
              </a:ext>
            </a:extLst>
          </p:cNvPr>
          <p:cNvSpPr>
            <a:spLocks xmlns:a="http://schemas.openxmlformats.org/drawingml/2006/main" noGrp="1"/>
          </p:cNvSpPr>
          <p:nvPr/>
        </p:nvSpPr>
        <p:spPr>
          <a:xfrm xmlns:a="http://schemas.openxmlformats.org/drawingml/2006/main">
            <a:off x="9043416" y="2606040"/>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alibri"/>
                <a:ea typeface="Calibri"/>
                <a:cs typeface="Calibri"/>
              </a:rPr>
              <a:t>SaaS</a:t>
            </a:r>
            <a:endParaRPr sz="1800"/>
          </a:p>
        </p:txBody>
      </p:sp>
      <p:sp>
        <p:nvSpPr>
          <p:cNvPr id="29" name="Text 24">
            <a:extLst xmlns:a="http://schemas.openxmlformats.org/drawingml/2006/main">
              <a:ext uri="{FF2B5EF4-FFF2-40B4-BE49-F238E27FC236}">
                <a16:creationId xmlns:a16="http://schemas.microsoft.com/office/drawing/2014/main" id="{83371393-68B3-40A3-82EB-23BF0C96A7D9}"/>
              </a:ext>
            </a:extLst>
          </p:cNvPr>
          <p:cNvSpPr>
            <a:spLocks xmlns:a="http://schemas.openxmlformats.org/drawingml/2006/main" noGrp="1"/>
          </p:cNvSpPr>
          <p:nvPr/>
        </p:nvSpPr>
        <p:spPr>
          <a:xfrm xmlns:a="http://schemas.openxmlformats.org/drawingml/2006/main">
            <a:off x="9134856" y="2971800"/>
            <a:ext cx="2514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FFFFFF"/>
                </a:solidFill>
                <a:latin typeface="Calibri"/>
                <a:ea typeface="Calibri"/>
                <a:cs typeface="Calibri"/>
              </a:rPr>
              <a:t>Makan di restoran</a:t>
            </a:r>
            <a:endParaRPr sz="1000"/>
          </a:p>
        </p:txBody>
      </p:sp>
      <p:sp>
        <p:nvSpPr>
          <p:cNvPr id="30" name="Shape 25">
            <a:extLst xmlns:a="http://schemas.openxmlformats.org/drawingml/2006/main">
              <a:ext uri="{FF2B5EF4-FFF2-40B4-BE49-F238E27FC236}">
                <a16:creationId xmlns:a16="http://schemas.microsoft.com/office/drawing/2014/main" id="{74E592B8-799E-4FC7-AE57-46DDDD5AB677}"/>
              </a:ext>
            </a:extLst>
          </p:cNvPr>
          <p:cNvSpPr>
            <a:spLocks xmlns:a="http://schemas.openxmlformats.org/drawingml/2006/main" noGrp="1"/>
          </p:cNvSpPr>
          <p:nvPr/>
        </p:nvSpPr>
        <p:spPr>
          <a:xfrm xmlns:a="http://schemas.openxmlformats.org/drawingml/2006/main">
            <a:off x="9043416" y="3337560"/>
            <a:ext cx="2697480" cy="2468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1" name="Text 26">
            <a:extLst xmlns:a="http://schemas.openxmlformats.org/drawingml/2006/main">
              <a:ext uri="{FF2B5EF4-FFF2-40B4-BE49-F238E27FC236}">
                <a16:creationId xmlns:a16="http://schemas.microsoft.com/office/drawing/2014/main" id="{8818D791-B2B3-40E6-AB26-28502913E814}"/>
              </a:ext>
            </a:extLst>
          </p:cNvPr>
          <p:cNvSpPr>
            <a:spLocks xmlns:a="http://schemas.openxmlformats.org/drawingml/2006/main" noGrp="1"/>
          </p:cNvSpPr>
          <p:nvPr/>
        </p:nvSpPr>
        <p:spPr>
          <a:xfrm xmlns:a="http://schemas.openxmlformats.org/drawingml/2006/main">
            <a:off x="9226296" y="3474720"/>
            <a:ext cx="2423160" cy="2286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200"/>
              </a:spcAft>
              <a:buSzPct val="100000"/>
              <a:buChar char="▸"/>
            </a:pPr>
            <a:r>
              <a:rPr sz="1100">
                <a:solidFill>
                  <a:srgbClr val="1E293B"/>
                </a:solidFill>
                <a:latin typeface="Calibri"/>
                <a:ea typeface="Calibri"/>
                <a:cs typeface="Calibri"/>
              </a:rPr>
              <a:t>Restoran</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Chef</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Pelayan</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Pizza</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Anda tinggal makan</a:t>
            </a:r>
            <a:endParaRPr sz="1100"/>
          </a:p>
        </p:txBody>
      </p:sp>
      <p:sp>
        <p:nvSpPr>
          <p:cNvPr id="32" name="Shape 27">
            <a:extLst xmlns:a="http://schemas.openxmlformats.org/drawingml/2006/main">
              <a:ext uri="{FF2B5EF4-FFF2-40B4-BE49-F238E27FC236}">
                <a16:creationId xmlns:a16="http://schemas.microsoft.com/office/drawing/2014/main" id="{BAF839E0-DA26-4A73-991F-DB2C6C10EEDF}"/>
              </a:ext>
            </a:extLst>
          </p:cNvPr>
          <p:cNvSpPr>
            <a:spLocks xmlns:a="http://schemas.openxmlformats.org/drawingml/2006/main" noGrp="1"/>
          </p:cNvSpPr>
          <p:nvPr/>
        </p:nvSpPr>
        <p:spPr>
          <a:xfrm xmlns:a="http://schemas.openxmlformats.org/drawingml/2006/main">
            <a:off x="457200" y="5989320"/>
            <a:ext cx="11247120" cy="32004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33" name="Text 28">
            <a:extLst xmlns:a="http://schemas.openxmlformats.org/drawingml/2006/main">
              <a:ext uri="{FF2B5EF4-FFF2-40B4-BE49-F238E27FC236}">
                <a16:creationId xmlns:a16="http://schemas.microsoft.com/office/drawing/2014/main" id="{B6888CB7-5C3D-4092-8BF4-DBAD2FCB100B}"/>
              </a:ext>
            </a:extLst>
          </p:cNvPr>
          <p:cNvSpPr>
            <a:spLocks xmlns:a="http://schemas.openxmlformats.org/drawingml/2006/main" noGrp="1"/>
          </p:cNvSpPr>
          <p:nvPr/>
        </p:nvSpPr>
        <p:spPr>
          <a:xfrm xmlns:a="http://schemas.openxmlformats.org/drawingml/2006/main">
            <a:off x="457200" y="59893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FFFFFF"/>
                </a:solidFill>
                <a:latin typeface="Calibri"/>
                <a:ea typeface="Calibri"/>
                <a:cs typeface="Calibri"/>
              </a:rPr>
              <a:t>Semakin ke kanan: semakin banyak yang di-manage provider, semakin sedikit pekerjaan Anda</a:t>
            </a:r>
            <a:endParaRPr sz="1100"/>
          </a:p>
        </p:txBody>
      </p:sp>
    </p:spTree>
    <p:extLst>
      <p:ext uri="{BB962C8B-B14F-4D97-AF65-F5344CB8AC3E}">
        <p14:creationId xmlns:p14="http://schemas.microsoft.com/office/powerpoint/2010/main" val="65550806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2AE8211-64E7-4C9D-A4A7-F74BC8833D7D}"/>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8EA28C6A-77FB-41CB-BAB8-5056B86C2DEC}"/>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19</a:t>
            </a:r>
            <a:endParaRPr sz="900"/>
          </a:p>
        </p:txBody>
      </p:sp>
      <p:sp>
        <p:nvSpPr>
          <p:cNvPr id="4" name="Shape 2">
            <a:extLst xmlns:a="http://schemas.openxmlformats.org/drawingml/2006/main">
              <a:ext uri="{FF2B5EF4-FFF2-40B4-BE49-F238E27FC236}">
                <a16:creationId xmlns:a16="http://schemas.microsoft.com/office/drawing/2014/main" id="{DD0B2125-248E-4E59-B348-699704ADEFB8}"/>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671899bf6fe540f3"/>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21" name="Image 1"/>
          <p:cNvPicPr>
            <a:picLocks xmlns:a="http://schemas.openxmlformats.org/drawingml/2006/main" noChangeAspect="1"/>
          </p:cNvPicPr>
          <p:nvPr/>
        </p:nvPicPr>
        <p:blipFill>
          <a:blip xmlns:r="http://schemas.openxmlformats.org/officeDocument/2006/relationships" xmlns:a="http://schemas.openxmlformats.org/drawingml/2006/main" r:embed="Rfab04522e299421a"/>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13918AE4-198F-4CEE-9E11-02A045FC888F}"/>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74C55268-5427-441E-BF94-0DB02EA5A992}"/>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Ringkasan Service Models</a:t>
            </a:r>
            <a:endParaRPr sz="2200"/>
          </a:p>
        </p:txBody>
      </p:sp>
      <p:sp>
        <p:nvSpPr>
          <p:cNvPr id="9" name="Text 5">
            <a:extLst xmlns:a="http://schemas.openxmlformats.org/drawingml/2006/main">
              <a:ext uri="{FF2B5EF4-FFF2-40B4-BE49-F238E27FC236}">
                <a16:creationId xmlns:a16="http://schemas.microsoft.com/office/drawing/2014/main" id="{CAFC377B-7B3C-4B09-AF30-7BEB2907B1E0}"/>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Tabel Perbandingan</a:t>
            </a:r>
            <a:endParaRPr sz="1200"/>
          </a:p>
        </p:txBody>
      </p:sp>
      <p:graphicFrame>
        <p:nvGraphicFramePr>
          <p:cNvPr id="25" name="Table 0"/>
          <p:cNvGraphicFramePr/>
          <p:nvPr/>
        </p:nvGraphicFramePr>
        <p:xfrm>
          <a:off xmlns:a="http://schemas.openxmlformats.org/drawingml/2006/main" x="457200" y="1737360"/>
          <a:ext xmlns:a="http://schemas.openxmlformats.org/drawingml/2006/main" cx="11247120" cy="914400"/>
        </p:xfrm>
        <a:graphic xmlns:a="http://schemas.openxmlformats.org/drawingml/2006/main">
          <a:graphicData uri="http://schemas.openxmlformats.org/drawingml/2006/table">
            <a:tbl>
              <a:tblPr/>
              <a:tblGrid>
                <a:gridCol w="1097280"/>
                <a:gridCol w="2377440"/>
                <a:gridCol w="2194560"/>
                <a:gridCol w="2743200"/>
                <a:gridCol w="2834640"/>
              </a:tblGrid>
              <a:tr h="640080">
                <a:tc>
                  <a:txBody>
                    <a:bodyPr/>
                    <a:lstStyle/>
                    <a:p>
                      <a:pPr marL="0" indent="0" algn="ctr">
                        <a:buNone/>
                      </a:pPr>
                      <a:r>
                        <a:rPr sz="1100" b="1">
                          <a:solidFill>
                            <a:srgbClr val="FFFFFF"/>
                          </a:solidFill>
                          <a:latin typeface="Calibri"/>
                          <a:ea typeface="Calibri"/>
                          <a:cs typeface="Calibri"/>
                        </a:rPr>
                        <a:t>Model</a:t>
                      </a:r>
                      <a:endParaRPr sz="1100">
                        <a:latin typeface="Calibri"/>
                        <a:ea typeface="Calibri"/>
                        <a:cs typeface="Calibri"/>
                      </a:endParaRPr>
                    </a:p>
                  </a:txBody>
                  <a:tcPr marL="91440" marR="91440" marT="45720" marB="4572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002677"/>
                    </a:solidFill>
                  </a:tcPr>
                </a:tc>
                <a:tc>
                  <a:txBody>
                    <a:bodyPr/>
                    <a:lstStyle/>
                    <a:p>
                      <a:pPr marL="0" indent="0" algn="ctr">
                        <a:buNone/>
                      </a:pPr>
                      <a:r>
                        <a:rPr sz="1100" b="1">
                          <a:solidFill>
                            <a:srgbClr val="FFFFFF"/>
                          </a:solidFill>
                          <a:latin typeface="Calibri"/>
                          <a:ea typeface="Calibri"/>
                          <a:cs typeface="Calibri"/>
                        </a:rPr>
                        <a:t>Yang Disediakan</a:t>
                      </a:r>
                      <a:endParaRPr sz="1100">
                        <a:latin typeface="Calibri"/>
                        <a:ea typeface="Calibri"/>
                        <a:cs typeface="Calibri"/>
                      </a:endParaRPr>
                    </a:p>
                  </a:txBody>
                  <a:tcPr marL="91440" marR="91440" marT="45720" marB="4572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002677"/>
                    </a:solidFill>
                  </a:tcPr>
                </a:tc>
                <a:tc>
                  <a:txBody>
                    <a:bodyPr/>
                    <a:lstStyle/>
                    <a:p>
                      <a:pPr marL="0" indent="0" algn="ctr">
                        <a:buNone/>
                      </a:pPr>
                      <a:r>
                        <a:rPr sz="1100" b="1">
                          <a:solidFill>
                            <a:srgbClr val="FFFFFF"/>
                          </a:solidFill>
                          <a:latin typeface="Calibri"/>
                          <a:ea typeface="Calibri"/>
                          <a:cs typeface="Calibri"/>
                        </a:rPr>
                        <a:t>Yang Anda Urus</a:t>
                      </a:r>
                      <a:endParaRPr sz="1100">
                        <a:latin typeface="Calibri"/>
                        <a:ea typeface="Calibri"/>
                        <a:cs typeface="Calibri"/>
                      </a:endParaRPr>
                    </a:p>
                  </a:txBody>
                  <a:tcPr marL="91440" marR="91440" marT="45720" marB="4572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002677"/>
                    </a:solidFill>
                  </a:tcPr>
                </a:tc>
                <a:tc>
                  <a:txBody>
                    <a:bodyPr/>
                    <a:lstStyle/>
                    <a:p>
                      <a:pPr marL="0" indent="0" algn="ctr">
                        <a:buNone/>
                      </a:pPr>
                      <a:r>
                        <a:rPr sz="1100" b="1">
                          <a:solidFill>
                            <a:srgbClr val="FFFFFF"/>
                          </a:solidFill>
                          <a:latin typeface="Calibri"/>
                          <a:ea typeface="Calibri"/>
                          <a:cs typeface="Calibri"/>
                        </a:rPr>
                        <a:t>Contoh Layanan</a:t>
                      </a:r>
                      <a:endParaRPr sz="1100">
                        <a:latin typeface="Calibri"/>
                        <a:ea typeface="Calibri"/>
                        <a:cs typeface="Calibri"/>
                      </a:endParaRPr>
                    </a:p>
                  </a:txBody>
                  <a:tcPr marL="91440" marR="91440" marT="45720" marB="4572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002677"/>
                    </a:solidFill>
                  </a:tcPr>
                </a:tc>
                <a:tc>
                  <a:txBody>
                    <a:bodyPr/>
                    <a:lstStyle/>
                    <a:p>
                      <a:pPr marL="0" indent="0" algn="ctr">
                        <a:buNone/>
                      </a:pPr>
                      <a:r>
                        <a:rPr sz="1100" b="1">
                          <a:solidFill>
                            <a:srgbClr val="FFFFFF"/>
                          </a:solidFill>
                          <a:latin typeface="Calibri"/>
                          <a:ea typeface="Calibri"/>
                          <a:cs typeface="Calibri"/>
                        </a:rPr>
                        <a:t>Use Case Umum</a:t>
                      </a:r>
                      <a:endParaRPr sz="1100">
                        <a:latin typeface="Calibri"/>
                        <a:ea typeface="Calibri"/>
                        <a:cs typeface="Calibri"/>
                      </a:endParaRPr>
                    </a:p>
                  </a:txBody>
                  <a:tcPr marL="91440" marR="91440" marT="45720" marB="4572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002677"/>
                    </a:solidFill>
                  </a:tcPr>
                </a:tc>
              </a:tr>
              <a:tr h="640080">
                <a:tc>
                  <a:txBody>
                    <a:bodyPr/>
                    <a:lstStyle/>
                    <a:p>
                      <a:pPr marL="0" indent="0" algn="ctr">
                        <a:buNone/>
                      </a:pPr>
                      <a:r>
                        <a:rPr sz="1000" b="1">
                          <a:solidFill>
                            <a:srgbClr val="002677"/>
                          </a:solidFill>
                          <a:latin typeface="Calibri"/>
                          <a:ea typeface="Calibri"/>
                          <a:cs typeface="Calibri"/>
                        </a:rPr>
                        <a:t>IaaS</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VM, storage, network</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OS, runtime, app, data</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AWS EC2, GCP Compute</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Migrasi legacy, custom infra</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r>
              <a:tr h="640080">
                <a:tc>
                  <a:txBody>
                    <a:bodyPr/>
                    <a:lstStyle/>
                    <a:p>
                      <a:pPr marL="0" indent="0" algn="ctr">
                        <a:buNone/>
                      </a:pPr>
                      <a:r>
                        <a:rPr sz="1000" b="1">
                          <a:solidFill>
                            <a:srgbClr val="002677"/>
                          </a:solidFill>
                          <a:latin typeface="Calibri"/>
                          <a:ea typeface="Calibri"/>
                          <a:cs typeface="Calibri"/>
                        </a:rPr>
                        <a:t>PaaS</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Runtime, DB, scaling</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Aplikasi &amp; data</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Heroku, App Engine, Railway</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Web app cepat tanpa devops</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r>
              <a:tr h="640080">
                <a:tc>
                  <a:txBody>
                    <a:bodyPr/>
                    <a:lstStyle/>
                    <a:p>
                      <a:pPr marL="0" indent="0" algn="ctr">
                        <a:buNone/>
                      </a:pPr>
                      <a:r>
                        <a:rPr sz="1000" b="1">
                          <a:solidFill>
                            <a:srgbClr val="002677"/>
                          </a:solidFill>
                          <a:latin typeface="Calibri"/>
                          <a:ea typeface="Calibri"/>
                          <a:cs typeface="Calibri"/>
                        </a:rPr>
                        <a:t>SaaS</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Aplikasi lengkap</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Konfigurasi &amp; data user</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Gmail, Notion, Figma</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End-user productivity</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r>
              <a:tr h="640080">
                <a:tc>
                  <a:txBody>
                    <a:bodyPr/>
                    <a:lstStyle/>
                    <a:p>
                      <a:pPr marL="0" indent="0" algn="ctr">
                        <a:buNone/>
                      </a:pPr>
                      <a:r>
                        <a:rPr sz="1000" b="1">
                          <a:solidFill>
                            <a:srgbClr val="002677"/>
                          </a:solidFill>
                          <a:latin typeface="Calibri"/>
                          <a:ea typeface="Calibri"/>
                          <a:cs typeface="Calibri"/>
                        </a:rPr>
                        <a:t>BaaS</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DB + Auth + Storage + API</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Frontend &amp; schema</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Supabase, Firebase</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Mobile / web app cepat</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r>
              <a:tr h="640080">
                <a:tc>
                  <a:txBody>
                    <a:bodyPr/>
                    <a:lstStyle/>
                    <a:p>
                      <a:pPr marL="0" indent="0" algn="ctr">
                        <a:buNone/>
                      </a:pPr>
                      <a:r>
                        <a:rPr sz="1000" b="1">
                          <a:solidFill>
                            <a:srgbClr val="002677"/>
                          </a:solidFill>
                          <a:latin typeface="Calibri"/>
                          <a:ea typeface="Calibri"/>
                          <a:cs typeface="Calibri"/>
                        </a:rPr>
                        <a:t>FaaS</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Eksekusi fungsi event-driven</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Logika fungsi</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Vercel, Lambda, Cloudflare Workers</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API ringan, webhook, automation</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r>
            </a:tbl>
          </a:graphicData>
        </a:graphic>
      </p:graphicFrame>
      <p:pic>
        <p:nvPicPr>
          <p:cNvPr id="26" name="Image 2"/>
          <p:cNvPicPr>
            <a:picLocks xmlns:a="http://schemas.openxmlformats.org/drawingml/2006/main" noChangeAspect="1"/>
          </p:cNvPicPr>
          <p:nvPr/>
        </p:nvPicPr>
        <p:blipFill>
          <a:blip xmlns:r="http://schemas.openxmlformats.org/officeDocument/2006/relationships" xmlns:a="http://schemas.openxmlformats.org/drawingml/2006/main" r:embed="R2107bbb6e2954b7f"/>
          <a:stretch xmlns:a="http://schemas.openxmlformats.org/drawingml/2006/main">
            <a:fillRect l="0" t="0" r="0" b="0"/>
          </a:stretch>
        </p:blipFill>
        <p:spPr>
          <a:xfrm xmlns:a="http://schemas.openxmlformats.org/drawingml/2006/main">
            <a:off x="457200" y="5852160"/>
            <a:ext cx="320040" cy="320040"/>
          </a:xfrm>
          <a:prstGeom xmlns:a="http://schemas.openxmlformats.org/drawingml/2006/main" prst="rect">
            <a:avLst/>
          </a:prstGeom>
        </p:spPr>
      </p:pic>
      <p:sp>
        <p:nvSpPr>
          <p:cNvPr id="12" name="Text 6">
            <a:extLst xmlns:a="http://schemas.openxmlformats.org/drawingml/2006/main">
              <a:ext uri="{FF2B5EF4-FFF2-40B4-BE49-F238E27FC236}">
                <a16:creationId xmlns:a16="http://schemas.microsoft.com/office/drawing/2014/main" id="{F2F5311F-155D-44EB-8C42-1FAA25C38365}"/>
              </a:ext>
            </a:extLst>
          </p:cNvPr>
          <p:cNvSpPr>
            <a:spLocks xmlns:a="http://schemas.openxmlformats.org/drawingml/2006/main" noGrp="1"/>
          </p:cNvSpPr>
          <p:nvPr/>
        </p:nvSpPr>
        <p:spPr>
          <a:xfrm xmlns:a="http://schemas.openxmlformats.org/drawingml/2006/main">
            <a:off x="914400" y="5852160"/>
            <a:ext cx="10515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64748B"/>
                </a:solidFill>
                <a:latin typeface="Calibri"/>
                <a:ea typeface="Calibri"/>
                <a:cs typeface="Calibri"/>
              </a:rPr>
              <a:t>Banyak layanan modern hybrid - misal Vercel (FaaS + static hosting), Supabase (BaaS dengan DB sebagai PaaS).</a:t>
            </a:r>
            <a:endParaRPr sz="1100"/>
          </a:p>
        </p:txBody>
      </p:sp>
    </p:spTree>
    <p:extLst>
      <p:ext uri="{BB962C8B-B14F-4D97-AF65-F5344CB8AC3E}">
        <p14:creationId xmlns:p14="http://schemas.microsoft.com/office/powerpoint/2010/main" val="2060025299"/>
      </p:ext>
    </p:extLst>
  </p:cSld>
</p:sld>
</file>

<file path=ppt/slides/slide20.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35EFBD3-E441-42FE-B527-E48276E5E2AD}"/>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40B02081-8AC8-4E5D-B483-84D1BFF21CA1}"/>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F65F81C3-D74E-437A-ABF2-F27B65C4C95D}"/>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297C0DD2-B3A7-4F18-B7A9-FF8B6B092ABE}"/>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A9610ACF-9D79-49C5-95B6-F3C3E88AAFC9}"/>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28081E6A-1E89-4867-9AA4-65F5EFC74C2B}"/>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35E86D56-D64F-4D69-A255-CBE0379A2093}"/>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c76b738b5b044798"/>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p:cNvPicPr>
            <a:picLocks xmlns:a="http://schemas.openxmlformats.org/drawingml/2006/main" noChangeAspect="1"/>
          </p:cNvPicPr>
          <p:nvPr/>
        </p:nvPicPr>
        <p:blipFill>
          <a:blip xmlns:r="http://schemas.openxmlformats.org/officeDocument/2006/relationships" xmlns:a="http://schemas.openxmlformats.org/drawingml/2006/main" r:embed="R1fba8eeb26ab4987"/>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77E4A8FE-4F88-46BF-A70A-388028F13032}"/>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03</a:t>
            </a:r>
            <a:endParaRPr sz="1600"/>
          </a:p>
        </p:txBody>
      </p:sp>
      <p:sp>
        <p:nvSpPr>
          <p:cNvPr id="12" name="Text 8">
            <a:extLst xmlns:a="http://schemas.openxmlformats.org/drawingml/2006/main">
              <a:ext uri="{FF2B5EF4-FFF2-40B4-BE49-F238E27FC236}">
                <a16:creationId xmlns:a16="http://schemas.microsoft.com/office/drawing/2014/main" id="{61CF93D9-9E0C-481C-9BD3-A43EDD250BFB}"/>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Deployment Models</a:t>
            </a:r>
            <a:endParaRPr sz="5200"/>
          </a:p>
        </p:txBody>
      </p:sp>
      <p:sp>
        <p:nvSpPr>
          <p:cNvPr id="13" name="Shape 9">
            <a:extLst xmlns:a="http://schemas.openxmlformats.org/drawingml/2006/main">
              <a:ext uri="{FF2B5EF4-FFF2-40B4-BE49-F238E27FC236}">
                <a16:creationId xmlns:a16="http://schemas.microsoft.com/office/drawing/2014/main" id="{2660B9FD-6A3F-4425-A359-79647D4D6CFF}"/>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E5B0E602-0EDF-4351-908A-32B0535DD077}"/>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Public, Private, Hybrid, Multi-cloud: di mana cloud Anda dijalankan.</a:t>
            </a:r>
            <a:endParaRPr sz="1400"/>
          </a:p>
        </p:txBody>
      </p:sp>
    </p:spTree>
    <p:extLst>
      <p:ext uri="{BB962C8B-B14F-4D97-AF65-F5344CB8AC3E}">
        <p14:creationId xmlns:p14="http://schemas.microsoft.com/office/powerpoint/2010/main" val="16575991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65BA8FE-2064-480D-877C-75690033C2B8}"/>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7E39D832-0AEC-49D2-84AC-7E9619619E76}"/>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21</a:t>
            </a:r>
            <a:endParaRPr sz="900"/>
          </a:p>
        </p:txBody>
      </p:sp>
      <p:sp>
        <p:nvSpPr>
          <p:cNvPr id="4" name="Shape 2">
            <a:extLst xmlns:a="http://schemas.openxmlformats.org/drawingml/2006/main">
              <a:ext uri="{FF2B5EF4-FFF2-40B4-BE49-F238E27FC236}">
                <a16:creationId xmlns:a16="http://schemas.microsoft.com/office/drawing/2014/main" id="{F7832FDB-24C7-41DF-A34F-84AFB34CFF1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1" name="Image 0"/>
          <p:cNvPicPr>
            <a:picLocks xmlns:a="http://schemas.openxmlformats.org/drawingml/2006/main" noChangeAspect="1"/>
          </p:cNvPicPr>
          <p:nvPr/>
        </p:nvPicPr>
        <p:blipFill>
          <a:blip xmlns:r="http://schemas.openxmlformats.org/officeDocument/2006/relationships" xmlns:a="http://schemas.openxmlformats.org/drawingml/2006/main" r:embed="R8056e8b68ff2442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2" name="Image 1"/>
          <p:cNvPicPr>
            <a:picLocks xmlns:a="http://schemas.openxmlformats.org/drawingml/2006/main" noChangeAspect="1"/>
          </p:cNvPicPr>
          <p:nvPr/>
        </p:nvPicPr>
        <p:blipFill>
          <a:blip xmlns:r="http://schemas.openxmlformats.org/officeDocument/2006/relationships" xmlns:a="http://schemas.openxmlformats.org/drawingml/2006/main" r:embed="R98a37030c8a04cf9"/>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DFF19FE9-AD75-4DE8-AF91-31BB61221889}"/>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9CCA7FCB-8A5A-4141-A883-B4A02F3E1DEB}"/>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Public vs Private vs Hybrid</a:t>
            </a:r>
            <a:endParaRPr sz="2200"/>
          </a:p>
        </p:txBody>
      </p:sp>
      <p:sp>
        <p:nvSpPr>
          <p:cNvPr id="9" name="Text 5">
            <a:extLst xmlns:a="http://schemas.openxmlformats.org/drawingml/2006/main">
              <a:ext uri="{FF2B5EF4-FFF2-40B4-BE49-F238E27FC236}">
                <a16:creationId xmlns:a16="http://schemas.microsoft.com/office/drawing/2014/main" id="{4E1F8947-38CB-45EB-87AA-D0E03B0D39CE}"/>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Tiga Cara Cloud di-Deploy</a:t>
            </a:r>
            <a:endParaRPr sz="1200"/>
          </a:p>
        </p:txBody>
      </p:sp>
      <p:sp>
        <p:nvSpPr>
          <p:cNvPr id="10" name="Shape 6">
            <a:extLst xmlns:a="http://schemas.openxmlformats.org/drawingml/2006/main">
              <a:ext uri="{FF2B5EF4-FFF2-40B4-BE49-F238E27FC236}">
                <a16:creationId xmlns:a16="http://schemas.microsoft.com/office/drawing/2014/main" id="{9C05C2A3-CE3F-40A1-940C-C132BB7127B5}"/>
              </a:ext>
            </a:extLst>
          </p:cNvPr>
          <p:cNvSpPr>
            <a:spLocks xmlns:a="http://schemas.openxmlformats.org/drawingml/2006/main" noGrp="1"/>
          </p:cNvSpPr>
          <p:nvPr/>
        </p:nvSpPr>
        <p:spPr>
          <a:xfrm xmlns:a="http://schemas.openxmlformats.org/drawingml/2006/main">
            <a:off x="457200" y="1691640"/>
            <a:ext cx="3657600" cy="44805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82ECA9FB-9620-43DE-88C4-815DDA422F5E}"/>
              </a:ext>
            </a:extLst>
          </p:cNvPr>
          <p:cNvSpPr>
            <a:spLocks xmlns:a="http://schemas.openxmlformats.org/drawingml/2006/main" noGrp="1"/>
          </p:cNvSpPr>
          <p:nvPr/>
        </p:nvSpPr>
        <p:spPr>
          <a:xfrm xmlns:a="http://schemas.openxmlformats.org/drawingml/2006/main">
            <a:off x="457200" y="1691640"/>
            <a:ext cx="3657600" cy="8229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8" name="Image 2"/>
          <p:cNvPicPr>
            <a:picLocks xmlns:a="http://schemas.openxmlformats.org/drawingml/2006/main" noChangeAspect="1"/>
          </p:cNvPicPr>
          <p:nvPr/>
        </p:nvPicPr>
        <p:blipFill>
          <a:blip xmlns:r="http://schemas.openxmlformats.org/officeDocument/2006/relationships" xmlns:a="http://schemas.openxmlformats.org/drawingml/2006/main" r:embed="R18b8596dd1ba4da2"/>
          <a:stretch xmlns:a="http://schemas.openxmlformats.org/drawingml/2006/main">
            <a:fillRect l="0" t="0" r="0" b="0"/>
          </a:stretch>
        </p:blipFill>
        <p:spPr>
          <a:xfrm xmlns:a="http://schemas.openxmlformats.org/drawingml/2006/main">
            <a:off x="685800" y="1874520"/>
            <a:ext cx="457200" cy="45720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AEAED34C-A96D-4EAC-9919-45ADCB0BCD7A}"/>
              </a:ext>
            </a:extLst>
          </p:cNvPr>
          <p:cNvSpPr>
            <a:spLocks xmlns:a="http://schemas.openxmlformats.org/drawingml/2006/main" noGrp="1"/>
          </p:cNvSpPr>
          <p:nvPr/>
        </p:nvSpPr>
        <p:spPr>
          <a:xfrm xmlns:a="http://schemas.openxmlformats.org/drawingml/2006/main">
            <a:off x="1234440" y="1856232"/>
            <a:ext cx="2743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FFFFFF"/>
                </a:solidFill>
                <a:latin typeface="Calibri"/>
                <a:ea typeface="Calibri"/>
                <a:cs typeface="Calibri"/>
              </a:rPr>
              <a:t>PUBLIC</a:t>
            </a:r>
            <a:endParaRPr sz="2200"/>
          </a:p>
        </p:txBody>
      </p:sp>
      <p:sp>
        <p:nvSpPr>
          <p:cNvPr id="14" name="Text 9">
            <a:extLst xmlns:a="http://schemas.openxmlformats.org/drawingml/2006/main">
              <a:ext uri="{FF2B5EF4-FFF2-40B4-BE49-F238E27FC236}">
                <a16:creationId xmlns:a16="http://schemas.microsoft.com/office/drawing/2014/main" id="{9ABCF5E0-15D0-41C7-A76C-579189C6EDD5}"/>
              </a:ext>
            </a:extLst>
          </p:cNvPr>
          <p:cNvSpPr>
            <a:spLocks xmlns:a="http://schemas.openxmlformats.org/drawingml/2006/main" noGrp="1"/>
          </p:cNvSpPr>
          <p:nvPr/>
        </p:nvSpPr>
        <p:spPr>
          <a:xfrm xmlns:a="http://schemas.openxmlformats.org/drawingml/2006/main">
            <a:off x="640080" y="2651760"/>
            <a:ext cx="329184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Infrastruktur dimiliki provider, dipakai banyak pelanggan (multi-tenant).</a:t>
            </a:r>
            <a:endParaRPr sz="1100"/>
          </a:p>
        </p:txBody>
      </p:sp>
      <p:sp>
        <p:nvSpPr>
          <p:cNvPr id="15" name="Text 10">
            <a:extLst xmlns:a="http://schemas.openxmlformats.org/drawingml/2006/main">
              <a:ext uri="{FF2B5EF4-FFF2-40B4-BE49-F238E27FC236}">
                <a16:creationId xmlns:a16="http://schemas.microsoft.com/office/drawing/2014/main" id="{2B279129-A115-4CC5-A0CC-8EB5F67337CE}"/>
              </a:ext>
            </a:extLst>
          </p:cNvPr>
          <p:cNvSpPr>
            <a:spLocks xmlns:a="http://schemas.openxmlformats.org/drawingml/2006/main" noGrp="1"/>
          </p:cNvSpPr>
          <p:nvPr/>
        </p:nvSpPr>
        <p:spPr>
          <a:xfrm xmlns:a="http://schemas.openxmlformats.org/drawingml/2006/main">
            <a:off x="640080" y="365760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59669"/>
                </a:solidFill>
                <a:latin typeface="Calibri"/>
                <a:ea typeface="Calibri"/>
                <a:cs typeface="Calibri"/>
              </a:rPr>
              <a:t>Kelebihan:</a:t>
            </a:r>
            <a:endParaRPr sz="1000"/>
          </a:p>
        </p:txBody>
      </p:sp>
      <p:sp>
        <p:nvSpPr>
          <p:cNvPr id="16" name="Text 11">
            <a:extLst xmlns:a="http://schemas.openxmlformats.org/drawingml/2006/main">
              <a:ext uri="{FF2B5EF4-FFF2-40B4-BE49-F238E27FC236}">
                <a16:creationId xmlns:a16="http://schemas.microsoft.com/office/drawing/2014/main" id="{CB76D26B-B868-43BA-B9BD-2E6040905641}"/>
              </a:ext>
            </a:extLst>
          </p:cNvPr>
          <p:cNvSpPr>
            <a:spLocks xmlns:a="http://schemas.openxmlformats.org/drawingml/2006/main" noGrp="1"/>
          </p:cNvSpPr>
          <p:nvPr/>
        </p:nvSpPr>
        <p:spPr>
          <a:xfrm xmlns:a="http://schemas.openxmlformats.org/drawingml/2006/main">
            <a:off x="777240" y="3931920"/>
            <a:ext cx="3200400"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buSzPct val="100000"/>
              <a:buChar char="✓"/>
            </a:pPr>
            <a:r>
              <a:rPr sz="1000">
                <a:solidFill>
                  <a:srgbClr val="1E293B"/>
                </a:solidFill>
                <a:latin typeface="Calibri"/>
                <a:ea typeface="Calibri"/>
                <a:cs typeface="Calibri"/>
              </a:rPr>
              <a:t>Modal awal rendah</a:t>
            </a:r>
            <a:endParaRPr sz="1000"/>
          </a:p>
          <a:p xmlns:a="http://schemas.openxmlformats.org/drawingml/2006/main">
            <a:pPr marL="342900" indent="-342900">
              <a:buSzPct val="100000"/>
              <a:buChar char="✓"/>
            </a:pPr>
            <a:r>
              <a:rPr sz="1000">
                <a:solidFill>
                  <a:srgbClr val="1E293B"/>
                </a:solidFill>
                <a:latin typeface="Calibri"/>
                <a:ea typeface="Calibri"/>
                <a:cs typeface="Calibri"/>
              </a:rPr>
              <a:t>Skala global cepat</a:t>
            </a:r>
            <a:endParaRPr sz="1000"/>
          </a:p>
          <a:p xmlns:a="http://schemas.openxmlformats.org/drawingml/2006/main">
            <a:pPr marL="342900" indent="-342900">
              <a:buSzPct val="100000"/>
              <a:buChar char="✓"/>
            </a:pPr>
            <a:r>
              <a:rPr sz="1000">
                <a:solidFill>
                  <a:srgbClr val="1E293B"/>
                </a:solidFill>
                <a:latin typeface="Calibri"/>
                <a:ea typeface="Calibri"/>
                <a:cs typeface="Calibri"/>
              </a:rPr>
              <a:t>Pay-as-you-go</a:t>
            </a:r>
            <a:endParaRPr sz="1000"/>
          </a:p>
          <a:p xmlns:a="http://schemas.openxmlformats.org/drawingml/2006/main">
            <a:pPr marL="342900" indent="-342900">
              <a:buSzPct val="100000"/>
              <a:buChar char="✓"/>
            </a:pPr>
            <a:r>
              <a:rPr sz="1000">
                <a:solidFill>
                  <a:srgbClr val="1E293B"/>
                </a:solidFill>
                <a:latin typeface="Calibri"/>
                <a:ea typeface="Calibri"/>
                <a:cs typeface="Calibri"/>
              </a:rPr>
              <a:t>Inovasi tercepat</a:t>
            </a:r>
            <a:endParaRPr sz="1000"/>
          </a:p>
        </p:txBody>
      </p:sp>
      <p:sp>
        <p:nvSpPr>
          <p:cNvPr id="17" name="Text 12">
            <a:extLst xmlns:a="http://schemas.openxmlformats.org/drawingml/2006/main">
              <a:ext uri="{FF2B5EF4-FFF2-40B4-BE49-F238E27FC236}">
                <a16:creationId xmlns:a16="http://schemas.microsoft.com/office/drawing/2014/main" id="{9D056CC8-CD27-4F1E-B446-9A0620B0C04A}"/>
              </a:ext>
            </a:extLst>
          </p:cNvPr>
          <p:cNvSpPr>
            <a:spLocks xmlns:a="http://schemas.openxmlformats.org/drawingml/2006/main" noGrp="1"/>
          </p:cNvSpPr>
          <p:nvPr/>
        </p:nvSpPr>
        <p:spPr>
          <a:xfrm xmlns:a="http://schemas.openxmlformats.org/drawingml/2006/main">
            <a:off x="640080" y="484632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DC2626"/>
                </a:solidFill>
                <a:latin typeface="Calibri"/>
                <a:ea typeface="Calibri"/>
                <a:cs typeface="Calibri"/>
              </a:rPr>
              <a:t>Kekurangan:</a:t>
            </a:r>
            <a:endParaRPr sz="1000"/>
          </a:p>
        </p:txBody>
      </p:sp>
      <p:sp>
        <p:nvSpPr>
          <p:cNvPr id="18" name="Text 13">
            <a:extLst xmlns:a="http://schemas.openxmlformats.org/drawingml/2006/main">
              <a:ext uri="{FF2B5EF4-FFF2-40B4-BE49-F238E27FC236}">
                <a16:creationId xmlns:a16="http://schemas.microsoft.com/office/drawing/2014/main" id="{33705CEA-9573-432C-B7A5-C07CA7D10D8E}"/>
              </a:ext>
            </a:extLst>
          </p:cNvPr>
          <p:cNvSpPr>
            <a:spLocks xmlns:a="http://schemas.openxmlformats.org/drawingml/2006/main" noGrp="1"/>
          </p:cNvSpPr>
          <p:nvPr/>
        </p:nvSpPr>
        <p:spPr>
          <a:xfrm xmlns:a="http://schemas.openxmlformats.org/drawingml/2006/main">
            <a:off x="777240" y="5120640"/>
            <a:ext cx="320040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buSzPct val="100000"/>
              <a:buChar char="✗"/>
            </a:pPr>
            <a:r>
              <a:rPr sz="1000">
                <a:solidFill>
                  <a:srgbClr val="1E293B"/>
                </a:solidFill>
                <a:latin typeface="Calibri"/>
                <a:ea typeface="Calibri"/>
                <a:cs typeface="Calibri"/>
              </a:rPr>
              <a:t>Kontrol terbatas</a:t>
            </a:r>
            <a:endParaRPr sz="1000"/>
          </a:p>
          <a:p xmlns:a="http://schemas.openxmlformats.org/drawingml/2006/main">
            <a:pPr marL="342900" indent="-342900">
              <a:buSzPct val="100000"/>
              <a:buChar char="✗"/>
            </a:pPr>
            <a:r>
              <a:rPr sz="1000">
                <a:solidFill>
                  <a:srgbClr val="1E293B"/>
                </a:solidFill>
                <a:latin typeface="Calibri"/>
                <a:ea typeface="Calibri"/>
                <a:cs typeface="Calibri"/>
              </a:rPr>
              <a:t>Compliance ribet</a:t>
            </a:r>
            <a:endParaRPr sz="1000"/>
          </a:p>
        </p:txBody>
      </p:sp>
      <p:sp>
        <p:nvSpPr>
          <p:cNvPr id="19" name="Shape 14">
            <a:extLst xmlns:a="http://schemas.openxmlformats.org/drawingml/2006/main">
              <a:ext uri="{FF2B5EF4-FFF2-40B4-BE49-F238E27FC236}">
                <a16:creationId xmlns:a16="http://schemas.microsoft.com/office/drawing/2014/main" id="{10D7AF0E-FACB-4A0F-99A0-5B56EB217A89}"/>
              </a:ext>
            </a:extLst>
          </p:cNvPr>
          <p:cNvSpPr>
            <a:spLocks xmlns:a="http://schemas.openxmlformats.org/drawingml/2006/main" noGrp="1"/>
          </p:cNvSpPr>
          <p:nvPr/>
        </p:nvSpPr>
        <p:spPr>
          <a:xfrm xmlns:a="http://schemas.openxmlformats.org/drawingml/2006/main">
            <a:off x="457200" y="5715000"/>
            <a:ext cx="3657600" cy="4572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0" name="Text 15">
            <a:extLst xmlns:a="http://schemas.openxmlformats.org/drawingml/2006/main">
              <a:ext uri="{FF2B5EF4-FFF2-40B4-BE49-F238E27FC236}">
                <a16:creationId xmlns:a16="http://schemas.microsoft.com/office/drawing/2014/main" id="{E627837B-AA3E-4167-A8DC-604C6DF232A5}"/>
              </a:ext>
            </a:extLst>
          </p:cNvPr>
          <p:cNvSpPr>
            <a:spLocks xmlns:a="http://schemas.openxmlformats.org/drawingml/2006/main" noGrp="1"/>
          </p:cNvSpPr>
          <p:nvPr/>
        </p:nvSpPr>
        <p:spPr>
          <a:xfrm xmlns:a="http://schemas.openxmlformats.org/drawingml/2006/main">
            <a:off x="594360" y="5715000"/>
            <a:ext cx="3383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i="1">
                <a:solidFill>
                  <a:srgbClr val="64748B"/>
                </a:solidFill>
                <a:latin typeface="Calibri"/>
                <a:ea typeface="Calibri"/>
                <a:cs typeface="Calibri"/>
              </a:rPr>
              <a:t>AWS, Azure, GCP, Vercel, Supabase</a:t>
            </a:r>
            <a:endParaRPr sz="900"/>
          </a:p>
        </p:txBody>
      </p:sp>
      <p:sp>
        <p:nvSpPr>
          <p:cNvPr id="21" name="Shape 16">
            <a:extLst xmlns:a="http://schemas.openxmlformats.org/drawingml/2006/main">
              <a:ext uri="{FF2B5EF4-FFF2-40B4-BE49-F238E27FC236}">
                <a16:creationId xmlns:a16="http://schemas.microsoft.com/office/drawing/2014/main" id="{FF41963C-9873-4BF3-B712-65060B759812}"/>
              </a:ext>
            </a:extLst>
          </p:cNvPr>
          <p:cNvSpPr>
            <a:spLocks xmlns:a="http://schemas.openxmlformats.org/drawingml/2006/main" noGrp="1"/>
          </p:cNvSpPr>
          <p:nvPr/>
        </p:nvSpPr>
        <p:spPr>
          <a:xfrm xmlns:a="http://schemas.openxmlformats.org/drawingml/2006/main">
            <a:off x="4251960" y="1691640"/>
            <a:ext cx="3657600" cy="44805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2" name="Shape 17">
            <a:extLst xmlns:a="http://schemas.openxmlformats.org/drawingml/2006/main">
              <a:ext uri="{FF2B5EF4-FFF2-40B4-BE49-F238E27FC236}">
                <a16:creationId xmlns:a16="http://schemas.microsoft.com/office/drawing/2014/main" id="{54CE9467-6017-43D1-BB69-53B20E55A1FD}"/>
              </a:ext>
            </a:extLst>
          </p:cNvPr>
          <p:cNvSpPr>
            <a:spLocks xmlns:a="http://schemas.openxmlformats.org/drawingml/2006/main" noGrp="1"/>
          </p:cNvSpPr>
          <p:nvPr/>
        </p:nvSpPr>
        <p:spPr>
          <a:xfrm xmlns:a="http://schemas.openxmlformats.org/drawingml/2006/main">
            <a:off x="4251960" y="1691640"/>
            <a:ext cx="3657600" cy="8229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69" name="Image 3"/>
          <p:cNvPicPr>
            <a:picLocks xmlns:a="http://schemas.openxmlformats.org/drawingml/2006/main" noChangeAspect="1"/>
          </p:cNvPicPr>
          <p:nvPr/>
        </p:nvPicPr>
        <p:blipFill>
          <a:blip xmlns:r="http://schemas.openxmlformats.org/officeDocument/2006/relationships" xmlns:a="http://schemas.openxmlformats.org/drawingml/2006/main" r:embed="R4790e41ec4074603"/>
          <a:stretch xmlns:a="http://schemas.openxmlformats.org/drawingml/2006/main">
            <a:fillRect l="0" t="0" r="0" b="0"/>
          </a:stretch>
        </p:blipFill>
        <p:spPr>
          <a:xfrm xmlns:a="http://schemas.openxmlformats.org/drawingml/2006/main">
            <a:off x="4480560" y="1874520"/>
            <a:ext cx="457200" cy="457200"/>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F9E41E02-FDAE-4C2F-BD54-1C66922C2107}"/>
              </a:ext>
            </a:extLst>
          </p:cNvPr>
          <p:cNvSpPr>
            <a:spLocks xmlns:a="http://schemas.openxmlformats.org/drawingml/2006/main" noGrp="1"/>
          </p:cNvSpPr>
          <p:nvPr/>
        </p:nvSpPr>
        <p:spPr>
          <a:xfrm xmlns:a="http://schemas.openxmlformats.org/drawingml/2006/main">
            <a:off x="5029200" y="1856232"/>
            <a:ext cx="2743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FFFFFF"/>
                </a:solidFill>
                <a:latin typeface="Calibri"/>
                <a:ea typeface="Calibri"/>
                <a:cs typeface="Calibri"/>
              </a:rPr>
              <a:t>PRIVATE</a:t>
            </a:r>
            <a:endParaRPr sz="2200"/>
          </a:p>
        </p:txBody>
      </p:sp>
      <p:sp>
        <p:nvSpPr>
          <p:cNvPr id="25" name="Text 19">
            <a:extLst xmlns:a="http://schemas.openxmlformats.org/drawingml/2006/main">
              <a:ext uri="{FF2B5EF4-FFF2-40B4-BE49-F238E27FC236}">
                <a16:creationId xmlns:a16="http://schemas.microsoft.com/office/drawing/2014/main" id="{178CCF96-0EDE-4223-81E7-FE21D7D1D860}"/>
              </a:ext>
            </a:extLst>
          </p:cNvPr>
          <p:cNvSpPr>
            <a:spLocks xmlns:a="http://schemas.openxmlformats.org/drawingml/2006/main" noGrp="1"/>
          </p:cNvSpPr>
          <p:nvPr/>
        </p:nvSpPr>
        <p:spPr>
          <a:xfrm xmlns:a="http://schemas.openxmlformats.org/drawingml/2006/main">
            <a:off x="4434840" y="2651760"/>
            <a:ext cx="329184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Infrastruktur cloud eksklusif untuk satu organisasi - on-premise atau di-host.</a:t>
            </a:r>
            <a:endParaRPr sz="1100"/>
          </a:p>
        </p:txBody>
      </p:sp>
      <p:sp>
        <p:nvSpPr>
          <p:cNvPr id="26" name="Text 20">
            <a:extLst xmlns:a="http://schemas.openxmlformats.org/drawingml/2006/main">
              <a:ext uri="{FF2B5EF4-FFF2-40B4-BE49-F238E27FC236}">
                <a16:creationId xmlns:a16="http://schemas.microsoft.com/office/drawing/2014/main" id="{5EA51280-F30D-4150-9571-24B61C804D37}"/>
              </a:ext>
            </a:extLst>
          </p:cNvPr>
          <p:cNvSpPr>
            <a:spLocks xmlns:a="http://schemas.openxmlformats.org/drawingml/2006/main" noGrp="1"/>
          </p:cNvSpPr>
          <p:nvPr/>
        </p:nvSpPr>
        <p:spPr>
          <a:xfrm xmlns:a="http://schemas.openxmlformats.org/drawingml/2006/main">
            <a:off x="4434840" y="365760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59669"/>
                </a:solidFill>
                <a:latin typeface="Calibri"/>
                <a:ea typeface="Calibri"/>
                <a:cs typeface="Calibri"/>
              </a:rPr>
              <a:t>Kelebihan:</a:t>
            </a:r>
            <a:endParaRPr sz="1000"/>
          </a:p>
        </p:txBody>
      </p:sp>
      <p:sp>
        <p:nvSpPr>
          <p:cNvPr id="27" name="Text 21">
            <a:extLst xmlns:a="http://schemas.openxmlformats.org/drawingml/2006/main">
              <a:ext uri="{FF2B5EF4-FFF2-40B4-BE49-F238E27FC236}">
                <a16:creationId xmlns:a16="http://schemas.microsoft.com/office/drawing/2014/main" id="{EEA95761-72D0-4BC1-A02D-DD9D4D9CBE75}"/>
              </a:ext>
            </a:extLst>
          </p:cNvPr>
          <p:cNvSpPr>
            <a:spLocks xmlns:a="http://schemas.openxmlformats.org/drawingml/2006/main" noGrp="1"/>
          </p:cNvSpPr>
          <p:nvPr/>
        </p:nvSpPr>
        <p:spPr>
          <a:xfrm xmlns:a="http://schemas.openxmlformats.org/drawingml/2006/main">
            <a:off x="4572000" y="3931920"/>
            <a:ext cx="3200400"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buSzPct val="100000"/>
              <a:buChar char="✓"/>
            </a:pPr>
            <a:r>
              <a:rPr sz="1000">
                <a:solidFill>
                  <a:srgbClr val="1E293B"/>
                </a:solidFill>
                <a:latin typeface="Calibri"/>
                <a:ea typeface="Calibri"/>
                <a:cs typeface="Calibri"/>
              </a:rPr>
              <a:t>Kontrol penuh</a:t>
            </a:r>
            <a:endParaRPr sz="1000"/>
          </a:p>
          <a:p xmlns:a="http://schemas.openxmlformats.org/drawingml/2006/main">
            <a:pPr marL="342900" indent="-342900">
              <a:buSzPct val="100000"/>
              <a:buChar char="✓"/>
            </a:pPr>
            <a:r>
              <a:rPr sz="1000">
                <a:solidFill>
                  <a:srgbClr val="1E293B"/>
                </a:solidFill>
                <a:latin typeface="Calibri"/>
                <a:ea typeface="Calibri"/>
                <a:cs typeface="Calibri"/>
              </a:rPr>
              <a:t>Compliance ketat (HIPAA, gov)</a:t>
            </a:r>
            <a:endParaRPr sz="1000"/>
          </a:p>
          <a:p xmlns:a="http://schemas.openxmlformats.org/drawingml/2006/main">
            <a:pPr marL="342900" indent="-342900">
              <a:buSzPct val="100000"/>
              <a:buChar char="✓"/>
            </a:pPr>
            <a:r>
              <a:rPr sz="1000">
                <a:solidFill>
                  <a:srgbClr val="1E293B"/>
                </a:solidFill>
                <a:latin typeface="Calibri"/>
                <a:ea typeface="Calibri"/>
                <a:cs typeface="Calibri"/>
              </a:rPr>
              <a:t>Performa konsisten</a:t>
            </a:r>
            <a:endParaRPr sz="1000"/>
          </a:p>
        </p:txBody>
      </p:sp>
      <p:sp>
        <p:nvSpPr>
          <p:cNvPr id="28" name="Text 22">
            <a:extLst xmlns:a="http://schemas.openxmlformats.org/drawingml/2006/main">
              <a:ext uri="{FF2B5EF4-FFF2-40B4-BE49-F238E27FC236}">
                <a16:creationId xmlns:a16="http://schemas.microsoft.com/office/drawing/2014/main" id="{8187CEED-9CF3-44C6-8B61-D4884F42B085}"/>
              </a:ext>
            </a:extLst>
          </p:cNvPr>
          <p:cNvSpPr>
            <a:spLocks xmlns:a="http://schemas.openxmlformats.org/drawingml/2006/main" noGrp="1"/>
          </p:cNvSpPr>
          <p:nvPr/>
        </p:nvSpPr>
        <p:spPr>
          <a:xfrm xmlns:a="http://schemas.openxmlformats.org/drawingml/2006/main">
            <a:off x="4434840" y="484632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DC2626"/>
                </a:solidFill>
                <a:latin typeface="Calibri"/>
                <a:ea typeface="Calibri"/>
                <a:cs typeface="Calibri"/>
              </a:rPr>
              <a:t>Kekurangan:</a:t>
            </a:r>
            <a:endParaRPr sz="1000"/>
          </a:p>
        </p:txBody>
      </p:sp>
      <p:sp>
        <p:nvSpPr>
          <p:cNvPr id="29" name="Text 23">
            <a:extLst xmlns:a="http://schemas.openxmlformats.org/drawingml/2006/main">
              <a:ext uri="{FF2B5EF4-FFF2-40B4-BE49-F238E27FC236}">
                <a16:creationId xmlns:a16="http://schemas.microsoft.com/office/drawing/2014/main" id="{726C6BD9-41D4-4F41-8B18-93D8CA126F9A}"/>
              </a:ext>
            </a:extLst>
          </p:cNvPr>
          <p:cNvSpPr>
            <a:spLocks xmlns:a="http://schemas.openxmlformats.org/drawingml/2006/main" noGrp="1"/>
          </p:cNvSpPr>
          <p:nvPr/>
        </p:nvSpPr>
        <p:spPr>
          <a:xfrm xmlns:a="http://schemas.openxmlformats.org/drawingml/2006/main">
            <a:off x="4572000" y="5120640"/>
            <a:ext cx="320040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buSzPct val="100000"/>
              <a:buChar char="✗"/>
            </a:pPr>
            <a:r>
              <a:rPr sz="1000">
                <a:solidFill>
                  <a:srgbClr val="1E293B"/>
                </a:solidFill>
                <a:latin typeface="Calibri"/>
                <a:ea typeface="Calibri"/>
                <a:cs typeface="Calibri"/>
              </a:rPr>
              <a:t>Modal awal tinggi</a:t>
            </a:r>
            <a:endParaRPr sz="1000"/>
          </a:p>
          <a:p xmlns:a="http://schemas.openxmlformats.org/drawingml/2006/main">
            <a:pPr marL="342900" indent="-342900">
              <a:buSzPct val="100000"/>
              <a:buChar char="✗"/>
            </a:pPr>
            <a:r>
              <a:rPr sz="1000">
                <a:solidFill>
                  <a:srgbClr val="1E293B"/>
                </a:solidFill>
                <a:latin typeface="Calibri"/>
                <a:ea typeface="Calibri"/>
                <a:cs typeface="Calibri"/>
              </a:rPr>
              <a:t>Skala terbatas</a:t>
            </a:r>
            <a:endParaRPr sz="1000"/>
          </a:p>
        </p:txBody>
      </p:sp>
      <p:sp>
        <p:nvSpPr>
          <p:cNvPr id="30" name="Shape 24">
            <a:extLst xmlns:a="http://schemas.openxmlformats.org/drawingml/2006/main">
              <a:ext uri="{FF2B5EF4-FFF2-40B4-BE49-F238E27FC236}">
                <a16:creationId xmlns:a16="http://schemas.microsoft.com/office/drawing/2014/main" id="{AFD997AF-D331-42C6-A66E-DE6E98AB293D}"/>
              </a:ext>
            </a:extLst>
          </p:cNvPr>
          <p:cNvSpPr>
            <a:spLocks xmlns:a="http://schemas.openxmlformats.org/drawingml/2006/main" noGrp="1"/>
          </p:cNvSpPr>
          <p:nvPr/>
        </p:nvSpPr>
        <p:spPr>
          <a:xfrm xmlns:a="http://schemas.openxmlformats.org/drawingml/2006/main">
            <a:off x="4251960" y="5715000"/>
            <a:ext cx="3657600" cy="4572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1" name="Text 25">
            <a:extLst xmlns:a="http://schemas.openxmlformats.org/drawingml/2006/main">
              <a:ext uri="{FF2B5EF4-FFF2-40B4-BE49-F238E27FC236}">
                <a16:creationId xmlns:a16="http://schemas.microsoft.com/office/drawing/2014/main" id="{76926D1F-193B-4E60-9C74-F49CDFC45E75}"/>
              </a:ext>
            </a:extLst>
          </p:cNvPr>
          <p:cNvSpPr>
            <a:spLocks xmlns:a="http://schemas.openxmlformats.org/drawingml/2006/main" noGrp="1"/>
          </p:cNvSpPr>
          <p:nvPr/>
        </p:nvSpPr>
        <p:spPr>
          <a:xfrm xmlns:a="http://schemas.openxmlformats.org/drawingml/2006/main">
            <a:off x="4389120" y="5715000"/>
            <a:ext cx="3383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i="1">
                <a:solidFill>
                  <a:srgbClr val="64748B"/>
                </a:solidFill>
                <a:latin typeface="Calibri"/>
                <a:ea typeface="Calibri"/>
                <a:cs typeface="Calibri"/>
              </a:rPr>
              <a:t>VMware Cloud, OpenStack, internal data center</a:t>
            </a:r>
            <a:endParaRPr sz="900"/>
          </a:p>
        </p:txBody>
      </p:sp>
      <p:sp>
        <p:nvSpPr>
          <p:cNvPr id="32" name="Shape 26">
            <a:extLst xmlns:a="http://schemas.openxmlformats.org/drawingml/2006/main">
              <a:ext uri="{FF2B5EF4-FFF2-40B4-BE49-F238E27FC236}">
                <a16:creationId xmlns:a16="http://schemas.microsoft.com/office/drawing/2014/main" id="{FABC7849-B5D6-44CA-83A5-881ED897FD79}"/>
              </a:ext>
            </a:extLst>
          </p:cNvPr>
          <p:cNvSpPr>
            <a:spLocks xmlns:a="http://schemas.openxmlformats.org/drawingml/2006/main" noGrp="1"/>
          </p:cNvSpPr>
          <p:nvPr/>
        </p:nvSpPr>
        <p:spPr>
          <a:xfrm xmlns:a="http://schemas.openxmlformats.org/drawingml/2006/main">
            <a:off x="8046720" y="1691640"/>
            <a:ext cx="3657600" cy="44805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3" name="Shape 27">
            <a:extLst xmlns:a="http://schemas.openxmlformats.org/drawingml/2006/main">
              <a:ext uri="{FF2B5EF4-FFF2-40B4-BE49-F238E27FC236}">
                <a16:creationId xmlns:a16="http://schemas.microsoft.com/office/drawing/2014/main" id="{ABA8E3C4-4CEB-4F28-B00F-29A25B9DB364}"/>
              </a:ext>
            </a:extLst>
          </p:cNvPr>
          <p:cNvSpPr>
            <a:spLocks xmlns:a="http://schemas.openxmlformats.org/drawingml/2006/main" noGrp="1"/>
          </p:cNvSpPr>
          <p:nvPr/>
        </p:nvSpPr>
        <p:spPr>
          <a:xfrm xmlns:a="http://schemas.openxmlformats.org/drawingml/2006/main">
            <a:off x="8046720" y="1691640"/>
            <a:ext cx="3657600" cy="82296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787e7b8e59584289"/>
          <a:stretch xmlns:a="http://schemas.openxmlformats.org/drawingml/2006/main">
            <a:fillRect l="0" t="0" r="0" b="0"/>
          </a:stretch>
        </p:blipFill>
        <p:spPr>
          <a:xfrm xmlns:a="http://schemas.openxmlformats.org/drawingml/2006/main">
            <a:off x="8275320" y="1874520"/>
            <a:ext cx="457200" cy="457200"/>
          </a:xfrm>
          <a:prstGeom xmlns:a="http://schemas.openxmlformats.org/drawingml/2006/main" prst="rect">
            <a:avLst/>
          </a:prstGeom>
        </p:spPr>
      </p:pic>
      <p:sp>
        <p:nvSpPr>
          <p:cNvPr id="35" name="Text 28">
            <a:extLst xmlns:a="http://schemas.openxmlformats.org/drawingml/2006/main">
              <a:ext uri="{FF2B5EF4-FFF2-40B4-BE49-F238E27FC236}">
                <a16:creationId xmlns:a16="http://schemas.microsoft.com/office/drawing/2014/main" id="{5478D2F4-E48C-4215-A1B1-AD9AD25A0A75}"/>
              </a:ext>
            </a:extLst>
          </p:cNvPr>
          <p:cNvSpPr>
            <a:spLocks xmlns:a="http://schemas.openxmlformats.org/drawingml/2006/main" noGrp="1"/>
          </p:cNvSpPr>
          <p:nvPr/>
        </p:nvSpPr>
        <p:spPr>
          <a:xfrm xmlns:a="http://schemas.openxmlformats.org/drawingml/2006/main">
            <a:off x="8823960" y="1856232"/>
            <a:ext cx="2743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FFFFFF"/>
                </a:solidFill>
                <a:latin typeface="Calibri"/>
                <a:ea typeface="Calibri"/>
                <a:cs typeface="Calibri"/>
              </a:rPr>
              <a:t>HYBRID</a:t>
            </a:r>
            <a:endParaRPr sz="2200"/>
          </a:p>
        </p:txBody>
      </p:sp>
      <p:sp>
        <p:nvSpPr>
          <p:cNvPr id="36" name="Text 29">
            <a:extLst xmlns:a="http://schemas.openxmlformats.org/drawingml/2006/main">
              <a:ext uri="{FF2B5EF4-FFF2-40B4-BE49-F238E27FC236}">
                <a16:creationId xmlns:a16="http://schemas.microsoft.com/office/drawing/2014/main" id="{4245DE8F-7713-4A96-9F8C-930150DCDED5}"/>
              </a:ext>
            </a:extLst>
          </p:cNvPr>
          <p:cNvSpPr>
            <a:spLocks xmlns:a="http://schemas.openxmlformats.org/drawingml/2006/main" noGrp="1"/>
          </p:cNvSpPr>
          <p:nvPr/>
        </p:nvSpPr>
        <p:spPr>
          <a:xfrm xmlns:a="http://schemas.openxmlformats.org/drawingml/2006/main">
            <a:off x="8229600" y="2651760"/>
            <a:ext cx="329184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Kombinasi public + private. Data sensitif di private, workload elastis di public.</a:t>
            </a:r>
            <a:endParaRPr sz="1100"/>
          </a:p>
        </p:txBody>
      </p:sp>
      <p:sp>
        <p:nvSpPr>
          <p:cNvPr id="37" name="Text 30">
            <a:extLst xmlns:a="http://schemas.openxmlformats.org/drawingml/2006/main">
              <a:ext uri="{FF2B5EF4-FFF2-40B4-BE49-F238E27FC236}">
                <a16:creationId xmlns:a16="http://schemas.microsoft.com/office/drawing/2014/main" id="{9D7A7814-0D84-4211-AE0D-382EB2997A69}"/>
              </a:ext>
            </a:extLst>
          </p:cNvPr>
          <p:cNvSpPr>
            <a:spLocks xmlns:a="http://schemas.openxmlformats.org/drawingml/2006/main" noGrp="1"/>
          </p:cNvSpPr>
          <p:nvPr/>
        </p:nvSpPr>
        <p:spPr>
          <a:xfrm xmlns:a="http://schemas.openxmlformats.org/drawingml/2006/main">
            <a:off x="8229600" y="365760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59669"/>
                </a:solidFill>
                <a:latin typeface="Calibri"/>
                <a:ea typeface="Calibri"/>
                <a:cs typeface="Calibri"/>
              </a:rPr>
              <a:t>Kelebihan:</a:t>
            </a:r>
            <a:endParaRPr sz="1000"/>
          </a:p>
        </p:txBody>
      </p:sp>
      <p:sp>
        <p:nvSpPr>
          <p:cNvPr id="38" name="Text 31">
            <a:extLst xmlns:a="http://schemas.openxmlformats.org/drawingml/2006/main">
              <a:ext uri="{FF2B5EF4-FFF2-40B4-BE49-F238E27FC236}">
                <a16:creationId xmlns:a16="http://schemas.microsoft.com/office/drawing/2014/main" id="{A4FF5F01-3B4D-415C-BF38-2E1A06860392}"/>
              </a:ext>
            </a:extLst>
          </p:cNvPr>
          <p:cNvSpPr>
            <a:spLocks xmlns:a="http://schemas.openxmlformats.org/drawingml/2006/main" noGrp="1"/>
          </p:cNvSpPr>
          <p:nvPr/>
        </p:nvSpPr>
        <p:spPr>
          <a:xfrm xmlns:a="http://schemas.openxmlformats.org/drawingml/2006/main">
            <a:off x="8366760" y="3931920"/>
            <a:ext cx="3200400"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buSzPct val="100000"/>
              <a:buChar char="✓"/>
            </a:pPr>
            <a:r>
              <a:rPr sz="1000">
                <a:solidFill>
                  <a:srgbClr val="1E293B"/>
                </a:solidFill>
                <a:latin typeface="Calibri"/>
                <a:ea typeface="Calibri"/>
                <a:cs typeface="Calibri"/>
              </a:rPr>
              <a:t>Fleksibel</a:t>
            </a:r>
            <a:endParaRPr sz="1000"/>
          </a:p>
          <a:p xmlns:a="http://schemas.openxmlformats.org/drawingml/2006/main">
            <a:pPr marL="342900" indent="-342900">
              <a:buSzPct val="100000"/>
              <a:buChar char="✓"/>
            </a:pPr>
            <a:r>
              <a:rPr sz="1000">
                <a:solidFill>
                  <a:srgbClr val="1E293B"/>
                </a:solidFill>
                <a:latin typeface="Calibri"/>
                <a:ea typeface="Calibri"/>
                <a:cs typeface="Calibri"/>
              </a:rPr>
              <a:t>Best of both worlds</a:t>
            </a:r>
            <a:endParaRPr sz="1000"/>
          </a:p>
          <a:p xmlns:a="http://schemas.openxmlformats.org/drawingml/2006/main">
            <a:pPr marL="342900" indent="-342900">
              <a:buSzPct val="100000"/>
              <a:buChar char="✓"/>
            </a:pPr>
            <a:r>
              <a:rPr sz="1000">
                <a:solidFill>
                  <a:srgbClr val="1E293B"/>
                </a:solidFill>
                <a:latin typeface="Calibri"/>
                <a:ea typeface="Calibri"/>
                <a:cs typeface="Calibri"/>
              </a:rPr>
              <a:t>Bursting saat traffic spike</a:t>
            </a:r>
            <a:endParaRPr sz="1000"/>
          </a:p>
        </p:txBody>
      </p:sp>
      <p:sp>
        <p:nvSpPr>
          <p:cNvPr id="39" name="Text 32">
            <a:extLst xmlns:a="http://schemas.openxmlformats.org/drawingml/2006/main">
              <a:ext uri="{FF2B5EF4-FFF2-40B4-BE49-F238E27FC236}">
                <a16:creationId xmlns:a16="http://schemas.microsoft.com/office/drawing/2014/main" id="{D7480D14-1838-43B7-8433-FB5108117583}"/>
              </a:ext>
            </a:extLst>
          </p:cNvPr>
          <p:cNvSpPr>
            <a:spLocks xmlns:a="http://schemas.openxmlformats.org/drawingml/2006/main" noGrp="1"/>
          </p:cNvSpPr>
          <p:nvPr/>
        </p:nvSpPr>
        <p:spPr>
          <a:xfrm xmlns:a="http://schemas.openxmlformats.org/drawingml/2006/main">
            <a:off x="8229600" y="484632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DC2626"/>
                </a:solidFill>
                <a:latin typeface="Calibri"/>
                <a:ea typeface="Calibri"/>
                <a:cs typeface="Calibri"/>
              </a:rPr>
              <a:t>Kekurangan:</a:t>
            </a:r>
            <a:endParaRPr sz="1000"/>
          </a:p>
        </p:txBody>
      </p:sp>
      <p:sp>
        <p:nvSpPr>
          <p:cNvPr id="40" name="Text 33">
            <a:extLst xmlns:a="http://schemas.openxmlformats.org/drawingml/2006/main">
              <a:ext uri="{FF2B5EF4-FFF2-40B4-BE49-F238E27FC236}">
                <a16:creationId xmlns:a16="http://schemas.microsoft.com/office/drawing/2014/main" id="{36FB0B2C-EB7F-43D9-A1E0-6C04BD511CAC}"/>
              </a:ext>
            </a:extLst>
          </p:cNvPr>
          <p:cNvSpPr>
            <a:spLocks xmlns:a="http://schemas.openxmlformats.org/drawingml/2006/main" noGrp="1"/>
          </p:cNvSpPr>
          <p:nvPr/>
        </p:nvSpPr>
        <p:spPr>
          <a:xfrm xmlns:a="http://schemas.openxmlformats.org/drawingml/2006/main">
            <a:off x="8366760" y="5120640"/>
            <a:ext cx="320040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buSzPct val="100000"/>
              <a:buChar char="✗"/>
            </a:pPr>
            <a:r>
              <a:rPr sz="1000">
                <a:solidFill>
                  <a:srgbClr val="1E293B"/>
                </a:solidFill>
                <a:latin typeface="Calibri"/>
                <a:ea typeface="Calibri"/>
                <a:cs typeface="Calibri"/>
              </a:rPr>
              <a:t>Kompleks operasional</a:t>
            </a:r>
            <a:endParaRPr sz="1000"/>
          </a:p>
          <a:p xmlns:a="http://schemas.openxmlformats.org/drawingml/2006/main">
            <a:pPr marL="342900" indent="-342900">
              <a:buSzPct val="100000"/>
              <a:buChar char="✗"/>
            </a:pPr>
            <a:r>
              <a:rPr sz="1000">
                <a:solidFill>
                  <a:srgbClr val="1E293B"/>
                </a:solidFill>
                <a:latin typeface="Calibri"/>
                <a:ea typeface="Calibri"/>
                <a:cs typeface="Calibri"/>
              </a:rPr>
              <a:t>Skill team tinggi</a:t>
            </a:r>
            <a:endParaRPr sz="1000"/>
          </a:p>
        </p:txBody>
      </p:sp>
      <p:sp>
        <p:nvSpPr>
          <p:cNvPr id="41" name="Shape 34">
            <a:extLst xmlns:a="http://schemas.openxmlformats.org/drawingml/2006/main">
              <a:ext uri="{FF2B5EF4-FFF2-40B4-BE49-F238E27FC236}">
                <a16:creationId xmlns:a16="http://schemas.microsoft.com/office/drawing/2014/main" id="{314CD1E9-99D8-460B-8399-BF9E158DAC36}"/>
              </a:ext>
            </a:extLst>
          </p:cNvPr>
          <p:cNvSpPr>
            <a:spLocks xmlns:a="http://schemas.openxmlformats.org/drawingml/2006/main" noGrp="1"/>
          </p:cNvSpPr>
          <p:nvPr/>
        </p:nvSpPr>
        <p:spPr>
          <a:xfrm xmlns:a="http://schemas.openxmlformats.org/drawingml/2006/main">
            <a:off x="8046720" y="5715000"/>
            <a:ext cx="3657600" cy="4572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2" name="Text 35">
            <a:extLst xmlns:a="http://schemas.openxmlformats.org/drawingml/2006/main">
              <a:ext uri="{FF2B5EF4-FFF2-40B4-BE49-F238E27FC236}">
                <a16:creationId xmlns:a16="http://schemas.microsoft.com/office/drawing/2014/main" id="{45D7D62C-D58B-4FEF-87E0-923B3E91322B}"/>
              </a:ext>
            </a:extLst>
          </p:cNvPr>
          <p:cNvSpPr>
            <a:spLocks xmlns:a="http://schemas.openxmlformats.org/drawingml/2006/main" noGrp="1"/>
          </p:cNvSpPr>
          <p:nvPr/>
        </p:nvSpPr>
        <p:spPr>
          <a:xfrm xmlns:a="http://schemas.openxmlformats.org/drawingml/2006/main">
            <a:off x="8183880" y="5715000"/>
            <a:ext cx="3383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i="1">
                <a:solidFill>
                  <a:srgbClr val="64748B"/>
                </a:solidFill>
                <a:latin typeface="Calibri"/>
                <a:ea typeface="Calibri"/>
                <a:cs typeface="Calibri"/>
              </a:rPr>
              <a:t>Azure Arc, AWS Outposts, Google Anthos</a:t>
            </a:r>
            <a:endParaRPr sz="900"/>
          </a:p>
        </p:txBody>
      </p:sp>
    </p:spTree>
    <p:extLst>
      <p:ext uri="{BB962C8B-B14F-4D97-AF65-F5344CB8AC3E}">
        <p14:creationId xmlns:p14="http://schemas.microsoft.com/office/powerpoint/2010/main" val="209496143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43BDA15-8D8E-4CD8-80C2-A6EB731092FB}"/>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A13669C9-88BE-4C91-8628-592E385B0770}"/>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22</a:t>
            </a:r>
            <a:endParaRPr sz="900"/>
          </a:p>
        </p:txBody>
      </p:sp>
      <p:sp>
        <p:nvSpPr>
          <p:cNvPr id="4" name="Shape 2">
            <a:extLst xmlns:a="http://schemas.openxmlformats.org/drawingml/2006/main">
              <a:ext uri="{FF2B5EF4-FFF2-40B4-BE49-F238E27FC236}">
                <a16:creationId xmlns:a16="http://schemas.microsoft.com/office/drawing/2014/main" id="{99E35DD5-F055-4A02-9B0E-12CC1CFC4101}"/>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5" name="Image 0"/>
          <p:cNvPicPr>
            <a:picLocks xmlns:a="http://schemas.openxmlformats.org/drawingml/2006/main" noChangeAspect="1"/>
          </p:cNvPicPr>
          <p:nvPr/>
        </p:nvPicPr>
        <p:blipFill>
          <a:blip xmlns:r="http://schemas.openxmlformats.org/officeDocument/2006/relationships" xmlns:a="http://schemas.openxmlformats.org/drawingml/2006/main" r:embed="R6040b639b9354372"/>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6" name="Image 1"/>
          <p:cNvPicPr>
            <a:picLocks xmlns:a="http://schemas.openxmlformats.org/drawingml/2006/main" noChangeAspect="1"/>
          </p:cNvPicPr>
          <p:nvPr/>
        </p:nvPicPr>
        <p:blipFill>
          <a:blip xmlns:r="http://schemas.openxmlformats.org/officeDocument/2006/relationships" xmlns:a="http://schemas.openxmlformats.org/drawingml/2006/main" r:embed="R1e50ca2eb5b84a34"/>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18B23428-2FD6-43FB-A30E-AB3A464BDB85}"/>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9745C51A-F1A1-4194-B21B-8F69F77D5EA5}"/>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Tren Multi-Cloud</a:t>
            </a:r>
            <a:endParaRPr sz="2200"/>
          </a:p>
        </p:txBody>
      </p:sp>
      <p:sp>
        <p:nvSpPr>
          <p:cNvPr id="9" name="Text 5">
            <a:extLst xmlns:a="http://schemas.openxmlformats.org/drawingml/2006/main">
              <a:ext uri="{FF2B5EF4-FFF2-40B4-BE49-F238E27FC236}">
                <a16:creationId xmlns:a16="http://schemas.microsoft.com/office/drawing/2014/main" id="{BEF76671-D6B8-44D8-AEAD-A5E8B2C55D13}"/>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Mayoritas Enterprise Pakai Lebih dari Satu Provider</a:t>
            </a:r>
            <a:endParaRPr sz="1200"/>
          </a:p>
        </p:txBody>
      </p:sp>
      <p:sp>
        <p:nvSpPr>
          <p:cNvPr id="10" name="Shape 6">
            <a:extLst xmlns:a="http://schemas.openxmlformats.org/drawingml/2006/main">
              <a:ext uri="{FF2B5EF4-FFF2-40B4-BE49-F238E27FC236}">
                <a16:creationId xmlns:a16="http://schemas.microsoft.com/office/drawing/2014/main" id="{2C6E2BE5-1442-48DA-8D7C-37FAB7EC7970}"/>
              </a:ext>
            </a:extLst>
          </p:cNvPr>
          <p:cNvSpPr>
            <a:spLocks xmlns:a="http://schemas.openxmlformats.org/drawingml/2006/main" noGrp="1"/>
          </p:cNvSpPr>
          <p:nvPr/>
        </p:nvSpPr>
        <p:spPr>
          <a:xfrm xmlns:a="http://schemas.openxmlformats.org/drawingml/2006/main">
            <a:off x="457200" y="1691640"/>
            <a:ext cx="5029200" cy="44805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1" name="Text 7">
            <a:extLst xmlns:a="http://schemas.openxmlformats.org/drawingml/2006/main">
              <a:ext uri="{FF2B5EF4-FFF2-40B4-BE49-F238E27FC236}">
                <a16:creationId xmlns:a16="http://schemas.microsoft.com/office/drawing/2014/main" id="{F8711A32-89A7-4ABA-B296-C4E1100859A8}"/>
              </a:ext>
            </a:extLst>
          </p:cNvPr>
          <p:cNvSpPr>
            <a:spLocks xmlns:a="http://schemas.openxmlformats.org/drawingml/2006/main" noGrp="1"/>
          </p:cNvSpPr>
          <p:nvPr/>
        </p:nvSpPr>
        <p:spPr>
          <a:xfrm xmlns:a="http://schemas.openxmlformats.org/drawingml/2006/main">
            <a:off x="457200" y="2011680"/>
            <a:ext cx="50292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0" b="1">
                <a:solidFill>
                  <a:srgbClr val="F37021"/>
                </a:solidFill>
                <a:latin typeface="Calibri"/>
                <a:ea typeface="Calibri"/>
                <a:cs typeface="Calibri"/>
              </a:rPr>
              <a:t>89%</a:t>
            </a:r>
            <a:endParaRPr sz="11000"/>
          </a:p>
        </p:txBody>
      </p:sp>
      <p:sp>
        <p:nvSpPr>
          <p:cNvPr id="12" name="Text 8">
            <a:extLst xmlns:a="http://schemas.openxmlformats.org/drawingml/2006/main">
              <a:ext uri="{FF2B5EF4-FFF2-40B4-BE49-F238E27FC236}">
                <a16:creationId xmlns:a16="http://schemas.microsoft.com/office/drawing/2014/main" id="{4B77F7F8-B8DA-4F5B-9751-A501FEB75F4E}"/>
              </a:ext>
            </a:extLst>
          </p:cNvPr>
          <p:cNvSpPr>
            <a:spLocks xmlns:a="http://schemas.openxmlformats.org/drawingml/2006/main" noGrp="1"/>
          </p:cNvSpPr>
          <p:nvPr/>
        </p:nvSpPr>
        <p:spPr>
          <a:xfrm xmlns:a="http://schemas.openxmlformats.org/drawingml/2006/main">
            <a:off x="457200" y="361188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responden survei memiliki strategi multi-cloud</a:t>
            </a:r>
            <a:endParaRPr sz="1600"/>
          </a:p>
        </p:txBody>
      </p:sp>
      <p:sp>
        <p:nvSpPr>
          <p:cNvPr id="13" name="Shape 9">
            <a:extLst xmlns:a="http://schemas.openxmlformats.org/drawingml/2006/main">
              <a:ext uri="{FF2B5EF4-FFF2-40B4-BE49-F238E27FC236}">
                <a16:creationId xmlns:a16="http://schemas.microsoft.com/office/drawing/2014/main" id="{B91F5673-1288-4738-B928-D0E4DE61E25D}"/>
              </a:ext>
            </a:extLst>
          </p:cNvPr>
          <p:cNvSpPr>
            <a:spLocks xmlns:a="http://schemas.openxmlformats.org/drawingml/2006/main" noGrp="1"/>
          </p:cNvSpPr>
          <p:nvPr/>
        </p:nvSpPr>
        <p:spPr>
          <a:xfrm xmlns:a="http://schemas.openxmlformats.org/drawingml/2006/main">
            <a:off x="1554480" y="4526280"/>
            <a:ext cx="283464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91510BB3-B35F-49F2-B64B-6DD05BA1D89F}"/>
              </a:ext>
            </a:extLst>
          </p:cNvPr>
          <p:cNvSpPr>
            <a:spLocks xmlns:a="http://schemas.openxmlformats.org/drawingml/2006/main" noGrp="1"/>
          </p:cNvSpPr>
          <p:nvPr/>
        </p:nvSpPr>
        <p:spPr>
          <a:xfrm xmlns:a="http://schemas.openxmlformats.org/drawingml/2006/main">
            <a:off x="457200" y="4663440"/>
            <a:ext cx="5029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FED7AA"/>
                </a:solidFill>
                <a:latin typeface="Calibri"/>
                <a:ea typeface="Calibri"/>
                <a:cs typeface="Calibri"/>
              </a:rPr>
              <a:t>Sumber: Flexera State of the Cloud 2024</a:t>
            </a:r>
            <a:endParaRPr sz="1100"/>
          </a:p>
        </p:txBody>
      </p:sp>
      <p:sp>
        <p:nvSpPr>
          <p:cNvPr id="15" name="Text 11">
            <a:extLst xmlns:a="http://schemas.openxmlformats.org/drawingml/2006/main">
              <a:ext uri="{FF2B5EF4-FFF2-40B4-BE49-F238E27FC236}">
                <a16:creationId xmlns:a16="http://schemas.microsoft.com/office/drawing/2014/main" id="{23C84B26-BE6C-4B4B-B194-A8E9EE88599E}"/>
              </a:ext>
            </a:extLst>
          </p:cNvPr>
          <p:cNvSpPr>
            <a:spLocks xmlns:a="http://schemas.openxmlformats.org/drawingml/2006/main" noGrp="1"/>
          </p:cNvSpPr>
          <p:nvPr/>
        </p:nvSpPr>
        <p:spPr>
          <a:xfrm xmlns:a="http://schemas.openxmlformats.org/drawingml/2006/main">
            <a:off x="5760720" y="1691640"/>
            <a:ext cx="59436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Kenapa Multi-Cloud?</a:t>
            </a:r>
            <a:endParaRPr sz="1800"/>
          </a:p>
        </p:txBody>
      </p:sp>
      <p:sp>
        <p:nvSpPr>
          <p:cNvPr id="16" name="Shape 12">
            <a:extLst xmlns:a="http://schemas.openxmlformats.org/drawingml/2006/main">
              <a:ext uri="{FF2B5EF4-FFF2-40B4-BE49-F238E27FC236}">
                <a16:creationId xmlns:a16="http://schemas.microsoft.com/office/drawing/2014/main" id="{4A9B2950-BC6A-4E04-B189-641C6E8590FA}"/>
              </a:ext>
            </a:extLst>
          </p:cNvPr>
          <p:cNvSpPr>
            <a:spLocks xmlns:a="http://schemas.openxmlformats.org/drawingml/2006/main" noGrp="1"/>
          </p:cNvSpPr>
          <p:nvPr/>
        </p:nvSpPr>
        <p:spPr>
          <a:xfrm xmlns:a="http://schemas.openxmlformats.org/drawingml/2006/main">
            <a:off x="5760720" y="2194560"/>
            <a:ext cx="5943600" cy="8229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7" name="Shape 13">
            <a:extLst xmlns:a="http://schemas.openxmlformats.org/drawingml/2006/main">
              <a:ext uri="{FF2B5EF4-FFF2-40B4-BE49-F238E27FC236}">
                <a16:creationId xmlns:a16="http://schemas.microsoft.com/office/drawing/2014/main" id="{DD31B987-A7F1-4EB4-8FDD-6D2B61A11AAD}"/>
              </a:ext>
            </a:extLst>
          </p:cNvPr>
          <p:cNvSpPr>
            <a:spLocks xmlns:a="http://schemas.openxmlformats.org/drawingml/2006/main" noGrp="1"/>
          </p:cNvSpPr>
          <p:nvPr/>
        </p:nvSpPr>
        <p:spPr>
          <a:xfrm xmlns:a="http://schemas.openxmlformats.org/drawingml/2006/main">
            <a:off x="5897880" y="2331720"/>
            <a:ext cx="548640" cy="548640"/>
          </a:xfrm>
          <a:prstGeom xmlns:a="http://schemas.openxmlformats.org/drawingml/2006/main" prst="ellipse">
            <a:avLst/>
          </a:prstGeom>
          <a:solidFill xmlns:a="http://schemas.openxmlformats.org/drawingml/2006/main">
            <a:srgbClr val="FFFFFF"/>
          </a:solidFill>
          <a:ln xmlns:a="http://schemas.openxmlformats.org/drawingml/2006/main" w="19050">
            <a:solidFill>
              <a:srgbClr val="F37021"/>
            </a:solidFill>
            <a:prstDash val="solid"/>
          </a:ln>
        </p:spPr>
      </p:sp>
      <p:pic>
        <p:nvPicPr>
          <p:cNvPr id="58" name="Image 2"/>
          <p:cNvPicPr>
            <a:picLocks xmlns:a="http://schemas.openxmlformats.org/drawingml/2006/main" noChangeAspect="1"/>
          </p:cNvPicPr>
          <p:nvPr/>
        </p:nvPicPr>
        <p:blipFill>
          <a:blip xmlns:r="http://schemas.openxmlformats.org/officeDocument/2006/relationships" xmlns:a="http://schemas.openxmlformats.org/drawingml/2006/main" r:embed="R0b9404d3b63d45ec"/>
          <a:stretch xmlns:a="http://schemas.openxmlformats.org/drawingml/2006/main">
            <a:fillRect l="0" t="0" r="0" b="0"/>
          </a:stretch>
        </p:blipFill>
        <p:spPr>
          <a:xfrm xmlns:a="http://schemas.openxmlformats.org/drawingml/2006/main">
            <a:off x="5989320" y="2395728"/>
            <a:ext cx="365760" cy="411480"/>
          </a:xfrm>
          <a:prstGeom xmlns:a="http://schemas.openxmlformats.org/drawingml/2006/main" prst="rect">
            <a:avLst/>
          </a:prstGeom>
        </p:spPr>
      </p:pic>
      <p:sp>
        <p:nvSpPr>
          <p:cNvPr id="19" name="Text 14">
            <a:extLst xmlns:a="http://schemas.openxmlformats.org/drawingml/2006/main">
              <a:ext uri="{FF2B5EF4-FFF2-40B4-BE49-F238E27FC236}">
                <a16:creationId xmlns:a16="http://schemas.microsoft.com/office/drawing/2014/main" id="{56511742-9D94-4BA4-9383-ACE2903360F8}"/>
              </a:ext>
            </a:extLst>
          </p:cNvPr>
          <p:cNvSpPr>
            <a:spLocks xmlns:a="http://schemas.openxmlformats.org/drawingml/2006/main" noGrp="1"/>
          </p:cNvSpPr>
          <p:nvPr/>
        </p:nvSpPr>
        <p:spPr>
          <a:xfrm xmlns:a="http://schemas.openxmlformats.org/drawingml/2006/main">
            <a:off x="6583680" y="228600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Hindari vendor lock-in</a:t>
            </a:r>
            <a:endParaRPr sz="1300"/>
          </a:p>
        </p:txBody>
      </p:sp>
      <p:sp>
        <p:nvSpPr>
          <p:cNvPr id="20" name="Text 15">
            <a:extLst xmlns:a="http://schemas.openxmlformats.org/drawingml/2006/main">
              <a:ext uri="{FF2B5EF4-FFF2-40B4-BE49-F238E27FC236}">
                <a16:creationId xmlns:a16="http://schemas.microsoft.com/office/drawing/2014/main" id="{C3B83704-AE6B-4A50-9F14-1CF9A24BC588}"/>
              </a:ext>
            </a:extLst>
          </p:cNvPr>
          <p:cNvSpPr>
            <a:spLocks xmlns:a="http://schemas.openxmlformats.org/drawingml/2006/main" noGrp="1"/>
          </p:cNvSpPr>
          <p:nvPr/>
        </p:nvSpPr>
        <p:spPr>
          <a:xfrm xmlns:a="http://schemas.openxmlformats.org/drawingml/2006/main">
            <a:off x="6583680" y="2606040"/>
            <a:ext cx="49377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Migrasi antar provider tetap dimungkinkan.</a:t>
            </a:r>
            <a:endParaRPr sz="1100"/>
          </a:p>
        </p:txBody>
      </p:sp>
      <p:sp>
        <p:nvSpPr>
          <p:cNvPr id="21" name="Shape 16">
            <a:extLst xmlns:a="http://schemas.openxmlformats.org/drawingml/2006/main">
              <a:ext uri="{FF2B5EF4-FFF2-40B4-BE49-F238E27FC236}">
                <a16:creationId xmlns:a16="http://schemas.microsoft.com/office/drawing/2014/main" id="{DD33B46D-A595-4A0F-85C6-7CE8FBAE9EBF}"/>
              </a:ext>
            </a:extLst>
          </p:cNvPr>
          <p:cNvSpPr>
            <a:spLocks xmlns:a="http://schemas.openxmlformats.org/drawingml/2006/main" noGrp="1"/>
          </p:cNvSpPr>
          <p:nvPr/>
        </p:nvSpPr>
        <p:spPr>
          <a:xfrm xmlns:a="http://schemas.openxmlformats.org/drawingml/2006/main">
            <a:off x="5760720" y="3154680"/>
            <a:ext cx="5943600" cy="8229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2" name="Shape 17">
            <a:extLst xmlns:a="http://schemas.openxmlformats.org/drawingml/2006/main">
              <a:ext uri="{FF2B5EF4-FFF2-40B4-BE49-F238E27FC236}">
                <a16:creationId xmlns:a16="http://schemas.microsoft.com/office/drawing/2014/main" id="{83ECC7F0-6CB8-46E5-9022-BA38F27462BA}"/>
              </a:ext>
            </a:extLst>
          </p:cNvPr>
          <p:cNvSpPr>
            <a:spLocks xmlns:a="http://schemas.openxmlformats.org/drawingml/2006/main" noGrp="1"/>
          </p:cNvSpPr>
          <p:nvPr/>
        </p:nvSpPr>
        <p:spPr>
          <a:xfrm xmlns:a="http://schemas.openxmlformats.org/drawingml/2006/main">
            <a:off x="5897880" y="3291840"/>
            <a:ext cx="548640" cy="548640"/>
          </a:xfrm>
          <a:prstGeom xmlns:a="http://schemas.openxmlformats.org/drawingml/2006/main" prst="ellipse">
            <a:avLst/>
          </a:prstGeom>
          <a:solidFill xmlns:a="http://schemas.openxmlformats.org/drawingml/2006/main">
            <a:srgbClr val="FFFFFF"/>
          </a:solidFill>
          <a:ln xmlns:a="http://schemas.openxmlformats.org/drawingml/2006/main" w="19050">
            <a:solidFill>
              <a:srgbClr val="F37021"/>
            </a:solidFill>
            <a:prstDash val="solid"/>
          </a:ln>
        </p:spPr>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704334d148f34e6d"/>
          <a:stretch xmlns:a="http://schemas.openxmlformats.org/drawingml/2006/main">
            <a:fillRect l="0" t="0" r="0" b="0"/>
          </a:stretch>
        </p:blipFill>
        <p:spPr>
          <a:xfrm xmlns:a="http://schemas.openxmlformats.org/drawingml/2006/main">
            <a:off x="5989320" y="3355848"/>
            <a:ext cx="365760" cy="411480"/>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BA6038BA-1B0D-4C1C-BE22-FC5A6CF69BE2}"/>
              </a:ext>
            </a:extLst>
          </p:cNvPr>
          <p:cNvSpPr>
            <a:spLocks xmlns:a="http://schemas.openxmlformats.org/drawingml/2006/main" noGrp="1"/>
          </p:cNvSpPr>
          <p:nvPr/>
        </p:nvSpPr>
        <p:spPr>
          <a:xfrm xmlns:a="http://schemas.openxmlformats.org/drawingml/2006/main">
            <a:off x="6583680" y="32461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Resiliensi &amp; redundansi</a:t>
            </a:r>
            <a:endParaRPr sz="1300"/>
          </a:p>
        </p:txBody>
      </p:sp>
      <p:sp>
        <p:nvSpPr>
          <p:cNvPr id="25" name="Text 19">
            <a:extLst xmlns:a="http://schemas.openxmlformats.org/drawingml/2006/main">
              <a:ext uri="{FF2B5EF4-FFF2-40B4-BE49-F238E27FC236}">
                <a16:creationId xmlns:a16="http://schemas.microsoft.com/office/drawing/2014/main" id="{32C678F6-3E5D-451A-9A84-7CC7C9654F84}"/>
              </a:ext>
            </a:extLst>
          </p:cNvPr>
          <p:cNvSpPr>
            <a:spLocks xmlns:a="http://schemas.openxmlformats.org/drawingml/2006/main" noGrp="1"/>
          </p:cNvSpPr>
          <p:nvPr/>
        </p:nvSpPr>
        <p:spPr>
          <a:xfrm xmlns:a="http://schemas.openxmlformats.org/drawingml/2006/main">
            <a:off x="6583680" y="3566160"/>
            <a:ext cx="49377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Failover lintas provider dapat menjaga layanan bila dirancang dan diuji.</a:t>
            </a:r>
            <a:endParaRPr sz="1100"/>
          </a:p>
        </p:txBody>
      </p:sp>
      <p:sp>
        <p:nvSpPr>
          <p:cNvPr id="26" name="Shape 20">
            <a:extLst xmlns:a="http://schemas.openxmlformats.org/drawingml/2006/main">
              <a:ext uri="{FF2B5EF4-FFF2-40B4-BE49-F238E27FC236}">
                <a16:creationId xmlns:a16="http://schemas.microsoft.com/office/drawing/2014/main" id="{53E2942C-4456-4DB4-8CBC-8851E3A10652}"/>
              </a:ext>
            </a:extLst>
          </p:cNvPr>
          <p:cNvSpPr>
            <a:spLocks xmlns:a="http://schemas.openxmlformats.org/drawingml/2006/main" noGrp="1"/>
          </p:cNvSpPr>
          <p:nvPr/>
        </p:nvSpPr>
        <p:spPr>
          <a:xfrm xmlns:a="http://schemas.openxmlformats.org/drawingml/2006/main">
            <a:off x="5760720" y="4114800"/>
            <a:ext cx="5943600" cy="8229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7" name="Shape 21">
            <a:extLst xmlns:a="http://schemas.openxmlformats.org/drawingml/2006/main">
              <a:ext uri="{FF2B5EF4-FFF2-40B4-BE49-F238E27FC236}">
                <a16:creationId xmlns:a16="http://schemas.microsoft.com/office/drawing/2014/main" id="{79997B2D-98A4-4502-A8BF-DE94D9C90282}"/>
              </a:ext>
            </a:extLst>
          </p:cNvPr>
          <p:cNvSpPr>
            <a:spLocks xmlns:a="http://schemas.openxmlformats.org/drawingml/2006/main" noGrp="1"/>
          </p:cNvSpPr>
          <p:nvPr/>
        </p:nvSpPr>
        <p:spPr>
          <a:xfrm xmlns:a="http://schemas.openxmlformats.org/drawingml/2006/main">
            <a:off x="5897880" y="4251960"/>
            <a:ext cx="548640" cy="548640"/>
          </a:xfrm>
          <a:prstGeom xmlns:a="http://schemas.openxmlformats.org/drawingml/2006/main" prst="ellipse">
            <a:avLst/>
          </a:prstGeom>
          <a:solidFill xmlns:a="http://schemas.openxmlformats.org/drawingml/2006/main">
            <a:srgbClr val="FFFFFF"/>
          </a:solidFill>
          <a:ln xmlns:a="http://schemas.openxmlformats.org/drawingml/2006/main" w="19050">
            <a:solidFill>
              <a:srgbClr val="F37021"/>
            </a:solidFill>
            <a:prstDash val="solid"/>
          </a:ln>
        </p:spPr>
      </p:sp>
      <p:pic>
        <p:nvPicPr>
          <p:cNvPr id="68" name="Image 4"/>
          <p:cNvPicPr>
            <a:picLocks xmlns:a="http://schemas.openxmlformats.org/drawingml/2006/main" noChangeAspect="1"/>
          </p:cNvPicPr>
          <p:nvPr/>
        </p:nvPicPr>
        <p:blipFill>
          <a:blip xmlns:r="http://schemas.openxmlformats.org/officeDocument/2006/relationships" xmlns:a="http://schemas.openxmlformats.org/drawingml/2006/main" r:embed="R1066277536794bbb"/>
          <a:stretch xmlns:a="http://schemas.openxmlformats.org/drawingml/2006/main">
            <a:fillRect l="0" t="0" r="0" b="0"/>
          </a:stretch>
        </p:blipFill>
        <p:spPr>
          <a:xfrm xmlns:a="http://schemas.openxmlformats.org/drawingml/2006/main">
            <a:off x="5989320" y="4315968"/>
            <a:ext cx="365760" cy="411480"/>
          </a:xfrm>
          <a:prstGeom xmlns:a="http://schemas.openxmlformats.org/drawingml/2006/main" prst="rect">
            <a:avLst/>
          </a:prstGeom>
        </p:spPr>
      </p:pic>
      <p:sp>
        <p:nvSpPr>
          <p:cNvPr id="29" name="Text 22">
            <a:extLst xmlns:a="http://schemas.openxmlformats.org/drawingml/2006/main">
              <a:ext uri="{FF2B5EF4-FFF2-40B4-BE49-F238E27FC236}">
                <a16:creationId xmlns:a16="http://schemas.microsoft.com/office/drawing/2014/main" id="{556C3A1C-F81B-4554-B26B-4E9838B5173F}"/>
              </a:ext>
            </a:extLst>
          </p:cNvPr>
          <p:cNvSpPr>
            <a:spLocks xmlns:a="http://schemas.openxmlformats.org/drawingml/2006/main" noGrp="1"/>
          </p:cNvSpPr>
          <p:nvPr/>
        </p:nvSpPr>
        <p:spPr>
          <a:xfrm xmlns:a="http://schemas.openxmlformats.org/drawingml/2006/main">
            <a:off x="6583680" y="420624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Optimasi biaya</a:t>
            </a:r>
            <a:endParaRPr sz="1300"/>
          </a:p>
        </p:txBody>
      </p:sp>
      <p:sp>
        <p:nvSpPr>
          <p:cNvPr id="30" name="Text 23">
            <a:extLst xmlns:a="http://schemas.openxmlformats.org/drawingml/2006/main">
              <a:ext uri="{FF2B5EF4-FFF2-40B4-BE49-F238E27FC236}">
                <a16:creationId xmlns:a16="http://schemas.microsoft.com/office/drawing/2014/main" id="{4D5234E3-A2E9-4BDB-B4BB-0175DAB52419}"/>
              </a:ext>
            </a:extLst>
          </p:cNvPr>
          <p:cNvSpPr>
            <a:spLocks xmlns:a="http://schemas.openxmlformats.org/drawingml/2006/main" noGrp="1"/>
          </p:cNvSpPr>
          <p:nvPr/>
        </p:nvSpPr>
        <p:spPr>
          <a:xfrm xmlns:a="http://schemas.openxmlformats.org/drawingml/2006/main">
            <a:off x="6583680" y="4526280"/>
            <a:ext cx="49377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Workload tertentu lebih murah di provider tertentu.</a:t>
            </a:r>
            <a:endParaRPr sz="1100"/>
          </a:p>
        </p:txBody>
      </p:sp>
      <p:sp>
        <p:nvSpPr>
          <p:cNvPr id="31" name="Shape 24">
            <a:extLst xmlns:a="http://schemas.openxmlformats.org/drawingml/2006/main">
              <a:ext uri="{FF2B5EF4-FFF2-40B4-BE49-F238E27FC236}">
                <a16:creationId xmlns:a16="http://schemas.microsoft.com/office/drawing/2014/main" id="{E4F98928-1115-4700-9953-5A7EDA33287A}"/>
              </a:ext>
            </a:extLst>
          </p:cNvPr>
          <p:cNvSpPr>
            <a:spLocks xmlns:a="http://schemas.openxmlformats.org/drawingml/2006/main" noGrp="1"/>
          </p:cNvSpPr>
          <p:nvPr/>
        </p:nvSpPr>
        <p:spPr>
          <a:xfrm xmlns:a="http://schemas.openxmlformats.org/drawingml/2006/main">
            <a:off x="5760720" y="5074920"/>
            <a:ext cx="5943600" cy="8229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2" name="Shape 25">
            <a:extLst xmlns:a="http://schemas.openxmlformats.org/drawingml/2006/main">
              <a:ext uri="{FF2B5EF4-FFF2-40B4-BE49-F238E27FC236}">
                <a16:creationId xmlns:a16="http://schemas.microsoft.com/office/drawing/2014/main" id="{45C5B570-D09D-4A17-9B70-4F38083D4470}"/>
              </a:ext>
            </a:extLst>
          </p:cNvPr>
          <p:cNvSpPr>
            <a:spLocks xmlns:a="http://schemas.openxmlformats.org/drawingml/2006/main" noGrp="1"/>
          </p:cNvSpPr>
          <p:nvPr/>
        </p:nvSpPr>
        <p:spPr>
          <a:xfrm xmlns:a="http://schemas.openxmlformats.org/drawingml/2006/main">
            <a:off x="5897880" y="5212080"/>
            <a:ext cx="548640" cy="548640"/>
          </a:xfrm>
          <a:prstGeom xmlns:a="http://schemas.openxmlformats.org/drawingml/2006/main" prst="ellipse">
            <a:avLst/>
          </a:prstGeom>
          <a:solidFill xmlns:a="http://schemas.openxmlformats.org/drawingml/2006/main">
            <a:srgbClr val="FFFFFF"/>
          </a:solidFill>
          <a:ln xmlns:a="http://schemas.openxmlformats.org/drawingml/2006/main" w="19050">
            <a:solidFill>
              <a:srgbClr val="F37021"/>
            </a:solidFill>
            <a:prstDash val="solid"/>
          </a:ln>
        </p:spPr>
      </p:sp>
      <p:pic>
        <p:nvPicPr>
          <p:cNvPr id="73" name="Image 5"/>
          <p:cNvPicPr>
            <a:picLocks xmlns:a="http://schemas.openxmlformats.org/drawingml/2006/main" noChangeAspect="1"/>
          </p:cNvPicPr>
          <p:nvPr/>
        </p:nvPicPr>
        <p:blipFill>
          <a:blip xmlns:r="http://schemas.openxmlformats.org/officeDocument/2006/relationships" xmlns:a="http://schemas.openxmlformats.org/drawingml/2006/main" r:embed="R4cccbba1840c400d"/>
          <a:stretch xmlns:a="http://schemas.openxmlformats.org/drawingml/2006/main">
            <a:fillRect l="0" t="0" r="0" b="0"/>
          </a:stretch>
        </p:blipFill>
        <p:spPr>
          <a:xfrm xmlns:a="http://schemas.openxmlformats.org/drawingml/2006/main">
            <a:off x="5989320" y="5276088"/>
            <a:ext cx="365760" cy="411480"/>
          </a:xfrm>
          <a:prstGeom xmlns:a="http://schemas.openxmlformats.org/drawingml/2006/main" prst="rect">
            <a:avLst/>
          </a:prstGeom>
        </p:spPr>
      </p:pic>
      <p:sp>
        <p:nvSpPr>
          <p:cNvPr id="34" name="Text 26">
            <a:extLst xmlns:a="http://schemas.openxmlformats.org/drawingml/2006/main">
              <a:ext uri="{FF2B5EF4-FFF2-40B4-BE49-F238E27FC236}">
                <a16:creationId xmlns:a16="http://schemas.microsoft.com/office/drawing/2014/main" id="{CF282F90-17E5-450E-B17C-CD406A544B71}"/>
              </a:ext>
            </a:extLst>
          </p:cNvPr>
          <p:cNvSpPr>
            <a:spLocks xmlns:a="http://schemas.openxmlformats.org/drawingml/2006/main" noGrp="1"/>
          </p:cNvSpPr>
          <p:nvPr/>
        </p:nvSpPr>
        <p:spPr>
          <a:xfrm xmlns:a="http://schemas.openxmlformats.org/drawingml/2006/main">
            <a:off x="6583680" y="516636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Best-of-breed</a:t>
            </a:r>
            <a:endParaRPr sz="1300"/>
          </a:p>
        </p:txBody>
      </p:sp>
      <p:sp>
        <p:nvSpPr>
          <p:cNvPr id="35" name="Text 27">
            <a:extLst xmlns:a="http://schemas.openxmlformats.org/drawingml/2006/main">
              <a:ext uri="{FF2B5EF4-FFF2-40B4-BE49-F238E27FC236}">
                <a16:creationId xmlns:a16="http://schemas.microsoft.com/office/drawing/2014/main" id="{62E66554-037A-46EB-A3C6-B0BF0B4D258C}"/>
              </a:ext>
            </a:extLst>
          </p:cNvPr>
          <p:cNvSpPr>
            <a:spLocks xmlns:a="http://schemas.openxmlformats.org/drawingml/2006/main" noGrp="1"/>
          </p:cNvSpPr>
          <p:nvPr/>
        </p:nvSpPr>
        <p:spPr>
          <a:xfrm xmlns:a="http://schemas.openxmlformats.org/drawingml/2006/main">
            <a:off x="6583680" y="5486400"/>
            <a:ext cx="49377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Pakai BigQuery di GCP, Bedrock di AWS, OpenAI di Azure.</a:t>
            </a:r>
            <a:endParaRPr sz="1100"/>
          </a:p>
        </p:txBody>
      </p:sp>
    </p:spTree>
    <p:extLst>
      <p:ext uri="{BB962C8B-B14F-4D97-AF65-F5344CB8AC3E}">
        <p14:creationId xmlns:p14="http://schemas.microsoft.com/office/powerpoint/2010/main" val="990632859"/>
      </p:ext>
    </p:extLst>
  </p:cSld>
</p:sld>
</file>

<file path=ppt/slides/slide23.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37D38BB-9899-4D54-BAE2-8A9DA369AF68}"/>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69E279D9-DF34-4DF9-A0EE-D887DBA6F987}"/>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6BEBB356-4D63-431F-8F07-C7DA0A863A86}"/>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CC2BB51E-2953-4986-8205-5B29766324B8}"/>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67FEDB85-D8F0-42E9-9408-165772785809}"/>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5DD94C8B-F294-4D94-A608-827F8405D433}"/>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53DAF263-7909-453D-8EAB-CE5298FD931E}"/>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2b9fe56a79574c7e"/>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p:cNvPicPr>
            <a:picLocks xmlns:a="http://schemas.openxmlformats.org/drawingml/2006/main" noChangeAspect="1"/>
          </p:cNvPicPr>
          <p:nvPr/>
        </p:nvPicPr>
        <p:blipFill>
          <a:blip xmlns:r="http://schemas.openxmlformats.org/officeDocument/2006/relationships" xmlns:a="http://schemas.openxmlformats.org/drawingml/2006/main" r:embed="R07dd106d108947b7"/>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56C46AB2-1B81-4EA0-B9B6-E8EE5C3D21D9}"/>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04</a:t>
            </a:r>
            <a:endParaRPr sz="1600"/>
          </a:p>
        </p:txBody>
      </p:sp>
      <p:sp>
        <p:nvSpPr>
          <p:cNvPr id="12" name="Text 8">
            <a:extLst xmlns:a="http://schemas.openxmlformats.org/drawingml/2006/main">
              <a:ext uri="{FF2B5EF4-FFF2-40B4-BE49-F238E27FC236}">
                <a16:creationId xmlns:a16="http://schemas.microsoft.com/office/drawing/2014/main" id="{CE9CEF7A-A9AC-4056-B0EF-375260E30515}"/>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Lanskap Pasar Cloud</a:t>
            </a:r>
            <a:endParaRPr sz="5200"/>
          </a:p>
        </p:txBody>
      </p:sp>
      <p:sp>
        <p:nvSpPr>
          <p:cNvPr id="13" name="Shape 9">
            <a:extLst xmlns:a="http://schemas.openxmlformats.org/drawingml/2006/main">
              <a:ext uri="{FF2B5EF4-FFF2-40B4-BE49-F238E27FC236}">
                <a16:creationId xmlns:a16="http://schemas.microsoft.com/office/drawing/2014/main" id="{39C6AB7F-68CD-498A-BC46-65F40CF9330C}"/>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74313311-F7A3-453F-93EE-2015FBF6F1B1}"/>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Siapa pemain utama, dan di mana posisi mereka.</a:t>
            </a:r>
            <a:endParaRPr sz="1400"/>
          </a:p>
        </p:txBody>
      </p:sp>
    </p:spTree>
    <p:extLst>
      <p:ext uri="{BB962C8B-B14F-4D97-AF65-F5344CB8AC3E}">
        <p14:creationId xmlns:p14="http://schemas.microsoft.com/office/powerpoint/2010/main" val="48591992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FF72EAF-F53F-401A-8A88-8BFDDE982F56}"/>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A72AC2B1-8F53-4C01-92A1-C9DBD9C38F53}"/>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24</a:t>
            </a:r>
            <a:endParaRPr sz="900"/>
          </a:p>
        </p:txBody>
      </p:sp>
      <p:sp>
        <p:nvSpPr>
          <p:cNvPr id="4" name="Shape 2">
            <a:extLst xmlns:a="http://schemas.openxmlformats.org/drawingml/2006/main">
              <a:ext uri="{FF2B5EF4-FFF2-40B4-BE49-F238E27FC236}">
                <a16:creationId xmlns:a16="http://schemas.microsoft.com/office/drawing/2014/main" id="{4DA1A7E7-0D73-4AD9-AD42-B75231D1300F}"/>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a6f2cdb505f642a3"/>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26" name="Image 1"/>
          <p:cNvPicPr>
            <a:picLocks xmlns:a="http://schemas.openxmlformats.org/drawingml/2006/main" noChangeAspect="1"/>
          </p:cNvPicPr>
          <p:nvPr/>
        </p:nvPicPr>
        <p:blipFill>
          <a:blip xmlns:r="http://schemas.openxmlformats.org/officeDocument/2006/relationships" xmlns:a="http://schemas.openxmlformats.org/drawingml/2006/main" r:embed="R92ba7a149b944a0f"/>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979AEEE2-0750-4008-AA2D-2A1DC92086A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9FBCFC98-A60D-48D3-8984-C78F2EC45087}"/>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Pertumbuhan Belanja Cloud Global</a:t>
            </a:r>
            <a:endParaRPr sz="2200"/>
          </a:p>
        </p:txBody>
      </p:sp>
      <p:sp>
        <p:nvSpPr>
          <p:cNvPr id="9" name="Text 5">
            <a:extLst xmlns:a="http://schemas.openxmlformats.org/drawingml/2006/main">
              <a:ext uri="{FF2B5EF4-FFF2-40B4-BE49-F238E27FC236}">
                <a16:creationId xmlns:a16="http://schemas.microsoft.com/office/drawing/2014/main" id="{2D81C62D-9FB9-4FAB-9786-8BAB35067870}"/>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Belanja Infrastruktur Cloud per Kuartal (USD Miliar)</a:t>
            </a:r>
            <a:endParaRPr sz="1200"/>
          </a:p>
        </p:txBody>
      </p:sp>
      <p:graphicFrame>
        <p:nvGraphicFramePr>
          <p:cNvPr id="30" name="Chart 0"/>
          <p:cNvGraphicFramePr/>
          <p:nvPr/>
        </p:nvGraphicFramePr>
        <p:xfrm>
          <a:off xmlns:a="http://schemas.openxmlformats.org/drawingml/2006/main" x="457200" y="1691640"/>
          <a:ext xmlns:a="http://schemas.openxmlformats.org/drawingml/2006/main" cx="7589520" cy="4206240"/>
        </p:xfrm>
        <a:graphic xmlns:a="http://schemas.openxmlformats.org/drawingml/2006/main">
          <a:graphicData uri="http://schemas.openxmlformats.org/drawingml/2006/chart">
            <c:chart xmlns:r="http://schemas.openxmlformats.org/officeDocument/2006/relationships" xmlns:c="http://schemas.openxmlformats.org/drawingml/2006/chart" r:id="Rad5c36e34a144d91"/>
          </a:graphicData>
        </a:graphic>
      </p:graphicFrame>
      <p:sp>
        <p:nvSpPr>
          <p:cNvPr id="11" name="Shape 6">
            <a:extLst xmlns:a="http://schemas.openxmlformats.org/drawingml/2006/main">
              <a:ext uri="{FF2B5EF4-FFF2-40B4-BE49-F238E27FC236}">
                <a16:creationId xmlns:a16="http://schemas.microsoft.com/office/drawing/2014/main" id="{DEC9CE71-5D97-4AC1-82CF-8CD598416E59}"/>
              </a:ext>
            </a:extLst>
          </p:cNvPr>
          <p:cNvSpPr>
            <a:spLocks xmlns:a="http://schemas.openxmlformats.org/drawingml/2006/main" noGrp="1"/>
          </p:cNvSpPr>
          <p:nvPr/>
        </p:nvSpPr>
        <p:spPr>
          <a:xfrm xmlns:a="http://schemas.openxmlformats.org/drawingml/2006/main">
            <a:off x="8229600" y="1691640"/>
            <a:ext cx="3474720" cy="420624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2" name="Text 7">
            <a:extLst xmlns:a="http://schemas.openxmlformats.org/drawingml/2006/main">
              <a:ext uri="{FF2B5EF4-FFF2-40B4-BE49-F238E27FC236}">
                <a16:creationId xmlns:a16="http://schemas.microsoft.com/office/drawing/2014/main" id="{413D32C8-FD91-4B03-B85E-6FE280FAC907}"/>
              </a:ext>
            </a:extLst>
          </p:cNvPr>
          <p:cNvSpPr>
            <a:spLocks xmlns:a="http://schemas.openxmlformats.org/drawingml/2006/main" noGrp="1"/>
          </p:cNvSpPr>
          <p:nvPr/>
        </p:nvSpPr>
        <p:spPr>
          <a:xfrm xmlns:a="http://schemas.openxmlformats.org/drawingml/2006/main">
            <a:off x="8366760" y="1828800"/>
            <a:ext cx="3200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400">
                <a:solidFill>
                  <a:srgbClr val="F37021"/>
                </a:solidFill>
                <a:latin typeface="Calibri"/>
                <a:ea typeface="Calibri"/>
                <a:cs typeface="Calibri"/>
              </a:rPr>
              <a:t>INSIGHT</a:t>
            </a:r>
            <a:endParaRPr sz="1100"/>
          </a:p>
        </p:txBody>
      </p:sp>
      <p:sp>
        <p:nvSpPr>
          <p:cNvPr id="13" name="Text 8">
            <a:extLst xmlns:a="http://schemas.openxmlformats.org/drawingml/2006/main">
              <a:ext uri="{FF2B5EF4-FFF2-40B4-BE49-F238E27FC236}">
                <a16:creationId xmlns:a16="http://schemas.microsoft.com/office/drawing/2014/main" id="{353145E3-5429-4522-AE4C-FA8AA15C714F}"/>
              </a:ext>
            </a:extLst>
          </p:cNvPr>
          <p:cNvSpPr>
            <a:spLocks xmlns:a="http://schemas.openxmlformats.org/drawingml/2006/main" noGrp="1"/>
          </p:cNvSpPr>
          <p:nvPr/>
        </p:nvSpPr>
        <p:spPr>
          <a:xfrm xmlns:a="http://schemas.openxmlformats.org/drawingml/2006/main">
            <a:off x="8366760" y="2194560"/>
            <a:ext cx="3200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600" b="1">
                <a:solidFill>
                  <a:srgbClr val="FFFFFF"/>
                </a:solidFill>
                <a:latin typeface="Calibri"/>
                <a:ea typeface="Calibri"/>
                <a:cs typeface="Calibri"/>
              </a:rPr>
              <a:t>+70%</a:t>
            </a:r>
            <a:endParaRPr sz="5600"/>
          </a:p>
        </p:txBody>
      </p:sp>
      <p:sp>
        <p:nvSpPr>
          <p:cNvPr id="14" name="Text 9">
            <a:extLst xmlns:a="http://schemas.openxmlformats.org/drawingml/2006/main">
              <a:ext uri="{FF2B5EF4-FFF2-40B4-BE49-F238E27FC236}">
                <a16:creationId xmlns:a16="http://schemas.microsoft.com/office/drawing/2014/main" id="{F8B3B310-5A74-4840-8B49-65EDB0D29C29}"/>
              </a:ext>
            </a:extLst>
          </p:cNvPr>
          <p:cNvSpPr>
            <a:spLocks xmlns:a="http://schemas.openxmlformats.org/drawingml/2006/main" noGrp="1"/>
          </p:cNvSpPr>
          <p:nvPr/>
        </p:nvSpPr>
        <p:spPr>
          <a:xfrm xmlns:a="http://schemas.openxmlformats.org/drawingml/2006/main">
            <a:off x="8366760" y="3200400"/>
            <a:ext cx="32004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i="1">
                <a:solidFill>
                  <a:srgbClr val="FED7AA"/>
                </a:solidFill>
                <a:latin typeface="Calibri"/>
                <a:ea typeface="Calibri"/>
                <a:cs typeface="Calibri"/>
              </a:rPr>
              <a:t>pertumbuhan dalam 2 tahun terakhir</a:t>
            </a:r>
            <a:endParaRPr sz="1200"/>
          </a:p>
        </p:txBody>
      </p:sp>
      <p:sp>
        <p:nvSpPr>
          <p:cNvPr id="15" name="Shape 10">
            <a:extLst xmlns:a="http://schemas.openxmlformats.org/drawingml/2006/main">
              <a:ext uri="{FF2B5EF4-FFF2-40B4-BE49-F238E27FC236}">
                <a16:creationId xmlns:a16="http://schemas.microsoft.com/office/drawing/2014/main" id="{5984A8AD-C8E4-48C4-8372-D4F48619C96E}"/>
              </a:ext>
            </a:extLst>
          </p:cNvPr>
          <p:cNvSpPr>
            <a:spLocks xmlns:a="http://schemas.openxmlformats.org/drawingml/2006/main" noGrp="1"/>
          </p:cNvSpPr>
          <p:nvPr/>
        </p:nvSpPr>
        <p:spPr>
          <a:xfrm xmlns:a="http://schemas.openxmlformats.org/drawingml/2006/main">
            <a:off x="8366760" y="3840480"/>
            <a:ext cx="1371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6" name="Text 11">
            <a:extLst xmlns:a="http://schemas.openxmlformats.org/drawingml/2006/main">
              <a:ext uri="{FF2B5EF4-FFF2-40B4-BE49-F238E27FC236}">
                <a16:creationId xmlns:a16="http://schemas.microsoft.com/office/drawing/2014/main" id="{76848DF4-CB39-4C39-BDC1-BAD61717786B}"/>
              </a:ext>
            </a:extLst>
          </p:cNvPr>
          <p:cNvSpPr>
            <a:spLocks xmlns:a="http://schemas.openxmlformats.org/drawingml/2006/main" noGrp="1"/>
          </p:cNvSpPr>
          <p:nvPr/>
        </p:nvSpPr>
        <p:spPr>
          <a:xfrm xmlns:a="http://schemas.openxmlformats.org/drawingml/2006/main">
            <a:off x="8366760" y="3977640"/>
            <a:ext cx="3200400" cy="13716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FFFFFF"/>
                </a:solidFill>
                <a:latin typeface="Calibri"/>
                <a:ea typeface="Calibri"/>
                <a:cs typeface="Calibri"/>
              </a:rPr>
              <a:t>Pemicu utama: AI workloads, </a:t>
            </a:r>
            <a:r>
              <a:rPr sz="1100">
                <a:solidFill>
                  <a:srgbClr val="FFFFFF"/>
                </a:solidFill>
                <a:latin typeface="Calibri"/>
                <a:ea typeface="Calibri"/>
                <a:cs typeface="Calibri"/>
              </a:rPr>
              <a:t>GenAI mendorong kenaikan, menurut Synergy Q1 2026.</a:t>
            </a:r>
            <a:endParaRPr sz="1100"/>
          </a:p>
        </p:txBody>
      </p:sp>
      <p:sp>
        <p:nvSpPr>
          <p:cNvPr id="17" name="Text 12">
            <a:extLst xmlns:a="http://schemas.openxmlformats.org/drawingml/2006/main">
              <a:ext uri="{FF2B5EF4-FFF2-40B4-BE49-F238E27FC236}">
                <a16:creationId xmlns:a16="http://schemas.microsoft.com/office/drawing/2014/main" id="{0FA51A38-9849-4113-9BB3-E6076457C35C}"/>
              </a:ext>
            </a:extLst>
          </p:cNvPr>
          <p:cNvSpPr>
            <a:spLocks xmlns:a="http://schemas.openxmlformats.org/drawingml/2006/main" noGrp="1"/>
          </p:cNvSpPr>
          <p:nvPr/>
        </p:nvSpPr>
        <p:spPr>
          <a:xfrm xmlns:a="http://schemas.openxmlformats.org/drawingml/2006/main">
            <a:off x="8366760" y="5394960"/>
            <a:ext cx="3200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i="1">
                <a:solidFill>
                  <a:srgbClr val="F37021"/>
                </a:solidFill>
                <a:latin typeface="Calibri"/>
                <a:ea typeface="Calibri"/>
                <a:cs typeface="Calibri"/>
              </a:rPr>
              <a:t>Q1 2026: run rate tahunan &gt; $500B</a:t>
            </a:r>
            <a:endParaRPr sz="1200"/>
          </a:p>
        </p:txBody>
      </p:sp>
      <p:sp>
        <p:nvSpPr>
          <p:cNvPr id="18" name="Text 13">
            <a:extLst xmlns:a="http://schemas.openxmlformats.org/drawingml/2006/main">
              <a:ext uri="{FF2B5EF4-FFF2-40B4-BE49-F238E27FC236}">
                <a16:creationId xmlns:a16="http://schemas.microsoft.com/office/drawing/2014/main" id="{B463D829-E67D-44DB-B387-003A3376D14E}"/>
              </a:ext>
            </a:extLst>
          </p:cNvPr>
          <p:cNvSpPr>
            <a:spLocks xmlns:a="http://schemas.openxmlformats.org/drawingml/2006/main" noGrp="1"/>
          </p:cNvSpPr>
          <p:nvPr/>
        </p:nvSpPr>
        <p:spPr>
          <a:xfrm xmlns:a="http://schemas.openxmlformats.org/drawingml/2006/main">
            <a:off x="457200" y="6217920"/>
            <a:ext cx="1124712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i="1">
                <a:solidFill>
                  <a:srgbClr val="64748B"/>
                </a:solidFill>
                <a:latin typeface="Calibri"/>
                <a:ea typeface="Calibri"/>
                <a:cs typeface="Calibri"/>
              </a:rPr>
              <a:t>Sumber: Synergy Research Group, Statista, Canalys (2024-2026)</a:t>
            </a:r>
            <a:endParaRPr sz="900"/>
          </a:p>
        </p:txBody>
      </p:sp>
    </p:spTree>
    <p:extLst>
      <p:ext uri="{BB962C8B-B14F-4D97-AF65-F5344CB8AC3E}">
        <p14:creationId xmlns:p14="http://schemas.microsoft.com/office/powerpoint/2010/main" val="130958126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CEF6A12-F5AD-4A73-906F-C77767FEDD10}"/>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6E045204-E098-42E3-8CC8-64787397E061}"/>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25</a:t>
            </a:r>
            <a:endParaRPr sz="900"/>
          </a:p>
        </p:txBody>
      </p:sp>
      <p:sp>
        <p:nvSpPr>
          <p:cNvPr id="4" name="Shape 2">
            <a:extLst xmlns:a="http://schemas.openxmlformats.org/drawingml/2006/main">
              <a:ext uri="{FF2B5EF4-FFF2-40B4-BE49-F238E27FC236}">
                <a16:creationId xmlns:a16="http://schemas.microsoft.com/office/drawing/2014/main" id="{10160E33-9EFE-482F-AF4F-D5B0682470AB}"/>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6" name="Image 0"/>
          <p:cNvPicPr>
            <a:picLocks xmlns:a="http://schemas.openxmlformats.org/drawingml/2006/main" noChangeAspect="1"/>
          </p:cNvPicPr>
          <p:nvPr/>
        </p:nvPicPr>
        <p:blipFill>
          <a:blip xmlns:r="http://schemas.openxmlformats.org/officeDocument/2006/relationships" xmlns:a="http://schemas.openxmlformats.org/drawingml/2006/main" r:embed="R6abc8fd52de540e9"/>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7" name="Image 1"/>
          <p:cNvPicPr>
            <a:picLocks xmlns:a="http://schemas.openxmlformats.org/drawingml/2006/main" noChangeAspect="1"/>
          </p:cNvPicPr>
          <p:nvPr/>
        </p:nvPicPr>
        <p:blipFill>
          <a:blip xmlns:r="http://schemas.openxmlformats.org/officeDocument/2006/relationships" xmlns:a="http://schemas.openxmlformats.org/drawingml/2006/main" r:embed="R90da84fe8ae44d04"/>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BDD2A097-78A7-436E-AD59-A790B7AEE3D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8F9BB89B-67A6-483C-8921-D10D81356A68}"/>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Pangsa Pasar Cloud Infrastructure</a:t>
            </a:r>
            <a:endParaRPr sz="2200"/>
          </a:p>
        </p:txBody>
      </p:sp>
      <p:sp>
        <p:nvSpPr>
          <p:cNvPr id="9" name="Text 5">
            <a:extLst xmlns:a="http://schemas.openxmlformats.org/drawingml/2006/main">
              <a:ext uri="{FF2B5EF4-FFF2-40B4-BE49-F238E27FC236}">
                <a16:creationId xmlns:a16="http://schemas.microsoft.com/office/drawing/2014/main" id="{BE811464-EC54-4D8E-B334-B98B0D6CA153}"/>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Q1 2026 - Big Three Menguasai 63%</a:t>
            </a:r>
            <a:endParaRPr sz="1200"/>
          </a:p>
        </p:txBody>
      </p:sp>
      <p:graphicFrame>
        <p:nvGraphicFramePr>
          <p:cNvPr id="41" name="Chart 0"/>
          <p:cNvGraphicFramePr/>
          <p:nvPr/>
        </p:nvGraphicFramePr>
        <p:xfrm>
          <a:off xmlns:a="http://schemas.openxmlformats.org/drawingml/2006/main" x="457200" y="1691640"/>
          <a:ext xmlns:a="http://schemas.openxmlformats.org/drawingml/2006/main" cx="5943600" cy="4572000"/>
        </p:xfrm>
        <a:graphic xmlns:a="http://schemas.openxmlformats.org/drawingml/2006/main">
          <a:graphicData uri="http://schemas.openxmlformats.org/drawingml/2006/chart">
            <c:chart xmlns:r="http://schemas.openxmlformats.org/officeDocument/2006/relationships" xmlns:c="http://schemas.openxmlformats.org/drawingml/2006/chart" r:id="R42319e01fa1244be"/>
          </a:graphicData>
        </a:graphic>
      </p:graphicFrame>
      <p:sp>
        <p:nvSpPr>
          <p:cNvPr id="11" name="Shape 6">
            <a:extLst xmlns:a="http://schemas.openxmlformats.org/drawingml/2006/main">
              <a:ext uri="{FF2B5EF4-FFF2-40B4-BE49-F238E27FC236}">
                <a16:creationId xmlns:a16="http://schemas.microsoft.com/office/drawing/2014/main" id="{E628CDB3-44F6-4546-B47C-7310C63572D0}"/>
              </a:ext>
            </a:extLst>
          </p:cNvPr>
          <p:cNvSpPr>
            <a:spLocks xmlns:a="http://schemas.openxmlformats.org/drawingml/2006/main" noGrp="1"/>
          </p:cNvSpPr>
          <p:nvPr/>
        </p:nvSpPr>
        <p:spPr>
          <a:xfrm xmlns:a="http://schemas.openxmlformats.org/drawingml/2006/main">
            <a:off x="6675120" y="1691640"/>
            <a:ext cx="5029200" cy="1325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43" name="Image 2"/>
          <p:cNvPicPr>
            <a:picLocks xmlns:a="http://schemas.openxmlformats.org/drawingml/2006/main" noChangeAspect="1"/>
          </p:cNvPicPr>
          <p:nvPr/>
        </p:nvPicPr>
        <p:blipFill>
          <a:blip xmlns:r="http://schemas.openxmlformats.org/officeDocument/2006/relationships" xmlns:a="http://schemas.openxmlformats.org/drawingml/2006/main" r:embed="R6b8dad28a2d74702"/>
          <a:stretch xmlns:a="http://schemas.openxmlformats.org/drawingml/2006/main">
            <a:fillRect l="0" t="0" r="0" b="0"/>
          </a:stretch>
        </p:blipFill>
        <p:spPr>
          <a:xfrm xmlns:a="http://schemas.openxmlformats.org/drawingml/2006/main">
            <a:off x="6858000" y="2011680"/>
            <a:ext cx="685800" cy="685800"/>
          </a:xfrm>
          <a:prstGeom xmlns:a="http://schemas.openxmlformats.org/drawingml/2006/main" prst="rect">
            <a:avLst/>
          </a:prstGeom>
        </p:spPr>
      </p:pic>
      <p:sp>
        <p:nvSpPr>
          <p:cNvPr id="13" name="Text 7">
            <a:extLst xmlns:a="http://schemas.openxmlformats.org/drawingml/2006/main">
              <a:ext uri="{FF2B5EF4-FFF2-40B4-BE49-F238E27FC236}">
                <a16:creationId xmlns:a16="http://schemas.microsoft.com/office/drawing/2014/main" id="{1B1BFFA0-31B5-4563-9A4B-89624E0B6F2A}"/>
              </a:ext>
            </a:extLst>
          </p:cNvPr>
          <p:cNvSpPr>
            <a:spLocks xmlns:a="http://schemas.openxmlformats.org/drawingml/2006/main" noGrp="1"/>
          </p:cNvSpPr>
          <p:nvPr/>
        </p:nvSpPr>
        <p:spPr>
          <a:xfrm xmlns:a="http://schemas.openxmlformats.org/drawingml/2006/main">
            <a:off x="10058400" y="1828800"/>
            <a:ext cx="15544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4000" b="1">
                <a:solidFill>
                  <a:srgbClr val="F37021"/>
                </a:solidFill>
                <a:latin typeface="Calibri"/>
                <a:ea typeface="Calibri"/>
                <a:cs typeface="Calibri"/>
              </a:rPr>
              <a:t>28%</a:t>
            </a:r>
            <a:endParaRPr sz="4000"/>
          </a:p>
        </p:txBody>
      </p:sp>
      <p:sp>
        <p:nvSpPr>
          <p:cNvPr id="14" name="Text 8">
            <a:extLst xmlns:a="http://schemas.openxmlformats.org/drawingml/2006/main">
              <a:ext uri="{FF2B5EF4-FFF2-40B4-BE49-F238E27FC236}">
                <a16:creationId xmlns:a16="http://schemas.microsoft.com/office/drawing/2014/main" id="{15CF4A3B-75BB-43B5-910C-1D3BE1522EE5}"/>
              </a:ext>
            </a:extLst>
          </p:cNvPr>
          <p:cNvSpPr>
            <a:spLocks xmlns:a="http://schemas.openxmlformats.org/drawingml/2006/main" noGrp="1"/>
          </p:cNvSpPr>
          <p:nvPr/>
        </p:nvSpPr>
        <p:spPr>
          <a:xfrm xmlns:a="http://schemas.openxmlformats.org/drawingml/2006/main">
            <a:off x="7680960" y="187452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AWS</a:t>
            </a:r>
            <a:endParaRPr sz="1600"/>
          </a:p>
        </p:txBody>
      </p:sp>
      <p:sp>
        <p:nvSpPr>
          <p:cNvPr id="15" name="Text 9">
            <a:extLst xmlns:a="http://schemas.openxmlformats.org/drawingml/2006/main">
              <a:ext uri="{FF2B5EF4-FFF2-40B4-BE49-F238E27FC236}">
                <a16:creationId xmlns:a16="http://schemas.microsoft.com/office/drawing/2014/main" id="{8E2E3E18-3EDE-4405-963B-C14223895CD8}"/>
              </a:ext>
            </a:extLst>
          </p:cNvPr>
          <p:cNvSpPr>
            <a:spLocks xmlns:a="http://schemas.openxmlformats.org/drawingml/2006/main" noGrp="1"/>
          </p:cNvSpPr>
          <p:nvPr/>
        </p:nvSpPr>
        <p:spPr>
          <a:xfrm xmlns:a="http://schemas.openxmlformats.org/drawingml/2006/main">
            <a:off x="7680960" y="2286000"/>
            <a:ext cx="38404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Pemimpin sejak 2006. </a:t>
            </a:r>
            <a:r>
              <a:rPr sz="1000" i="1">
                <a:solidFill>
                  <a:srgbClr val="1E293B"/>
                </a:solidFill>
                <a:latin typeface="Calibri"/>
                <a:ea typeface="Calibri"/>
                <a:cs typeface="Calibri"/>
              </a:rPr>
              <a:t>Pemimpin pangsa pasar pada Q1 2026.</a:t>
            </a:r>
            <a:endParaRPr sz="1000"/>
          </a:p>
        </p:txBody>
      </p:sp>
      <p:sp>
        <p:nvSpPr>
          <p:cNvPr id="16" name="Shape 10">
            <a:extLst xmlns:a="http://schemas.openxmlformats.org/drawingml/2006/main">
              <a:ext uri="{FF2B5EF4-FFF2-40B4-BE49-F238E27FC236}">
                <a16:creationId xmlns:a16="http://schemas.microsoft.com/office/drawing/2014/main" id="{8F90683C-BE73-4A8A-B269-43FC11C116C6}"/>
              </a:ext>
            </a:extLst>
          </p:cNvPr>
          <p:cNvSpPr>
            <a:spLocks xmlns:a="http://schemas.openxmlformats.org/drawingml/2006/main" noGrp="1"/>
          </p:cNvSpPr>
          <p:nvPr/>
        </p:nvSpPr>
        <p:spPr>
          <a:xfrm xmlns:a="http://schemas.openxmlformats.org/drawingml/2006/main">
            <a:off x="6675120" y="3154680"/>
            <a:ext cx="5029200" cy="1325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48" name="Image 3"/>
          <p:cNvPicPr>
            <a:picLocks xmlns:a="http://schemas.openxmlformats.org/drawingml/2006/main" noChangeAspect="1"/>
          </p:cNvPicPr>
          <p:nvPr/>
        </p:nvPicPr>
        <p:blipFill>
          <a:blip xmlns:r="http://schemas.openxmlformats.org/officeDocument/2006/relationships" xmlns:a="http://schemas.openxmlformats.org/drawingml/2006/main" r:embed="R2c1cbc02d52743c8"/>
          <a:stretch xmlns:a="http://schemas.openxmlformats.org/drawingml/2006/main">
            <a:fillRect l="0" t="0" r="0" b="0"/>
          </a:stretch>
        </p:blipFill>
        <p:spPr>
          <a:xfrm xmlns:a="http://schemas.openxmlformats.org/drawingml/2006/main">
            <a:off x="6858000" y="3474720"/>
            <a:ext cx="685800" cy="685800"/>
          </a:xfrm>
          <a:prstGeom xmlns:a="http://schemas.openxmlformats.org/drawingml/2006/main" prst="rect">
            <a:avLst/>
          </a:prstGeom>
        </p:spPr>
      </p:pic>
      <p:sp>
        <p:nvSpPr>
          <p:cNvPr id="18" name="Text 11">
            <a:extLst xmlns:a="http://schemas.openxmlformats.org/drawingml/2006/main">
              <a:ext uri="{FF2B5EF4-FFF2-40B4-BE49-F238E27FC236}">
                <a16:creationId xmlns:a16="http://schemas.microsoft.com/office/drawing/2014/main" id="{4432E092-5C21-4978-9D18-2F4073F46DB6}"/>
              </a:ext>
            </a:extLst>
          </p:cNvPr>
          <p:cNvSpPr>
            <a:spLocks xmlns:a="http://schemas.openxmlformats.org/drawingml/2006/main" noGrp="1"/>
          </p:cNvSpPr>
          <p:nvPr/>
        </p:nvSpPr>
        <p:spPr>
          <a:xfrm xmlns:a="http://schemas.openxmlformats.org/drawingml/2006/main">
            <a:off x="10058400" y="3291840"/>
            <a:ext cx="15544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4000" b="1">
                <a:solidFill>
                  <a:srgbClr val="F37021"/>
                </a:solidFill>
                <a:latin typeface="Calibri"/>
                <a:ea typeface="Calibri"/>
                <a:cs typeface="Calibri"/>
              </a:rPr>
              <a:t>21%</a:t>
            </a:r>
            <a:endParaRPr sz="4000"/>
          </a:p>
        </p:txBody>
      </p:sp>
      <p:sp>
        <p:nvSpPr>
          <p:cNvPr id="19" name="Text 12">
            <a:extLst xmlns:a="http://schemas.openxmlformats.org/drawingml/2006/main">
              <a:ext uri="{FF2B5EF4-FFF2-40B4-BE49-F238E27FC236}">
                <a16:creationId xmlns:a16="http://schemas.microsoft.com/office/drawing/2014/main" id="{598C1683-0497-4021-A3FE-8A9A861EC348}"/>
              </a:ext>
            </a:extLst>
          </p:cNvPr>
          <p:cNvSpPr>
            <a:spLocks xmlns:a="http://schemas.openxmlformats.org/drawingml/2006/main" noGrp="1"/>
          </p:cNvSpPr>
          <p:nvPr/>
        </p:nvSpPr>
        <p:spPr>
          <a:xfrm xmlns:a="http://schemas.openxmlformats.org/drawingml/2006/main">
            <a:off x="7680960" y="333756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Microsoft Azure</a:t>
            </a:r>
            <a:endParaRPr sz="1600"/>
          </a:p>
        </p:txBody>
      </p:sp>
      <p:sp>
        <p:nvSpPr>
          <p:cNvPr id="20" name="Text 13">
            <a:extLst xmlns:a="http://schemas.openxmlformats.org/drawingml/2006/main">
              <a:ext uri="{FF2B5EF4-FFF2-40B4-BE49-F238E27FC236}">
                <a16:creationId xmlns:a16="http://schemas.microsoft.com/office/drawing/2014/main" id="{141B7B7B-10BC-415E-B57A-40504F497258}"/>
              </a:ext>
            </a:extLst>
          </p:cNvPr>
          <p:cNvSpPr>
            <a:spLocks xmlns:a="http://schemas.openxmlformats.org/drawingml/2006/main" noGrp="1"/>
          </p:cNvSpPr>
          <p:nvPr/>
        </p:nvSpPr>
        <p:spPr>
          <a:xfrm xmlns:a="http://schemas.openxmlformats.org/drawingml/2006/main">
            <a:off x="7680960" y="3749040"/>
            <a:ext cx="38404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Pangsa pasar global pada Q1 2026.</a:t>
            </a:r>
            <a:endParaRPr sz="1000"/>
          </a:p>
        </p:txBody>
      </p:sp>
      <p:sp>
        <p:nvSpPr>
          <p:cNvPr id="21" name="Shape 14">
            <a:extLst xmlns:a="http://schemas.openxmlformats.org/drawingml/2006/main">
              <a:ext uri="{FF2B5EF4-FFF2-40B4-BE49-F238E27FC236}">
                <a16:creationId xmlns:a16="http://schemas.microsoft.com/office/drawing/2014/main" id="{B09E221A-BD2A-4492-88CD-381309416211}"/>
              </a:ext>
            </a:extLst>
          </p:cNvPr>
          <p:cNvSpPr>
            <a:spLocks xmlns:a="http://schemas.openxmlformats.org/drawingml/2006/main" noGrp="1"/>
          </p:cNvSpPr>
          <p:nvPr/>
        </p:nvSpPr>
        <p:spPr>
          <a:xfrm xmlns:a="http://schemas.openxmlformats.org/drawingml/2006/main">
            <a:off x="6675120" y="4617720"/>
            <a:ext cx="5029200" cy="1325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53" name="Image 4"/>
          <p:cNvPicPr>
            <a:picLocks xmlns:a="http://schemas.openxmlformats.org/drawingml/2006/main" noChangeAspect="1"/>
          </p:cNvPicPr>
          <p:nvPr/>
        </p:nvPicPr>
        <p:blipFill>
          <a:blip xmlns:r="http://schemas.openxmlformats.org/officeDocument/2006/relationships" xmlns:a="http://schemas.openxmlformats.org/drawingml/2006/main" r:embed="R5bb6d904e1fd41d2"/>
          <a:stretch xmlns:a="http://schemas.openxmlformats.org/drawingml/2006/main">
            <a:fillRect l="0" t="0" r="0" b="0"/>
          </a:stretch>
        </p:blipFill>
        <p:spPr>
          <a:xfrm xmlns:a="http://schemas.openxmlformats.org/drawingml/2006/main">
            <a:off x="6858000" y="4937760"/>
            <a:ext cx="685800" cy="685800"/>
          </a:xfrm>
          <a:prstGeom xmlns:a="http://schemas.openxmlformats.org/drawingml/2006/main" prst="rect">
            <a:avLst/>
          </a:prstGeom>
        </p:spPr>
      </p:pic>
      <p:sp>
        <p:nvSpPr>
          <p:cNvPr id="23" name="Text 15">
            <a:extLst xmlns:a="http://schemas.openxmlformats.org/drawingml/2006/main">
              <a:ext uri="{FF2B5EF4-FFF2-40B4-BE49-F238E27FC236}">
                <a16:creationId xmlns:a16="http://schemas.microsoft.com/office/drawing/2014/main" id="{0AEF9186-72EA-4088-A6D6-93C028D35386}"/>
              </a:ext>
            </a:extLst>
          </p:cNvPr>
          <p:cNvSpPr>
            <a:spLocks xmlns:a="http://schemas.openxmlformats.org/drawingml/2006/main" noGrp="1"/>
          </p:cNvSpPr>
          <p:nvPr/>
        </p:nvSpPr>
        <p:spPr>
          <a:xfrm xmlns:a="http://schemas.openxmlformats.org/drawingml/2006/main">
            <a:off x="10058400" y="4754880"/>
            <a:ext cx="15544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4000" b="1">
                <a:solidFill>
                  <a:srgbClr val="F37021"/>
                </a:solidFill>
                <a:latin typeface="Calibri"/>
                <a:ea typeface="Calibri"/>
                <a:cs typeface="Calibri"/>
              </a:rPr>
              <a:t>14%</a:t>
            </a:r>
            <a:endParaRPr sz="4000"/>
          </a:p>
        </p:txBody>
      </p:sp>
      <p:sp>
        <p:nvSpPr>
          <p:cNvPr id="24" name="Text 16">
            <a:extLst xmlns:a="http://schemas.openxmlformats.org/drawingml/2006/main">
              <a:ext uri="{FF2B5EF4-FFF2-40B4-BE49-F238E27FC236}">
                <a16:creationId xmlns:a16="http://schemas.microsoft.com/office/drawing/2014/main" id="{4BE80FA5-77B4-41D5-941B-5D229715C648}"/>
              </a:ext>
            </a:extLst>
          </p:cNvPr>
          <p:cNvSpPr>
            <a:spLocks xmlns:a="http://schemas.openxmlformats.org/drawingml/2006/main" noGrp="1"/>
          </p:cNvSpPr>
          <p:nvPr/>
        </p:nvSpPr>
        <p:spPr>
          <a:xfrm xmlns:a="http://schemas.openxmlformats.org/drawingml/2006/main">
            <a:off x="7680960" y="480060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Google Cloud</a:t>
            </a:r>
            <a:endParaRPr sz="1600"/>
          </a:p>
        </p:txBody>
      </p:sp>
      <p:sp>
        <p:nvSpPr>
          <p:cNvPr id="25" name="Text 17">
            <a:extLst xmlns:a="http://schemas.openxmlformats.org/drawingml/2006/main">
              <a:ext uri="{FF2B5EF4-FFF2-40B4-BE49-F238E27FC236}">
                <a16:creationId xmlns:a16="http://schemas.microsoft.com/office/drawing/2014/main" id="{EE295EA0-6DCB-4115-8D61-BF87EEA7E9E4}"/>
              </a:ext>
            </a:extLst>
          </p:cNvPr>
          <p:cNvSpPr>
            <a:spLocks xmlns:a="http://schemas.openxmlformats.org/drawingml/2006/main" noGrp="1"/>
          </p:cNvSpPr>
          <p:nvPr/>
        </p:nvSpPr>
        <p:spPr>
          <a:xfrm xmlns:a="http://schemas.openxmlformats.org/drawingml/2006/main">
            <a:off x="7680960" y="5212080"/>
            <a:ext cx="38404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Unggul di AI/ML, BigQuery, Kubernetes.</a:t>
            </a:r>
            <a:endParaRPr sz="1000"/>
          </a:p>
        </p:txBody>
      </p:sp>
      <p:sp>
        <p:nvSpPr>
          <p:cNvPr id="26" name="Text 18">
            <a:extLst xmlns:a="http://schemas.openxmlformats.org/drawingml/2006/main">
              <a:ext uri="{FF2B5EF4-FFF2-40B4-BE49-F238E27FC236}">
                <a16:creationId xmlns:a16="http://schemas.microsoft.com/office/drawing/2014/main" id="{C2219F71-0315-4DE2-8049-E8BFBD057872}"/>
              </a:ext>
            </a:extLst>
          </p:cNvPr>
          <p:cNvSpPr>
            <a:spLocks xmlns:a="http://schemas.openxmlformats.org/drawingml/2006/main" noGrp="1"/>
          </p:cNvSpPr>
          <p:nvPr/>
        </p:nvSpPr>
        <p:spPr>
          <a:xfrm xmlns:a="http://schemas.openxmlformats.org/drawingml/2006/main">
            <a:off x="457200" y="6217920"/>
            <a:ext cx="1124712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i="1">
                <a:solidFill>
                  <a:srgbClr val="64748B"/>
                </a:solidFill>
                <a:latin typeface="Calibri"/>
                <a:ea typeface="Calibri"/>
                <a:cs typeface="Calibri"/>
              </a:rPr>
              <a:t>Sumber: Synergy Research / Statista, Q1 2026</a:t>
            </a:r>
            <a:endParaRPr sz="900"/>
          </a:p>
        </p:txBody>
      </p:sp>
    </p:spTree>
    <p:extLst>
      <p:ext uri="{BB962C8B-B14F-4D97-AF65-F5344CB8AC3E}">
        <p14:creationId xmlns:p14="http://schemas.microsoft.com/office/powerpoint/2010/main" val="99833774"/>
      </p:ext>
    </p:extLst>
  </p:cSld>
</p:sld>
</file>

<file path=ppt/slides/slide26.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6679C87-8360-408B-B6BB-A644C6546AFA}"/>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2EC20416-FBEB-44FB-AEFD-CED3BAE8D8C3}"/>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78EDC40D-03F9-4D66-BBA5-BEFBBA935AC1}"/>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9F709D55-75A2-454F-83B0-16C476E212B3}"/>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F0767283-862A-4695-9D9D-C3675866024C}"/>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4D4D7053-A25A-4DAA-8B16-CDF477C97DFE}"/>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6B4DEA08-4AEB-48F1-9DC0-E8FD2B09D5DD}"/>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99dc571501044e31"/>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p:cNvPicPr>
            <a:picLocks xmlns:a="http://schemas.openxmlformats.org/drawingml/2006/main" noChangeAspect="1"/>
          </p:cNvPicPr>
          <p:nvPr/>
        </p:nvPicPr>
        <p:blipFill>
          <a:blip xmlns:r="http://schemas.openxmlformats.org/officeDocument/2006/relationships" xmlns:a="http://schemas.openxmlformats.org/drawingml/2006/main" r:embed="R5218ba91c52e4202"/>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26F49C1C-ABB8-4BD1-B6DB-4946D4E8D0D2}"/>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05</a:t>
            </a:r>
            <a:endParaRPr sz="1600"/>
          </a:p>
        </p:txBody>
      </p:sp>
      <p:sp>
        <p:nvSpPr>
          <p:cNvPr id="12" name="Text 8">
            <a:extLst xmlns:a="http://schemas.openxmlformats.org/drawingml/2006/main">
              <a:ext uri="{FF2B5EF4-FFF2-40B4-BE49-F238E27FC236}">
                <a16:creationId xmlns:a16="http://schemas.microsoft.com/office/drawing/2014/main" id="{FB424F5D-D72E-46F5-8F0F-293B3877FA14}"/>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Free-Tier Landscape</a:t>
            </a:r>
            <a:endParaRPr sz="5200"/>
          </a:p>
        </p:txBody>
      </p:sp>
      <p:sp>
        <p:nvSpPr>
          <p:cNvPr id="13" name="Shape 9">
            <a:extLst xmlns:a="http://schemas.openxmlformats.org/drawingml/2006/main">
              <a:ext uri="{FF2B5EF4-FFF2-40B4-BE49-F238E27FC236}">
                <a16:creationId xmlns:a16="http://schemas.microsoft.com/office/drawing/2014/main" id="{CC492096-AD5C-4A7E-9966-F1F90C4268D9}"/>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E651AEF4-DB13-4440-AF30-9822EC159FE7}"/>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Layanan cloud berkuota dan jalur lokal sepanjang semester.</a:t>
            </a:r>
            <a:endParaRPr sz="1400"/>
          </a:p>
        </p:txBody>
      </p:sp>
    </p:spTree>
    <p:extLst>
      <p:ext uri="{BB962C8B-B14F-4D97-AF65-F5344CB8AC3E}">
        <p14:creationId xmlns:p14="http://schemas.microsoft.com/office/powerpoint/2010/main" val="183618388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7A15D8-2B65-4430-8967-F6C5D9DAED41}"/>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CFC47737-2E70-4622-8461-8017A83BBCAD}"/>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27</a:t>
            </a:r>
            <a:endParaRPr sz="900"/>
          </a:p>
        </p:txBody>
      </p:sp>
      <p:sp>
        <p:nvSpPr>
          <p:cNvPr id="4" name="Shape 2">
            <a:extLst xmlns:a="http://schemas.openxmlformats.org/drawingml/2006/main">
              <a:ext uri="{FF2B5EF4-FFF2-40B4-BE49-F238E27FC236}">
                <a16:creationId xmlns:a16="http://schemas.microsoft.com/office/drawing/2014/main" id="{ABD017DA-36F2-4BC2-A4E8-D68A3891A9C3}"/>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61994e8cc10443d2"/>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1" name="Image 1"/>
          <p:cNvPicPr>
            <a:picLocks xmlns:a="http://schemas.openxmlformats.org/drawingml/2006/main" noChangeAspect="1"/>
          </p:cNvPicPr>
          <p:nvPr/>
        </p:nvPicPr>
        <p:blipFill>
          <a:blip xmlns:r="http://schemas.openxmlformats.org/officeDocument/2006/relationships" xmlns:a="http://schemas.openxmlformats.org/drawingml/2006/main" r:embed="R8d4c6c4176944352"/>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E04E026C-1D7B-4BAE-9BD9-C2D27A8996D4}"/>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EC2D870D-4E11-4BD0-A22F-9E8EBB2129E8}"/>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Kenapa Free-Tier Penting?</a:t>
            </a:r>
            <a:endParaRPr sz="2200"/>
          </a:p>
        </p:txBody>
      </p:sp>
      <p:sp>
        <p:nvSpPr>
          <p:cNvPr id="9" name="Text 5">
            <a:extLst xmlns:a="http://schemas.openxmlformats.org/drawingml/2006/main">
              <a:ext uri="{FF2B5EF4-FFF2-40B4-BE49-F238E27FC236}">
                <a16:creationId xmlns:a16="http://schemas.microsoft.com/office/drawing/2014/main" id="{DBBA64F7-FB7C-45CB-BC4F-AB57F7BF3A14}"/>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Untuk Mahasiswa &amp; Indie Developer</a:t>
            </a:r>
            <a:endParaRPr sz="1200"/>
          </a:p>
        </p:txBody>
      </p:sp>
      <p:sp>
        <p:nvSpPr>
          <p:cNvPr id="10" name="Shape 6">
            <a:extLst xmlns:a="http://schemas.openxmlformats.org/drawingml/2006/main">
              <a:ext uri="{FF2B5EF4-FFF2-40B4-BE49-F238E27FC236}">
                <a16:creationId xmlns:a16="http://schemas.microsoft.com/office/drawing/2014/main" id="{896DEC33-3B58-46EE-B7E3-0306731D161A}"/>
              </a:ext>
            </a:extLst>
          </p:cNvPr>
          <p:cNvSpPr>
            <a:spLocks xmlns:a="http://schemas.openxmlformats.org/drawingml/2006/main" noGrp="1"/>
          </p:cNvSpPr>
          <p:nvPr/>
        </p:nvSpPr>
        <p:spPr>
          <a:xfrm xmlns:a="http://schemas.openxmlformats.org/drawingml/2006/main">
            <a:off x="457200" y="1691640"/>
            <a:ext cx="5577840" cy="2011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630A9F2D-25A5-4EF4-B2BA-0CCC362C21ED}"/>
              </a:ext>
            </a:extLst>
          </p:cNvPr>
          <p:cNvSpPr>
            <a:spLocks xmlns:a="http://schemas.openxmlformats.org/drawingml/2006/main" noGrp="1"/>
          </p:cNvSpPr>
          <p:nvPr/>
        </p:nvSpPr>
        <p:spPr>
          <a:xfrm xmlns:a="http://schemas.openxmlformats.org/drawingml/2006/main">
            <a:off x="457200" y="1691640"/>
            <a:ext cx="91440" cy="20116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7" name="Image 2"/>
          <p:cNvPicPr>
            <a:picLocks xmlns:a="http://schemas.openxmlformats.org/drawingml/2006/main" noChangeAspect="1"/>
          </p:cNvPicPr>
          <p:nvPr/>
        </p:nvPicPr>
        <p:blipFill>
          <a:blip xmlns:r="http://schemas.openxmlformats.org/officeDocument/2006/relationships" xmlns:a="http://schemas.openxmlformats.org/drawingml/2006/main" r:embed="R8f96304bddb74ac1"/>
          <a:stretch xmlns:a="http://schemas.openxmlformats.org/drawingml/2006/main">
            <a:fillRect l="0" t="0" r="0" b="0"/>
          </a:stretch>
        </p:blipFill>
        <p:spPr>
          <a:xfrm xmlns:a="http://schemas.openxmlformats.org/drawingml/2006/main">
            <a:off x="777240" y="2011680"/>
            <a:ext cx="640080" cy="64008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5C7B4DE2-C1E3-49C8-8593-085FD03EBA06}"/>
              </a:ext>
            </a:extLst>
          </p:cNvPr>
          <p:cNvSpPr>
            <a:spLocks xmlns:a="http://schemas.openxmlformats.org/drawingml/2006/main" noGrp="1"/>
          </p:cNvSpPr>
          <p:nvPr/>
        </p:nvSpPr>
        <p:spPr>
          <a:xfrm xmlns:a="http://schemas.openxmlformats.org/drawingml/2006/main">
            <a:off x="1600200" y="2011680"/>
            <a:ext cx="42976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02677"/>
                </a:solidFill>
                <a:latin typeface="Calibri"/>
                <a:ea typeface="Calibri"/>
                <a:cs typeface="Calibri"/>
              </a:rPr>
              <a:t>Nol Modal Awal</a:t>
            </a:r>
            <a:endParaRPr sz="1700"/>
          </a:p>
        </p:txBody>
      </p:sp>
      <p:sp>
        <p:nvSpPr>
          <p:cNvPr id="14" name="Text 9">
            <a:extLst xmlns:a="http://schemas.openxmlformats.org/drawingml/2006/main">
              <a:ext uri="{FF2B5EF4-FFF2-40B4-BE49-F238E27FC236}">
                <a16:creationId xmlns:a16="http://schemas.microsoft.com/office/drawing/2014/main" id="{1D51448E-4109-462A-8CAD-406EAA38240A}"/>
              </a:ext>
            </a:extLst>
          </p:cNvPr>
          <p:cNvSpPr>
            <a:spLocks xmlns:a="http://schemas.openxmlformats.org/drawingml/2006/main" noGrp="1"/>
          </p:cNvSpPr>
          <p:nvPr/>
        </p:nvSpPr>
        <p:spPr>
          <a:xfrm xmlns:a="http://schemas.openxmlformats.org/drawingml/2006/main">
            <a:off x="777240" y="2743200"/>
            <a:ext cx="512064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Belajar, eksperimen, dan deploy projek tanpa keluar uang. Cocok untuk skripsi &amp; portofolio.</a:t>
            </a:r>
            <a:endParaRPr sz="1200"/>
          </a:p>
        </p:txBody>
      </p:sp>
      <p:sp>
        <p:nvSpPr>
          <p:cNvPr id="15" name="Shape 10">
            <a:extLst xmlns:a="http://schemas.openxmlformats.org/drawingml/2006/main">
              <a:ext uri="{FF2B5EF4-FFF2-40B4-BE49-F238E27FC236}">
                <a16:creationId xmlns:a16="http://schemas.microsoft.com/office/drawing/2014/main" id="{6E5B04D1-1CFF-4988-A360-0A616BBF0982}"/>
              </a:ext>
            </a:extLst>
          </p:cNvPr>
          <p:cNvSpPr>
            <a:spLocks xmlns:a="http://schemas.openxmlformats.org/drawingml/2006/main" noGrp="1"/>
          </p:cNvSpPr>
          <p:nvPr/>
        </p:nvSpPr>
        <p:spPr>
          <a:xfrm xmlns:a="http://schemas.openxmlformats.org/drawingml/2006/main">
            <a:off x="6309360" y="1691640"/>
            <a:ext cx="5577840" cy="2011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6" name="Shape 11">
            <a:extLst xmlns:a="http://schemas.openxmlformats.org/drawingml/2006/main">
              <a:ext uri="{FF2B5EF4-FFF2-40B4-BE49-F238E27FC236}">
                <a16:creationId xmlns:a16="http://schemas.microsoft.com/office/drawing/2014/main" id="{4E443F34-F07B-41A1-AC2A-682CE8948406}"/>
              </a:ext>
            </a:extLst>
          </p:cNvPr>
          <p:cNvSpPr>
            <a:spLocks xmlns:a="http://schemas.openxmlformats.org/drawingml/2006/main" noGrp="1"/>
          </p:cNvSpPr>
          <p:nvPr/>
        </p:nvSpPr>
        <p:spPr>
          <a:xfrm xmlns:a="http://schemas.openxmlformats.org/drawingml/2006/main">
            <a:off x="6309360" y="1691640"/>
            <a:ext cx="91440" cy="20116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2" name="Image 3"/>
          <p:cNvPicPr>
            <a:picLocks xmlns:a="http://schemas.openxmlformats.org/drawingml/2006/main" noChangeAspect="1"/>
          </p:cNvPicPr>
          <p:nvPr/>
        </p:nvPicPr>
        <p:blipFill>
          <a:blip xmlns:r="http://schemas.openxmlformats.org/officeDocument/2006/relationships" xmlns:a="http://schemas.openxmlformats.org/drawingml/2006/main" r:embed="R679bda8923854dc4"/>
          <a:stretch xmlns:a="http://schemas.openxmlformats.org/drawingml/2006/main">
            <a:fillRect l="0" t="0" r="0" b="0"/>
          </a:stretch>
        </p:blipFill>
        <p:spPr>
          <a:xfrm xmlns:a="http://schemas.openxmlformats.org/drawingml/2006/main">
            <a:off x="6629400" y="2011680"/>
            <a:ext cx="640080" cy="640080"/>
          </a:xfrm>
          <a:prstGeom xmlns:a="http://schemas.openxmlformats.org/drawingml/2006/main" prst="rect">
            <a:avLst/>
          </a:prstGeom>
        </p:spPr>
      </p:pic>
      <p:sp>
        <p:nvSpPr>
          <p:cNvPr id="18" name="Text 12">
            <a:extLst xmlns:a="http://schemas.openxmlformats.org/drawingml/2006/main">
              <a:ext uri="{FF2B5EF4-FFF2-40B4-BE49-F238E27FC236}">
                <a16:creationId xmlns:a16="http://schemas.microsoft.com/office/drawing/2014/main" id="{67E51C50-20FC-4FE9-9EE5-2D8C0AAA534B}"/>
              </a:ext>
            </a:extLst>
          </p:cNvPr>
          <p:cNvSpPr>
            <a:spLocks xmlns:a="http://schemas.openxmlformats.org/drawingml/2006/main" noGrp="1"/>
          </p:cNvSpPr>
          <p:nvPr/>
        </p:nvSpPr>
        <p:spPr>
          <a:xfrm xmlns:a="http://schemas.openxmlformats.org/drawingml/2006/main">
            <a:off x="7452360" y="2011680"/>
            <a:ext cx="42976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02677"/>
                </a:solidFill>
                <a:latin typeface="Calibri"/>
                <a:ea typeface="Calibri"/>
                <a:cs typeface="Calibri"/>
              </a:rPr>
              <a:t>Production-Grade Tools</a:t>
            </a:r>
            <a:endParaRPr sz="1700"/>
          </a:p>
        </p:txBody>
      </p:sp>
      <p:sp>
        <p:nvSpPr>
          <p:cNvPr id="19" name="Text 13">
            <a:extLst xmlns:a="http://schemas.openxmlformats.org/drawingml/2006/main">
              <a:ext uri="{FF2B5EF4-FFF2-40B4-BE49-F238E27FC236}">
                <a16:creationId xmlns:a16="http://schemas.microsoft.com/office/drawing/2014/main" id="{DDA7B9D1-FA68-42A6-85CE-ED4FF16289A1}"/>
              </a:ext>
            </a:extLst>
          </p:cNvPr>
          <p:cNvSpPr>
            <a:spLocks xmlns:a="http://schemas.openxmlformats.org/drawingml/2006/main" noGrp="1"/>
          </p:cNvSpPr>
          <p:nvPr/>
        </p:nvSpPr>
        <p:spPr>
          <a:xfrm xmlns:a="http://schemas.openxmlformats.org/drawingml/2006/main">
            <a:off x="6629400" y="2743200"/>
            <a:ext cx="512064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Free tier dari hyperscaler &amp; SaaS modern punya fitur identik dengan paid plan, hanya quota lebih kecil.</a:t>
            </a:r>
            <a:endParaRPr sz="1200"/>
          </a:p>
        </p:txBody>
      </p:sp>
      <p:sp>
        <p:nvSpPr>
          <p:cNvPr id="20" name="Shape 14">
            <a:extLst xmlns:a="http://schemas.openxmlformats.org/drawingml/2006/main">
              <a:ext uri="{FF2B5EF4-FFF2-40B4-BE49-F238E27FC236}">
                <a16:creationId xmlns:a16="http://schemas.microsoft.com/office/drawing/2014/main" id="{457F1B74-781A-4AE7-968E-57E7F02EC818}"/>
              </a:ext>
            </a:extLst>
          </p:cNvPr>
          <p:cNvSpPr>
            <a:spLocks xmlns:a="http://schemas.openxmlformats.org/drawingml/2006/main" noGrp="1"/>
          </p:cNvSpPr>
          <p:nvPr/>
        </p:nvSpPr>
        <p:spPr>
          <a:xfrm xmlns:a="http://schemas.openxmlformats.org/drawingml/2006/main">
            <a:off x="457200" y="3886200"/>
            <a:ext cx="5577840" cy="2011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1" name="Shape 15">
            <a:extLst xmlns:a="http://schemas.openxmlformats.org/drawingml/2006/main">
              <a:ext uri="{FF2B5EF4-FFF2-40B4-BE49-F238E27FC236}">
                <a16:creationId xmlns:a16="http://schemas.microsoft.com/office/drawing/2014/main" id="{73323949-6AE6-4E28-8A84-7EFA97314CC4}"/>
              </a:ext>
            </a:extLst>
          </p:cNvPr>
          <p:cNvSpPr>
            <a:spLocks xmlns:a="http://schemas.openxmlformats.org/drawingml/2006/main" noGrp="1"/>
          </p:cNvSpPr>
          <p:nvPr/>
        </p:nvSpPr>
        <p:spPr>
          <a:xfrm xmlns:a="http://schemas.openxmlformats.org/drawingml/2006/main">
            <a:off x="457200" y="3886200"/>
            <a:ext cx="91440" cy="20116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7" name="Image 4"/>
          <p:cNvPicPr>
            <a:picLocks xmlns:a="http://schemas.openxmlformats.org/drawingml/2006/main" noChangeAspect="1"/>
          </p:cNvPicPr>
          <p:nvPr/>
        </p:nvPicPr>
        <p:blipFill>
          <a:blip xmlns:r="http://schemas.openxmlformats.org/officeDocument/2006/relationships" xmlns:a="http://schemas.openxmlformats.org/drawingml/2006/main" r:embed="R3fc7858dea6d44c4"/>
          <a:stretch xmlns:a="http://schemas.openxmlformats.org/drawingml/2006/main">
            <a:fillRect l="0" t="0" r="0" b="0"/>
          </a:stretch>
        </p:blipFill>
        <p:spPr>
          <a:xfrm xmlns:a="http://schemas.openxmlformats.org/drawingml/2006/main">
            <a:off x="777240" y="4206240"/>
            <a:ext cx="640080" cy="640080"/>
          </a:xfrm>
          <a:prstGeom xmlns:a="http://schemas.openxmlformats.org/drawingml/2006/main" prst="rect">
            <a:avLst/>
          </a:prstGeom>
        </p:spPr>
      </p:pic>
      <p:sp>
        <p:nvSpPr>
          <p:cNvPr id="23" name="Text 16">
            <a:extLst xmlns:a="http://schemas.openxmlformats.org/drawingml/2006/main">
              <a:ext uri="{FF2B5EF4-FFF2-40B4-BE49-F238E27FC236}">
                <a16:creationId xmlns:a16="http://schemas.microsoft.com/office/drawing/2014/main" id="{E8162E60-AEFA-4E8A-BEEA-A0EBB7F60D55}"/>
              </a:ext>
            </a:extLst>
          </p:cNvPr>
          <p:cNvSpPr>
            <a:spLocks xmlns:a="http://schemas.openxmlformats.org/drawingml/2006/main" noGrp="1"/>
          </p:cNvSpPr>
          <p:nvPr/>
        </p:nvSpPr>
        <p:spPr>
          <a:xfrm xmlns:a="http://schemas.openxmlformats.org/drawingml/2006/main">
            <a:off x="1600200" y="4206240"/>
            <a:ext cx="42976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02677"/>
                </a:solidFill>
                <a:latin typeface="Calibri"/>
                <a:ea typeface="Calibri"/>
                <a:cs typeface="Calibri"/>
              </a:rPr>
              <a:t>Skill Industri Nyata</a:t>
            </a:r>
            <a:endParaRPr sz="1700"/>
          </a:p>
        </p:txBody>
      </p:sp>
      <p:sp>
        <p:nvSpPr>
          <p:cNvPr id="24" name="Text 17">
            <a:extLst xmlns:a="http://schemas.openxmlformats.org/drawingml/2006/main">
              <a:ext uri="{FF2B5EF4-FFF2-40B4-BE49-F238E27FC236}">
                <a16:creationId xmlns:a16="http://schemas.microsoft.com/office/drawing/2014/main" id="{F93ABB59-B99B-4BAB-B0F7-E2ABC14794E8}"/>
              </a:ext>
            </a:extLst>
          </p:cNvPr>
          <p:cNvSpPr>
            <a:spLocks xmlns:a="http://schemas.openxmlformats.org/drawingml/2006/main" noGrp="1"/>
          </p:cNvSpPr>
          <p:nvPr/>
        </p:nvSpPr>
        <p:spPr>
          <a:xfrm xmlns:a="http://schemas.openxmlformats.org/drawingml/2006/main">
            <a:off x="777240" y="4937760"/>
            <a:ext cx="512064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Stack Vercel + Supabase + HF persis yang dipakai startup. </a:t>
            </a:r>
            <a:r>
              <a:rPr sz="1200">
                <a:solidFill>
                  <a:srgbClr val="1E293B"/>
                </a:solidFill>
                <a:latin typeface="Calibri"/>
                <a:ea typeface="Calibri"/>
                <a:cs typeface="Calibri"/>
              </a:rPr>
              <a:t>Proyek kelompok menjadi portofolio nyata.</a:t>
            </a:r>
            <a:endParaRPr sz="1200"/>
          </a:p>
        </p:txBody>
      </p:sp>
      <p:sp>
        <p:nvSpPr>
          <p:cNvPr id="25" name="Shape 18">
            <a:extLst xmlns:a="http://schemas.openxmlformats.org/drawingml/2006/main">
              <a:ext uri="{FF2B5EF4-FFF2-40B4-BE49-F238E27FC236}">
                <a16:creationId xmlns:a16="http://schemas.microsoft.com/office/drawing/2014/main" id="{272FA347-FAA6-4513-8979-2E791B15828A}"/>
              </a:ext>
            </a:extLst>
          </p:cNvPr>
          <p:cNvSpPr>
            <a:spLocks xmlns:a="http://schemas.openxmlformats.org/drawingml/2006/main" noGrp="1"/>
          </p:cNvSpPr>
          <p:nvPr/>
        </p:nvSpPr>
        <p:spPr>
          <a:xfrm xmlns:a="http://schemas.openxmlformats.org/drawingml/2006/main">
            <a:off x="6309360" y="3886200"/>
            <a:ext cx="5577840" cy="2011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6" name="Shape 19">
            <a:extLst xmlns:a="http://schemas.openxmlformats.org/drawingml/2006/main">
              <a:ext uri="{FF2B5EF4-FFF2-40B4-BE49-F238E27FC236}">
                <a16:creationId xmlns:a16="http://schemas.microsoft.com/office/drawing/2014/main" id="{4C5E4592-BD91-46FB-BD41-B2F67A5D47C1}"/>
              </a:ext>
            </a:extLst>
          </p:cNvPr>
          <p:cNvSpPr>
            <a:spLocks xmlns:a="http://schemas.openxmlformats.org/drawingml/2006/main" noGrp="1"/>
          </p:cNvSpPr>
          <p:nvPr/>
        </p:nvSpPr>
        <p:spPr>
          <a:xfrm xmlns:a="http://schemas.openxmlformats.org/drawingml/2006/main">
            <a:off x="6309360" y="3886200"/>
            <a:ext cx="91440" cy="20116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62" name="Image 5"/>
          <p:cNvPicPr>
            <a:picLocks xmlns:a="http://schemas.openxmlformats.org/drawingml/2006/main" noChangeAspect="1"/>
          </p:cNvPicPr>
          <p:nvPr/>
        </p:nvPicPr>
        <p:blipFill>
          <a:blip xmlns:r="http://schemas.openxmlformats.org/officeDocument/2006/relationships" xmlns:a="http://schemas.openxmlformats.org/drawingml/2006/main" r:embed="Ra43e017c57c342ea"/>
          <a:stretch xmlns:a="http://schemas.openxmlformats.org/drawingml/2006/main">
            <a:fillRect l="0" t="0" r="0" b="0"/>
          </a:stretch>
        </p:blipFill>
        <p:spPr>
          <a:xfrm xmlns:a="http://schemas.openxmlformats.org/drawingml/2006/main">
            <a:off x="6629400" y="4206240"/>
            <a:ext cx="640080" cy="640080"/>
          </a:xfrm>
          <a:prstGeom xmlns:a="http://schemas.openxmlformats.org/drawingml/2006/main" prst="rect">
            <a:avLst/>
          </a:prstGeom>
        </p:spPr>
      </p:pic>
      <p:sp>
        <p:nvSpPr>
          <p:cNvPr id="28" name="Text 20">
            <a:extLst xmlns:a="http://schemas.openxmlformats.org/drawingml/2006/main">
              <a:ext uri="{FF2B5EF4-FFF2-40B4-BE49-F238E27FC236}">
                <a16:creationId xmlns:a16="http://schemas.microsoft.com/office/drawing/2014/main" id="{E4A71BF5-929A-440C-B347-1C1A9B9A5F3F}"/>
              </a:ext>
            </a:extLst>
          </p:cNvPr>
          <p:cNvSpPr>
            <a:spLocks xmlns:a="http://schemas.openxmlformats.org/drawingml/2006/main" noGrp="1"/>
          </p:cNvSpPr>
          <p:nvPr/>
        </p:nvSpPr>
        <p:spPr>
          <a:xfrm xmlns:a="http://schemas.openxmlformats.org/drawingml/2006/main">
            <a:off x="7452360" y="4206240"/>
            <a:ext cx="42976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02677"/>
                </a:solidFill>
                <a:latin typeface="Calibri"/>
                <a:ea typeface="Calibri"/>
                <a:cs typeface="Calibri"/>
              </a:rPr>
              <a:t>Eksperimen ML Tanpa GPU Mahal</a:t>
            </a:r>
            <a:endParaRPr sz="1700"/>
          </a:p>
        </p:txBody>
      </p:sp>
      <p:sp>
        <p:nvSpPr>
          <p:cNvPr id="29" name="Text 21">
            <a:extLst xmlns:a="http://schemas.openxmlformats.org/drawingml/2006/main">
              <a:ext uri="{FF2B5EF4-FFF2-40B4-BE49-F238E27FC236}">
                <a16:creationId xmlns:a16="http://schemas.microsoft.com/office/drawing/2014/main" id="{246711A4-8347-4506-8AC1-687ACB926058}"/>
              </a:ext>
            </a:extLst>
          </p:cNvPr>
          <p:cNvSpPr>
            <a:spLocks xmlns:a="http://schemas.openxmlformats.org/drawingml/2006/main" noGrp="1"/>
          </p:cNvSpPr>
          <p:nvPr/>
        </p:nvSpPr>
        <p:spPr>
          <a:xfrm xmlns:a="http://schemas.openxmlformats.org/drawingml/2006/main">
            <a:off x="6629400" y="4937760"/>
            <a:ext cx="512064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Gradio bisa dicoba lokal. Akses compute Hugging Face Spaces bergantung paket dan status akun.</a:t>
            </a:r>
            <a:endParaRPr sz="1200"/>
          </a:p>
        </p:txBody>
      </p:sp>
      <p:sp>
        <p:nvSpPr>
          <p:cNvPr id="30" name="Text 22">
            <a:extLst xmlns:a="http://schemas.openxmlformats.org/drawingml/2006/main">
              <a:ext uri="{FF2B5EF4-FFF2-40B4-BE49-F238E27FC236}">
                <a16:creationId xmlns:a16="http://schemas.microsoft.com/office/drawing/2014/main" id="{2A266D54-65FF-423A-91A1-1200B27670C7}"/>
              </a:ext>
            </a:extLst>
          </p:cNvPr>
          <p:cNvSpPr>
            <a:spLocks xmlns:a="http://schemas.openxmlformats.org/drawingml/2006/main" noGrp="1"/>
          </p:cNvSpPr>
          <p:nvPr/>
        </p:nvSpPr>
        <p:spPr>
          <a:xfrm xmlns:a="http://schemas.openxmlformats.org/drawingml/2006/main">
            <a:off x="457200" y="62636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Catatan: free-tier punya batas - kita akan bahas tiap layanan satu per satu</a:t>
            </a:r>
            <a:endParaRPr sz="1100"/>
          </a:p>
        </p:txBody>
      </p:sp>
    </p:spTree>
    <p:extLst>
      <p:ext uri="{BB962C8B-B14F-4D97-AF65-F5344CB8AC3E}">
        <p14:creationId xmlns:p14="http://schemas.microsoft.com/office/powerpoint/2010/main" val="90617132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99E115F-1E78-4D3E-B16F-C983E8F7D077}"/>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D64F6727-1231-4F95-A6E8-F564163CC04D}"/>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28</a:t>
            </a:r>
            <a:endParaRPr sz="900"/>
          </a:p>
        </p:txBody>
      </p:sp>
      <p:sp>
        <p:nvSpPr>
          <p:cNvPr id="4" name="Shape 2">
            <a:extLst xmlns:a="http://schemas.openxmlformats.org/drawingml/2006/main">
              <a:ext uri="{FF2B5EF4-FFF2-40B4-BE49-F238E27FC236}">
                <a16:creationId xmlns:a16="http://schemas.microsoft.com/office/drawing/2014/main" id="{EAFAD95E-FD44-4D8B-B519-5BF22A5D9ADA}"/>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d6970a3454254da7"/>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644d6a7c96c4476d"/>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A20C5D5B-9BCB-4E44-8A8D-68CB57732F4B}"/>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4746907F-9A0E-4D0D-920E-2A8A3E895F81}"/>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Oracle Cloud Always Free</a:t>
            </a:r>
            <a:endParaRPr sz="2200"/>
          </a:p>
        </p:txBody>
      </p:sp>
      <p:sp>
        <p:nvSpPr>
          <p:cNvPr id="9" name="Text 5">
            <a:extLst xmlns:a="http://schemas.openxmlformats.org/drawingml/2006/main">
              <a:ext uri="{FF2B5EF4-FFF2-40B4-BE49-F238E27FC236}">
                <a16:creationId xmlns:a16="http://schemas.microsoft.com/office/drawing/2014/main" id="{9389B4FA-2EE4-4C99-8F0E-65AF72C05BD3}"/>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Opsi VM/IaaS (bukan syarat praktikum)</a:t>
            </a:r>
            <a:endParaRPr sz="1200"/>
          </a:p>
        </p:txBody>
      </p:sp>
      <p:sp>
        <p:nvSpPr>
          <p:cNvPr id="10" name="Shape 6">
            <a:extLst xmlns:a="http://schemas.openxmlformats.org/drawingml/2006/main">
              <a:ext uri="{FF2B5EF4-FFF2-40B4-BE49-F238E27FC236}">
                <a16:creationId xmlns:a16="http://schemas.microsoft.com/office/drawing/2014/main" id="{B71B1F39-EF58-4850-94DF-46E04AA199FF}"/>
              </a:ext>
            </a:extLst>
          </p:cNvPr>
          <p:cNvSpPr>
            <a:spLocks xmlns:a="http://schemas.openxmlformats.org/drawingml/2006/main" noGrp="1"/>
          </p:cNvSpPr>
          <p:nvPr/>
        </p:nvSpPr>
        <p:spPr>
          <a:xfrm xmlns:a="http://schemas.openxmlformats.org/drawingml/2006/main">
            <a:off x="457200" y="1691640"/>
            <a:ext cx="11247120" cy="914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3c66350012944a6f"/>
          <a:stretch xmlns:a="http://schemas.openxmlformats.org/drawingml/2006/main">
            <a:fillRect l="0" t="0" r="0" b="0"/>
          </a:stretch>
        </p:blipFill>
        <p:spPr>
          <a:xfrm xmlns:a="http://schemas.openxmlformats.org/drawingml/2006/main">
            <a:off x="640080" y="1874520"/>
            <a:ext cx="548640" cy="54864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FA7A29CF-ECBE-4182-A02E-3F761CD841BE}"/>
              </a:ext>
            </a:extLst>
          </p:cNvPr>
          <p:cNvSpPr>
            <a:spLocks xmlns:a="http://schemas.openxmlformats.org/drawingml/2006/main" noGrp="1"/>
          </p:cNvSpPr>
          <p:nvPr/>
        </p:nvSpPr>
        <p:spPr>
          <a:xfrm xmlns:a="http://schemas.openxmlformats.org/drawingml/2006/main">
            <a:off x="1325880" y="182880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002677"/>
                </a:solidFill>
                <a:latin typeface="Calibri"/>
                <a:ea typeface="Calibri"/>
                <a:cs typeface="Calibri"/>
              </a:rPr>
              <a:t>Oracle Cloud Infrastructure (OCI)</a:t>
            </a:r>
            <a:endParaRPr sz="2000"/>
          </a:p>
        </p:txBody>
      </p:sp>
      <p:sp>
        <p:nvSpPr>
          <p:cNvPr id="13" name="Text 8">
            <a:extLst xmlns:a="http://schemas.openxmlformats.org/drawingml/2006/main">
              <a:ext uri="{FF2B5EF4-FFF2-40B4-BE49-F238E27FC236}">
                <a16:creationId xmlns:a16="http://schemas.microsoft.com/office/drawing/2014/main" id="{56520A92-DD1E-4637-9AF9-94CC83D460B0}"/>
              </a:ext>
            </a:extLst>
          </p:cNvPr>
          <p:cNvSpPr>
            <a:spLocks xmlns:a="http://schemas.openxmlformats.org/drawingml/2006/main" noGrp="1"/>
          </p:cNvSpPr>
          <p:nvPr/>
        </p:nvSpPr>
        <p:spPr>
          <a:xfrm xmlns:a="http://schemas.openxmlformats.org/drawingml/2006/main">
            <a:off x="1325880" y="224028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i="1">
                <a:solidFill>
                  <a:srgbClr val="F37021"/>
                </a:solidFill>
                <a:latin typeface="Calibri"/>
                <a:ea typeface="Calibri"/>
                <a:cs typeface="Calibri"/>
              </a:rPr>
              <a:t>"Always Free" - tidak expire selama akun aktif</a:t>
            </a:r>
            <a:endParaRPr sz="1200"/>
          </a:p>
        </p:txBody>
      </p:sp>
      <p:sp>
        <p:nvSpPr>
          <p:cNvPr id="14" name="Shape 9">
            <a:extLst xmlns:a="http://schemas.openxmlformats.org/drawingml/2006/main">
              <a:ext uri="{FF2B5EF4-FFF2-40B4-BE49-F238E27FC236}">
                <a16:creationId xmlns:a16="http://schemas.microsoft.com/office/drawing/2014/main" id="{C99401EE-43AA-4865-A942-FD8A4F58E9DD}"/>
              </a:ext>
            </a:extLst>
          </p:cNvPr>
          <p:cNvSpPr>
            <a:spLocks xmlns:a="http://schemas.openxmlformats.org/drawingml/2006/main" noGrp="1"/>
          </p:cNvSpPr>
          <p:nvPr/>
        </p:nvSpPr>
        <p:spPr>
          <a:xfrm xmlns:a="http://schemas.openxmlformats.org/drawingml/2006/main">
            <a:off x="9144000" y="1874520"/>
            <a:ext cx="2468880" cy="5943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5" name="Text 10">
            <a:extLst xmlns:a="http://schemas.openxmlformats.org/drawingml/2006/main">
              <a:ext uri="{FF2B5EF4-FFF2-40B4-BE49-F238E27FC236}">
                <a16:creationId xmlns:a16="http://schemas.microsoft.com/office/drawing/2014/main" id="{56EDB8E9-09C1-4576-80DB-1ABBE047339A}"/>
              </a:ext>
            </a:extLst>
          </p:cNvPr>
          <p:cNvSpPr>
            <a:spLocks xmlns:a="http://schemas.openxmlformats.org/drawingml/2006/main" noGrp="1"/>
          </p:cNvSpPr>
          <p:nvPr/>
        </p:nvSpPr>
        <p:spPr>
          <a:xfrm xmlns:a="http://schemas.openxmlformats.org/drawingml/2006/main">
            <a:off x="9144000" y="1874520"/>
            <a:ext cx="24688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spc="200">
                <a:solidFill>
                  <a:srgbClr val="FFFFFF"/>
                </a:solidFill>
                <a:latin typeface="Calibri"/>
                <a:ea typeface="Calibri"/>
                <a:cs typeface="Calibri"/>
              </a:rPr>
              <a:t>CEK KUOTA</a:t>
            </a:r>
            <a:endParaRPr sz="1100"/>
          </a:p>
        </p:txBody>
      </p:sp>
      <p:sp>
        <p:nvSpPr>
          <p:cNvPr id="16" name="Shape 11">
            <a:extLst xmlns:a="http://schemas.openxmlformats.org/drawingml/2006/main">
              <a:ext uri="{FF2B5EF4-FFF2-40B4-BE49-F238E27FC236}">
                <a16:creationId xmlns:a16="http://schemas.microsoft.com/office/drawing/2014/main" id="{42039992-1C4D-4202-AB50-5F2CD85252F4}"/>
              </a:ext>
            </a:extLst>
          </p:cNvPr>
          <p:cNvSpPr>
            <a:spLocks xmlns:a="http://schemas.openxmlformats.org/drawingml/2006/main" noGrp="1"/>
          </p:cNvSpPr>
          <p:nvPr/>
        </p:nvSpPr>
        <p:spPr>
          <a:xfrm xmlns:a="http://schemas.openxmlformats.org/drawingml/2006/main">
            <a:off x="457200" y="2788920"/>
            <a:ext cx="11247120" cy="5486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60" name="Image 3"/>
          <p:cNvPicPr>
            <a:picLocks xmlns:a="http://schemas.openxmlformats.org/drawingml/2006/main" noChangeAspect="1"/>
          </p:cNvPicPr>
          <p:nvPr/>
        </p:nvPicPr>
        <p:blipFill>
          <a:blip xmlns:r="http://schemas.openxmlformats.org/officeDocument/2006/relationships" xmlns:a="http://schemas.openxmlformats.org/drawingml/2006/main" r:embed="Re78904d674254466"/>
          <a:stretch xmlns:a="http://schemas.openxmlformats.org/drawingml/2006/main">
            <a:fillRect l="0" t="0" r="0" b="0"/>
          </a:stretch>
        </p:blipFill>
        <p:spPr>
          <a:xfrm xmlns:a="http://schemas.openxmlformats.org/drawingml/2006/main">
            <a:off x="640080" y="2907792"/>
            <a:ext cx="320040" cy="320040"/>
          </a:xfrm>
          <a:prstGeom xmlns:a="http://schemas.openxmlformats.org/drawingml/2006/main" prst="rect">
            <a:avLst/>
          </a:prstGeom>
        </p:spPr>
      </p:pic>
      <p:sp>
        <p:nvSpPr>
          <p:cNvPr id="18" name="Text 12">
            <a:extLst xmlns:a="http://schemas.openxmlformats.org/drawingml/2006/main">
              <a:ext uri="{FF2B5EF4-FFF2-40B4-BE49-F238E27FC236}">
                <a16:creationId xmlns:a16="http://schemas.microsoft.com/office/drawing/2014/main" id="{4BDC7CBF-B862-4109-A7B6-F3DB082B6172}"/>
              </a:ext>
            </a:extLst>
          </p:cNvPr>
          <p:cNvSpPr>
            <a:spLocks xmlns:a="http://schemas.openxmlformats.org/drawingml/2006/main" noGrp="1"/>
          </p:cNvSpPr>
          <p:nvPr/>
        </p:nvSpPr>
        <p:spPr>
          <a:xfrm xmlns:a="http://schemas.openxmlformats.org/drawingml/2006/main">
            <a:off x="1097280" y="2834640"/>
            <a:ext cx="2011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Compute</a:t>
            </a:r>
            <a:endParaRPr sz="1300"/>
          </a:p>
        </p:txBody>
      </p:sp>
      <p:sp>
        <p:nvSpPr>
          <p:cNvPr id="19" name="Text 13">
            <a:extLst xmlns:a="http://schemas.openxmlformats.org/drawingml/2006/main">
              <a:ext uri="{FF2B5EF4-FFF2-40B4-BE49-F238E27FC236}">
                <a16:creationId xmlns:a16="http://schemas.microsoft.com/office/drawing/2014/main" id="{90D1C920-2A07-4522-AC71-386F0B4C8DC2}"/>
              </a:ext>
            </a:extLst>
          </p:cNvPr>
          <p:cNvSpPr>
            <a:spLocks xmlns:a="http://schemas.openxmlformats.org/drawingml/2006/main" noGrp="1"/>
          </p:cNvSpPr>
          <p:nvPr/>
        </p:nvSpPr>
        <p:spPr>
          <a:xfrm xmlns:a="http://schemas.openxmlformats.org/drawingml/2006/main">
            <a:off x="3108960" y="2834640"/>
            <a:ext cx="8503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2 AMD micro; Arm A1 total maks. 2 OCPU / 12 GB RAM</a:t>
            </a:r>
            <a:endParaRPr sz="1100"/>
          </a:p>
        </p:txBody>
      </p:sp>
      <p:sp>
        <p:nvSpPr>
          <p:cNvPr id="20" name="Shape 14">
            <a:extLst xmlns:a="http://schemas.openxmlformats.org/drawingml/2006/main">
              <a:ext uri="{FF2B5EF4-FFF2-40B4-BE49-F238E27FC236}">
                <a16:creationId xmlns:a16="http://schemas.microsoft.com/office/drawing/2014/main" id="{BA2A355D-7700-4612-8563-CEA1A0AD652E}"/>
              </a:ext>
            </a:extLst>
          </p:cNvPr>
          <p:cNvSpPr>
            <a:spLocks xmlns:a="http://schemas.openxmlformats.org/drawingml/2006/main" noGrp="1"/>
          </p:cNvSpPr>
          <p:nvPr/>
        </p:nvSpPr>
        <p:spPr>
          <a:xfrm xmlns:a="http://schemas.openxmlformats.org/drawingml/2006/main">
            <a:off x="457200" y="3429000"/>
            <a:ext cx="11247120" cy="54864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pic>
        <p:nvPicPr>
          <p:cNvPr id="64" name="Image 4"/>
          <p:cNvPicPr>
            <a:picLocks xmlns:a="http://schemas.openxmlformats.org/drawingml/2006/main" noChangeAspect="1"/>
          </p:cNvPicPr>
          <p:nvPr/>
        </p:nvPicPr>
        <p:blipFill>
          <a:blip xmlns:r="http://schemas.openxmlformats.org/officeDocument/2006/relationships" xmlns:a="http://schemas.openxmlformats.org/drawingml/2006/main" r:embed="Re78904d674254466"/>
          <a:stretch xmlns:a="http://schemas.openxmlformats.org/drawingml/2006/main">
            <a:fillRect l="0" t="0" r="0" b="0"/>
          </a:stretch>
        </p:blipFill>
        <p:spPr>
          <a:xfrm xmlns:a="http://schemas.openxmlformats.org/drawingml/2006/main">
            <a:off x="640080" y="3547872"/>
            <a:ext cx="320040" cy="320040"/>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1CD83104-A7FA-4607-9E55-983CDCCC5EEF}"/>
              </a:ext>
            </a:extLst>
          </p:cNvPr>
          <p:cNvSpPr>
            <a:spLocks xmlns:a="http://schemas.openxmlformats.org/drawingml/2006/main" noGrp="1"/>
          </p:cNvSpPr>
          <p:nvPr/>
        </p:nvSpPr>
        <p:spPr>
          <a:xfrm xmlns:a="http://schemas.openxmlformats.org/drawingml/2006/main">
            <a:off x="1097280" y="3474720"/>
            <a:ext cx="2011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Storage</a:t>
            </a:r>
            <a:endParaRPr sz="1300"/>
          </a:p>
        </p:txBody>
      </p:sp>
      <p:sp>
        <p:nvSpPr>
          <p:cNvPr id="23" name="Text 16">
            <a:extLst xmlns:a="http://schemas.openxmlformats.org/drawingml/2006/main">
              <a:ext uri="{FF2B5EF4-FFF2-40B4-BE49-F238E27FC236}">
                <a16:creationId xmlns:a16="http://schemas.microsoft.com/office/drawing/2014/main" id="{2BBF9335-F575-4740-8154-D2456989A001}"/>
              </a:ext>
            </a:extLst>
          </p:cNvPr>
          <p:cNvSpPr>
            <a:spLocks xmlns:a="http://schemas.openxmlformats.org/drawingml/2006/main" noGrp="1"/>
          </p:cNvSpPr>
          <p:nvPr/>
        </p:nvSpPr>
        <p:spPr>
          <a:xfrm xmlns:a="http://schemas.openxmlformats.org/drawingml/2006/main">
            <a:off x="3108960" y="3474720"/>
            <a:ext cx="8503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Lihat kuota Block/Object/Archive Storage terbaru</a:t>
            </a:r>
            <a:endParaRPr sz="1100"/>
          </a:p>
        </p:txBody>
      </p:sp>
      <p:sp>
        <p:nvSpPr>
          <p:cNvPr id="24" name="Shape 17">
            <a:extLst xmlns:a="http://schemas.openxmlformats.org/drawingml/2006/main">
              <a:ext uri="{FF2B5EF4-FFF2-40B4-BE49-F238E27FC236}">
                <a16:creationId xmlns:a16="http://schemas.microsoft.com/office/drawing/2014/main" id="{7B49234E-319B-4D48-8C7A-FA4BE648D90A}"/>
              </a:ext>
            </a:extLst>
          </p:cNvPr>
          <p:cNvSpPr>
            <a:spLocks xmlns:a="http://schemas.openxmlformats.org/drawingml/2006/main" noGrp="1"/>
          </p:cNvSpPr>
          <p:nvPr/>
        </p:nvSpPr>
        <p:spPr>
          <a:xfrm xmlns:a="http://schemas.openxmlformats.org/drawingml/2006/main">
            <a:off x="457200" y="4069080"/>
            <a:ext cx="11247120" cy="5486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e78904d674254466"/>
          <a:stretch xmlns:a="http://schemas.openxmlformats.org/drawingml/2006/main">
            <a:fillRect l="0" t="0" r="0" b="0"/>
          </a:stretch>
        </p:blipFill>
        <p:spPr>
          <a:xfrm xmlns:a="http://schemas.openxmlformats.org/drawingml/2006/main">
            <a:off x="640080" y="4187952"/>
            <a:ext cx="320040" cy="320040"/>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E31E8088-90A3-4814-8CB0-1CCF08956C55}"/>
              </a:ext>
            </a:extLst>
          </p:cNvPr>
          <p:cNvSpPr>
            <a:spLocks xmlns:a="http://schemas.openxmlformats.org/drawingml/2006/main" noGrp="1"/>
          </p:cNvSpPr>
          <p:nvPr/>
        </p:nvSpPr>
        <p:spPr>
          <a:xfrm xmlns:a="http://schemas.openxmlformats.org/drawingml/2006/main">
            <a:off x="1097280" y="4114800"/>
            <a:ext cx="2011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Database</a:t>
            </a:r>
            <a:endParaRPr sz="1300"/>
          </a:p>
        </p:txBody>
      </p:sp>
      <p:sp>
        <p:nvSpPr>
          <p:cNvPr id="27" name="Text 19">
            <a:extLst xmlns:a="http://schemas.openxmlformats.org/drawingml/2006/main">
              <a:ext uri="{FF2B5EF4-FFF2-40B4-BE49-F238E27FC236}">
                <a16:creationId xmlns:a16="http://schemas.microsoft.com/office/drawing/2014/main" id="{AAAA6096-68B8-442E-AB34-5576D31776C2}"/>
              </a:ext>
            </a:extLst>
          </p:cNvPr>
          <p:cNvSpPr>
            <a:spLocks xmlns:a="http://schemas.openxmlformats.org/drawingml/2006/main" noGrp="1"/>
          </p:cNvSpPr>
          <p:nvPr/>
        </p:nvSpPr>
        <p:spPr>
          <a:xfrm xmlns:a="http://schemas.openxmlformats.org/drawingml/2006/main">
            <a:off x="3108960" y="4114800"/>
            <a:ext cx="8503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Autonomous Database: cek kapasitas terbaru</a:t>
            </a:r>
            <a:endParaRPr sz="1100"/>
          </a:p>
        </p:txBody>
      </p:sp>
      <p:sp>
        <p:nvSpPr>
          <p:cNvPr id="28" name="Shape 20">
            <a:extLst xmlns:a="http://schemas.openxmlformats.org/drawingml/2006/main">
              <a:ext uri="{FF2B5EF4-FFF2-40B4-BE49-F238E27FC236}">
                <a16:creationId xmlns:a16="http://schemas.microsoft.com/office/drawing/2014/main" id="{A8A83AC9-5E95-4609-B59B-CF74F47D934D}"/>
              </a:ext>
            </a:extLst>
          </p:cNvPr>
          <p:cNvSpPr>
            <a:spLocks xmlns:a="http://schemas.openxmlformats.org/drawingml/2006/main" noGrp="1"/>
          </p:cNvSpPr>
          <p:nvPr/>
        </p:nvSpPr>
        <p:spPr>
          <a:xfrm xmlns:a="http://schemas.openxmlformats.org/drawingml/2006/main">
            <a:off x="457200" y="4709160"/>
            <a:ext cx="11247120" cy="54864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pic>
        <p:nvPicPr>
          <p:cNvPr id="72" name="Image 6"/>
          <p:cNvPicPr>
            <a:picLocks xmlns:a="http://schemas.openxmlformats.org/drawingml/2006/main" noChangeAspect="1"/>
          </p:cNvPicPr>
          <p:nvPr/>
        </p:nvPicPr>
        <p:blipFill>
          <a:blip xmlns:r="http://schemas.openxmlformats.org/officeDocument/2006/relationships" xmlns:a="http://schemas.openxmlformats.org/drawingml/2006/main" r:embed="Re78904d674254466"/>
          <a:stretch xmlns:a="http://schemas.openxmlformats.org/drawingml/2006/main">
            <a:fillRect l="0" t="0" r="0" b="0"/>
          </a:stretch>
        </p:blipFill>
        <p:spPr>
          <a:xfrm xmlns:a="http://schemas.openxmlformats.org/drawingml/2006/main">
            <a:off x="640080" y="4828032"/>
            <a:ext cx="320040" cy="320040"/>
          </a:xfrm>
          <a:prstGeom xmlns:a="http://schemas.openxmlformats.org/drawingml/2006/main" prst="rect">
            <a:avLst/>
          </a:prstGeom>
        </p:spPr>
      </p:pic>
      <p:sp>
        <p:nvSpPr>
          <p:cNvPr id="30" name="Text 21">
            <a:extLst xmlns:a="http://schemas.openxmlformats.org/drawingml/2006/main">
              <a:ext uri="{FF2B5EF4-FFF2-40B4-BE49-F238E27FC236}">
                <a16:creationId xmlns:a16="http://schemas.microsoft.com/office/drawing/2014/main" id="{1F1CDF3F-2DBD-4EC4-B71E-2E1922646084}"/>
              </a:ext>
            </a:extLst>
          </p:cNvPr>
          <p:cNvSpPr>
            <a:spLocks xmlns:a="http://schemas.openxmlformats.org/drawingml/2006/main" noGrp="1"/>
          </p:cNvSpPr>
          <p:nvPr/>
        </p:nvSpPr>
        <p:spPr>
          <a:xfrm xmlns:a="http://schemas.openxmlformats.org/drawingml/2006/main">
            <a:off x="1097280" y="4754880"/>
            <a:ext cx="2011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Networking</a:t>
            </a:r>
            <a:endParaRPr sz="1300"/>
          </a:p>
        </p:txBody>
      </p:sp>
      <p:sp>
        <p:nvSpPr>
          <p:cNvPr id="31" name="Text 22">
            <a:extLst xmlns:a="http://schemas.openxmlformats.org/drawingml/2006/main">
              <a:ext uri="{FF2B5EF4-FFF2-40B4-BE49-F238E27FC236}">
                <a16:creationId xmlns:a16="http://schemas.microsoft.com/office/drawing/2014/main" id="{8F25DE0C-1ECB-43ED-A2AC-A01B2387E7B9}"/>
              </a:ext>
            </a:extLst>
          </p:cNvPr>
          <p:cNvSpPr>
            <a:spLocks xmlns:a="http://schemas.openxmlformats.org/drawingml/2006/main" noGrp="1"/>
          </p:cNvSpPr>
          <p:nvPr/>
        </p:nvSpPr>
        <p:spPr>
          <a:xfrm xmlns:a="http://schemas.openxmlformats.org/drawingml/2006/main">
            <a:off x="3108960" y="4754880"/>
            <a:ext cx="8503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Batas transfer jaringan bergantung layanan dan region</a:t>
            </a:r>
            <a:endParaRPr sz="1100"/>
          </a:p>
        </p:txBody>
      </p:sp>
      <p:sp>
        <p:nvSpPr>
          <p:cNvPr id="32" name="Shape 23">
            <a:extLst xmlns:a="http://schemas.openxmlformats.org/drawingml/2006/main">
              <a:ext uri="{FF2B5EF4-FFF2-40B4-BE49-F238E27FC236}">
                <a16:creationId xmlns:a16="http://schemas.microsoft.com/office/drawing/2014/main" id="{E5421486-4FF4-407D-ADFA-FC3F54A66640}"/>
              </a:ext>
            </a:extLst>
          </p:cNvPr>
          <p:cNvSpPr>
            <a:spLocks xmlns:a="http://schemas.openxmlformats.org/drawingml/2006/main" noGrp="1"/>
          </p:cNvSpPr>
          <p:nvPr/>
        </p:nvSpPr>
        <p:spPr>
          <a:xfrm xmlns:a="http://schemas.openxmlformats.org/drawingml/2006/main">
            <a:off x="457200" y="5349240"/>
            <a:ext cx="11247120" cy="5486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76" name="Image 7"/>
          <p:cNvPicPr>
            <a:picLocks xmlns:a="http://schemas.openxmlformats.org/drawingml/2006/main" noChangeAspect="1"/>
          </p:cNvPicPr>
          <p:nvPr/>
        </p:nvPicPr>
        <p:blipFill>
          <a:blip xmlns:r="http://schemas.openxmlformats.org/officeDocument/2006/relationships" xmlns:a="http://schemas.openxmlformats.org/drawingml/2006/main" r:embed="Re78904d674254466"/>
          <a:stretch xmlns:a="http://schemas.openxmlformats.org/drawingml/2006/main">
            <a:fillRect l="0" t="0" r="0" b="0"/>
          </a:stretch>
        </p:blipFill>
        <p:spPr>
          <a:xfrm xmlns:a="http://schemas.openxmlformats.org/drawingml/2006/main">
            <a:off x="640080" y="5468112"/>
            <a:ext cx="320040" cy="320040"/>
          </a:xfrm>
          <a:prstGeom xmlns:a="http://schemas.openxmlformats.org/drawingml/2006/main" prst="rect">
            <a:avLst/>
          </a:prstGeom>
        </p:spPr>
      </p:pic>
      <p:sp>
        <p:nvSpPr>
          <p:cNvPr id="34" name="Text 24">
            <a:extLst xmlns:a="http://schemas.openxmlformats.org/drawingml/2006/main">
              <a:ext uri="{FF2B5EF4-FFF2-40B4-BE49-F238E27FC236}">
                <a16:creationId xmlns:a16="http://schemas.microsoft.com/office/drawing/2014/main" id="{BB3E8949-EDE9-4420-B1BC-23E828C35704}"/>
              </a:ext>
            </a:extLst>
          </p:cNvPr>
          <p:cNvSpPr>
            <a:spLocks xmlns:a="http://schemas.openxmlformats.org/drawingml/2006/main" noGrp="1"/>
          </p:cNvSpPr>
          <p:nvPr/>
        </p:nvSpPr>
        <p:spPr>
          <a:xfrm xmlns:a="http://schemas.openxmlformats.org/drawingml/2006/main">
            <a:off x="1097280" y="5394960"/>
            <a:ext cx="2011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Monitoring</a:t>
            </a:r>
            <a:endParaRPr sz="1300"/>
          </a:p>
        </p:txBody>
      </p:sp>
      <p:sp>
        <p:nvSpPr>
          <p:cNvPr id="35" name="Text 25">
            <a:extLst xmlns:a="http://schemas.openxmlformats.org/drawingml/2006/main">
              <a:ext uri="{FF2B5EF4-FFF2-40B4-BE49-F238E27FC236}">
                <a16:creationId xmlns:a16="http://schemas.microsoft.com/office/drawing/2014/main" id="{19A3F58D-A8D0-4AD9-AEDF-6C4478438EE2}"/>
              </a:ext>
            </a:extLst>
          </p:cNvPr>
          <p:cNvSpPr>
            <a:spLocks xmlns:a="http://schemas.openxmlformats.org/drawingml/2006/main" noGrp="1"/>
          </p:cNvSpPr>
          <p:nvPr/>
        </p:nvSpPr>
        <p:spPr>
          <a:xfrm xmlns:a="http://schemas.openxmlformats.org/drawingml/2006/main">
            <a:off x="3108960" y="5394960"/>
            <a:ext cx="8503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Logging, monitoring, alarm - semua included</a:t>
            </a:r>
            <a:endParaRPr sz="1100"/>
          </a:p>
        </p:txBody>
      </p:sp>
      <p:sp>
        <p:nvSpPr>
          <p:cNvPr id="36" name="Text 26">
            <a:extLst xmlns:a="http://schemas.openxmlformats.org/drawingml/2006/main">
              <a:ext uri="{FF2B5EF4-FFF2-40B4-BE49-F238E27FC236}">
                <a16:creationId xmlns:a16="http://schemas.microsoft.com/office/drawing/2014/main" id="{F9D27EE5-E2E4-4714-933D-DF7C1291B9DC}"/>
              </a:ext>
            </a:extLst>
          </p:cNvPr>
          <p:cNvSpPr>
            <a:spLocks xmlns:a="http://schemas.openxmlformats.org/drawingml/2006/main" noGrp="1"/>
          </p:cNvSpPr>
          <p:nvPr/>
        </p:nvSpPr>
        <p:spPr>
          <a:xfrm xmlns:a="http://schemas.openxmlformats.org/drawingml/2006/main">
            <a:off x="457200" y="6126480"/>
            <a:ext cx="11247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OCI bersifat opsional; seluruh lab inti memiliki jalur lokal. Periksa kuota Always Free dan wilayah akun.</a:t>
            </a:r>
            <a:endParaRPr sz="1100"/>
          </a:p>
        </p:txBody>
      </p:sp>
    </p:spTree>
    <p:extLst>
      <p:ext uri="{BB962C8B-B14F-4D97-AF65-F5344CB8AC3E}">
        <p14:creationId xmlns:p14="http://schemas.microsoft.com/office/powerpoint/2010/main" val="95490093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3FA4B89-81C8-48CD-BB66-06A994659655}"/>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ECAFB547-B776-407D-9C28-E3AFFEBEF579}"/>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29</a:t>
            </a:r>
            <a:endParaRPr sz="900"/>
          </a:p>
        </p:txBody>
      </p:sp>
      <p:sp>
        <p:nvSpPr>
          <p:cNvPr id="4" name="Shape 2">
            <a:extLst xmlns:a="http://schemas.openxmlformats.org/drawingml/2006/main">
              <a:ext uri="{FF2B5EF4-FFF2-40B4-BE49-F238E27FC236}">
                <a16:creationId xmlns:a16="http://schemas.microsoft.com/office/drawing/2014/main" id="{1225BBAF-3209-4375-A18F-84A4311045C6}"/>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4b9334ac1a0d4415"/>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2" name="Image 1"/>
          <p:cNvPicPr>
            <a:picLocks xmlns:a="http://schemas.openxmlformats.org/drawingml/2006/main" noChangeAspect="1"/>
          </p:cNvPicPr>
          <p:nvPr/>
        </p:nvPicPr>
        <p:blipFill>
          <a:blip xmlns:r="http://schemas.openxmlformats.org/officeDocument/2006/relationships" xmlns:a="http://schemas.openxmlformats.org/drawingml/2006/main" r:embed="R0587d8e2fbc0484b"/>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EF2F8D3C-A7B1-4506-BA00-54C1B1C036B0}"/>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18904383-4CE1-4D3D-AF41-74A3E106BAAB}"/>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Google Cloud Free Tier</a:t>
            </a:r>
            <a:endParaRPr sz="2200"/>
          </a:p>
        </p:txBody>
      </p:sp>
      <p:sp>
        <p:nvSpPr>
          <p:cNvPr id="9" name="Text 5">
            <a:extLst xmlns:a="http://schemas.openxmlformats.org/drawingml/2006/main">
              <a:ext uri="{FF2B5EF4-FFF2-40B4-BE49-F238E27FC236}">
                <a16:creationId xmlns:a16="http://schemas.microsoft.com/office/drawing/2014/main" id="{EB010FB5-B1DA-4D40-8298-ABFD3AC65B72}"/>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$300 Credit + Always Free Products</a:t>
            </a:r>
            <a:endParaRPr sz="1200"/>
          </a:p>
        </p:txBody>
      </p:sp>
      <p:sp>
        <p:nvSpPr>
          <p:cNvPr id="10" name="Shape 6">
            <a:extLst xmlns:a="http://schemas.openxmlformats.org/drawingml/2006/main">
              <a:ext uri="{FF2B5EF4-FFF2-40B4-BE49-F238E27FC236}">
                <a16:creationId xmlns:a16="http://schemas.microsoft.com/office/drawing/2014/main" id="{5E2F89AE-1AAE-45F7-8FF7-4258617E8545}"/>
              </a:ext>
            </a:extLst>
          </p:cNvPr>
          <p:cNvSpPr>
            <a:spLocks xmlns:a="http://schemas.openxmlformats.org/drawingml/2006/main" noGrp="1"/>
          </p:cNvSpPr>
          <p:nvPr/>
        </p:nvSpPr>
        <p:spPr>
          <a:xfrm xmlns:a="http://schemas.openxmlformats.org/drawingml/2006/main">
            <a:off x="457200" y="1691640"/>
            <a:ext cx="11247120" cy="914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37" name="Image 2"/>
          <p:cNvPicPr>
            <a:picLocks xmlns:a="http://schemas.openxmlformats.org/drawingml/2006/main" noChangeAspect="1"/>
          </p:cNvPicPr>
          <p:nvPr/>
        </p:nvPicPr>
        <p:blipFill>
          <a:blip xmlns:r="http://schemas.openxmlformats.org/officeDocument/2006/relationships" xmlns:a="http://schemas.openxmlformats.org/drawingml/2006/main" r:embed="R5e192648aec94655"/>
          <a:stretch xmlns:a="http://schemas.openxmlformats.org/drawingml/2006/main">
            <a:fillRect l="0" t="0" r="0" b="0"/>
          </a:stretch>
        </p:blipFill>
        <p:spPr>
          <a:xfrm xmlns:a="http://schemas.openxmlformats.org/drawingml/2006/main">
            <a:off x="640080" y="1874520"/>
            <a:ext cx="548640" cy="54864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0C1C78EB-5D6B-4C2C-AD82-94774F6805A2}"/>
              </a:ext>
            </a:extLst>
          </p:cNvPr>
          <p:cNvSpPr>
            <a:spLocks xmlns:a="http://schemas.openxmlformats.org/drawingml/2006/main" noGrp="1"/>
          </p:cNvSpPr>
          <p:nvPr/>
        </p:nvSpPr>
        <p:spPr>
          <a:xfrm xmlns:a="http://schemas.openxmlformats.org/drawingml/2006/main">
            <a:off x="1325880" y="182880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002677"/>
                </a:solidFill>
                <a:latin typeface="Calibri"/>
                <a:ea typeface="Calibri"/>
                <a:cs typeface="Calibri"/>
              </a:rPr>
              <a:t>Google Cloud Platform (GCP)</a:t>
            </a:r>
            <a:endParaRPr sz="2000"/>
          </a:p>
        </p:txBody>
      </p:sp>
      <p:sp>
        <p:nvSpPr>
          <p:cNvPr id="13" name="Text 8">
            <a:extLst xmlns:a="http://schemas.openxmlformats.org/drawingml/2006/main">
              <a:ext uri="{FF2B5EF4-FFF2-40B4-BE49-F238E27FC236}">
                <a16:creationId xmlns:a16="http://schemas.microsoft.com/office/drawing/2014/main" id="{10B1E90A-5BEC-4562-BD72-63B668FF48A2}"/>
              </a:ext>
            </a:extLst>
          </p:cNvPr>
          <p:cNvSpPr>
            <a:spLocks xmlns:a="http://schemas.openxmlformats.org/drawingml/2006/main" noGrp="1"/>
          </p:cNvSpPr>
          <p:nvPr/>
        </p:nvSpPr>
        <p:spPr>
          <a:xfrm xmlns:a="http://schemas.openxmlformats.org/drawingml/2006/main">
            <a:off x="1325880" y="224028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i="1">
                <a:solidFill>
                  <a:srgbClr val="F37021"/>
                </a:solidFill>
                <a:latin typeface="Calibri"/>
                <a:ea typeface="Calibri"/>
                <a:cs typeface="Calibri"/>
              </a:rPr>
              <a:t>$300 credit (90 hari) + sekitar 20 produk Always Free</a:t>
            </a:r>
            <a:endParaRPr sz="1200"/>
          </a:p>
        </p:txBody>
      </p:sp>
      <p:sp>
        <p:nvSpPr>
          <p:cNvPr id="14" name="Shape 9">
            <a:extLst xmlns:a="http://schemas.openxmlformats.org/drawingml/2006/main">
              <a:ext uri="{FF2B5EF4-FFF2-40B4-BE49-F238E27FC236}">
                <a16:creationId xmlns:a16="http://schemas.microsoft.com/office/drawing/2014/main" id="{944D4656-51C5-42AA-9208-01D0A8436B39}"/>
              </a:ext>
            </a:extLst>
          </p:cNvPr>
          <p:cNvSpPr>
            <a:spLocks xmlns:a="http://schemas.openxmlformats.org/drawingml/2006/main" noGrp="1"/>
          </p:cNvSpPr>
          <p:nvPr/>
        </p:nvSpPr>
        <p:spPr>
          <a:xfrm xmlns:a="http://schemas.openxmlformats.org/drawingml/2006/main">
            <a:off x="457200" y="2788920"/>
            <a:ext cx="5532120" cy="3154680"/>
          </a:xfrm>
          <a:prstGeom xmlns:a="http://schemas.openxmlformats.org/drawingml/2006/main" prst="rect">
            <a:avLst/>
          </a:prstGeom>
          <a:solidFill xmlns:a="http://schemas.openxmlformats.org/drawingml/2006/main">
            <a:srgbClr val="FFFFFF"/>
          </a:solidFill>
          <a:ln xmlns:a="http://schemas.openxmlformats.org/drawingml/2006/main" w="25400">
            <a:solidFill>
              <a:srgbClr val="F37021"/>
            </a:solidFill>
            <a:prstDash val="solid"/>
          </a:ln>
        </p:spPr>
      </p:sp>
      <p:sp>
        <p:nvSpPr>
          <p:cNvPr id="15" name="Text 10">
            <a:extLst xmlns:a="http://schemas.openxmlformats.org/drawingml/2006/main">
              <a:ext uri="{FF2B5EF4-FFF2-40B4-BE49-F238E27FC236}">
                <a16:creationId xmlns:a16="http://schemas.microsoft.com/office/drawing/2014/main" id="{CD92AF55-AAF8-4105-A02F-B03680177B6F}"/>
              </a:ext>
            </a:extLst>
          </p:cNvPr>
          <p:cNvSpPr>
            <a:spLocks xmlns:a="http://schemas.openxmlformats.org/drawingml/2006/main" noGrp="1"/>
          </p:cNvSpPr>
          <p:nvPr/>
        </p:nvSpPr>
        <p:spPr>
          <a:xfrm xmlns:a="http://schemas.openxmlformats.org/drawingml/2006/main">
            <a:off x="457200" y="2926080"/>
            <a:ext cx="5532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spc="300">
                <a:solidFill>
                  <a:srgbClr val="F37021"/>
                </a:solidFill>
                <a:latin typeface="Calibri"/>
                <a:ea typeface="Calibri"/>
                <a:cs typeface="Calibri"/>
              </a:rPr>
              <a:t>$300 FREE CREDIT</a:t>
            </a:r>
            <a:endParaRPr sz="1400"/>
          </a:p>
        </p:txBody>
      </p:sp>
      <p:sp>
        <p:nvSpPr>
          <p:cNvPr id="16" name="Text 11">
            <a:extLst xmlns:a="http://schemas.openxmlformats.org/drawingml/2006/main">
              <a:ext uri="{FF2B5EF4-FFF2-40B4-BE49-F238E27FC236}">
                <a16:creationId xmlns:a16="http://schemas.microsoft.com/office/drawing/2014/main" id="{B2B0E9EA-3F55-432E-993B-D6FC8A75826C}"/>
              </a:ext>
            </a:extLst>
          </p:cNvPr>
          <p:cNvSpPr>
            <a:spLocks xmlns:a="http://schemas.openxmlformats.org/drawingml/2006/main" noGrp="1"/>
          </p:cNvSpPr>
          <p:nvPr/>
        </p:nvSpPr>
        <p:spPr>
          <a:xfrm xmlns:a="http://schemas.openxmlformats.org/drawingml/2006/main">
            <a:off x="457200" y="3246120"/>
            <a:ext cx="5532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1E293B"/>
                </a:solidFill>
                <a:latin typeface="Calibri"/>
                <a:ea typeface="Calibri"/>
                <a:cs typeface="Calibri"/>
              </a:rPr>
              <a:t>Berlaku 90 hari, untuk semua produk</a:t>
            </a:r>
            <a:endParaRPr sz="1100"/>
          </a:p>
        </p:txBody>
      </p:sp>
      <p:sp>
        <p:nvSpPr>
          <p:cNvPr id="17" name="Text 12">
            <a:extLst xmlns:a="http://schemas.openxmlformats.org/drawingml/2006/main">
              <a:ext uri="{FF2B5EF4-FFF2-40B4-BE49-F238E27FC236}">
                <a16:creationId xmlns:a16="http://schemas.microsoft.com/office/drawing/2014/main" id="{F054B8CF-5613-4AF5-9E5F-61A7C41C7EA8}"/>
              </a:ext>
            </a:extLst>
          </p:cNvPr>
          <p:cNvSpPr>
            <a:spLocks xmlns:a="http://schemas.openxmlformats.org/drawingml/2006/main" noGrp="1"/>
          </p:cNvSpPr>
          <p:nvPr/>
        </p:nvSpPr>
        <p:spPr>
          <a:xfrm xmlns:a="http://schemas.openxmlformats.org/drawingml/2006/main">
            <a:off x="777240" y="3657600"/>
            <a:ext cx="4937760" cy="2194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400"/>
              </a:spcAft>
              <a:buSzPct val="100000"/>
              <a:buChar char="▸"/>
            </a:pPr>
            <a:r>
              <a:rPr sz="1200">
                <a:solidFill>
                  <a:srgbClr val="1E293B"/>
                </a:solidFill>
                <a:latin typeface="Calibri"/>
                <a:ea typeface="Calibri"/>
                <a:cs typeface="Calibri"/>
              </a:rPr>
              <a:t>Buat banyak VM Compute Engine</a:t>
            </a:r>
            <a:endParaRPr sz="1200"/>
          </a:p>
          <a:p xmlns:a="http://schemas.openxmlformats.org/drawingml/2006/main">
            <a:pPr marL="342900" indent="-342900">
              <a:spcAft>
                <a:spcPts val="400"/>
              </a:spcAft>
              <a:buSzPct val="100000"/>
              <a:buChar char="▸"/>
            </a:pPr>
            <a:r>
              <a:rPr sz="1200">
                <a:solidFill>
                  <a:srgbClr val="1E293B"/>
                </a:solidFill>
                <a:latin typeface="Calibri"/>
                <a:ea typeface="Calibri"/>
                <a:cs typeface="Calibri"/>
              </a:rPr>
              <a:t>Coba Cloud Run, GKE (Kubernetes)</a:t>
            </a:r>
            <a:endParaRPr sz="1200"/>
          </a:p>
          <a:p xmlns:a="http://schemas.openxmlformats.org/drawingml/2006/main">
            <a:pPr marL="342900" indent="-342900">
              <a:spcAft>
                <a:spcPts val="400"/>
              </a:spcAft>
              <a:buSzPct val="100000"/>
              <a:buChar char="▸"/>
            </a:pPr>
            <a:r>
              <a:rPr sz="1200">
                <a:solidFill>
                  <a:srgbClr val="1E293B"/>
                </a:solidFill>
                <a:latin typeface="Calibri"/>
                <a:ea typeface="Calibri"/>
                <a:cs typeface="Calibri"/>
              </a:rPr>
              <a:t>Pakai Vertex AI, BigQuery, Cloud Storage</a:t>
            </a:r>
            <a:endParaRPr sz="1200"/>
          </a:p>
          <a:p xmlns:a="http://schemas.openxmlformats.org/drawingml/2006/main">
            <a:pPr marL="342900" indent="-342900">
              <a:spcAft>
                <a:spcPts val="400"/>
              </a:spcAft>
              <a:buSzPct val="100000"/>
              <a:buChar char="▸"/>
            </a:pPr>
            <a:r>
              <a:rPr sz="1200">
                <a:solidFill>
                  <a:srgbClr val="1E293B"/>
                </a:solidFill>
                <a:latin typeface="Calibri"/>
                <a:ea typeface="Calibri"/>
                <a:cs typeface="Calibri"/>
              </a:rPr>
              <a:t>Cocok untuk eksperimen besar / training</a:t>
            </a:r>
            <a:endParaRPr sz="1200"/>
          </a:p>
        </p:txBody>
      </p:sp>
      <p:sp>
        <p:nvSpPr>
          <p:cNvPr id="18" name="Shape 13">
            <a:extLst xmlns:a="http://schemas.openxmlformats.org/drawingml/2006/main">
              <a:ext uri="{FF2B5EF4-FFF2-40B4-BE49-F238E27FC236}">
                <a16:creationId xmlns:a16="http://schemas.microsoft.com/office/drawing/2014/main" id="{F9904D27-F244-49C6-8448-82EBE4D38932}"/>
              </a:ext>
            </a:extLst>
          </p:cNvPr>
          <p:cNvSpPr>
            <a:spLocks xmlns:a="http://schemas.openxmlformats.org/drawingml/2006/main" noGrp="1"/>
          </p:cNvSpPr>
          <p:nvPr/>
        </p:nvSpPr>
        <p:spPr>
          <a:xfrm xmlns:a="http://schemas.openxmlformats.org/drawingml/2006/main">
            <a:off x="6172200" y="2788920"/>
            <a:ext cx="5532120" cy="3154680"/>
          </a:xfrm>
          <a:prstGeom xmlns:a="http://schemas.openxmlformats.org/drawingml/2006/main" prst="rect">
            <a:avLst/>
          </a:prstGeom>
          <a:solidFill xmlns:a="http://schemas.openxmlformats.org/drawingml/2006/main">
            <a:srgbClr val="FFFFFF"/>
          </a:solidFill>
          <a:ln xmlns:a="http://schemas.openxmlformats.org/drawingml/2006/main" w="25400">
            <a:solidFill>
              <a:srgbClr val="002677"/>
            </a:solidFill>
            <a:prstDash val="solid"/>
          </a:ln>
        </p:spPr>
      </p:sp>
      <p:sp>
        <p:nvSpPr>
          <p:cNvPr id="19" name="Text 14">
            <a:extLst xmlns:a="http://schemas.openxmlformats.org/drawingml/2006/main">
              <a:ext uri="{FF2B5EF4-FFF2-40B4-BE49-F238E27FC236}">
                <a16:creationId xmlns:a16="http://schemas.microsoft.com/office/drawing/2014/main" id="{874193CB-1C92-4DD9-B695-F50EA1652D5A}"/>
              </a:ext>
            </a:extLst>
          </p:cNvPr>
          <p:cNvSpPr>
            <a:spLocks xmlns:a="http://schemas.openxmlformats.org/drawingml/2006/main" noGrp="1"/>
          </p:cNvSpPr>
          <p:nvPr/>
        </p:nvSpPr>
        <p:spPr>
          <a:xfrm xmlns:a="http://schemas.openxmlformats.org/drawingml/2006/main">
            <a:off x="6172200" y="2926080"/>
            <a:ext cx="5532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spc="300">
                <a:solidFill>
                  <a:srgbClr val="002677"/>
                </a:solidFill>
                <a:latin typeface="Calibri"/>
                <a:ea typeface="Calibri"/>
                <a:cs typeface="Calibri"/>
              </a:rPr>
              <a:t>ALWAYS FREE PRODUCTS</a:t>
            </a:r>
            <a:endParaRPr sz="1400"/>
          </a:p>
        </p:txBody>
      </p:sp>
      <p:sp>
        <p:nvSpPr>
          <p:cNvPr id="20" name="Text 15">
            <a:extLst xmlns:a="http://schemas.openxmlformats.org/drawingml/2006/main">
              <a:ext uri="{FF2B5EF4-FFF2-40B4-BE49-F238E27FC236}">
                <a16:creationId xmlns:a16="http://schemas.microsoft.com/office/drawing/2014/main" id="{4A391C0C-BB73-4C14-8D56-8B7CCF019878}"/>
              </a:ext>
            </a:extLst>
          </p:cNvPr>
          <p:cNvSpPr>
            <a:spLocks xmlns:a="http://schemas.openxmlformats.org/drawingml/2006/main" noGrp="1"/>
          </p:cNvSpPr>
          <p:nvPr/>
        </p:nvSpPr>
        <p:spPr>
          <a:xfrm xmlns:a="http://schemas.openxmlformats.org/drawingml/2006/main">
            <a:off x="6172200" y="3246120"/>
            <a:ext cx="5532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1E293B"/>
                </a:solidFill>
                <a:latin typeface="Calibri"/>
                <a:ea typeface="Calibri"/>
                <a:cs typeface="Calibri"/>
              </a:rPr>
              <a:t>Tidak expire, batas bulanan</a:t>
            </a:r>
            <a:endParaRPr sz="1100"/>
          </a:p>
        </p:txBody>
      </p:sp>
      <p:sp>
        <p:nvSpPr>
          <p:cNvPr id="21" name="Text 16">
            <a:extLst xmlns:a="http://schemas.openxmlformats.org/drawingml/2006/main">
              <a:ext uri="{FF2B5EF4-FFF2-40B4-BE49-F238E27FC236}">
                <a16:creationId xmlns:a16="http://schemas.microsoft.com/office/drawing/2014/main" id="{1E22E11F-96D6-4BC1-9E98-03046A0349B2}"/>
              </a:ext>
            </a:extLst>
          </p:cNvPr>
          <p:cNvSpPr>
            <a:spLocks xmlns:a="http://schemas.openxmlformats.org/drawingml/2006/main" noGrp="1"/>
          </p:cNvSpPr>
          <p:nvPr/>
        </p:nvSpPr>
        <p:spPr>
          <a:xfrm xmlns:a="http://schemas.openxmlformats.org/drawingml/2006/main">
            <a:off x="6492240" y="3657600"/>
            <a:ext cx="4937760" cy="2194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400"/>
              </a:spcAft>
              <a:buSzPct val="100000"/>
              <a:buChar char="▸"/>
            </a:pPr>
            <a:r>
              <a:rPr sz="1200">
                <a:solidFill>
                  <a:srgbClr val="1E293B"/>
                </a:solidFill>
                <a:latin typeface="Calibri"/>
                <a:ea typeface="Calibri"/>
                <a:cs typeface="Calibri"/>
              </a:rPr>
              <a:t>1 e2-micro VM (us-central / west)</a:t>
            </a:r>
            <a:endParaRPr sz="1200"/>
          </a:p>
          <a:p xmlns:a="http://schemas.openxmlformats.org/drawingml/2006/main">
            <a:pPr marL="342900" indent="-342900">
              <a:spcAft>
                <a:spcPts val="400"/>
              </a:spcAft>
              <a:buSzPct val="100000"/>
              <a:buChar char="▸"/>
            </a:pPr>
            <a:r>
              <a:rPr sz="1200">
                <a:solidFill>
                  <a:srgbClr val="1E293B"/>
                </a:solidFill>
                <a:latin typeface="Calibri"/>
                <a:ea typeface="Calibri"/>
                <a:cs typeface="Calibri"/>
              </a:rPr>
              <a:t>5GB Cloud Storage standard</a:t>
            </a:r>
            <a:endParaRPr sz="1200"/>
          </a:p>
          <a:p xmlns:a="http://schemas.openxmlformats.org/drawingml/2006/main">
            <a:pPr marL="342900" indent="-342900">
              <a:spcAft>
                <a:spcPts val="400"/>
              </a:spcAft>
              <a:buSzPct val="100000"/>
              <a:buChar char="▸"/>
            </a:pPr>
            <a:r>
              <a:rPr sz="1200">
                <a:solidFill>
                  <a:srgbClr val="1E293B"/>
                </a:solidFill>
                <a:latin typeface="Calibri"/>
                <a:ea typeface="Calibri"/>
                <a:cs typeface="Calibri"/>
              </a:rPr>
              <a:t>2 juta request Cloud Functions/bulan</a:t>
            </a:r>
            <a:endParaRPr sz="1200"/>
          </a:p>
          <a:p xmlns:a="http://schemas.openxmlformats.org/drawingml/2006/main">
            <a:pPr marL="342900" indent="-342900">
              <a:spcAft>
                <a:spcPts val="400"/>
              </a:spcAft>
              <a:buSzPct val="100000"/>
              <a:buChar char="▸"/>
            </a:pPr>
            <a:r>
              <a:rPr sz="1200">
                <a:solidFill>
                  <a:srgbClr val="1E293B"/>
                </a:solidFill>
                <a:latin typeface="Calibri"/>
                <a:ea typeface="Calibri"/>
                <a:cs typeface="Calibri"/>
              </a:rPr>
              <a:t>1GB egress, BigQuery 1TB query/bulan</a:t>
            </a:r>
            <a:endParaRPr sz="1200"/>
          </a:p>
        </p:txBody>
      </p:sp>
      <p:pic>
        <p:nvPicPr>
          <p:cNvPr id="48" name="Image 3"/>
          <p:cNvPicPr>
            <a:picLocks xmlns:a="http://schemas.openxmlformats.org/drawingml/2006/main" noChangeAspect="1"/>
          </p:cNvPicPr>
          <p:nvPr/>
        </p:nvPicPr>
        <p:blipFill>
          <a:blip xmlns:r="http://schemas.openxmlformats.org/officeDocument/2006/relationships" xmlns:a="http://schemas.openxmlformats.org/drawingml/2006/main" r:embed="R386045da56ac493c"/>
          <a:stretch xmlns:a="http://schemas.openxmlformats.org/drawingml/2006/main">
            <a:fillRect l="0" t="0" r="0" b="0"/>
          </a:stretch>
        </p:blipFill>
        <p:spPr>
          <a:xfrm xmlns:a="http://schemas.openxmlformats.org/drawingml/2006/main">
            <a:off x="457200" y="6126480"/>
            <a:ext cx="274320" cy="27432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11AB0936-2B59-4E85-8E65-83C3E308261F}"/>
              </a:ext>
            </a:extLst>
          </p:cNvPr>
          <p:cNvSpPr>
            <a:spLocks xmlns:a="http://schemas.openxmlformats.org/drawingml/2006/main" noGrp="1"/>
          </p:cNvSpPr>
          <p:nvPr/>
        </p:nvSpPr>
        <p:spPr>
          <a:xfrm xmlns:a="http://schemas.openxmlformats.org/drawingml/2006/main">
            <a:off x="822960" y="6126480"/>
            <a:ext cx="109728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64748B"/>
                </a:solidFill>
                <a:latin typeface="Calibri"/>
                <a:ea typeface="Calibri"/>
                <a:cs typeface="Calibri"/>
              </a:rPr>
              <a:t>Akun billing diperlukan; Free Trial tidak menagih otomatis sebelum upgrade.</a:t>
            </a:r>
            <a:endParaRPr sz="1100"/>
          </a:p>
        </p:txBody>
      </p:sp>
    </p:spTree>
    <p:extLst>
      <p:ext uri="{BB962C8B-B14F-4D97-AF65-F5344CB8AC3E}">
        <p14:creationId xmlns:p14="http://schemas.microsoft.com/office/powerpoint/2010/main" val="126507789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EA745F5-748A-44A6-8AFB-48780FECC643}"/>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79CB759D-28AF-4DD1-92C7-8AFAE0ADF75F}"/>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30</a:t>
            </a:r>
            <a:endParaRPr sz="900"/>
          </a:p>
        </p:txBody>
      </p:sp>
      <p:sp>
        <p:nvSpPr>
          <p:cNvPr id="4" name="Shape 2">
            <a:extLst xmlns:a="http://schemas.openxmlformats.org/drawingml/2006/main">
              <a:ext uri="{FF2B5EF4-FFF2-40B4-BE49-F238E27FC236}">
                <a16:creationId xmlns:a16="http://schemas.microsoft.com/office/drawing/2014/main" id="{5D20F45D-B6F3-4E1E-84AD-02449B9D84DF}"/>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613d20c7787841e1"/>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881aba26f25d4db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916AB1CF-0710-43E2-92DC-EBDCA7CD7E8B}"/>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3D71AF72-FACE-4C98-80C2-A0E3A2BFBC63}"/>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Vercel Hobby (Free)</a:t>
            </a:r>
            <a:endParaRPr sz="2200"/>
          </a:p>
        </p:txBody>
      </p:sp>
      <p:sp>
        <p:nvSpPr>
          <p:cNvPr id="9" name="Text 5">
            <a:extLst xmlns:a="http://schemas.openxmlformats.org/drawingml/2006/main">
              <a:ext uri="{FF2B5EF4-FFF2-40B4-BE49-F238E27FC236}">
                <a16:creationId xmlns:a16="http://schemas.microsoft.com/office/drawing/2014/main" id="{3BB8FA2B-3EBB-4140-A50E-BF5AED584333}"/>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Deploy Frontend &amp; Serverless dengan 'git push'</a:t>
            </a:r>
            <a:endParaRPr sz="1200"/>
          </a:p>
        </p:txBody>
      </p:sp>
      <p:sp>
        <p:nvSpPr>
          <p:cNvPr id="10" name="Shape 6">
            <a:extLst xmlns:a="http://schemas.openxmlformats.org/drawingml/2006/main">
              <a:ext uri="{FF2B5EF4-FFF2-40B4-BE49-F238E27FC236}">
                <a16:creationId xmlns:a16="http://schemas.microsoft.com/office/drawing/2014/main" id="{2552039B-1775-457F-A50E-399EA8671BFF}"/>
              </a:ext>
            </a:extLst>
          </p:cNvPr>
          <p:cNvSpPr>
            <a:spLocks xmlns:a="http://schemas.openxmlformats.org/drawingml/2006/main" noGrp="1"/>
          </p:cNvSpPr>
          <p:nvPr/>
        </p:nvSpPr>
        <p:spPr>
          <a:xfrm xmlns:a="http://schemas.openxmlformats.org/drawingml/2006/main">
            <a:off x="457200" y="1691640"/>
            <a:ext cx="11247120" cy="914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d67339487a59443e"/>
          <a:stretch xmlns:a="http://schemas.openxmlformats.org/drawingml/2006/main">
            <a:fillRect l="0" t="0" r="0" b="0"/>
          </a:stretch>
        </p:blipFill>
        <p:spPr>
          <a:xfrm xmlns:a="http://schemas.openxmlformats.org/drawingml/2006/main">
            <a:off x="640080" y="1874520"/>
            <a:ext cx="548640" cy="54864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A6F647EB-24CF-49BF-A402-729858845905}"/>
              </a:ext>
            </a:extLst>
          </p:cNvPr>
          <p:cNvSpPr>
            <a:spLocks xmlns:a="http://schemas.openxmlformats.org/drawingml/2006/main" noGrp="1"/>
          </p:cNvSpPr>
          <p:nvPr/>
        </p:nvSpPr>
        <p:spPr>
          <a:xfrm xmlns:a="http://schemas.openxmlformats.org/drawingml/2006/main">
            <a:off x="1325880" y="182880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002677"/>
                </a:solidFill>
                <a:latin typeface="Calibri"/>
                <a:ea typeface="Calibri"/>
                <a:cs typeface="Calibri"/>
              </a:rPr>
              <a:t>Vercel - Frontend Cloud</a:t>
            </a:r>
            <a:endParaRPr sz="2000"/>
          </a:p>
        </p:txBody>
      </p:sp>
      <p:sp>
        <p:nvSpPr>
          <p:cNvPr id="13" name="Text 8">
            <a:extLst xmlns:a="http://schemas.openxmlformats.org/drawingml/2006/main">
              <a:ext uri="{FF2B5EF4-FFF2-40B4-BE49-F238E27FC236}">
                <a16:creationId xmlns:a16="http://schemas.microsoft.com/office/drawing/2014/main" id="{314DE23E-2ECA-487A-971D-C4DF69520827}"/>
              </a:ext>
            </a:extLst>
          </p:cNvPr>
          <p:cNvSpPr>
            <a:spLocks xmlns:a="http://schemas.openxmlformats.org/drawingml/2006/main" noGrp="1"/>
          </p:cNvSpPr>
          <p:nvPr/>
        </p:nvSpPr>
        <p:spPr>
          <a:xfrm xmlns:a="http://schemas.openxmlformats.org/drawingml/2006/main">
            <a:off x="1325880" y="2240280"/>
            <a:ext cx="10058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i="1">
                <a:solidFill>
                  <a:srgbClr val="F37021"/>
                </a:solidFill>
                <a:latin typeface="Calibri"/>
                <a:ea typeface="Calibri"/>
                <a:cs typeface="Calibri"/>
              </a:rPr>
              <a:t>Optimal untuk Next.js, React, Vue, Svelte, Astro, static sites</a:t>
            </a:r>
            <a:endParaRPr sz="1200"/>
          </a:p>
        </p:txBody>
      </p:sp>
      <p:sp>
        <p:nvSpPr>
          <p:cNvPr id="14" name="Shape 9">
            <a:extLst xmlns:a="http://schemas.openxmlformats.org/drawingml/2006/main">
              <a:ext uri="{FF2B5EF4-FFF2-40B4-BE49-F238E27FC236}">
                <a16:creationId xmlns:a16="http://schemas.microsoft.com/office/drawing/2014/main" id="{C10CCCE1-66F4-4E0D-85B3-B370A39C6914}"/>
              </a:ext>
            </a:extLst>
          </p:cNvPr>
          <p:cNvSpPr>
            <a:spLocks xmlns:a="http://schemas.openxmlformats.org/drawingml/2006/main" noGrp="1"/>
          </p:cNvSpPr>
          <p:nvPr/>
        </p:nvSpPr>
        <p:spPr>
          <a:xfrm xmlns:a="http://schemas.openxmlformats.org/drawingml/2006/main">
            <a:off x="457200" y="2788920"/>
            <a:ext cx="2697480" cy="146304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5" name="Shape 10">
            <a:extLst xmlns:a="http://schemas.openxmlformats.org/drawingml/2006/main">
              <a:ext uri="{FF2B5EF4-FFF2-40B4-BE49-F238E27FC236}">
                <a16:creationId xmlns:a16="http://schemas.microsoft.com/office/drawing/2014/main" id="{26E8C64C-F8B9-4CB0-9F4E-65B80E89D691}"/>
              </a:ext>
            </a:extLst>
          </p:cNvPr>
          <p:cNvSpPr>
            <a:spLocks xmlns:a="http://schemas.openxmlformats.org/drawingml/2006/main" noGrp="1"/>
          </p:cNvSpPr>
          <p:nvPr/>
        </p:nvSpPr>
        <p:spPr>
          <a:xfrm xmlns:a="http://schemas.openxmlformats.org/drawingml/2006/main">
            <a:off x="457200" y="2788920"/>
            <a:ext cx="2697480" cy="73152"/>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6" name="Text 11">
            <a:extLst xmlns:a="http://schemas.openxmlformats.org/drawingml/2006/main">
              <a:ext uri="{FF2B5EF4-FFF2-40B4-BE49-F238E27FC236}">
                <a16:creationId xmlns:a16="http://schemas.microsoft.com/office/drawing/2014/main" id="{9FC231D4-E886-40C0-B2A7-BB624316EA3A}"/>
              </a:ext>
            </a:extLst>
          </p:cNvPr>
          <p:cNvSpPr>
            <a:spLocks xmlns:a="http://schemas.openxmlformats.org/drawingml/2006/main" noGrp="1"/>
          </p:cNvSpPr>
          <p:nvPr/>
        </p:nvSpPr>
        <p:spPr>
          <a:xfrm xmlns:a="http://schemas.openxmlformats.org/drawingml/2006/main">
            <a:off x="457200" y="3017520"/>
            <a:ext cx="26974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002677"/>
                </a:solidFill>
                <a:latin typeface="Calibri"/>
                <a:ea typeface="Calibri"/>
                <a:cs typeface="Calibri"/>
              </a:rPr>
              <a:t>100 GB</a:t>
            </a:r>
            <a:endParaRPr sz="2800"/>
          </a:p>
        </p:txBody>
      </p:sp>
      <p:sp>
        <p:nvSpPr>
          <p:cNvPr id="17" name="Text 12">
            <a:extLst xmlns:a="http://schemas.openxmlformats.org/drawingml/2006/main">
              <a:ext uri="{FF2B5EF4-FFF2-40B4-BE49-F238E27FC236}">
                <a16:creationId xmlns:a16="http://schemas.microsoft.com/office/drawing/2014/main" id="{678FA44A-D3B0-4209-9416-E7508BF8D003}"/>
              </a:ext>
            </a:extLst>
          </p:cNvPr>
          <p:cNvSpPr>
            <a:spLocks xmlns:a="http://schemas.openxmlformats.org/drawingml/2006/main" noGrp="1"/>
          </p:cNvSpPr>
          <p:nvPr/>
        </p:nvSpPr>
        <p:spPr>
          <a:xfrm xmlns:a="http://schemas.openxmlformats.org/drawingml/2006/main">
            <a:off x="457200" y="3703320"/>
            <a:ext cx="26974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Bandwidth/bulan</a:t>
            </a:r>
            <a:endParaRPr sz="1100"/>
          </a:p>
        </p:txBody>
      </p:sp>
      <p:sp>
        <p:nvSpPr>
          <p:cNvPr id="18" name="Shape 13">
            <a:extLst xmlns:a="http://schemas.openxmlformats.org/drawingml/2006/main">
              <a:ext uri="{FF2B5EF4-FFF2-40B4-BE49-F238E27FC236}">
                <a16:creationId xmlns:a16="http://schemas.microsoft.com/office/drawing/2014/main" id="{35AB0201-12C2-49E9-B1EC-6F7286981CFC}"/>
              </a:ext>
            </a:extLst>
          </p:cNvPr>
          <p:cNvSpPr>
            <a:spLocks xmlns:a="http://schemas.openxmlformats.org/drawingml/2006/main" noGrp="1"/>
          </p:cNvSpPr>
          <p:nvPr/>
        </p:nvSpPr>
        <p:spPr>
          <a:xfrm xmlns:a="http://schemas.openxmlformats.org/drawingml/2006/main">
            <a:off x="3291840" y="2788920"/>
            <a:ext cx="2697480" cy="146304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9" name="Shape 14">
            <a:extLst xmlns:a="http://schemas.openxmlformats.org/drawingml/2006/main">
              <a:ext uri="{FF2B5EF4-FFF2-40B4-BE49-F238E27FC236}">
                <a16:creationId xmlns:a16="http://schemas.microsoft.com/office/drawing/2014/main" id="{85330647-C7BE-482E-90CF-1CAEFD24B922}"/>
              </a:ext>
            </a:extLst>
          </p:cNvPr>
          <p:cNvSpPr>
            <a:spLocks xmlns:a="http://schemas.openxmlformats.org/drawingml/2006/main" noGrp="1"/>
          </p:cNvSpPr>
          <p:nvPr/>
        </p:nvSpPr>
        <p:spPr>
          <a:xfrm xmlns:a="http://schemas.openxmlformats.org/drawingml/2006/main">
            <a:off x="3291840" y="2788920"/>
            <a:ext cx="2697480" cy="73152"/>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0" name="Text 15">
            <a:extLst xmlns:a="http://schemas.openxmlformats.org/drawingml/2006/main">
              <a:ext uri="{FF2B5EF4-FFF2-40B4-BE49-F238E27FC236}">
                <a16:creationId xmlns:a16="http://schemas.microsoft.com/office/drawing/2014/main" id="{8853A53F-AA95-4AAB-8E06-8A9F24D9CAEC}"/>
              </a:ext>
            </a:extLst>
          </p:cNvPr>
          <p:cNvSpPr>
            <a:spLocks xmlns:a="http://schemas.openxmlformats.org/drawingml/2006/main" noGrp="1"/>
          </p:cNvSpPr>
          <p:nvPr/>
        </p:nvSpPr>
        <p:spPr>
          <a:xfrm xmlns:a="http://schemas.openxmlformats.org/drawingml/2006/main">
            <a:off x="3291840" y="3017520"/>
            <a:ext cx="26974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002677"/>
                </a:solidFill>
                <a:latin typeface="Calibri"/>
                <a:ea typeface="Calibri"/>
                <a:cs typeface="Calibri"/>
              </a:rPr>
              <a:t>Auto</a:t>
            </a:r>
            <a:endParaRPr sz="2800"/>
          </a:p>
        </p:txBody>
      </p:sp>
      <p:sp>
        <p:nvSpPr>
          <p:cNvPr id="21" name="Text 16">
            <a:extLst xmlns:a="http://schemas.openxmlformats.org/drawingml/2006/main">
              <a:ext uri="{FF2B5EF4-FFF2-40B4-BE49-F238E27FC236}">
                <a16:creationId xmlns:a16="http://schemas.microsoft.com/office/drawing/2014/main" id="{87DEBDF3-26A7-4C84-9145-722906A45F8A}"/>
              </a:ext>
            </a:extLst>
          </p:cNvPr>
          <p:cNvSpPr>
            <a:spLocks xmlns:a="http://schemas.openxmlformats.org/drawingml/2006/main" noGrp="1"/>
          </p:cNvSpPr>
          <p:nvPr/>
        </p:nvSpPr>
        <p:spPr>
          <a:xfrm xmlns:a="http://schemas.openxmlformats.org/drawingml/2006/main">
            <a:off x="3291840" y="3703320"/>
            <a:ext cx="26974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Deploy dari Git</a:t>
            </a:r>
            <a:endParaRPr sz="1100"/>
          </a:p>
        </p:txBody>
      </p:sp>
      <p:sp>
        <p:nvSpPr>
          <p:cNvPr id="22" name="Shape 17">
            <a:extLst xmlns:a="http://schemas.openxmlformats.org/drawingml/2006/main">
              <a:ext uri="{FF2B5EF4-FFF2-40B4-BE49-F238E27FC236}">
                <a16:creationId xmlns:a16="http://schemas.microsoft.com/office/drawing/2014/main" id="{217579FB-75C3-445C-AB15-ECEB1B16B1C8}"/>
              </a:ext>
            </a:extLst>
          </p:cNvPr>
          <p:cNvSpPr>
            <a:spLocks xmlns:a="http://schemas.openxmlformats.org/drawingml/2006/main" noGrp="1"/>
          </p:cNvSpPr>
          <p:nvPr/>
        </p:nvSpPr>
        <p:spPr>
          <a:xfrm xmlns:a="http://schemas.openxmlformats.org/drawingml/2006/main">
            <a:off x="6126480" y="2788920"/>
            <a:ext cx="2697480" cy="146304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3" name="Shape 18">
            <a:extLst xmlns:a="http://schemas.openxmlformats.org/drawingml/2006/main">
              <a:ext uri="{FF2B5EF4-FFF2-40B4-BE49-F238E27FC236}">
                <a16:creationId xmlns:a16="http://schemas.microsoft.com/office/drawing/2014/main" id="{FAAD5D64-3D8C-41EE-8A30-F57C7451924F}"/>
              </a:ext>
            </a:extLst>
          </p:cNvPr>
          <p:cNvSpPr>
            <a:spLocks xmlns:a="http://schemas.openxmlformats.org/drawingml/2006/main" noGrp="1"/>
          </p:cNvSpPr>
          <p:nvPr/>
        </p:nvSpPr>
        <p:spPr>
          <a:xfrm xmlns:a="http://schemas.openxmlformats.org/drawingml/2006/main">
            <a:off x="6126480" y="2788920"/>
            <a:ext cx="2697480" cy="73152"/>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4" name="Text 19">
            <a:extLst xmlns:a="http://schemas.openxmlformats.org/drawingml/2006/main">
              <a:ext uri="{FF2B5EF4-FFF2-40B4-BE49-F238E27FC236}">
                <a16:creationId xmlns:a16="http://schemas.microsoft.com/office/drawing/2014/main" id="{77176000-B234-4DA8-A97E-195AD37FB610}"/>
              </a:ext>
            </a:extLst>
          </p:cNvPr>
          <p:cNvSpPr>
            <a:spLocks xmlns:a="http://schemas.openxmlformats.org/drawingml/2006/main" noGrp="1"/>
          </p:cNvSpPr>
          <p:nvPr/>
        </p:nvSpPr>
        <p:spPr>
          <a:xfrm xmlns:a="http://schemas.openxmlformats.org/drawingml/2006/main">
            <a:off x="6126480" y="3017520"/>
            <a:ext cx="26974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002677"/>
                </a:solidFill>
                <a:latin typeface="Calibri"/>
                <a:ea typeface="Calibri"/>
                <a:cs typeface="Calibri"/>
              </a:rPr>
              <a:t>1M</a:t>
            </a:r>
            <a:endParaRPr sz="2800"/>
          </a:p>
        </p:txBody>
      </p:sp>
      <p:sp>
        <p:nvSpPr>
          <p:cNvPr id="25" name="Text 20">
            <a:extLst xmlns:a="http://schemas.openxmlformats.org/drawingml/2006/main">
              <a:ext uri="{FF2B5EF4-FFF2-40B4-BE49-F238E27FC236}">
                <a16:creationId xmlns:a16="http://schemas.microsoft.com/office/drawing/2014/main" id="{0A9ABEBE-03D3-4BEF-BAEB-B39137AD4690}"/>
              </a:ext>
            </a:extLst>
          </p:cNvPr>
          <p:cNvSpPr>
            <a:spLocks xmlns:a="http://schemas.openxmlformats.org/drawingml/2006/main" noGrp="1"/>
          </p:cNvSpPr>
          <p:nvPr/>
        </p:nvSpPr>
        <p:spPr>
          <a:xfrm xmlns:a="http://schemas.openxmlformats.org/drawingml/2006/main">
            <a:off x="6126480" y="3703320"/>
            <a:ext cx="26974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Serverless invoke</a:t>
            </a:r>
            <a:endParaRPr sz="1100"/>
          </a:p>
        </p:txBody>
      </p:sp>
      <p:sp>
        <p:nvSpPr>
          <p:cNvPr id="26" name="Shape 21">
            <a:extLst xmlns:a="http://schemas.openxmlformats.org/drawingml/2006/main">
              <a:ext uri="{FF2B5EF4-FFF2-40B4-BE49-F238E27FC236}">
                <a16:creationId xmlns:a16="http://schemas.microsoft.com/office/drawing/2014/main" id="{058FA1C5-C806-4688-9460-9E2F03C2C191}"/>
              </a:ext>
            </a:extLst>
          </p:cNvPr>
          <p:cNvSpPr>
            <a:spLocks xmlns:a="http://schemas.openxmlformats.org/drawingml/2006/main" noGrp="1"/>
          </p:cNvSpPr>
          <p:nvPr/>
        </p:nvSpPr>
        <p:spPr>
          <a:xfrm xmlns:a="http://schemas.openxmlformats.org/drawingml/2006/main">
            <a:off x="8961120" y="2788920"/>
            <a:ext cx="2697480" cy="146304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7" name="Shape 22">
            <a:extLst xmlns:a="http://schemas.openxmlformats.org/drawingml/2006/main">
              <a:ext uri="{FF2B5EF4-FFF2-40B4-BE49-F238E27FC236}">
                <a16:creationId xmlns:a16="http://schemas.microsoft.com/office/drawing/2014/main" id="{A3983222-1441-4D0E-8082-D1F20138FACC}"/>
              </a:ext>
            </a:extLst>
          </p:cNvPr>
          <p:cNvSpPr>
            <a:spLocks xmlns:a="http://schemas.openxmlformats.org/drawingml/2006/main" noGrp="1"/>
          </p:cNvSpPr>
          <p:nvPr/>
        </p:nvSpPr>
        <p:spPr>
          <a:xfrm xmlns:a="http://schemas.openxmlformats.org/drawingml/2006/main">
            <a:off x="8961120" y="2788920"/>
            <a:ext cx="2697480" cy="73152"/>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8" name="Text 23">
            <a:extLst xmlns:a="http://schemas.openxmlformats.org/drawingml/2006/main">
              <a:ext uri="{FF2B5EF4-FFF2-40B4-BE49-F238E27FC236}">
                <a16:creationId xmlns:a16="http://schemas.microsoft.com/office/drawing/2014/main" id="{06CF1860-0F32-4D3C-81D6-4F36DF2549C4}"/>
              </a:ext>
            </a:extLst>
          </p:cNvPr>
          <p:cNvSpPr>
            <a:spLocks xmlns:a="http://schemas.openxmlformats.org/drawingml/2006/main" noGrp="1"/>
          </p:cNvSpPr>
          <p:nvPr/>
        </p:nvSpPr>
        <p:spPr>
          <a:xfrm xmlns:a="http://schemas.openxmlformats.org/drawingml/2006/main">
            <a:off x="8961120" y="3017520"/>
            <a:ext cx="26974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002677"/>
                </a:solidFill>
                <a:latin typeface="Calibri"/>
                <a:ea typeface="Calibri"/>
                <a:cs typeface="Calibri"/>
              </a:rPr>
              <a:t>cek mode</a:t>
            </a:r>
            <a:endParaRPr sz="2800"/>
          </a:p>
        </p:txBody>
      </p:sp>
      <p:sp>
        <p:nvSpPr>
          <p:cNvPr id="29" name="Text 24">
            <a:extLst xmlns:a="http://schemas.openxmlformats.org/drawingml/2006/main">
              <a:ext uri="{FF2B5EF4-FFF2-40B4-BE49-F238E27FC236}">
                <a16:creationId xmlns:a16="http://schemas.microsoft.com/office/drawing/2014/main" id="{743C678D-8001-443E-81DE-DFDC82E84B87}"/>
              </a:ext>
            </a:extLst>
          </p:cNvPr>
          <p:cNvSpPr>
            <a:spLocks xmlns:a="http://schemas.openxmlformats.org/drawingml/2006/main" noGrp="1"/>
          </p:cNvSpPr>
          <p:nvPr/>
        </p:nvSpPr>
        <p:spPr>
          <a:xfrm xmlns:a="http://schemas.openxmlformats.org/drawingml/2006/main">
            <a:off x="8961120" y="3703320"/>
            <a:ext cx="26974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Function timeout</a:t>
            </a:r>
            <a:endParaRPr sz="1100"/>
          </a:p>
        </p:txBody>
      </p:sp>
      <p:sp>
        <p:nvSpPr>
          <p:cNvPr id="30" name="Shape 25">
            <a:extLst xmlns:a="http://schemas.openxmlformats.org/drawingml/2006/main">
              <a:ext uri="{FF2B5EF4-FFF2-40B4-BE49-F238E27FC236}">
                <a16:creationId xmlns:a16="http://schemas.microsoft.com/office/drawing/2014/main" id="{8DB9E1B1-6699-47C2-BC2E-53CECA3E82B7}"/>
              </a:ext>
            </a:extLst>
          </p:cNvPr>
          <p:cNvSpPr>
            <a:spLocks xmlns:a="http://schemas.openxmlformats.org/drawingml/2006/main" noGrp="1"/>
          </p:cNvSpPr>
          <p:nvPr/>
        </p:nvSpPr>
        <p:spPr>
          <a:xfrm xmlns:a="http://schemas.openxmlformats.org/drawingml/2006/main">
            <a:off x="457200" y="4434840"/>
            <a:ext cx="5532120" cy="18288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1" name="Text 26">
            <a:extLst xmlns:a="http://schemas.openxmlformats.org/drawingml/2006/main">
              <a:ext uri="{FF2B5EF4-FFF2-40B4-BE49-F238E27FC236}">
                <a16:creationId xmlns:a16="http://schemas.microsoft.com/office/drawing/2014/main" id="{02787DBD-EC78-4CDA-9BC6-3F07B7D164B3}"/>
              </a:ext>
            </a:extLst>
          </p:cNvPr>
          <p:cNvSpPr>
            <a:spLocks xmlns:a="http://schemas.openxmlformats.org/drawingml/2006/main" noGrp="1"/>
          </p:cNvSpPr>
          <p:nvPr/>
        </p:nvSpPr>
        <p:spPr>
          <a:xfrm xmlns:a="http://schemas.openxmlformats.org/drawingml/2006/main">
            <a:off x="640080" y="4526280"/>
            <a:ext cx="5212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59669"/>
                </a:solidFill>
                <a:latin typeface="Calibri"/>
                <a:ea typeface="Calibri"/>
                <a:cs typeface="Calibri"/>
              </a:rPr>
              <a:t>Yang Dapat:</a:t>
            </a:r>
            <a:endParaRPr sz="1200"/>
          </a:p>
        </p:txBody>
      </p:sp>
      <p:sp>
        <p:nvSpPr>
          <p:cNvPr id="32" name="Text 27">
            <a:extLst xmlns:a="http://schemas.openxmlformats.org/drawingml/2006/main">
              <a:ext uri="{FF2B5EF4-FFF2-40B4-BE49-F238E27FC236}">
                <a16:creationId xmlns:a16="http://schemas.microsoft.com/office/drawing/2014/main" id="{CC79AFDE-A313-4C4E-A59E-5B7560AEEBEB}"/>
              </a:ext>
            </a:extLst>
          </p:cNvPr>
          <p:cNvSpPr>
            <a:spLocks xmlns:a="http://schemas.openxmlformats.org/drawingml/2006/main" noGrp="1"/>
          </p:cNvSpPr>
          <p:nvPr/>
        </p:nvSpPr>
        <p:spPr>
          <a:xfrm xmlns:a="http://schemas.openxmlformats.org/drawingml/2006/main">
            <a:off x="777240" y="4800600"/>
            <a:ext cx="5120640" cy="1417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200"/>
              </a:spcAft>
              <a:buSzPct val="100000"/>
              <a:buChar char="✓"/>
            </a:pPr>
            <a:r>
              <a:rPr sz="1100">
                <a:solidFill>
                  <a:srgbClr val="1E293B"/>
                </a:solidFill>
                <a:latin typeface="Calibri"/>
                <a:ea typeface="Calibri"/>
                <a:cs typeface="Calibri"/>
              </a:rPr>
              <a:t>Auto-deploy dari GitHub/GitLab</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Custom domain + HTTPS gratis</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Preview deploy per pull request</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Fungsi edge tersedia pada jaringan Vercel</a:t>
            </a:r>
            <a:endParaRPr sz="1100"/>
          </a:p>
        </p:txBody>
      </p:sp>
      <p:sp>
        <p:nvSpPr>
          <p:cNvPr id="33" name="Shape 28">
            <a:extLst xmlns:a="http://schemas.openxmlformats.org/drawingml/2006/main">
              <a:ext uri="{FF2B5EF4-FFF2-40B4-BE49-F238E27FC236}">
                <a16:creationId xmlns:a16="http://schemas.microsoft.com/office/drawing/2014/main" id="{1DEEF002-0DD0-4E90-9D7D-7C04E96D8D62}"/>
              </a:ext>
            </a:extLst>
          </p:cNvPr>
          <p:cNvSpPr>
            <a:spLocks xmlns:a="http://schemas.openxmlformats.org/drawingml/2006/main" noGrp="1"/>
          </p:cNvSpPr>
          <p:nvPr/>
        </p:nvSpPr>
        <p:spPr>
          <a:xfrm xmlns:a="http://schemas.openxmlformats.org/drawingml/2006/main">
            <a:off x="6172200" y="4434840"/>
            <a:ext cx="5532120" cy="18288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4" name="Text 29">
            <a:extLst xmlns:a="http://schemas.openxmlformats.org/drawingml/2006/main">
              <a:ext uri="{FF2B5EF4-FFF2-40B4-BE49-F238E27FC236}">
                <a16:creationId xmlns:a16="http://schemas.microsoft.com/office/drawing/2014/main" id="{8AF0D46B-70BF-47C8-BDFC-223D5796DE7A}"/>
              </a:ext>
            </a:extLst>
          </p:cNvPr>
          <p:cNvSpPr>
            <a:spLocks xmlns:a="http://schemas.openxmlformats.org/drawingml/2006/main" noGrp="1"/>
          </p:cNvSpPr>
          <p:nvPr/>
        </p:nvSpPr>
        <p:spPr>
          <a:xfrm xmlns:a="http://schemas.openxmlformats.org/drawingml/2006/main">
            <a:off x="6355080" y="4526280"/>
            <a:ext cx="5212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DC2626"/>
                </a:solidFill>
                <a:latin typeface="Calibri"/>
                <a:ea typeface="Calibri"/>
                <a:cs typeface="Calibri"/>
              </a:rPr>
              <a:t>Batasan:</a:t>
            </a:r>
            <a:endParaRPr sz="1200"/>
          </a:p>
        </p:txBody>
      </p:sp>
      <p:sp>
        <p:nvSpPr>
          <p:cNvPr id="35" name="Text 30">
            <a:extLst xmlns:a="http://schemas.openxmlformats.org/drawingml/2006/main">
              <a:ext uri="{FF2B5EF4-FFF2-40B4-BE49-F238E27FC236}">
                <a16:creationId xmlns:a16="http://schemas.microsoft.com/office/drawing/2014/main" id="{50437BA5-4BC9-410E-97B2-01296CE0E3F8}"/>
              </a:ext>
            </a:extLst>
          </p:cNvPr>
          <p:cNvSpPr>
            <a:spLocks xmlns:a="http://schemas.openxmlformats.org/drawingml/2006/main" noGrp="1"/>
          </p:cNvSpPr>
          <p:nvPr/>
        </p:nvSpPr>
        <p:spPr>
          <a:xfrm xmlns:a="http://schemas.openxmlformats.org/drawingml/2006/main">
            <a:off x="6492240" y="4800600"/>
            <a:ext cx="5120640" cy="1417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200"/>
              </a:spcAft>
              <a:buSzPct val="100000"/>
              <a:buChar char="✗"/>
            </a:pPr>
            <a:r>
              <a:rPr sz="1100">
                <a:solidFill>
                  <a:srgbClr val="1E293B"/>
                </a:solidFill>
                <a:latin typeface="Calibri"/>
                <a:ea typeface="Calibri"/>
                <a:cs typeface="Calibri"/>
              </a:rPr>
              <a:t>Tidak boleh untuk komersial</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Durasi fungsi bergantung mode dan konfigurasi</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Fitur tim mengikuti ketentuan plan</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Fitur proteksi mengikuti ketentuan plan</a:t>
            </a:r>
            <a:endParaRPr sz="1100"/>
          </a:p>
        </p:txBody>
      </p:sp>
    </p:spTree>
    <p:extLst>
      <p:ext uri="{BB962C8B-B14F-4D97-AF65-F5344CB8AC3E}">
        <p14:creationId xmlns:p14="http://schemas.microsoft.com/office/powerpoint/2010/main" val="155628041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FADB709-71B9-4F13-ABE1-BE6ED712D2DC}"/>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85EA2E9E-5520-4148-BB45-128657CBA073}"/>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31</a:t>
            </a:r>
            <a:endParaRPr sz="900"/>
          </a:p>
        </p:txBody>
      </p:sp>
      <p:sp>
        <p:nvSpPr>
          <p:cNvPr id="4" name="Shape 2">
            <a:extLst xmlns:a="http://schemas.openxmlformats.org/drawingml/2006/main">
              <a:ext uri="{FF2B5EF4-FFF2-40B4-BE49-F238E27FC236}">
                <a16:creationId xmlns:a16="http://schemas.microsoft.com/office/drawing/2014/main" id="{7AB900C3-104F-45CC-8A13-83CAF4110922}"/>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d1f9936329554e21"/>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8763aeed6b8e440e"/>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C0219E63-87B8-460C-86CA-24EADBC289A3}"/>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01712195-B684-4363-A603-459561A108AF}"/>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Supabase Free</a:t>
            </a:r>
            <a:endParaRPr sz="2200"/>
          </a:p>
        </p:txBody>
      </p:sp>
      <p:sp>
        <p:nvSpPr>
          <p:cNvPr id="9" name="Text 5">
            <a:extLst xmlns:a="http://schemas.openxmlformats.org/drawingml/2006/main">
              <a:ext uri="{FF2B5EF4-FFF2-40B4-BE49-F238E27FC236}">
                <a16:creationId xmlns:a16="http://schemas.microsoft.com/office/drawing/2014/main" id="{AB178485-8295-4400-B9CA-5152408A7E94}"/>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Postgres + Auth + Storage + Realtime</a:t>
            </a:r>
            <a:endParaRPr sz="1200"/>
          </a:p>
        </p:txBody>
      </p:sp>
      <p:sp>
        <p:nvSpPr>
          <p:cNvPr id="10" name="Shape 6">
            <a:extLst xmlns:a="http://schemas.openxmlformats.org/drawingml/2006/main">
              <a:ext uri="{FF2B5EF4-FFF2-40B4-BE49-F238E27FC236}">
                <a16:creationId xmlns:a16="http://schemas.microsoft.com/office/drawing/2014/main" id="{C5BDAB80-E115-407B-8B3B-BB71EE8155E2}"/>
              </a:ext>
            </a:extLst>
          </p:cNvPr>
          <p:cNvSpPr>
            <a:spLocks xmlns:a="http://schemas.openxmlformats.org/drawingml/2006/main" noGrp="1"/>
          </p:cNvSpPr>
          <p:nvPr/>
        </p:nvSpPr>
        <p:spPr>
          <a:xfrm xmlns:a="http://schemas.openxmlformats.org/drawingml/2006/main">
            <a:off x="457200" y="1691640"/>
            <a:ext cx="11247120" cy="914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b0aacaa879cd4673"/>
          <a:stretch xmlns:a="http://schemas.openxmlformats.org/drawingml/2006/main">
            <a:fillRect l="0" t="0" r="0" b="0"/>
          </a:stretch>
        </p:blipFill>
        <p:spPr>
          <a:xfrm xmlns:a="http://schemas.openxmlformats.org/drawingml/2006/main">
            <a:off x="640080" y="1874520"/>
            <a:ext cx="548640" cy="54864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4273AA9F-69B1-436E-8FE9-289D030A4DEC}"/>
              </a:ext>
            </a:extLst>
          </p:cNvPr>
          <p:cNvSpPr>
            <a:spLocks xmlns:a="http://schemas.openxmlformats.org/drawingml/2006/main" noGrp="1"/>
          </p:cNvSpPr>
          <p:nvPr/>
        </p:nvSpPr>
        <p:spPr>
          <a:xfrm xmlns:a="http://schemas.openxmlformats.org/drawingml/2006/main">
            <a:off x="1325880" y="1828800"/>
            <a:ext cx="8229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002677"/>
                </a:solidFill>
                <a:latin typeface="Calibri"/>
                <a:ea typeface="Calibri"/>
                <a:cs typeface="Calibri"/>
              </a:rPr>
              <a:t>Supabase - Open Source Firebase Alternative</a:t>
            </a:r>
            <a:endParaRPr sz="2000"/>
          </a:p>
        </p:txBody>
      </p:sp>
      <p:sp>
        <p:nvSpPr>
          <p:cNvPr id="13" name="Text 8">
            <a:extLst xmlns:a="http://schemas.openxmlformats.org/drawingml/2006/main">
              <a:ext uri="{FF2B5EF4-FFF2-40B4-BE49-F238E27FC236}">
                <a16:creationId xmlns:a16="http://schemas.microsoft.com/office/drawing/2014/main" id="{917A5108-2C5D-453C-BFFA-69481F481489}"/>
              </a:ext>
            </a:extLst>
          </p:cNvPr>
          <p:cNvSpPr>
            <a:spLocks xmlns:a="http://schemas.openxmlformats.org/drawingml/2006/main" noGrp="1"/>
          </p:cNvSpPr>
          <p:nvPr/>
        </p:nvSpPr>
        <p:spPr>
          <a:xfrm xmlns:a="http://schemas.openxmlformats.org/drawingml/2006/main">
            <a:off x="1325880" y="2240280"/>
            <a:ext cx="10058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i="1">
                <a:solidFill>
                  <a:srgbClr val="F37021"/>
                </a:solidFill>
                <a:latin typeface="Calibri"/>
                <a:ea typeface="Calibri"/>
                <a:cs typeface="Calibri"/>
              </a:rPr>
              <a:t>Full backend stack berbasis PostgreSQL + auto-generated REST/GraphQL API</a:t>
            </a:r>
            <a:endParaRPr sz="1200"/>
          </a:p>
        </p:txBody>
      </p:sp>
      <p:sp>
        <p:nvSpPr>
          <p:cNvPr id="14" name="Shape 9">
            <a:extLst xmlns:a="http://schemas.openxmlformats.org/drawingml/2006/main">
              <a:ext uri="{FF2B5EF4-FFF2-40B4-BE49-F238E27FC236}">
                <a16:creationId xmlns:a16="http://schemas.microsoft.com/office/drawing/2014/main" id="{23250C08-26C3-4A9B-B899-09CEDA00BEF9}"/>
              </a:ext>
            </a:extLst>
          </p:cNvPr>
          <p:cNvSpPr>
            <a:spLocks xmlns:a="http://schemas.openxmlformats.org/drawingml/2006/main" noGrp="1"/>
          </p:cNvSpPr>
          <p:nvPr/>
        </p:nvSpPr>
        <p:spPr>
          <a:xfrm xmlns:a="http://schemas.openxmlformats.org/drawingml/2006/main">
            <a:off x="457200" y="2788920"/>
            <a:ext cx="2697480" cy="146304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5" name="Shape 10">
            <a:extLst xmlns:a="http://schemas.openxmlformats.org/drawingml/2006/main">
              <a:ext uri="{FF2B5EF4-FFF2-40B4-BE49-F238E27FC236}">
                <a16:creationId xmlns:a16="http://schemas.microsoft.com/office/drawing/2014/main" id="{31C269E6-67E4-416B-9656-324FD0642DCA}"/>
              </a:ext>
            </a:extLst>
          </p:cNvPr>
          <p:cNvSpPr>
            <a:spLocks xmlns:a="http://schemas.openxmlformats.org/drawingml/2006/main" noGrp="1"/>
          </p:cNvSpPr>
          <p:nvPr/>
        </p:nvSpPr>
        <p:spPr>
          <a:xfrm xmlns:a="http://schemas.openxmlformats.org/drawingml/2006/main">
            <a:off x="457200" y="2788920"/>
            <a:ext cx="2697480" cy="73152"/>
          </a:xfrm>
          <a:prstGeom xmlns:a="http://schemas.openxmlformats.org/drawingml/2006/main" prst="rect">
            <a:avLst/>
          </a:prstGeom>
          <a:solidFill xmlns:a="http://schemas.openxmlformats.org/drawingml/2006/main">
            <a:srgbClr val="3ECF8E"/>
          </a:solidFill>
          <a:ln xmlns:a="http://schemas.openxmlformats.org/drawingml/2006/main" w="12700">
            <a:solidFill>
              <a:srgbClr val="3ECF8E"/>
            </a:solidFill>
            <a:prstDash val="solid"/>
          </a:ln>
        </p:spPr>
      </p:sp>
      <p:sp>
        <p:nvSpPr>
          <p:cNvPr id="16" name="Text 11">
            <a:extLst xmlns:a="http://schemas.openxmlformats.org/drawingml/2006/main">
              <a:ext uri="{FF2B5EF4-FFF2-40B4-BE49-F238E27FC236}">
                <a16:creationId xmlns:a16="http://schemas.microsoft.com/office/drawing/2014/main" id="{E85F7133-4AFE-467D-ADAF-14A71F5EE8D5}"/>
              </a:ext>
            </a:extLst>
          </p:cNvPr>
          <p:cNvSpPr>
            <a:spLocks xmlns:a="http://schemas.openxmlformats.org/drawingml/2006/main" noGrp="1"/>
          </p:cNvSpPr>
          <p:nvPr/>
        </p:nvSpPr>
        <p:spPr>
          <a:xfrm xmlns:a="http://schemas.openxmlformats.org/drawingml/2006/main">
            <a:off x="457200" y="3017520"/>
            <a:ext cx="26974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002677"/>
                </a:solidFill>
                <a:latin typeface="Calibri"/>
                <a:ea typeface="Calibri"/>
                <a:cs typeface="Calibri"/>
              </a:rPr>
              <a:t>500 MB</a:t>
            </a:r>
            <a:endParaRPr sz="2800"/>
          </a:p>
        </p:txBody>
      </p:sp>
      <p:sp>
        <p:nvSpPr>
          <p:cNvPr id="17" name="Text 12">
            <a:extLst xmlns:a="http://schemas.openxmlformats.org/drawingml/2006/main">
              <a:ext uri="{FF2B5EF4-FFF2-40B4-BE49-F238E27FC236}">
                <a16:creationId xmlns:a16="http://schemas.microsoft.com/office/drawing/2014/main" id="{447DC195-6267-411F-A5E7-C17943406098}"/>
              </a:ext>
            </a:extLst>
          </p:cNvPr>
          <p:cNvSpPr>
            <a:spLocks xmlns:a="http://schemas.openxmlformats.org/drawingml/2006/main" noGrp="1"/>
          </p:cNvSpPr>
          <p:nvPr/>
        </p:nvSpPr>
        <p:spPr>
          <a:xfrm xmlns:a="http://schemas.openxmlformats.org/drawingml/2006/main">
            <a:off x="457200" y="3703320"/>
            <a:ext cx="26974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Database</a:t>
            </a:r>
            <a:endParaRPr sz="1100"/>
          </a:p>
        </p:txBody>
      </p:sp>
      <p:sp>
        <p:nvSpPr>
          <p:cNvPr id="18" name="Shape 13">
            <a:extLst xmlns:a="http://schemas.openxmlformats.org/drawingml/2006/main">
              <a:ext uri="{FF2B5EF4-FFF2-40B4-BE49-F238E27FC236}">
                <a16:creationId xmlns:a16="http://schemas.microsoft.com/office/drawing/2014/main" id="{8AB205DF-EC21-4F3E-8629-E2AAD11D51A4}"/>
              </a:ext>
            </a:extLst>
          </p:cNvPr>
          <p:cNvSpPr>
            <a:spLocks xmlns:a="http://schemas.openxmlformats.org/drawingml/2006/main" noGrp="1"/>
          </p:cNvSpPr>
          <p:nvPr/>
        </p:nvSpPr>
        <p:spPr>
          <a:xfrm xmlns:a="http://schemas.openxmlformats.org/drawingml/2006/main">
            <a:off x="3291840" y="2788920"/>
            <a:ext cx="2697480" cy="146304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9" name="Shape 14">
            <a:extLst xmlns:a="http://schemas.openxmlformats.org/drawingml/2006/main">
              <a:ext uri="{FF2B5EF4-FFF2-40B4-BE49-F238E27FC236}">
                <a16:creationId xmlns:a16="http://schemas.microsoft.com/office/drawing/2014/main" id="{2966F1A5-5439-40CC-AF50-4276CB5D80C3}"/>
              </a:ext>
            </a:extLst>
          </p:cNvPr>
          <p:cNvSpPr>
            <a:spLocks xmlns:a="http://schemas.openxmlformats.org/drawingml/2006/main" noGrp="1"/>
          </p:cNvSpPr>
          <p:nvPr/>
        </p:nvSpPr>
        <p:spPr>
          <a:xfrm xmlns:a="http://schemas.openxmlformats.org/drawingml/2006/main">
            <a:off x="3291840" y="2788920"/>
            <a:ext cx="2697480" cy="73152"/>
          </a:xfrm>
          <a:prstGeom xmlns:a="http://schemas.openxmlformats.org/drawingml/2006/main" prst="rect">
            <a:avLst/>
          </a:prstGeom>
          <a:solidFill xmlns:a="http://schemas.openxmlformats.org/drawingml/2006/main">
            <a:srgbClr val="3ECF8E"/>
          </a:solidFill>
          <a:ln xmlns:a="http://schemas.openxmlformats.org/drawingml/2006/main" w="12700">
            <a:solidFill>
              <a:srgbClr val="3ECF8E"/>
            </a:solidFill>
            <a:prstDash val="solid"/>
          </a:ln>
        </p:spPr>
      </p:sp>
      <p:sp>
        <p:nvSpPr>
          <p:cNvPr id="20" name="Text 15">
            <a:extLst xmlns:a="http://schemas.openxmlformats.org/drawingml/2006/main">
              <a:ext uri="{FF2B5EF4-FFF2-40B4-BE49-F238E27FC236}">
                <a16:creationId xmlns:a16="http://schemas.microsoft.com/office/drawing/2014/main" id="{C4722F31-5DD3-4153-B9E5-EE0E18A2FE92}"/>
              </a:ext>
            </a:extLst>
          </p:cNvPr>
          <p:cNvSpPr>
            <a:spLocks xmlns:a="http://schemas.openxmlformats.org/drawingml/2006/main" noGrp="1"/>
          </p:cNvSpPr>
          <p:nvPr/>
        </p:nvSpPr>
        <p:spPr>
          <a:xfrm xmlns:a="http://schemas.openxmlformats.org/drawingml/2006/main">
            <a:off x="3291840" y="3017520"/>
            <a:ext cx="26974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002677"/>
                </a:solidFill>
                <a:latin typeface="Calibri"/>
                <a:ea typeface="Calibri"/>
                <a:cs typeface="Calibri"/>
              </a:rPr>
              <a:t>1 GB</a:t>
            </a:r>
            <a:endParaRPr sz="2800"/>
          </a:p>
        </p:txBody>
      </p:sp>
      <p:sp>
        <p:nvSpPr>
          <p:cNvPr id="21" name="Text 16">
            <a:extLst xmlns:a="http://schemas.openxmlformats.org/drawingml/2006/main">
              <a:ext uri="{FF2B5EF4-FFF2-40B4-BE49-F238E27FC236}">
                <a16:creationId xmlns:a16="http://schemas.microsoft.com/office/drawing/2014/main" id="{E3F9F0D6-9E6E-475E-BE75-05339CF1F7BF}"/>
              </a:ext>
            </a:extLst>
          </p:cNvPr>
          <p:cNvSpPr>
            <a:spLocks xmlns:a="http://schemas.openxmlformats.org/drawingml/2006/main" noGrp="1"/>
          </p:cNvSpPr>
          <p:nvPr/>
        </p:nvSpPr>
        <p:spPr>
          <a:xfrm xmlns:a="http://schemas.openxmlformats.org/drawingml/2006/main">
            <a:off x="3291840" y="3703320"/>
            <a:ext cx="26974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File Storage</a:t>
            </a:r>
            <a:endParaRPr sz="1100"/>
          </a:p>
        </p:txBody>
      </p:sp>
      <p:sp>
        <p:nvSpPr>
          <p:cNvPr id="22" name="Shape 17">
            <a:extLst xmlns:a="http://schemas.openxmlformats.org/drawingml/2006/main">
              <a:ext uri="{FF2B5EF4-FFF2-40B4-BE49-F238E27FC236}">
                <a16:creationId xmlns:a16="http://schemas.microsoft.com/office/drawing/2014/main" id="{B8035137-C3E0-4ED9-A95E-5B8AF1E53233}"/>
              </a:ext>
            </a:extLst>
          </p:cNvPr>
          <p:cNvSpPr>
            <a:spLocks xmlns:a="http://schemas.openxmlformats.org/drawingml/2006/main" noGrp="1"/>
          </p:cNvSpPr>
          <p:nvPr/>
        </p:nvSpPr>
        <p:spPr>
          <a:xfrm xmlns:a="http://schemas.openxmlformats.org/drawingml/2006/main">
            <a:off x="6126480" y="2788920"/>
            <a:ext cx="2697480" cy="146304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3" name="Shape 18">
            <a:extLst xmlns:a="http://schemas.openxmlformats.org/drawingml/2006/main">
              <a:ext uri="{FF2B5EF4-FFF2-40B4-BE49-F238E27FC236}">
                <a16:creationId xmlns:a16="http://schemas.microsoft.com/office/drawing/2014/main" id="{29D47916-9C3E-4AB6-87A4-66597749F2E9}"/>
              </a:ext>
            </a:extLst>
          </p:cNvPr>
          <p:cNvSpPr>
            <a:spLocks xmlns:a="http://schemas.openxmlformats.org/drawingml/2006/main" noGrp="1"/>
          </p:cNvSpPr>
          <p:nvPr/>
        </p:nvSpPr>
        <p:spPr>
          <a:xfrm xmlns:a="http://schemas.openxmlformats.org/drawingml/2006/main">
            <a:off x="6126480" y="2788920"/>
            <a:ext cx="2697480" cy="73152"/>
          </a:xfrm>
          <a:prstGeom xmlns:a="http://schemas.openxmlformats.org/drawingml/2006/main" prst="rect">
            <a:avLst/>
          </a:prstGeom>
          <a:solidFill xmlns:a="http://schemas.openxmlformats.org/drawingml/2006/main">
            <a:srgbClr val="3ECF8E"/>
          </a:solidFill>
          <a:ln xmlns:a="http://schemas.openxmlformats.org/drawingml/2006/main" w="12700">
            <a:solidFill>
              <a:srgbClr val="3ECF8E"/>
            </a:solidFill>
            <a:prstDash val="solid"/>
          </a:ln>
        </p:spPr>
      </p:sp>
      <p:sp>
        <p:nvSpPr>
          <p:cNvPr id="24" name="Text 19">
            <a:extLst xmlns:a="http://schemas.openxmlformats.org/drawingml/2006/main">
              <a:ext uri="{FF2B5EF4-FFF2-40B4-BE49-F238E27FC236}">
                <a16:creationId xmlns:a16="http://schemas.microsoft.com/office/drawing/2014/main" id="{1F23657F-27C3-4BF3-BBAA-F95DA7FA3044}"/>
              </a:ext>
            </a:extLst>
          </p:cNvPr>
          <p:cNvSpPr>
            <a:spLocks xmlns:a="http://schemas.openxmlformats.org/drawingml/2006/main" noGrp="1"/>
          </p:cNvSpPr>
          <p:nvPr/>
        </p:nvSpPr>
        <p:spPr>
          <a:xfrm xmlns:a="http://schemas.openxmlformats.org/drawingml/2006/main">
            <a:off x="6126480" y="3017520"/>
            <a:ext cx="26974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002677"/>
                </a:solidFill>
                <a:latin typeface="Calibri"/>
                <a:ea typeface="Calibri"/>
                <a:cs typeface="Calibri"/>
              </a:rPr>
              <a:t>50.000</a:t>
            </a:r>
            <a:endParaRPr sz="2800"/>
          </a:p>
        </p:txBody>
      </p:sp>
      <p:sp>
        <p:nvSpPr>
          <p:cNvPr id="25" name="Text 20">
            <a:extLst xmlns:a="http://schemas.openxmlformats.org/drawingml/2006/main">
              <a:ext uri="{FF2B5EF4-FFF2-40B4-BE49-F238E27FC236}">
                <a16:creationId xmlns:a16="http://schemas.microsoft.com/office/drawing/2014/main" id="{F196A352-C3D8-4095-82E4-A01A776C76B4}"/>
              </a:ext>
            </a:extLst>
          </p:cNvPr>
          <p:cNvSpPr>
            <a:spLocks xmlns:a="http://schemas.openxmlformats.org/drawingml/2006/main" noGrp="1"/>
          </p:cNvSpPr>
          <p:nvPr/>
        </p:nvSpPr>
        <p:spPr>
          <a:xfrm xmlns:a="http://schemas.openxmlformats.org/drawingml/2006/main">
            <a:off x="6126480" y="3703320"/>
            <a:ext cx="26974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MAU (auth)</a:t>
            </a:r>
            <a:endParaRPr sz="1100"/>
          </a:p>
        </p:txBody>
      </p:sp>
      <p:sp>
        <p:nvSpPr>
          <p:cNvPr id="26" name="Shape 21">
            <a:extLst xmlns:a="http://schemas.openxmlformats.org/drawingml/2006/main">
              <a:ext uri="{FF2B5EF4-FFF2-40B4-BE49-F238E27FC236}">
                <a16:creationId xmlns:a16="http://schemas.microsoft.com/office/drawing/2014/main" id="{5955777C-8C54-4493-A4ED-CCF567468DE2}"/>
              </a:ext>
            </a:extLst>
          </p:cNvPr>
          <p:cNvSpPr>
            <a:spLocks xmlns:a="http://schemas.openxmlformats.org/drawingml/2006/main" noGrp="1"/>
          </p:cNvSpPr>
          <p:nvPr/>
        </p:nvSpPr>
        <p:spPr>
          <a:xfrm xmlns:a="http://schemas.openxmlformats.org/drawingml/2006/main">
            <a:off x="8961120" y="2788920"/>
            <a:ext cx="2697480" cy="146304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7" name="Shape 22">
            <a:extLst xmlns:a="http://schemas.openxmlformats.org/drawingml/2006/main">
              <a:ext uri="{FF2B5EF4-FFF2-40B4-BE49-F238E27FC236}">
                <a16:creationId xmlns:a16="http://schemas.microsoft.com/office/drawing/2014/main" id="{2698BDAF-34C7-4669-AF28-CCA2D52C525B}"/>
              </a:ext>
            </a:extLst>
          </p:cNvPr>
          <p:cNvSpPr>
            <a:spLocks xmlns:a="http://schemas.openxmlformats.org/drawingml/2006/main" noGrp="1"/>
          </p:cNvSpPr>
          <p:nvPr/>
        </p:nvSpPr>
        <p:spPr>
          <a:xfrm xmlns:a="http://schemas.openxmlformats.org/drawingml/2006/main">
            <a:off x="8961120" y="2788920"/>
            <a:ext cx="2697480" cy="73152"/>
          </a:xfrm>
          <a:prstGeom xmlns:a="http://schemas.openxmlformats.org/drawingml/2006/main" prst="rect">
            <a:avLst/>
          </a:prstGeom>
          <a:solidFill xmlns:a="http://schemas.openxmlformats.org/drawingml/2006/main">
            <a:srgbClr val="3ECF8E"/>
          </a:solidFill>
          <a:ln xmlns:a="http://schemas.openxmlformats.org/drawingml/2006/main" w="12700">
            <a:solidFill>
              <a:srgbClr val="3ECF8E"/>
            </a:solidFill>
            <a:prstDash val="solid"/>
          </a:ln>
        </p:spPr>
      </p:sp>
      <p:sp>
        <p:nvSpPr>
          <p:cNvPr id="28" name="Text 23">
            <a:extLst xmlns:a="http://schemas.openxmlformats.org/drawingml/2006/main">
              <a:ext uri="{FF2B5EF4-FFF2-40B4-BE49-F238E27FC236}">
                <a16:creationId xmlns:a16="http://schemas.microsoft.com/office/drawing/2014/main" id="{5DB88B08-17F8-49A7-AE7C-6CD0F720DE57}"/>
              </a:ext>
            </a:extLst>
          </p:cNvPr>
          <p:cNvSpPr>
            <a:spLocks xmlns:a="http://schemas.openxmlformats.org/drawingml/2006/main" noGrp="1"/>
          </p:cNvSpPr>
          <p:nvPr/>
        </p:nvSpPr>
        <p:spPr>
          <a:xfrm xmlns:a="http://schemas.openxmlformats.org/drawingml/2006/main">
            <a:off x="8961120" y="3017520"/>
            <a:ext cx="26974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002677"/>
                </a:solidFill>
                <a:latin typeface="Calibri"/>
                <a:ea typeface="Calibri"/>
                <a:cs typeface="Calibri"/>
              </a:rPr>
              <a:t>2</a:t>
            </a:r>
            <a:endParaRPr sz="2800"/>
          </a:p>
        </p:txBody>
      </p:sp>
      <p:sp>
        <p:nvSpPr>
          <p:cNvPr id="29" name="Text 24">
            <a:extLst xmlns:a="http://schemas.openxmlformats.org/drawingml/2006/main">
              <a:ext uri="{FF2B5EF4-FFF2-40B4-BE49-F238E27FC236}">
                <a16:creationId xmlns:a16="http://schemas.microsoft.com/office/drawing/2014/main" id="{9FEBA8D3-6050-4789-B448-4284869EBDB7}"/>
              </a:ext>
            </a:extLst>
          </p:cNvPr>
          <p:cNvSpPr>
            <a:spLocks xmlns:a="http://schemas.openxmlformats.org/drawingml/2006/main" noGrp="1"/>
          </p:cNvSpPr>
          <p:nvPr/>
        </p:nvSpPr>
        <p:spPr>
          <a:xfrm xmlns:a="http://schemas.openxmlformats.org/drawingml/2006/main">
            <a:off x="8961120" y="3703320"/>
            <a:ext cx="26974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Project aktif</a:t>
            </a:r>
            <a:endParaRPr sz="1100"/>
          </a:p>
        </p:txBody>
      </p:sp>
      <p:sp>
        <p:nvSpPr>
          <p:cNvPr id="30" name="Shape 25">
            <a:extLst xmlns:a="http://schemas.openxmlformats.org/drawingml/2006/main">
              <a:ext uri="{FF2B5EF4-FFF2-40B4-BE49-F238E27FC236}">
                <a16:creationId xmlns:a16="http://schemas.microsoft.com/office/drawing/2014/main" id="{9E226484-89E8-4389-9BDC-CD45260A8ECF}"/>
              </a:ext>
            </a:extLst>
          </p:cNvPr>
          <p:cNvSpPr>
            <a:spLocks xmlns:a="http://schemas.openxmlformats.org/drawingml/2006/main" noGrp="1"/>
          </p:cNvSpPr>
          <p:nvPr/>
        </p:nvSpPr>
        <p:spPr>
          <a:xfrm xmlns:a="http://schemas.openxmlformats.org/drawingml/2006/main">
            <a:off x="457200" y="4434840"/>
            <a:ext cx="5532120" cy="18288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1" name="Text 26">
            <a:extLst xmlns:a="http://schemas.openxmlformats.org/drawingml/2006/main">
              <a:ext uri="{FF2B5EF4-FFF2-40B4-BE49-F238E27FC236}">
                <a16:creationId xmlns:a16="http://schemas.microsoft.com/office/drawing/2014/main" id="{7E4AD2E6-820B-4AC0-AEE5-4878A134E0EE}"/>
              </a:ext>
            </a:extLst>
          </p:cNvPr>
          <p:cNvSpPr>
            <a:spLocks xmlns:a="http://schemas.openxmlformats.org/drawingml/2006/main" noGrp="1"/>
          </p:cNvSpPr>
          <p:nvPr/>
        </p:nvSpPr>
        <p:spPr>
          <a:xfrm xmlns:a="http://schemas.openxmlformats.org/drawingml/2006/main">
            <a:off x="640080" y="4526280"/>
            <a:ext cx="5212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59669"/>
                </a:solidFill>
                <a:latin typeface="Calibri"/>
                <a:ea typeface="Calibri"/>
                <a:cs typeface="Calibri"/>
              </a:rPr>
              <a:t>Yang Dapat:</a:t>
            </a:r>
            <a:endParaRPr sz="1200"/>
          </a:p>
        </p:txBody>
      </p:sp>
      <p:sp>
        <p:nvSpPr>
          <p:cNvPr id="32" name="Text 27">
            <a:extLst xmlns:a="http://schemas.openxmlformats.org/drawingml/2006/main">
              <a:ext uri="{FF2B5EF4-FFF2-40B4-BE49-F238E27FC236}">
                <a16:creationId xmlns:a16="http://schemas.microsoft.com/office/drawing/2014/main" id="{EDF5160D-C557-4CDF-A411-05A2696E1621}"/>
              </a:ext>
            </a:extLst>
          </p:cNvPr>
          <p:cNvSpPr>
            <a:spLocks xmlns:a="http://schemas.openxmlformats.org/drawingml/2006/main" noGrp="1"/>
          </p:cNvSpPr>
          <p:nvPr/>
        </p:nvSpPr>
        <p:spPr>
          <a:xfrm xmlns:a="http://schemas.openxmlformats.org/drawingml/2006/main">
            <a:off x="777240" y="4800600"/>
            <a:ext cx="5120640" cy="1417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200"/>
              </a:spcAft>
              <a:buSzPct val="100000"/>
              <a:buChar char="✓"/>
            </a:pPr>
            <a:r>
              <a:rPr sz="1100">
                <a:solidFill>
                  <a:srgbClr val="1E293B"/>
                </a:solidFill>
                <a:latin typeface="Calibri"/>
                <a:ea typeface="Calibri"/>
                <a:cs typeface="Calibri"/>
              </a:rPr>
              <a:t>Postgres asli + Row-Level Security</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Auth: email, OAuth, magic link</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Realtime subscriptions (websocket)</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pgvector untuk AI/embedding search</a:t>
            </a:r>
            <a:endParaRPr sz="1100"/>
          </a:p>
        </p:txBody>
      </p:sp>
      <p:sp>
        <p:nvSpPr>
          <p:cNvPr id="33" name="Shape 28">
            <a:extLst xmlns:a="http://schemas.openxmlformats.org/drawingml/2006/main">
              <a:ext uri="{FF2B5EF4-FFF2-40B4-BE49-F238E27FC236}">
                <a16:creationId xmlns:a16="http://schemas.microsoft.com/office/drawing/2014/main" id="{3F4D8B6B-9D86-4EB7-823D-52EE09E4AE5E}"/>
              </a:ext>
            </a:extLst>
          </p:cNvPr>
          <p:cNvSpPr>
            <a:spLocks xmlns:a="http://schemas.openxmlformats.org/drawingml/2006/main" noGrp="1"/>
          </p:cNvSpPr>
          <p:nvPr/>
        </p:nvSpPr>
        <p:spPr>
          <a:xfrm xmlns:a="http://schemas.openxmlformats.org/drawingml/2006/main">
            <a:off x="6172200" y="4434840"/>
            <a:ext cx="5532120" cy="18288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4" name="Text 29">
            <a:extLst xmlns:a="http://schemas.openxmlformats.org/drawingml/2006/main">
              <a:ext uri="{FF2B5EF4-FFF2-40B4-BE49-F238E27FC236}">
                <a16:creationId xmlns:a16="http://schemas.microsoft.com/office/drawing/2014/main" id="{FC4BBFE0-C281-40C9-8039-DDA92924F8EA}"/>
              </a:ext>
            </a:extLst>
          </p:cNvPr>
          <p:cNvSpPr>
            <a:spLocks xmlns:a="http://schemas.openxmlformats.org/drawingml/2006/main" noGrp="1"/>
          </p:cNvSpPr>
          <p:nvPr/>
        </p:nvSpPr>
        <p:spPr>
          <a:xfrm xmlns:a="http://schemas.openxmlformats.org/drawingml/2006/main">
            <a:off x="6355080" y="4526280"/>
            <a:ext cx="5212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DC2626"/>
                </a:solidFill>
                <a:latin typeface="Calibri"/>
                <a:ea typeface="Calibri"/>
                <a:cs typeface="Calibri"/>
              </a:rPr>
              <a:t>Batasan:</a:t>
            </a:r>
            <a:endParaRPr sz="1200"/>
          </a:p>
        </p:txBody>
      </p:sp>
      <p:sp>
        <p:nvSpPr>
          <p:cNvPr id="35" name="Text 30">
            <a:extLst xmlns:a="http://schemas.openxmlformats.org/drawingml/2006/main">
              <a:ext uri="{FF2B5EF4-FFF2-40B4-BE49-F238E27FC236}">
                <a16:creationId xmlns:a16="http://schemas.microsoft.com/office/drawing/2014/main" id="{BBBD0EF1-A075-4E68-B1C4-8A9ADDBD62D7}"/>
              </a:ext>
            </a:extLst>
          </p:cNvPr>
          <p:cNvSpPr>
            <a:spLocks xmlns:a="http://schemas.openxmlformats.org/drawingml/2006/main" noGrp="1"/>
          </p:cNvSpPr>
          <p:nvPr/>
        </p:nvSpPr>
        <p:spPr>
          <a:xfrm xmlns:a="http://schemas.openxmlformats.org/drawingml/2006/main">
            <a:off x="6492240" y="4800600"/>
            <a:ext cx="5120640" cy="1417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200"/>
              </a:spcAft>
              <a:buSzPct val="100000"/>
              <a:buChar char="✗"/>
            </a:pPr>
            <a:r>
              <a:rPr sz="1100">
                <a:solidFill>
                  <a:srgbClr val="1E293B"/>
                </a:solidFill>
                <a:latin typeface="Calibri"/>
                <a:ea typeface="Calibri"/>
                <a:cs typeface="Calibri"/>
              </a:rPr>
              <a:t>Project paused setelah 7 hari idle</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5 GB egress/bulan</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Tidak ada daily backup otomatis</a:t>
            </a:r>
            <a:endParaRPr sz="1100"/>
          </a:p>
          <a:p xmlns:a="http://schemas.openxmlformats.org/drawingml/2006/main">
            <a:pPr marL="342900" indent="-342900">
              <a:spcAft>
                <a:spcPts val="200"/>
              </a:spcAft>
              <a:buSzPct val="100000"/>
              <a:buChar char="✗"/>
            </a:pPr>
            <a:r>
              <a:rPr sz="1100">
                <a:solidFill>
                  <a:srgbClr val="1E293B"/>
                </a:solidFill>
                <a:latin typeface="Calibri"/>
                <a:ea typeface="Calibri"/>
                <a:cs typeface="Calibri"/>
              </a:rPr>
              <a:t>Shared CPU (bukan dedicated)</a:t>
            </a:r>
            <a:endParaRPr sz="1100"/>
          </a:p>
        </p:txBody>
      </p:sp>
    </p:spTree>
    <p:extLst>
      <p:ext uri="{BB962C8B-B14F-4D97-AF65-F5344CB8AC3E}">
        <p14:creationId xmlns:p14="http://schemas.microsoft.com/office/powerpoint/2010/main" val="210859285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BF7A59-B257-4622-B195-A88ED30EAEEB}"/>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62C73678-D835-4C49-BBEC-4B06EB683C2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32</a:t>
            </a:r>
            <a:endParaRPr sz="900"/>
          </a:p>
        </p:txBody>
      </p:sp>
      <p:sp>
        <p:nvSpPr>
          <p:cNvPr id="4" name="Shape 2">
            <a:extLst xmlns:a="http://schemas.openxmlformats.org/drawingml/2006/main">
              <a:ext uri="{FF2B5EF4-FFF2-40B4-BE49-F238E27FC236}">
                <a16:creationId xmlns:a16="http://schemas.microsoft.com/office/drawing/2014/main" id="{9C51FBCE-8D61-4292-B746-D8FB37E9DC21}"/>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c3f82e5fd3204e83"/>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6" name="Image 1"/>
          <p:cNvPicPr>
            <a:picLocks xmlns:a="http://schemas.openxmlformats.org/drawingml/2006/main" noChangeAspect="1"/>
          </p:cNvPicPr>
          <p:nvPr/>
        </p:nvPicPr>
        <p:blipFill>
          <a:blip xmlns:r="http://schemas.openxmlformats.org/officeDocument/2006/relationships" xmlns:a="http://schemas.openxmlformats.org/drawingml/2006/main" r:embed="R137d5cacf2aa432f"/>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C7E84BAE-3788-4998-9E59-91BFEDAA14C7}"/>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06211D4D-059D-4B8D-8B10-E44965476223}"/>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Hugging Face Spaces</a:t>
            </a:r>
            <a:endParaRPr sz="2200"/>
          </a:p>
        </p:txBody>
      </p:sp>
      <p:sp>
        <p:nvSpPr>
          <p:cNvPr id="9" name="Text 5">
            <a:extLst xmlns:a="http://schemas.openxmlformats.org/drawingml/2006/main">
              <a:ext uri="{FF2B5EF4-FFF2-40B4-BE49-F238E27FC236}">
                <a16:creationId xmlns:a16="http://schemas.microsoft.com/office/drawing/2014/main" id="{3492FB25-0127-43B2-9357-048D3E155350}"/>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Demo ML lokal + opsi Spaces</a:t>
            </a:r>
            <a:endParaRPr sz="1200"/>
          </a:p>
        </p:txBody>
      </p:sp>
      <p:sp>
        <p:nvSpPr>
          <p:cNvPr id="10" name="Shape 6">
            <a:extLst xmlns:a="http://schemas.openxmlformats.org/drawingml/2006/main">
              <a:ext uri="{FF2B5EF4-FFF2-40B4-BE49-F238E27FC236}">
                <a16:creationId xmlns:a16="http://schemas.microsoft.com/office/drawing/2014/main" id="{E638EE6C-C1E5-473C-8DAA-BBF447A50B7B}"/>
              </a:ext>
            </a:extLst>
          </p:cNvPr>
          <p:cNvSpPr>
            <a:spLocks xmlns:a="http://schemas.openxmlformats.org/drawingml/2006/main" noGrp="1"/>
          </p:cNvSpPr>
          <p:nvPr/>
        </p:nvSpPr>
        <p:spPr>
          <a:xfrm xmlns:a="http://schemas.openxmlformats.org/drawingml/2006/main">
            <a:off x="457200" y="1691640"/>
            <a:ext cx="11247120" cy="914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41" name="Image 2"/>
          <p:cNvPicPr>
            <a:picLocks xmlns:a="http://schemas.openxmlformats.org/drawingml/2006/main" noChangeAspect="1"/>
          </p:cNvPicPr>
          <p:nvPr/>
        </p:nvPicPr>
        <p:blipFill>
          <a:blip xmlns:r="http://schemas.openxmlformats.org/officeDocument/2006/relationships" xmlns:a="http://schemas.openxmlformats.org/drawingml/2006/main" r:embed="Re0fd0a29ffdc42ad"/>
          <a:stretch xmlns:a="http://schemas.openxmlformats.org/drawingml/2006/main">
            <a:fillRect l="0" t="0" r="0" b="0"/>
          </a:stretch>
        </p:blipFill>
        <p:spPr>
          <a:xfrm xmlns:a="http://schemas.openxmlformats.org/drawingml/2006/main">
            <a:off x="640080" y="1874520"/>
            <a:ext cx="548640" cy="54864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432DFB22-041B-4387-94CD-05A34DAD8401}"/>
              </a:ext>
            </a:extLst>
          </p:cNvPr>
          <p:cNvSpPr>
            <a:spLocks xmlns:a="http://schemas.openxmlformats.org/drawingml/2006/main" noGrp="1"/>
          </p:cNvSpPr>
          <p:nvPr/>
        </p:nvSpPr>
        <p:spPr>
          <a:xfrm xmlns:a="http://schemas.openxmlformats.org/drawingml/2006/main">
            <a:off x="1325880" y="1828800"/>
            <a:ext cx="8229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002677"/>
                </a:solidFill>
                <a:latin typeface="Calibri"/>
                <a:ea typeface="Calibri"/>
                <a:cs typeface="Calibri"/>
              </a:rPr>
              <a:t>Hugging Face - The AI Community Platform</a:t>
            </a:r>
            <a:endParaRPr sz="2000"/>
          </a:p>
        </p:txBody>
      </p:sp>
      <p:sp>
        <p:nvSpPr>
          <p:cNvPr id="13" name="Text 8">
            <a:extLst xmlns:a="http://schemas.openxmlformats.org/drawingml/2006/main">
              <a:ext uri="{FF2B5EF4-FFF2-40B4-BE49-F238E27FC236}">
                <a16:creationId xmlns:a16="http://schemas.microsoft.com/office/drawing/2014/main" id="{8F1CEA01-BF25-4CAA-BAF8-D57C4F7A7D21}"/>
              </a:ext>
            </a:extLst>
          </p:cNvPr>
          <p:cNvSpPr>
            <a:spLocks xmlns:a="http://schemas.openxmlformats.org/drawingml/2006/main" noGrp="1"/>
          </p:cNvSpPr>
          <p:nvPr/>
        </p:nvSpPr>
        <p:spPr>
          <a:xfrm xmlns:a="http://schemas.openxmlformats.org/drawingml/2006/main">
            <a:off x="1325880" y="2240280"/>
            <a:ext cx="10058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i="1">
                <a:solidFill>
                  <a:srgbClr val="F37021"/>
                </a:solidFill>
                <a:latin typeface="Calibri"/>
                <a:ea typeface="Calibri"/>
                <a:cs typeface="Calibri"/>
              </a:rPr>
              <a:t>Hub untuk model/dataset; akses compute Space perlu cek paket akun</a:t>
            </a:r>
            <a:endParaRPr sz="1200"/>
          </a:p>
        </p:txBody>
      </p:sp>
      <p:sp>
        <p:nvSpPr>
          <p:cNvPr id="14" name="Shape 9">
            <a:extLst xmlns:a="http://schemas.openxmlformats.org/drawingml/2006/main">
              <a:ext uri="{FF2B5EF4-FFF2-40B4-BE49-F238E27FC236}">
                <a16:creationId xmlns:a16="http://schemas.microsoft.com/office/drawing/2014/main" id="{2752C5AE-8C7E-4920-A4C7-518EF19CFA1C}"/>
              </a:ext>
            </a:extLst>
          </p:cNvPr>
          <p:cNvSpPr>
            <a:spLocks xmlns:a="http://schemas.openxmlformats.org/drawingml/2006/main" noGrp="1"/>
          </p:cNvSpPr>
          <p:nvPr/>
        </p:nvSpPr>
        <p:spPr>
          <a:xfrm xmlns:a="http://schemas.openxmlformats.org/drawingml/2006/main">
            <a:off x="457200" y="2788920"/>
            <a:ext cx="3657600" cy="338328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5" name="Shape 10">
            <a:extLst xmlns:a="http://schemas.openxmlformats.org/drawingml/2006/main">
              <a:ext uri="{FF2B5EF4-FFF2-40B4-BE49-F238E27FC236}">
                <a16:creationId xmlns:a16="http://schemas.microsoft.com/office/drawing/2014/main" id="{F5659AD6-2E4B-44A2-8694-F9091F605219}"/>
              </a:ext>
            </a:extLst>
          </p:cNvPr>
          <p:cNvSpPr>
            <a:spLocks xmlns:a="http://schemas.openxmlformats.org/drawingml/2006/main" noGrp="1"/>
          </p:cNvSpPr>
          <p:nvPr/>
        </p:nvSpPr>
        <p:spPr>
          <a:xfrm xmlns:a="http://schemas.openxmlformats.org/drawingml/2006/main">
            <a:off x="457200" y="2788920"/>
            <a:ext cx="3657600" cy="73152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6" name="Text 11">
            <a:extLst xmlns:a="http://schemas.openxmlformats.org/drawingml/2006/main">
              <a:ext uri="{FF2B5EF4-FFF2-40B4-BE49-F238E27FC236}">
                <a16:creationId xmlns:a16="http://schemas.microsoft.com/office/drawing/2014/main" id="{1EF00A7E-331E-4441-B5BD-C5244D108044}"/>
              </a:ext>
            </a:extLst>
          </p:cNvPr>
          <p:cNvSpPr>
            <a:spLocks xmlns:a="http://schemas.openxmlformats.org/drawingml/2006/main" noGrp="1"/>
          </p:cNvSpPr>
          <p:nvPr/>
        </p:nvSpPr>
        <p:spPr>
          <a:xfrm xmlns:a="http://schemas.openxmlformats.org/drawingml/2006/main">
            <a:off x="457200" y="2834640"/>
            <a:ext cx="3657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Models</a:t>
            </a:r>
            <a:endParaRPr sz="2200"/>
          </a:p>
        </p:txBody>
      </p:sp>
      <p:sp>
        <p:nvSpPr>
          <p:cNvPr id="17" name="Text 12">
            <a:extLst xmlns:a="http://schemas.openxmlformats.org/drawingml/2006/main">
              <a:ext uri="{FF2B5EF4-FFF2-40B4-BE49-F238E27FC236}">
                <a16:creationId xmlns:a16="http://schemas.microsoft.com/office/drawing/2014/main" id="{B7278FA0-719D-47E1-8B7E-1DFFD7FAD3C5}"/>
              </a:ext>
            </a:extLst>
          </p:cNvPr>
          <p:cNvSpPr>
            <a:spLocks xmlns:a="http://schemas.openxmlformats.org/drawingml/2006/main" noGrp="1"/>
          </p:cNvSpPr>
          <p:nvPr/>
        </p:nvSpPr>
        <p:spPr>
          <a:xfrm xmlns:a="http://schemas.openxmlformats.org/drawingml/2006/main">
            <a:off x="640080" y="3227832"/>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FFFFFF"/>
                </a:solidFill>
                <a:latin typeface="Calibri"/>
                <a:ea typeface="Calibri"/>
                <a:cs typeface="Calibri"/>
              </a:rPr>
              <a:t>1M+ pre-trained models siap pakai</a:t>
            </a:r>
            <a:endParaRPr sz="1100"/>
          </a:p>
        </p:txBody>
      </p:sp>
      <p:sp>
        <p:nvSpPr>
          <p:cNvPr id="18" name="Text 13">
            <a:extLst xmlns:a="http://schemas.openxmlformats.org/drawingml/2006/main">
              <a:ext uri="{FF2B5EF4-FFF2-40B4-BE49-F238E27FC236}">
                <a16:creationId xmlns:a16="http://schemas.microsoft.com/office/drawing/2014/main" id="{77B21596-121F-4C26-B942-78EDC6DE5550}"/>
              </a:ext>
            </a:extLst>
          </p:cNvPr>
          <p:cNvSpPr>
            <a:spLocks xmlns:a="http://schemas.openxmlformats.org/drawingml/2006/main" noGrp="1"/>
          </p:cNvSpPr>
          <p:nvPr/>
        </p:nvSpPr>
        <p:spPr>
          <a:xfrm xmlns:a="http://schemas.openxmlformats.org/drawingml/2006/main">
            <a:off x="640080" y="3703320"/>
            <a:ext cx="3383280" cy="23317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400"/>
              </a:spcAft>
              <a:buSzPct val="100000"/>
              <a:buChar char="▸"/>
            </a:pPr>
            <a:r>
              <a:rPr sz="1100">
                <a:solidFill>
                  <a:srgbClr val="1E293B"/>
                </a:solidFill>
                <a:latin typeface="Calibri"/>
                <a:ea typeface="Calibri"/>
                <a:cs typeface="Calibri"/>
              </a:rPr>
              <a:t>Transformers, vision, audio, multimodal</a:t>
            </a:r>
            <a:endParaRPr sz="1100"/>
          </a:p>
          <a:p xmlns:a="http://schemas.openxmlformats.org/drawingml/2006/main">
            <a:pPr marL="342900" indent="-342900">
              <a:spcAft>
                <a:spcPts val="400"/>
              </a:spcAft>
              <a:buSzPct val="100000"/>
              <a:buChar char="▸"/>
            </a:pPr>
            <a:r>
              <a:rPr sz="1100">
                <a:solidFill>
                  <a:srgbClr val="1E293B"/>
                </a:solidFill>
                <a:latin typeface="Calibri"/>
                <a:ea typeface="Calibri"/>
                <a:cs typeface="Calibri"/>
              </a:rPr>
              <a:t>Download / fine-tune dengan transformers lib</a:t>
            </a:r>
            <a:endParaRPr sz="1100"/>
          </a:p>
          <a:p xmlns:a="http://schemas.openxmlformats.org/drawingml/2006/main">
            <a:pPr marL="342900" indent="-342900">
              <a:spcAft>
                <a:spcPts val="400"/>
              </a:spcAft>
              <a:buSzPct val="100000"/>
              <a:buChar char="▸"/>
            </a:pPr>
            <a:r>
              <a:rPr sz="1100">
                <a:solidFill>
                  <a:srgbClr val="1E293B"/>
                </a:solidFill>
                <a:latin typeface="Calibri"/>
                <a:ea typeface="Calibri"/>
                <a:cs typeface="Calibri"/>
              </a:rPr>
              <a:t>Inference API: cek kuota aktif</a:t>
            </a:r>
            <a:endParaRPr sz="1100"/>
          </a:p>
        </p:txBody>
      </p:sp>
      <p:sp>
        <p:nvSpPr>
          <p:cNvPr id="19" name="Shape 14">
            <a:extLst xmlns:a="http://schemas.openxmlformats.org/drawingml/2006/main">
              <a:ext uri="{FF2B5EF4-FFF2-40B4-BE49-F238E27FC236}">
                <a16:creationId xmlns:a16="http://schemas.microsoft.com/office/drawing/2014/main" id="{53BA11D4-DB6A-4DA7-8DEB-4BE9EB2DA879}"/>
              </a:ext>
            </a:extLst>
          </p:cNvPr>
          <p:cNvSpPr>
            <a:spLocks xmlns:a="http://schemas.openxmlformats.org/drawingml/2006/main" noGrp="1"/>
          </p:cNvSpPr>
          <p:nvPr/>
        </p:nvSpPr>
        <p:spPr>
          <a:xfrm xmlns:a="http://schemas.openxmlformats.org/drawingml/2006/main">
            <a:off x="4251960" y="2788920"/>
            <a:ext cx="3657600" cy="338328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0" name="Shape 15">
            <a:extLst xmlns:a="http://schemas.openxmlformats.org/drawingml/2006/main">
              <a:ext uri="{FF2B5EF4-FFF2-40B4-BE49-F238E27FC236}">
                <a16:creationId xmlns:a16="http://schemas.microsoft.com/office/drawing/2014/main" id="{470191A2-2333-4910-9EEC-E1060A21DEAA}"/>
              </a:ext>
            </a:extLst>
          </p:cNvPr>
          <p:cNvSpPr>
            <a:spLocks xmlns:a="http://schemas.openxmlformats.org/drawingml/2006/main" noGrp="1"/>
          </p:cNvSpPr>
          <p:nvPr/>
        </p:nvSpPr>
        <p:spPr>
          <a:xfrm xmlns:a="http://schemas.openxmlformats.org/drawingml/2006/main">
            <a:off x="4251960" y="2788920"/>
            <a:ext cx="3657600" cy="73152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21" name="Text 16">
            <a:extLst xmlns:a="http://schemas.openxmlformats.org/drawingml/2006/main">
              <a:ext uri="{FF2B5EF4-FFF2-40B4-BE49-F238E27FC236}">
                <a16:creationId xmlns:a16="http://schemas.microsoft.com/office/drawing/2014/main" id="{0B981A39-BB6A-4724-AD11-EA20C5085492}"/>
              </a:ext>
            </a:extLst>
          </p:cNvPr>
          <p:cNvSpPr>
            <a:spLocks xmlns:a="http://schemas.openxmlformats.org/drawingml/2006/main" noGrp="1"/>
          </p:cNvSpPr>
          <p:nvPr/>
        </p:nvSpPr>
        <p:spPr>
          <a:xfrm xmlns:a="http://schemas.openxmlformats.org/drawingml/2006/main">
            <a:off x="4251960" y="2834640"/>
            <a:ext cx="3657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Datasets</a:t>
            </a:r>
            <a:endParaRPr sz="2200"/>
          </a:p>
        </p:txBody>
      </p:sp>
      <p:sp>
        <p:nvSpPr>
          <p:cNvPr id="22" name="Text 17">
            <a:extLst xmlns:a="http://schemas.openxmlformats.org/drawingml/2006/main">
              <a:ext uri="{FF2B5EF4-FFF2-40B4-BE49-F238E27FC236}">
                <a16:creationId xmlns:a16="http://schemas.microsoft.com/office/drawing/2014/main" id="{20D8ECA4-46C2-48E2-A0CE-2AFE3B9ABD9D}"/>
              </a:ext>
            </a:extLst>
          </p:cNvPr>
          <p:cNvSpPr>
            <a:spLocks xmlns:a="http://schemas.openxmlformats.org/drawingml/2006/main" noGrp="1"/>
          </p:cNvSpPr>
          <p:nvPr/>
        </p:nvSpPr>
        <p:spPr>
          <a:xfrm xmlns:a="http://schemas.openxmlformats.org/drawingml/2006/main">
            <a:off x="4434840" y="3227832"/>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FFFFFF"/>
                </a:solidFill>
                <a:latin typeface="Calibri"/>
                <a:ea typeface="Calibri"/>
                <a:cs typeface="Calibri"/>
              </a:rPr>
              <a:t>Public dataset hub</a:t>
            </a:r>
            <a:endParaRPr sz="1100"/>
          </a:p>
        </p:txBody>
      </p:sp>
      <p:sp>
        <p:nvSpPr>
          <p:cNvPr id="23" name="Text 18">
            <a:extLst xmlns:a="http://schemas.openxmlformats.org/drawingml/2006/main">
              <a:ext uri="{FF2B5EF4-FFF2-40B4-BE49-F238E27FC236}">
                <a16:creationId xmlns:a16="http://schemas.microsoft.com/office/drawing/2014/main" id="{4241E091-B9DF-4A82-A83C-1653D3DB7F67}"/>
              </a:ext>
            </a:extLst>
          </p:cNvPr>
          <p:cNvSpPr>
            <a:spLocks xmlns:a="http://schemas.openxmlformats.org/drawingml/2006/main" noGrp="1"/>
          </p:cNvSpPr>
          <p:nvPr/>
        </p:nvSpPr>
        <p:spPr>
          <a:xfrm xmlns:a="http://schemas.openxmlformats.org/drawingml/2006/main">
            <a:off x="4434840" y="3703320"/>
            <a:ext cx="3383280" cy="23317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400"/>
              </a:spcAft>
              <a:buSzPct val="100000"/>
              <a:buChar char="▸"/>
            </a:pPr>
            <a:r>
              <a:rPr sz="1100">
                <a:solidFill>
                  <a:srgbClr val="1E293B"/>
                </a:solidFill>
                <a:latin typeface="Calibri"/>
                <a:ea typeface="Calibri"/>
                <a:cs typeface="Calibri"/>
              </a:rPr>
              <a:t>200K+ dataset siap pakai</a:t>
            </a:r>
            <a:endParaRPr sz="1100"/>
          </a:p>
          <a:p xmlns:a="http://schemas.openxmlformats.org/drawingml/2006/main">
            <a:pPr marL="342900" indent="-342900">
              <a:spcAft>
                <a:spcPts val="400"/>
              </a:spcAft>
              <a:buSzPct val="100000"/>
              <a:buChar char="▸"/>
            </a:pPr>
            <a:r>
              <a:rPr sz="1100">
                <a:solidFill>
                  <a:srgbClr val="1E293B"/>
                </a:solidFill>
                <a:latin typeface="Calibri"/>
                <a:ea typeface="Calibri"/>
                <a:cs typeface="Calibri"/>
              </a:rPr>
              <a:t>Stream langsung tanpa download</a:t>
            </a:r>
            <a:endParaRPr sz="1100"/>
          </a:p>
          <a:p xmlns:a="http://schemas.openxmlformats.org/drawingml/2006/main">
            <a:pPr marL="342900" indent="-342900">
              <a:spcAft>
                <a:spcPts val="400"/>
              </a:spcAft>
              <a:buSzPct val="100000"/>
              <a:buChar char="▸"/>
            </a:pPr>
            <a:r>
              <a:rPr sz="1100">
                <a:solidFill>
                  <a:srgbClr val="1E293B"/>
                </a:solidFill>
                <a:latin typeface="Calibri"/>
                <a:ea typeface="Calibri"/>
                <a:cs typeface="Calibri"/>
              </a:rPr>
              <a:t>Versioning ala Git LFS</a:t>
            </a:r>
            <a:endParaRPr sz="1100"/>
          </a:p>
        </p:txBody>
      </p:sp>
      <p:sp>
        <p:nvSpPr>
          <p:cNvPr id="24" name="Shape 19">
            <a:extLst xmlns:a="http://schemas.openxmlformats.org/drawingml/2006/main">
              <a:ext uri="{FF2B5EF4-FFF2-40B4-BE49-F238E27FC236}">
                <a16:creationId xmlns:a16="http://schemas.microsoft.com/office/drawing/2014/main" id="{A4F89D65-1EB9-4D46-A0FD-242AE55DF19D}"/>
              </a:ext>
            </a:extLst>
          </p:cNvPr>
          <p:cNvSpPr>
            <a:spLocks xmlns:a="http://schemas.openxmlformats.org/drawingml/2006/main" noGrp="1"/>
          </p:cNvSpPr>
          <p:nvPr/>
        </p:nvSpPr>
        <p:spPr>
          <a:xfrm xmlns:a="http://schemas.openxmlformats.org/drawingml/2006/main">
            <a:off x="8046720" y="2788920"/>
            <a:ext cx="3657600" cy="338328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5" name="Shape 20">
            <a:extLst xmlns:a="http://schemas.openxmlformats.org/drawingml/2006/main">
              <a:ext uri="{FF2B5EF4-FFF2-40B4-BE49-F238E27FC236}">
                <a16:creationId xmlns:a16="http://schemas.microsoft.com/office/drawing/2014/main" id="{A0144070-DB5C-4FF5-B0EC-08A88AD91534}"/>
              </a:ext>
            </a:extLst>
          </p:cNvPr>
          <p:cNvSpPr>
            <a:spLocks xmlns:a="http://schemas.openxmlformats.org/drawingml/2006/main" noGrp="1"/>
          </p:cNvSpPr>
          <p:nvPr/>
        </p:nvSpPr>
        <p:spPr>
          <a:xfrm xmlns:a="http://schemas.openxmlformats.org/drawingml/2006/main">
            <a:off x="8046720" y="2788920"/>
            <a:ext cx="3657600" cy="73152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6" name="Text 21">
            <a:extLst xmlns:a="http://schemas.openxmlformats.org/drawingml/2006/main">
              <a:ext uri="{FF2B5EF4-FFF2-40B4-BE49-F238E27FC236}">
                <a16:creationId xmlns:a16="http://schemas.microsoft.com/office/drawing/2014/main" id="{376510C4-A8F4-42A0-A82D-6B4CF26512BC}"/>
              </a:ext>
            </a:extLst>
          </p:cNvPr>
          <p:cNvSpPr>
            <a:spLocks xmlns:a="http://schemas.openxmlformats.org/drawingml/2006/main" noGrp="1"/>
          </p:cNvSpPr>
          <p:nvPr/>
        </p:nvSpPr>
        <p:spPr>
          <a:xfrm xmlns:a="http://schemas.openxmlformats.org/drawingml/2006/main">
            <a:off x="8046720" y="2834640"/>
            <a:ext cx="3657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Spaces</a:t>
            </a:r>
            <a:endParaRPr sz="2200"/>
          </a:p>
        </p:txBody>
      </p:sp>
      <p:sp>
        <p:nvSpPr>
          <p:cNvPr id="27" name="Text 22">
            <a:extLst xmlns:a="http://schemas.openxmlformats.org/drawingml/2006/main">
              <a:ext uri="{FF2B5EF4-FFF2-40B4-BE49-F238E27FC236}">
                <a16:creationId xmlns:a16="http://schemas.microsoft.com/office/drawing/2014/main" id="{E7991BDF-F60C-416A-8FCF-4DF90607CAB4}"/>
              </a:ext>
            </a:extLst>
          </p:cNvPr>
          <p:cNvSpPr>
            <a:spLocks xmlns:a="http://schemas.openxmlformats.org/drawingml/2006/main" noGrp="1"/>
          </p:cNvSpPr>
          <p:nvPr/>
        </p:nvSpPr>
        <p:spPr>
          <a:xfrm xmlns:a="http://schemas.openxmlformats.org/drawingml/2006/main">
            <a:off x="8229600" y="3227832"/>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FFFFFF"/>
                </a:solidFill>
                <a:latin typeface="Calibri"/>
                <a:ea typeface="Calibri"/>
                <a:cs typeface="Calibri"/>
              </a:rPr>
              <a:t>Deploy demo aplikasi ML</a:t>
            </a:r>
            <a:endParaRPr sz="1100"/>
          </a:p>
        </p:txBody>
      </p:sp>
      <p:sp>
        <p:nvSpPr>
          <p:cNvPr id="28" name="Text 23">
            <a:extLst xmlns:a="http://schemas.openxmlformats.org/drawingml/2006/main">
              <a:ext uri="{FF2B5EF4-FFF2-40B4-BE49-F238E27FC236}">
                <a16:creationId xmlns:a16="http://schemas.microsoft.com/office/drawing/2014/main" id="{7C4499B0-A45C-4FB3-943B-F2E701D424F3}"/>
              </a:ext>
            </a:extLst>
          </p:cNvPr>
          <p:cNvSpPr>
            <a:spLocks xmlns:a="http://schemas.openxmlformats.org/drawingml/2006/main" noGrp="1"/>
          </p:cNvSpPr>
          <p:nvPr/>
        </p:nvSpPr>
        <p:spPr>
          <a:xfrm xmlns:a="http://schemas.openxmlformats.org/drawingml/2006/main">
            <a:off x="8229600" y="3703320"/>
            <a:ext cx="3383280" cy="23317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400"/>
              </a:spcAft>
              <a:buSzPct val="100000"/>
              <a:buChar char="▸"/>
            </a:pPr>
            <a:r>
              <a:rPr sz="1100">
                <a:solidFill>
                  <a:srgbClr val="1E293B"/>
                </a:solidFill>
                <a:latin typeface="Calibri"/>
                <a:ea typeface="Calibri"/>
                <a:cs typeface="Calibri"/>
              </a:rPr>
              <a:t>Gradio / Streamlit / static HTML</a:t>
            </a:r>
            <a:endParaRPr sz="1100"/>
          </a:p>
          <a:p xmlns:a="http://schemas.openxmlformats.org/drawingml/2006/main">
            <a:pPr marL="342900" indent="-342900">
              <a:spcAft>
                <a:spcPts val="400"/>
              </a:spcAft>
              <a:buSzPct val="100000"/>
              <a:buChar char="▸"/>
            </a:pPr>
            <a:r>
              <a:rPr sz="1100">
                <a:solidFill>
                  <a:srgbClr val="1E293B"/>
                </a:solidFill>
                <a:latin typeface="Calibri"/>
                <a:ea typeface="Calibri"/>
                <a:cs typeface="Calibri"/>
              </a:rPr>
              <a:t>CPU Basic $0/jam; akses akun dibatasi</a:t>
            </a:r>
            <a:endParaRPr sz="1100"/>
          </a:p>
          <a:p xmlns:a="http://schemas.openxmlformats.org/drawingml/2006/main">
            <a:pPr marL="342900" indent="-342900">
              <a:spcAft>
                <a:spcPts val="400"/>
              </a:spcAft>
              <a:buSzPct val="100000"/>
              <a:buChar char="▸"/>
            </a:pPr>
            <a:r>
              <a:rPr sz="1100">
                <a:solidFill>
                  <a:srgbClr val="1E293B"/>
                </a:solidFill>
                <a:latin typeface="Calibri"/>
                <a:ea typeface="Calibri"/>
                <a:cs typeface="Calibri"/>
              </a:rPr>
              <a:t>Static gratis; Gradio/Docker bersyarat</a:t>
            </a:r>
            <a:endParaRPr sz="1100"/>
          </a:p>
        </p:txBody>
      </p:sp>
    </p:spTree>
    <p:extLst>
      <p:ext uri="{BB962C8B-B14F-4D97-AF65-F5344CB8AC3E}">
        <p14:creationId xmlns:p14="http://schemas.microsoft.com/office/powerpoint/2010/main" val="173915687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0104499-6DB7-4EDA-A241-DE26F984D6D2}"/>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0CE89E4D-6A28-45C3-9DE0-0BDF383747DA}"/>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33</a:t>
            </a:r>
            <a:endParaRPr sz="900"/>
          </a:p>
        </p:txBody>
      </p:sp>
      <p:sp>
        <p:nvSpPr>
          <p:cNvPr id="4" name="Shape 2">
            <a:extLst xmlns:a="http://schemas.openxmlformats.org/drawingml/2006/main">
              <a:ext uri="{FF2B5EF4-FFF2-40B4-BE49-F238E27FC236}">
                <a16:creationId xmlns:a16="http://schemas.microsoft.com/office/drawing/2014/main" id="{7366DEDA-8A21-4B20-8B53-71C241D9DC14}"/>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4816b434160d4e21"/>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19" name="Image 1"/>
          <p:cNvPicPr>
            <a:picLocks xmlns:a="http://schemas.openxmlformats.org/drawingml/2006/main" noChangeAspect="1"/>
          </p:cNvPicPr>
          <p:nvPr/>
        </p:nvPicPr>
        <p:blipFill>
          <a:blip xmlns:r="http://schemas.openxmlformats.org/officeDocument/2006/relationships" xmlns:a="http://schemas.openxmlformats.org/drawingml/2006/main" r:embed="R5904e3682ee34254"/>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B948E87-1CF6-415B-B8A4-5C0275E867B5}"/>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5F08FC8A-B19A-46CE-9849-3361893BB0F3}"/>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Ringkasan Free-Tier Stack Kuliah</a:t>
            </a:r>
            <a:endParaRPr sz="2200"/>
          </a:p>
        </p:txBody>
      </p:sp>
      <p:sp>
        <p:nvSpPr>
          <p:cNvPr id="9" name="Text 5">
            <a:extLst xmlns:a="http://schemas.openxmlformats.org/drawingml/2006/main">
              <a:ext uri="{FF2B5EF4-FFF2-40B4-BE49-F238E27FC236}">
                <a16:creationId xmlns:a16="http://schemas.microsoft.com/office/drawing/2014/main" id="{918D2DDA-74C8-4C05-B800-A29C6E40E5F2}"/>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Kombinasi yang Akan Kita Pakai</a:t>
            </a:r>
            <a:endParaRPr sz="1200"/>
          </a:p>
        </p:txBody>
      </p:sp>
      <p:graphicFrame>
        <p:nvGraphicFramePr>
          <p:cNvPr id="23" name="Table 0"/>
          <p:cNvGraphicFramePr/>
          <p:nvPr/>
        </p:nvGraphicFramePr>
        <p:xfrm>
          <a:off xmlns:a="http://schemas.openxmlformats.org/drawingml/2006/main" x="457200" y="1737360"/>
          <a:ext xmlns:a="http://schemas.openxmlformats.org/drawingml/2006/main" cx="11247120" cy="914400"/>
        </p:xfrm>
        <a:graphic xmlns:a="http://schemas.openxmlformats.org/drawingml/2006/main">
          <a:graphicData uri="http://schemas.openxmlformats.org/drawingml/2006/table">
            <a:tbl>
              <a:tblPr/>
              <a:tblGrid>
                <a:gridCol w="1554480"/>
                <a:gridCol w="1371600"/>
                <a:gridCol w="3108960"/>
                <a:gridCol w="2377440"/>
                <a:gridCol w="2834640"/>
              </a:tblGrid>
              <a:tr h="502920">
                <a:tc>
                  <a:txBody>
                    <a:bodyPr/>
                    <a:lstStyle/>
                    <a:p>
                      <a:pPr marL="0" indent="0" algn="ctr">
                        <a:buNone/>
                      </a:pPr>
                      <a:r>
                        <a:rPr sz="1100" b="1">
                          <a:solidFill>
                            <a:srgbClr val="FFFFFF"/>
                          </a:solidFill>
                          <a:latin typeface="Calibri"/>
                          <a:ea typeface="Calibri"/>
                          <a:cs typeface="Calibri"/>
                        </a:rPr>
                        <a:t>Layanan</a:t>
                      </a:r>
                      <a:endParaRPr sz="1100">
                        <a:latin typeface="Calibri"/>
                        <a:ea typeface="Calibri"/>
                        <a:cs typeface="Calibri"/>
                      </a:endParaRPr>
                    </a:p>
                  </a:txBody>
                  <a:tcPr marL="91440" marR="91440" marT="45720" marB="4572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002677"/>
                    </a:solidFill>
                  </a:tcPr>
                </a:tc>
                <a:tc>
                  <a:txBody>
                    <a:bodyPr/>
                    <a:lstStyle/>
                    <a:p>
                      <a:pPr marL="0" indent="0" algn="ctr">
                        <a:buNone/>
                      </a:pPr>
                      <a:r>
                        <a:rPr sz="1100" b="1">
                          <a:solidFill>
                            <a:srgbClr val="FFFFFF"/>
                          </a:solidFill>
                          <a:latin typeface="Calibri"/>
                          <a:ea typeface="Calibri"/>
                          <a:cs typeface="Calibri"/>
                        </a:rPr>
                        <a:t>Kategori</a:t>
                      </a:r>
                      <a:endParaRPr sz="1100">
                        <a:latin typeface="Calibri"/>
                        <a:ea typeface="Calibri"/>
                        <a:cs typeface="Calibri"/>
                      </a:endParaRPr>
                    </a:p>
                  </a:txBody>
                  <a:tcPr marL="91440" marR="91440" marT="45720" marB="4572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002677"/>
                    </a:solidFill>
                  </a:tcPr>
                </a:tc>
                <a:tc>
                  <a:txBody>
                    <a:bodyPr/>
                    <a:lstStyle/>
                    <a:p>
                      <a:pPr marL="0" indent="0" algn="ctr">
                        <a:buNone/>
                      </a:pPr>
                      <a:r>
                        <a:rPr sz="1100" b="1">
                          <a:solidFill>
                            <a:srgbClr val="FFFFFF"/>
                          </a:solidFill>
                          <a:latin typeface="Calibri"/>
                          <a:ea typeface="Calibri"/>
                          <a:cs typeface="Calibri"/>
                        </a:rPr>
                        <a:t>Kuota Utama</a:t>
                      </a:r>
                      <a:endParaRPr sz="1100">
                        <a:latin typeface="Calibri"/>
                        <a:ea typeface="Calibri"/>
                        <a:cs typeface="Calibri"/>
                      </a:endParaRPr>
                    </a:p>
                  </a:txBody>
                  <a:tcPr marL="91440" marR="91440" marT="45720" marB="4572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002677"/>
                    </a:solidFill>
                  </a:tcPr>
                </a:tc>
                <a:tc>
                  <a:txBody>
                    <a:bodyPr/>
                    <a:lstStyle/>
                    <a:p>
                      <a:pPr marL="0" indent="0" algn="ctr">
                        <a:buNone/>
                      </a:pPr>
                      <a:r>
                        <a:rPr sz="1100" b="1">
                          <a:solidFill>
                            <a:srgbClr val="FFFFFF"/>
                          </a:solidFill>
                          <a:latin typeface="Calibri"/>
                          <a:ea typeface="Calibri"/>
                          <a:cs typeface="Calibri"/>
                        </a:rPr>
                        <a:t>Batas Penting</a:t>
                      </a:r>
                      <a:endParaRPr sz="1100">
                        <a:latin typeface="Calibri"/>
                        <a:ea typeface="Calibri"/>
                        <a:cs typeface="Calibri"/>
                      </a:endParaRPr>
                    </a:p>
                  </a:txBody>
                  <a:tcPr marL="91440" marR="91440" marT="45720" marB="4572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002677"/>
                    </a:solidFill>
                  </a:tcPr>
                </a:tc>
                <a:tc>
                  <a:txBody>
                    <a:bodyPr/>
                    <a:lstStyle/>
                    <a:p>
                      <a:pPr marL="0" indent="0" algn="ctr">
                        <a:buNone/>
                      </a:pPr>
                      <a:r>
                        <a:rPr sz="1100" b="1">
                          <a:solidFill>
                            <a:srgbClr val="FFFFFF"/>
                          </a:solidFill>
                          <a:latin typeface="Calibri"/>
                          <a:ea typeface="Calibri"/>
                          <a:cs typeface="Calibri"/>
                        </a:rPr>
                        <a:t>Dipakai di Praktikum</a:t>
                      </a:r>
                      <a:endParaRPr sz="1100">
                        <a:latin typeface="Calibri"/>
                        <a:ea typeface="Calibri"/>
                        <a:cs typeface="Calibri"/>
                      </a:endParaRPr>
                    </a:p>
                  </a:txBody>
                  <a:tcPr marL="91440" marR="91440" marT="45720" marB="4572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002677"/>
                    </a:solidFill>
                  </a:tcPr>
                </a:tc>
              </a:tr>
              <a:tr h="502920">
                <a:tc>
                  <a:txBody>
                    <a:bodyPr/>
                    <a:lstStyle/>
                    <a:p>
                      <a:pPr marL="0" indent="0" algn="ctr">
                        <a:buNone/>
                      </a:pPr>
                      <a:r>
                        <a:rPr sz="1000" b="1">
                          <a:solidFill>
                            <a:srgbClr val="002677"/>
                          </a:solidFill>
                          <a:latin typeface="Calibri"/>
                          <a:ea typeface="Calibri"/>
                          <a:cs typeface="Calibri"/>
                        </a:rPr>
                        <a:t>Oracle Cloud</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IaaS</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A1 maks. 2 OCPU/12GB; cek docs</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Region terbatas, antrian</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Opsional (bukan syarat lab)</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r>
              <a:tr h="502920">
                <a:tc>
                  <a:txBody>
                    <a:bodyPr/>
                    <a:lstStyle/>
                    <a:p>
                      <a:pPr marL="0" indent="0" algn="ctr">
                        <a:buNone/>
                      </a:pPr>
                      <a:r>
                        <a:rPr sz="1000" b="1">
                          <a:solidFill>
                            <a:srgbClr val="002677"/>
                          </a:solidFill>
                          <a:latin typeface="Calibri"/>
                          <a:ea typeface="Calibri"/>
                          <a:cs typeface="Calibri"/>
                        </a:rPr>
                        <a:t>Google Cloud</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IaaS / PaaS</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$300 credit + e2-micro free</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Credit habis 90 hari</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Opsional - ML training</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r>
              <a:tr h="502920">
                <a:tc>
                  <a:txBody>
                    <a:bodyPr/>
                    <a:lstStyle/>
                    <a:p>
                      <a:pPr marL="0" indent="0" algn="ctr">
                        <a:buNone/>
                      </a:pPr>
                      <a:r>
                        <a:rPr sz="1000" b="1">
                          <a:solidFill>
                            <a:srgbClr val="002677"/>
                          </a:solidFill>
                          <a:latin typeface="Calibri"/>
                          <a:ea typeface="Calibri"/>
                          <a:cs typeface="Calibri"/>
                        </a:rPr>
                        <a:t>Vercel</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FaaS / Edge</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100GB bandwidth, 1M invoke</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Durasi tergantung mode; nonkomersial</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Lab 1 &amp; 8</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r>
              <a:tr h="502920">
                <a:tc>
                  <a:txBody>
                    <a:bodyPr/>
                    <a:lstStyle/>
                    <a:p>
                      <a:pPr marL="0" indent="0" algn="ctr">
                        <a:buNone/>
                      </a:pPr>
                      <a:r>
                        <a:rPr sz="1000" b="1">
                          <a:solidFill>
                            <a:srgbClr val="002677"/>
                          </a:solidFill>
                          <a:latin typeface="Calibri"/>
                          <a:ea typeface="Calibri"/>
                          <a:cs typeface="Calibri"/>
                        </a:rPr>
                        <a:t>Supabase</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BaaS</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500MB DB, 1GB storage, 50K MAU</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Pause setelah 7 hari idle</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Lab 7-8 (auth + CRUD)</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r>
              <a:tr h="502920">
                <a:tc>
                  <a:txBody>
                    <a:bodyPr/>
                    <a:lstStyle/>
                    <a:p>
                      <a:pPr marL="0" indent="0" algn="ctr">
                        <a:buNone/>
                      </a:pPr>
                      <a:r>
                        <a:rPr sz="1000" b="1">
                          <a:solidFill>
                            <a:srgbClr val="002677"/>
                          </a:solidFill>
                          <a:latin typeface="Calibri"/>
                          <a:ea typeface="Calibri"/>
                          <a:cs typeface="Calibri"/>
                        </a:rPr>
                        <a:t>Hugging Face</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ML Platform</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Compute Space: cek syarat akun</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Static gratis; ZeroGPU terbatas</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c>
                  <a:txBody>
                    <a:bodyPr/>
                    <a:lstStyle/>
                    <a:p>
                      <a:pPr marL="0" indent="0" algn="l">
                        <a:buNone/>
                      </a:pPr>
                      <a:r>
                        <a:rPr sz="1000">
                          <a:solidFill>
                            <a:srgbClr val="1E293B"/>
                          </a:solidFill>
                          <a:latin typeface="Calibri"/>
                          <a:ea typeface="Calibri"/>
                          <a:cs typeface="Calibri"/>
                        </a:rPr>
                        <a:t>Lab 9 (opsional cloud)</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tcPr>
                </a:tc>
              </a:tr>
              <a:tr h="502920">
                <a:tc>
                  <a:txBody>
                    <a:bodyPr/>
                    <a:lstStyle/>
                    <a:p>
                      <a:pPr marL="0" indent="0" algn="ctr">
                        <a:buNone/>
                      </a:pPr>
                      <a:r>
                        <a:rPr sz="1000" b="1">
                          <a:solidFill>
                            <a:srgbClr val="002677"/>
                          </a:solidFill>
                          <a:latin typeface="Calibri"/>
                          <a:ea typeface="Calibri"/>
                          <a:cs typeface="Calibri"/>
                        </a:rPr>
                        <a:t>GitHub</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DevOps / SCM</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Repo publik; CI/Codespaces sesuai plan</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Kuota Codespaces bergantung jenis mesin</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c>
                  <a:txBody>
                    <a:bodyPr/>
                    <a:lstStyle/>
                    <a:p>
                      <a:pPr marL="0" indent="0" algn="l">
                        <a:buNone/>
                      </a:pPr>
                      <a:r>
                        <a:rPr sz="1000">
                          <a:solidFill>
                            <a:srgbClr val="1E293B"/>
                          </a:solidFill>
                          <a:latin typeface="Calibri"/>
                          <a:ea typeface="Calibri"/>
                          <a:cs typeface="Calibri"/>
                        </a:rPr>
                        <a:t>Semua lab (versioning + CI)</a:t>
                      </a:r>
                      <a:endParaRPr sz="1000">
                        <a:latin typeface="Calibri"/>
                        <a:ea typeface="Calibri"/>
                        <a:cs typeface="Calibri"/>
                      </a:endParaRPr>
                    </a:p>
                  </a:txBody>
                  <a:tcPr marL="50800" marR="50800" marT="50800" marB="50800" anchor="ctr">
                    <a:lnL w="12700" cmpd="sng">
                      <a:solidFill>
                        <a:srgbClr val="E2E8F0"/>
                      </a:solidFill>
                      <a:prstDash val="solid"/>
                    </a:lnL>
                    <a:lnR w="12700" cmpd="sng">
                      <a:solidFill>
                        <a:srgbClr val="E2E8F0"/>
                      </a:solidFill>
                      <a:prstDash val="solid"/>
                    </a:lnR>
                    <a:lnT w="12700" cmpd="sng">
                      <a:solidFill>
                        <a:srgbClr val="E2E8F0"/>
                      </a:solidFill>
                      <a:prstDash val="solid"/>
                    </a:lnT>
                    <a:lnB w="12700" cmpd="sng">
                      <a:solidFill>
                        <a:srgbClr val="E2E8F0"/>
                      </a:solidFill>
                      <a:prstDash val="solid"/>
                    </a:lnB>
                    <a:solidFill>
                      <a:srgbClr val="F8FAFC"/>
                    </a:solidFill>
                  </a:tcPr>
                </a:tc>
              </a:tr>
            </a:tbl>
          </a:graphicData>
        </a:graphic>
      </p:graphicFrame>
      <p:sp>
        <p:nvSpPr>
          <p:cNvPr id="11" name="Text 6">
            <a:extLst xmlns:a="http://schemas.openxmlformats.org/drawingml/2006/main">
              <a:ext uri="{FF2B5EF4-FFF2-40B4-BE49-F238E27FC236}">
                <a16:creationId xmlns:a16="http://schemas.microsoft.com/office/drawing/2014/main" id="{1548A143-3455-41A3-92AF-0E37E355195D}"/>
              </a:ext>
            </a:extLst>
          </p:cNvPr>
          <p:cNvSpPr>
            <a:spLocks xmlns:a="http://schemas.openxmlformats.org/drawingml/2006/main" noGrp="1"/>
          </p:cNvSpPr>
          <p:nvPr/>
        </p:nvSpPr>
        <p:spPr>
          <a:xfrm xmlns:a="http://schemas.openxmlformats.org/drawingml/2006/main">
            <a:off x="457200" y="5852160"/>
            <a:ext cx="11247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i="1">
                <a:solidFill>
                  <a:srgbClr val="F37021"/>
                </a:solidFill>
                <a:latin typeface="Calibri"/>
                <a:ea typeface="Calibri"/>
                <a:cs typeface="Calibri"/>
              </a:rPr>
              <a:t>On-demand: sesuai pakai. Reserved: komitmen waktu. Spot: kapasitas sisa, dapat diinterupsi.</a:t>
            </a:r>
            <a:endParaRPr sz="1300"/>
          </a:p>
        </p:txBody>
      </p:sp>
    </p:spTree>
    <p:extLst>
      <p:ext uri="{BB962C8B-B14F-4D97-AF65-F5344CB8AC3E}">
        <p14:creationId xmlns:p14="http://schemas.microsoft.com/office/powerpoint/2010/main" val="66992319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979C019-D8CE-4695-A2AB-AF92CFDAA244}"/>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1</a:t>
            </a:r>
            <a:endParaRPr sz="900"/>
          </a:p>
        </p:txBody>
      </p:sp>
      <p:sp>
        <p:nvSpPr>
          <p:cNvPr id="3" name="Text 1">
            <a:extLst xmlns:a="http://schemas.openxmlformats.org/drawingml/2006/main">
              <a:ext uri="{FF2B5EF4-FFF2-40B4-BE49-F238E27FC236}">
                <a16:creationId xmlns:a16="http://schemas.microsoft.com/office/drawing/2014/main" id="{8FC3EE29-D5C9-47FD-9B8B-826BCB2C7AF9}"/>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34</a:t>
            </a:r>
            <a:endParaRPr sz="900"/>
          </a:p>
        </p:txBody>
      </p:sp>
      <p:sp>
        <p:nvSpPr>
          <p:cNvPr id="4" name="Shape 2">
            <a:extLst xmlns:a="http://schemas.openxmlformats.org/drawingml/2006/main">
              <a:ext uri="{FF2B5EF4-FFF2-40B4-BE49-F238E27FC236}">
                <a16:creationId xmlns:a16="http://schemas.microsoft.com/office/drawing/2014/main" id="{7F452051-3981-4BD0-B266-2E962321EDC6}"/>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5" name="Image 0"/>
          <p:cNvPicPr>
            <a:picLocks xmlns:a="http://schemas.openxmlformats.org/drawingml/2006/main" noChangeAspect="1"/>
          </p:cNvPicPr>
          <p:nvPr/>
        </p:nvPicPr>
        <p:blipFill>
          <a:blip xmlns:r="http://schemas.openxmlformats.org/officeDocument/2006/relationships" xmlns:a="http://schemas.openxmlformats.org/drawingml/2006/main" r:embed="R30df22cf53054151"/>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6" name="Image 1"/>
          <p:cNvPicPr>
            <a:picLocks xmlns:a="http://schemas.openxmlformats.org/drawingml/2006/main" noChangeAspect="1"/>
          </p:cNvPicPr>
          <p:nvPr/>
        </p:nvPicPr>
        <p:blipFill>
          <a:blip xmlns:r="http://schemas.openxmlformats.org/officeDocument/2006/relationships" xmlns:a="http://schemas.openxmlformats.org/drawingml/2006/main" r:embed="R64e22d2217d14555"/>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4C90CF6B-EEFC-4344-984B-CA0C506F242C}"/>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08C4D6C5-6D03-4B79-BC86-A1D62493BA5E}"/>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Wrap-Up &amp; Persiapan Pertemuan 2</a:t>
            </a:r>
            <a:endParaRPr sz="2200"/>
          </a:p>
        </p:txBody>
      </p:sp>
      <p:sp>
        <p:nvSpPr>
          <p:cNvPr id="9" name="Text 5">
            <a:extLst xmlns:a="http://schemas.openxmlformats.org/drawingml/2006/main">
              <a:ext uri="{FF2B5EF4-FFF2-40B4-BE49-F238E27FC236}">
                <a16:creationId xmlns:a16="http://schemas.microsoft.com/office/drawing/2014/main" id="{3E7ADE4A-8237-4D80-B74E-D6652F913945}"/>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Linux Fundamentals</a:t>
            </a:r>
            <a:endParaRPr sz="1200"/>
          </a:p>
        </p:txBody>
      </p:sp>
      <p:sp>
        <p:nvSpPr>
          <p:cNvPr id="10" name="Text 6">
            <a:extLst xmlns:a="http://schemas.openxmlformats.org/drawingml/2006/main">
              <a:ext uri="{FF2B5EF4-FFF2-40B4-BE49-F238E27FC236}">
                <a16:creationId xmlns:a16="http://schemas.microsoft.com/office/drawing/2014/main" id="{FD3AE708-E3E2-4FBC-A2FF-4F7677944A90}"/>
              </a:ext>
            </a:extLst>
          </p:cNvPr>
          <p:cNvSpPr>
            <a:spLocks xmlns:a="http://schemas.openxmlformats.org/drawingml/2006/main" noGrp="1"/>
          </p:cNvSpPr>
          <p:nvPr/>
        </p:nvSpPr>
        <p:spPr>
          <a:xfrm xmlns:a="http://schemas.openxmlformats.org/drawingml/2006/main">
            <a:off x="457200" y="1691640"/>
            <a:ext cx="5486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Key Takeaways Hari Ini</a:t>
            </a:r>
            <a:endParaRPr sz="1600"/>
          </a:p>
        </p:txBody>
      </p:sp>
      <p:sp>
        <p:nvSpPr>
          <p:cNvPr id="11" name="Shape 7">
            <a:extLst xmlns:a="http://schemas.openxmlformats.org/drawingml/2006/main">
              <a:ext uri="{FF2B5EF4-FFF2-40B4-BE49-F238E27FC236}">
                <a16:creationId xmlns:a16="http://schemas.microsoft.com/office/drawing/2014/main" id="{21BAFD33-2910-412E-83CD-F4C53DFCCD8E}"/>
              </a:ext>
            </a:extLst>
          </p:cNvPr>
          <p:cNvSpPr>
            <a:spLocks xmlns:a="http://schemas.openxmlformats.org/drawingml/2006/main" noGrp="1"/>
          </p:cNvSpPr>
          <p:nvPr/>
        </p:nvSpPr>
        <p:spPr>
          <a:xfrm xmlns:a="http://schemas.openxmlformats.org/drawingml/2006/main">
            <a:off x="457200" y="2194560"/>
            <a:ext cx="365760" cy="36576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12" name="Text 8">
            <a:extLst xmlns:a="http://schemas.openxmlformats.org/drawingml/2006/main">
              <a:ext uri="{FF2B5EF4-FFF2-40B4-BE49-F238E27FC236}">
                <a16:creationId xmlns:a16="http://schemas.microsoft.com/office/drawing/2014/main" id="{F5BBF835-E7F5-4CA7-AF68-B07E14257216}"/>
              </a:ext>
            </a:extLst>
          </p:cNvPr>
          <p:cNvSpPr>
            <a:spLocks xmlns:a="http://schemas.openxmlformats.org/drawingml/2006/main" noGrp="1"/>
          </p:cNvSpPr>
          <p:nvPr/>
        </p:nvSpPr>
        <p:spPr>
          <a:xfrm xmlns:a="http://schemas.openxmlformats.org/drawingml/2006/main">
            <a:off x="457200" y="219456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endParaRPr sz="1400"/>
          </a:p>
        </p:txBody>
      </p:sp>
      <p:sp>
        <p:nvSpPr>
          <p:cNvPr id="13" name="Text 9">
            <a:extLst xmlns:a="http://schemas.openxmlformats.org/drawingml/2006/main">
              <a:ext uri="{FF2B5EF4-FFF2-40B4-BE49-F238E27FC236}">
                <a16:creationId xmlns:a16="http://schemas.microsoft.com/office/drawing/2014/main" id="{0D5E5E51-8F0A-4646-9115-B51FCDA82D36}"/>
              </a:ext>
            </a:extLst>
          </p:cNvPr>
          <p:cNvSpPr>
            <a:spLocks xmlns:a="http://schemas.openxmlformats.org/drawingml/2006/main" noGrp="1"/>
          </p:cNvSpPr>
          <p:nvPr/>
        </p:nvSpPr>
        <p:spPr>
          <a:xfrm xmlns:a="http://schemas.openxmlformats.org/drawingml/2006/main">
            <a:off x="960120" y="2148840"/>
            <a:ext cx="50292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Cloud = on-demand utility computing dengan 5 karakteristik NIST</a:t>
            </a:r>
            <a:endParaRPr sz="1200"/>
          </a:p>
        </p:txBody>
      </p:sp>
      <p:sp>
        <p:nvSpPr>
          <p:cNvPr id="14" name="Shape 10">
            <a:extLst xmlns:a="http://schemas.openxmlformats.org/drawingml/2006/main">
              <a:ext uri="{FF2B5EF4-FFF2-40B4-BE49-F238E27FC236}">
                <a16:creationId xmlns:a16="http://schemas.microsoft.com/office/drawing/2014/main" id="{C6A80C95-6C93-4D33-8E64-1A5B879D9600}"/>
              </a:ext>
            </a:extLst>
          </p:cNvPr>
          <p:cNvSpPr>
            <a:spLocks xmlns:a="http://schemas.openxmlformats.org/drawingml/2006/main" noGrp="1"/>
          </p:cNvSpPr>
          <p:nvPr/>
        </p:nvSpPr>
        <p:spPr>
          <a:xfrm xmlns:a="http://schemas.openxmlformats.org/drawingml/2006/main">
            <a:off x="457200" y="2880360"/>
            <a:ext cx="365760" cy="36576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15" name="Text 11">
            <a:extLst xmlns:a="http://schemas.openxmlformats.org/drawingml/2006/main">
              <a:ext uri="{FF2B5EF4-FFF2-40B4-BE49-F238E27FC236}">
                <a16:creationId xmlns:a16="http://schemas.microsoft.com/office/drawing/2014/main" id="{575E07D7-B0F1-4EBD-9EFF-542285C85A3E}"/>
              </a:ext>
            </a:extLst>
          </p:cNvPr>
          <p:cNvSpPr>
            <a:spLocks xmlns:a="http://schemas.openxmlformats.org/drawingml/2006/main" noGrp="1"/>
          </p:cNvSpPr>
          <p:nvPr/>
        </p:nvSpPr>
        <p:spPr>
          <a:xfrm xmlns:a="http://schemas.openxmlformats.org/drawingml/2006/main">
            <a:off x="457200" y="288036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16" name="Text 12">
            <a:extLst xmlns:a="http://schemas.openxmlformats.org/drawingml/2006/main">
              <a:ext uri="{FF2B5EF4-FFF2-40B4-BE49-F238E27FC236}">
                <a16:creationId xmlns:a16="http://schemas.microsoft.com/office/drawing/2014/main" id="{C8A43C3F-1F44-423A-BC6A-F84FE414183D}"/>
              </a:ext>
            </a:extLst>
          </p:cNvPr>
          <p:cNvSpPr>
            <a:spLocks xmlns:a="http://schemas.openxmlformats.org/drawingml/2006/main" noGrp="1"/>
          </p:cNvSpPr>
          <p:nvPr/>
        </p:nvSpPr>
        <p:spPr>
          <a:xfrm xmlns:a="http://schemas.openxmlformats.org/drawingml/2006/main">
            <a:off x="960120" y="2834640"/>
            <a:ext cx="50292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Service models: IaaS (VM) -&gt; PaaS (runtime) -&gt; SaaS (app) -&gt; BaaS / FaaS (modern)</a:t>
            </a:r>
            <a:endParaRPr sz="1200"/>
          </a:p>
        </p:txBody>
      </p:sp>
      <p:sp>
        <p:nvSpPr>
          <p:cNvPr id="17" name="Shape 13">
            <a:extLst xmlns:a="http://schemas.openxmlformats.org/drawingml/2006/main">
              <a:ext uri="{FF2B5EF4-FFF2-40B4-BE49-F238E27FC236}">
                <a16:creationId xmlns:a16="http://schemas.microsoft.com/office/drawing/2014/main" id="{6285586F-0AF4-4C01-AA75-8BD3741A75C1}"/>
              </a:ext>
            </a:extLst>
          </p:cNvPr>
          <p:cNvSpPr>
            <a:spLocks xmlns:a="http://schemas.openxmlformats.org/drawingml/2006/main" noGrp="1"/>
          </p:cNvSpPr>
          <p:nvPr/>
        </p:nvSpPr>
        <p:spPr>
          <a:xfrm xmlns:a="http://schemas.openxmlformats.org/drawingml/2006/main">
            <a:off x="457200" y="3566160"/>
            <a:ext cx="365760" cy="36576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18" name="Text 14">
            <a:extLst xmlns:a="http://schemas.openxmlformats.org/drawingml/2006/main">
              <a:ext uri="{FF2B5EF4-FFF2-40B4-BE49-F238E27FC236}">
                <a16:creationId xmlns:a16="http://schemas.microsoft.com/office/drawing/2014/main" id="{B8045E74-6364-406D-BC16-D328C2D944F8}"/>
              </a:ext>
            </a:extLst>
          </p:cNvPr>
          <p:cNvSpPr>
            <a:spLocks xmlns:a="http://schemas.openxmlformats.org/drawingml/2006/main" noGrp="1"/>
          </p:cNvSpPr>
          <p:nvPr/>
        </p:nvSpPr>
        <p:spPr>
          <a:xfrm xmlns:a="http://schemas.openxmlformats.org/drawingml/2006/main">
            <a:off x="457200" y="356616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3</a:t>
            </a:r>
            <a:endParaRPr sz="1400"/>
          </a:p>
        </p:txBody>
      </p:sp>
      <p:sp>
        <p:nvSpPr>
          <p:cNvPr id="19" name="Text 15">
            <a:extLst xmlns:a="http://schemas.openxmlformats.org/drawingml/2006/main">
              <a:ext uri="{FF2B5EF4-FFF2-40B4-BE49-F238E27FC236}">
                <a16:creationId xmlns:a16="http://schemas.microsoft.com/office/drawing/2014/main" id="{65BBF580-0653-4BE3-88CC-25169BF2112F}"/>
              </a:ext>
            </a:extLst>
          </p:cNvPr>
          <p:cNvSpPr>
            <a:spLocks xmlns:a="http://schemas.openxmlformats.org/drawingml/2006/main" noGrp="1"/>
          </p:cNvSpPr>
          <p:nvPr/>
        </p:nvSpPr>
        <p:spPr>
          <a:xfrm xmlns:a="http://schemas.openxmlformats.org/drawingml/2006/main">
            <a:off x="960120" y="3520440"/>
            <a:ext cx="50292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Deployment models: public, private, hybrid, multi-cloud</a:t>
            </a:r>
            <a:endParaRPr sz="1200"/>
          </a:p>
        </p:txBody>
      </p:sp>
      <p:sp>
        <p:nvSpPr>
          <p:cNvPr id="20" name="Shape 16">
            <a:extLst xmlns:a="http://schemas.openxmlformats.org/drawingml/2006/main">
              <a:ext uri="{FF2B5EF4-FFF2-40B4-BE49-F238E27FC236}">
                <a16:creationId xmlns:a16="http://schemas.microsoft.com/office/drawing/2014/main" id="{6BEC5376-C446-4413-A26F-C640C0E5A240}"/>
              </a:ext>
            </a:extLst>
          </p:cNvPr>
          <p:cNvSpPr>
            <a:spLocks xmlns:a="http://schemas.openxmlformats.org/drawingml/2006/main" noGrp="1"/>
          </p:cNvSpPr>
          <p:nvPr/>
        </p:nvSpPr>
        <p:spPr>
          <a:xfrm xmlns:a="http://schemas.openxmlformats.org/drawingml/2006/main">
            <a:off x="457200" y="4251960"/>
            <a:ext cx="365760" cy="36576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21" name="Text 17">
            <a:extLst xmlns:a="http://schemas.openxmlformats.org/drawingml/2006/main">
              <a:ext uri="{FF2B5EF4-FFF2-40B4-BE49-F238E27FC236}">
                <a16:creationId xmlns:a16="http://schemas.microsoft.com/office/drawing/2014/main" id="{F0C11E6C-1115-4217-854F-308A7FA774E3}"/>
              </a:ext>
            </a:extLst>
          </p:cNvPr>
          <p:cNvSpPr>
            <a:spLocks xmlns:a="http://schemas.openxmlformats.org/drawingml/2006/main" noGrp="1"/>
          </p:cNvSpPr>
          <p:nvPr/>
        </p:nvSpPr>
        <p:spPr>
          <a:xfrm xmlns:a="http://schemas.openxmlformats.org/drawingml/2006/main">
            <a:off x="457200" y="425196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4</a:t>
            </a:r>
            <a:endParaRPr sz="1400"/>
          </a:p>
        </p:txBody>
      </p:sp>
      <p:sp>
        <p:nvSpPr>
          <p:cNvPr id="22" name="Text 18">
            <a:extLst xmlns:a="http://schemas.openxmlformats.org/drawingml/2006/main">
              <a:ext uri="{FF2B5EF4-FFF2-40B4-BE49-F238E27FC236}">
                <a16:creationId xmlns:a16="http://schemas.microsoft.com/office/drawing/2014/main" id="{552C96E1-AD88-407A-BBBB-8F7F83B01B1C}"/>
              </a:ext>
            </a:extLst>
          </p:cNvPr>
          <p:cNvSpPr>
            <a:spLocks xmlns:a="http://schemas.openxmlformats.org/drawingml/2006/main" noGrp="1"/>
          </p:cNvSpPr>
          <p:nvPr/>
        </p:nvSpPr>
        <p:spPr>
          <a:xfrm xmlns:a="http://schemas.openxmlformats.org/drawingml/2006/main">
            <a:off x="960120" y="4206240"/>
            <a:ext cx="50292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Big Three (AWS, Azure, GCP) menguasai 63% pasar - tapi free-tier dari banyak provider cukup untuk kuliah</a:t>
            </a:r>
            <a:endParaRPr sz="1200"/>
          </a:p>
        </p:txBody>
      </p:sp>
      <p:sp>
        <p:nvSpPr>
          <p:cNvPr id="23" name="Shape 19">
            <a:extLst xmlns:a="http://schemas.openxmlformats.org/drawingml/2006/main">
              <a:ext uri="{FF2B5EF4-FFF2-40B4-BE49-F238E27FC236}">
                <a16:creationId xmlns:a16="http://schemas.microsoft.com/office/drawing/2014/main" id="{980E6A76-EAF2-4651-A65D-4578AF01A5B7}"/>
              </a:ext>
            </a:extLst>
          </p:cNvPr>
          <p:cNvSpPr>
            <a:spLocks xmlns:a="http://schemas.openxmlformats.org/drawingml/2006/main" noGrp="1"/>
          </p:cNvSpPr>
          <p:nvPr/>
        </p:nvSpPr>
        <p:spPr>
          <a:xfrm xmlns:a="http://schemas.openxmlformats.org/drawingml/2006/main">
            <a:off x="6217920" y="1691640"/>
            <a:ext cx="5486400" cy="233172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6baf67c69ab24870"/>
          <a:stretch xmlns:a="http://schemas.openxmlformats.org/drawingml/2006/main">
            <a:fillRect l="0" t="0" r="0" b="0"/>
          </a:stretch>
        </p:blipFill>
        <p:spPr>
          <a:xfrm xmlns:a="http://schemas.openxmlformats.org/drawingml/2006/main">
            <a:off x="6400800" y="1828800"/>
            <a:ext cx="457200" cy="457200"/>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F58E0EDF-8DB1-4595-8EC0-B260C7F0878F}"/>
              </a:ext>
            </a:extLst>
          </p:cNvPr>
          <p:cNvSpPr>
            <a:spLocks xmlns:a="http://schemas.openxmlformats.org/drawingml/2006/main" noGrp="1"/>
          </p:cNvSpPr>
          <p:nvPr/>
        </p:nvSpPr>
        <p:spPr>
          <a:xfrm xmlns:a="http://schemas.openxmlformats.org/drawingml/2006/main">
            <a:off x="6949440" y="1828800"/>
            <a:ext cx="4572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300">
                <a:solidFill>
                  <a:srgbClr val="F37021"/>
                </a:solidFill>
                <a:latin typeface="Calibri"/>
                <a:ea typeface="Calibri"/>
                <a:cs typeface="Calibri"/>
              </a:rPr>
              <a:t>PERSIAPAN BELAJAR</a:t>
            </a:r>
            <a:endParaRPr sz="1300"/>
          </a:p>
        </p:txBody>
      </p:sp>
      <p:sp>
        <p:nvSpPr>
          <p:cNvPr id="26" name="Text 21">
            <a:extLst xmlns:a="http://schemas.openxmlformats.org/drawingml/2006/main">
              <a:ext uri="{FF2B5EF4-FFF2-40B4-BE49-F238E27FC236}">
                <a16:creationId xmlns:a16="http://schemas.microsoft.com/office/drawing/2014/main" id="{AE990E56-9082-4153-A48E-D7333DDB411B}"/>
              </a:ext>
            </a:extLst>
          </p:cNvPr>
          <p:cNvSpPr>
            <a:spLocks xmlns:a="http://schemas.openxmlformats.org/drawingml/2006/main" noGrp="1"/>
          </p:cNvSpPr>
          <p:nvPr/>
        </p:nvSpPr>
        <p:spPr>
          <a:xfrm xmlns:a="http://schemas.openxmlformats.org/drawingml/2006/main">
            <a:off x="6400800" y="2286000"/>
            <a:ext cx="521208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Sebelum Pertemuan 2:</a:t>
            </a:r>
            <a:endParaRPr sz="1300"/>
          </a:p>
        </p:txBody>
      </p:sp>
      <p:sp>
        <p:nvSpPr>
          <p:cNvPr id="27" name="Text 22">
            <a:extLst xmlns:a="http://schemas.openxmlformats.org/drawingml/2006/main">
              <a:ext uri="{FF2B5EF4-FFF2-40B4-BE49-F238E27FC236}">
                <a16:creationId xmlns:a16="http://schemas.microsoft.com/office/drawing/2014/main" id="{0E7C8969-D5A4-4957-8C6A-6B256FE5F564}"/>
              </a:ext>
            </a:extLst>
          </p:cNvPr>
          <p:cNvSpPr>
            <a:spLocks xmlns:a="http://schemas.openxmlformats.org/drawingml/2006/main" noGrp="1"/>
          </p:cNvSpPr>
          <p:nvPr/>
        </p:nvSpPr>
        <p:spPr>
          <a:xfrm xmlns:a="http://schemas.openxmlformats.org/drawingml/2006/main">
            <a:off x="6537960" y="2651760"/>
            <a:ext cx="5120640"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400"/>
              </a:spcAft>
              <a:buSzPct val="100000"/>
              <a:buChar char="▸"/>
            </a:pPr>
            <a:r>
              <a:rPr sz="1100">
                <a:solidFill>
                  <a:srgbClr val="FFFFFF"/>
                </a:solidFill>
                <a:latin typeface="Calibri"/>
                <a:ea typeface="Calibri"/>
                <a:cs typeface="Calibri"/>
              </a:rPr>
              <a:t>Daftar akun: GitHub, Vercel, Supabase, Hugging Face</a:t>
            </a:r>
            <a:endParaRPr sz="1100"/>
          </a:p>
          <a:p xmlns:a="http://schemas.openxmlformats.org/drawingml/2006/main">
            <a:pPr marL="342900" indent="-342900">
              <a:spcAft>
                <a:spcPts val="400"/>
              </a:spcAft>
              <a:buSzPct val="100000"/>
              <a:buChar char="▸"/>
            </a:pPr>
            <a:r>
              <a:rPr sz="1100">
                <a:solidFill>
                  <a:srgbClr val="FFFFFF"/>
                </a:solidFill>
                <a:latin typeface="Calibri"/>
                <a:ea typeface="Calibri"/>
                <a:cs typeface="Calibri"/>
              </a:rPr>
              <a:t>Install WSL2 (Windows) atau pastikan Linux/macOS siap</a:t>
            </a:r>
            <a:endParaRPr sz="1100"/>
          </a:p>
          <a:p xmlns:a="http://schemas.openxmlformats.org/drawingml/2006/main">
            <a:pPr marL="342900" indent="-342900">
              <a:spcAft>
                <a:spcPts val="400"/>
              </a:spcAft>
              <a:buSzPct val="100000"/>
              <a:buChar char="▸"/>
            </a:pPr>
            <a:r>
              <a:rPr sz="1100">
                <a:solidFill>
                  <a:srgbClr val="FFFFFF"/>
                </a:solidFill>
                <a:latin typeface="Calibri"/>
                <a:ea typeface="Calibri"/>
                <a:cs typeface="Calibri"/>
              </a:rPr>
              <a:t>Bawa laptop dengan Docker Desktop terinstall (opsional)</a:t>
            </a:r>
            <a:endParaRPr sz="1100"/>
          </a:p>
          <a:p xmlns:a="http://schemas.openxmlformats.org/drawingml/2006/main">
            <a:pPr marL="342900" indent="-342900">
              <a:spcAft>
                <a:spcPts val="400"/>
              </a:spcAft>
              <a:buSzPct val="100000"/>
              <a:buChar char="▸"/>
            </a:pPr>
            <a:r>
              <a:rPr sz="1100">
                <a:solidFill>
                  <a:srgbClr val="FFFFFF"/>
                </a:solidFill>
                <a:latin typeface="Calibri"/>
                <a:ea typeface="Calibri"/>
                <a:cs typeface="Calibri"/>
              </a:rPr>
              <a:t>Baca: 'What is Linux?' di redhat.com/topics/linux</a:t>
            </a:r>
            <a:endParaRPr sz="1100"/>
          </a:p>
        </p:txBody>
      </p:sp>
      <p:sp>
        <p:nvSpPr>
          <p:cNvPr id="28" name="Shape 23">
            <a:extLst xmlns:a="http://schemas.openxmlformats.org/drawingml/2006/main">
              <a:ext uri="{FF2B5EF4-FFF2-40B4-BE49-F238E27FC236}">
                <a16:creationId xmlns:a16="http://schemas.microsoft.com/office/drawing/2014/main" id="{05816A1F-5390-4F0F-B566-A798C29F2235}"/>
              </a:ext>
            </a:extLst>
          </p:cNvPr>
          <p:cNvSpPr>
            <a:spLocks xmlns:a="http://schemas.openxmlformats.org/drawingml/2006/main" noGrp="1"/>
          </p:cNvSpPr>
          <p:nvPr/>
        </p:nvSpPr>
        <p:spPr>
          <a:xfrm xmlns:a="http://schemas.openxmlformats.org/drawingml/2006/main">
            <a:off x="6217920" y="4160520"/>
            <a:ext cx="5486400" cy="2011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69" name="Image 3"/>
          <p:cNvPicPr>
            <a:picLocks xmlns:a="http://schemas.openxmlformats.org/drawingml/2006/main" noChangeAspect="1"/>
          </p:cNvPicPr>
          <p:nvPr/>
        </p:nvPicPr>
        <p:blipFill>
          <a:blip xmlns:r="http://schemas.openxmlformats.org/officeDocument/2006/relationships" xmlns:a="http://schemas.openxmlformats.org/drawingml/2006/main" r:embed="Rf5da8353e4274801"/>
          <a:stretch xmlns:a="http://schemas.openxmlformats.org/drawingml/2006/main">
            <a:fillRect l="0" t="0" r="0" b="0"/>
          </a:stretch>
        </p:blipFill>
        <p:spPr>
          <a:xfrm xmlns:a="http://schemas.openxmlformats.org/drawingml/2006/main">
            <a:off x="6400800" y="4297680"/>
            <a:ext cx="457200" cy="457200"/>
          </a:xfrm>
          <a:prstGeom xmlns:a="http://schemas.openxmlformats.org/drawingml/2006/main" prst="rect">
            <a:avLst/>
          </a:prstGeom>
        </p:spPr>
      </p:pic>
      <p:sp>
        <p:nvSpPr>
          <p:cNvPr id="30" name="Text 24">
            <a:extLst xmlns:a="http://schemas.openxmlformats.org/drawingml/2006/main">
              <a:ext uri="{FF2B5EF4-FFF2-40B4-BE49-F238E27FC236}">
                <a16:creationId xmlns:a16="http://schemas.microsoft.com/office/drawing/2014/main" id="{5B773BBA-50E8-48B4-8C6A-5122A8ED46FB}"/>
              </a:ext>
            </a:extLst>
          </p:cNvPr>
          <p:cNvSpPr>
            <a:spLocks xmlns:a="http://schemas.openxmlformats.org/drawingml/2006/main" noGrp="1"/>
          </p:cNvSpPr>
          <p:nvPr/>
        </p:nvSpPr>
        <p:spPr>
          <a:xfrm xmlns:a="http://schemas.openxmlformats.org/drawingml/2006/main">
            <a:off x="6949440" y="4297680"/>
            <a:ext cx="4572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300">
                <a:solidFill>
                  <a:srgbClr val="F37021"/>
                </a:solidFill>
                <a:latin typeface="Calibri"/>
                <a:ea typeface="Calibri"/>
                <a:cs typeface="Calibri"/>
              </a:rPr>
              <a:t>PERTEMUAN 2</a:t>
            </a:r>
            <a:endParaRPr sz="1300"/>
          </a:p>
        </p:txBody>
      </p:sp>
      <p:sp>
        <p:nvSpPr>
          <p:cNvPr id="31" name="Text 25">
            <a:extLst xmlns:a="http://schemas.openxmlformats.org/drawingml/2006/main">
              <a:ext uri="{FF2B5EF4-FFF2-40B4-BE49-F238E27FC236}">
                <a16:creationId xmlns:a16="http://schemas.microsoft.com/office/drawing/2014/main" id="{2F71F9FA-C51E-49A9-9941-5D0AF2FAACC4}"/>
              </a:ext>
            </a:extLst>
          </p:cNvPr>
          <p:cNvSpPr>
            <a:spLocks xmlns:a="http://schemas.openxmlformats.org/drawingml/2006/main" noGrp="1"/>
          </p:cNvSpPr>
          <p:nvPr/>
        </p:nvSpPr>
        <p:spPr>
          <a:xfrm xmlns:a="http://schemas.openxmlformats.org/drawingml/2006/main">
            <a:off x="6400800" y="4754880"/>
            <a:ext cx="52120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Linux Fundamentals untuk Cloud</a:t>
            </a:r>
            <a:endParaRPr sz="1400"/>
          </a:p>
        </p:txBody>
      </p:sp>
      <p:sp>
        <p:nvSpPr>
          <p:cNvPr id="32" name="Text 26">
            <a:extLst xmlns:a="http://schemas.openxmlformats.org/drawingml/2006/main">
              <a:ext uri="{FF2B5EF4-FFF2-40B4-BE49-F238E27FC236}">
                <a16:creationId xmlns:a16="http://schemas.microsoft.com/office/drawing/2014/main" id="{93220241-9D71-4A9A-81AF-43F4CF810DA4}"/>
              </a:ext>
            </a:extLst>
          </p:cNvPr>
          <p:cNvSpPr>
            <a:spLocks xmlns:a="http://schemas.openxmlformats.org/drawingml/2006/main" noGrp="1"/>
          </p:cNvSpPr>
          <p:nvPr/>
        </p:nvSpPr>
        <p:spPr>
          <a:xfrm xmlns:a="http://schemas.openxmlformats.org/drawingml/2006/main">
            <a:off x="6400800" y="5166360"/>
            <a:ext cx="5212080"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CLI, filesystem, permission, package manager, systemd dasar - fondasi untuk semua kerja di server cloud.</a:t>
            </a:r>
            <a:endParaRPr sz="1100"/>
          </a:p>
        </p:txBody>
      </p:sp>
      <p:sp>
        <p:nvSpPr>
          <p:cNvPr id="33" name="Shape 27">
            <a:extLst xmlns:a="http://schemas.openxmlformats.org/drawingml/2006/main">
              <a:ext uri="{FF2B5EF4-FFF2-40B4-BE49-F238E27FC236}">
                <a16:creationId xmlns:a16="http://schemas.microsoft.com/office/drawing/2014/main" id="{388E5B31-C84F-42DD-B823-FB5538743182}"/>
              </a:ext>
            </a:extLst>
          </p:cNvPr>
          <p:cNvSpPr>
            <a:spLocks xmlns:a="http://schemas.openxmlformats.org/drawingml/2006/main" noGrp="1"/>
          </p:cNvSpPr>
          <p:nvPr/>
        </p:nvSpPr>
        <p:spPr>
          <a:xfrm xmlns:a="http://schemas.openxmlformats.org/drawingml/2006/main">
            <a:off x="457200" y="5029200"/>
            <a:ext cx="5486400" cy="10972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74" name="Image 4"/>
          <p:cNvPicPr>
            <a:picLocks xmlns:a="http://schemas.openxmlformats.org/drawingml/2006/main" noChangeAspect="1"/>
          </p:cNvPicPr>
          <p:nvPr/>
        </p:nvPicPr>
        <p:blipFill>
          <a:blip xmlns:r="http://schemas.openxmlformats.org/officeDocument/2006/relationships" xmlns:a="http://schemas.openxmlformats.org/drawingml/2006/main" r:embed="Rd1440003ac2c4894"/>
          <a:stretch xmlns:a="http://schemas.openxmlformats.org/drawingml/2006/main">
            <a:fillRect l="0" t="0" r="0" b="0"/>
          </a:stretch>
        </p:blipFill>
        <p:spPr>
          <a:xfrm xmlns:a="http://schemas.openxmlformats.org/drawingml/2006/main">
            <a:off x="640080" y="5212080"/>
            <a:ext cx="640080" cy="640080"/>
          </a:xfrm>
          <a:prstGeom xmlns:a="http://schemas.openxmlformats.org/drawingml/2006/main" prst="rect">
            <a:avLst/>
          </a:prstGeom>
        </p:spPr>
      </p:pic>
      <p:sp>
        <p:nvSpPr>
          <p:cNvPr id="35" name="Text 28">
            <a:extLst xmlns:a="http://schemas.openxmlformats.org/drawingml/2006/main">
              <a:ext uri="{FF2B5EF4-FFF2-40B4-BE49-F238E27FC236}">
                <a16:creationId xmlns:a16="http://schemas.microsoft.com/office/drawing/2014/main" id="{D3DF8FBC-3881-4111-81BF-6440B60CFDFE}"/>
              </a:ext>
            </a:extLst>
          </p:cNvPr>
          <p:cNvSpPr>
            <a:spLocks xmlns:a="http://schemas.openxmlformats.org/drawingml/2006/main" noGrp="1"/>
          </p:cNvSpPr>
          <p:nvPr/>
        </p:nvSpPr>
        <p:spPr>
          <a:xfrm xmlns:a="http://schemas.openxmlformats.org/drawingml/2006/main">
            <a:off x="1417320" y="5074920"/>
            <a:ext cx="4023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FFFFFF"/>
                </a:solidFill>
                <a:latin typeface="Calibri"/>
                <a:ea typeface="Calibri"/>
                <a:cs typeface="Calibri"/>
              </a:rPr>
              <a:t>Pertanyaan?</a:t>
            </a:r>
            <a:endParaRPr sz="2200"/>
          </a:p>
        </p:txBody>
      </p:sp>
      <p:sp>
        <p:nvSpPr>
          <p:cNvPr id="36" name="Text 29">
            <a:extLst xmlns:a="http://schemas.openxmlformats.org/drawingml/2006/main">
              <a:ext uri="{FF2B5EF4-FFF2-40B4-BE49-F238E27FC236}">
                <a16:creationId xmlns:a16="http://schemas.microsoft.com/office/drawing/2014/main" id="{22F853B2-6152-4367-9BAE-C8EC4FACFEB5}"/>
              </a:ext>
            </a:extLst>
          </p:cNvPr>
          <p:cNvSpPr>
            <a:spLocks xmlns:a="http://schemas.openxmlformats.org/drawingml/2006/main" noGrp="1"/>
          </p:cNvSpPr>
          <p:nvPr/>
        </p:nvSpPr>
        <p:spPr>
          <a:xfrm xmlns:a="http://schemas.openxmlformats.org/drawingml/2006/main">
            <a:off x="1417320" y="5577840"/>
            <a:ext cx="4023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FFFFFF"/>
                </a:solidFill>
                <a:latin typeface="Calibri"/>
                <a:ea typeface="Calibri"/>
                <a:cs typeface="Calibri"/>
              </a:rPr>
              <a:t>Mari diskusi sebelum lanjut ke Linux</a:t>
            </a:r>
            <a:endParaRPr sz="1200"/>
          </a:p>
        </p:txBody>
      </p:sp>
    </p:spTree>
    <p:extLst>
      <p:ext uri="{BB962C8B-B14F-4D97-AF65-F5344CB8AC3E}">
        <p14:creationId xmlns:p14="http://schemas.microsoft.com/office/powerpoint/2010/main" val="28691395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D7AA15C-7344-09F5-CB47-0791FE85311C}"/>
              </a:ext>
            </a:extLst>
          </p:cNvPr>
          <p:cNvSpPr>
            <a:spLocks xmlns:a="http://schemas.openxmlformats.org/drawingml/2006/main" noGrp="1"/>
          </p:cNvSpPr>
          <p:nvPr/>
        </p:nvSpPr>
        <p:spPr>
          <a:xfrm xmlns:a="http://schemas.openxmlformats.org/drawingml/2006/main">
            <a:off x="457200" y="177800"/>
            <a:ext cx="88900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rgbClr val="696969"/>
                </a:solidFill>
                <a:latin typeface="Calibri"/>
                <a:ea typeface="Calibri"/>
                <a:cs typeface="Calibri"/>
              </a:rPr>
              <a:t>BINUS UNIVERSITY  |  Cloud Services  |  Pertemuan 1</a:t>
            </a:r>
          </a:p>
        </p:txBody>
      </p:sp>
      <p:sp>
        <p:nvSpPr>
          <p:cNvPr id="3" name="TextBox 2">
            <a:extLst xmlns:a="http://schemas.openxmlformats.org/drawingml/2006/main">
              <a:ext uri="{FF2B5EF4-FFF2-40B4-BE49-F238E27FC236}">
                <a16:creationId xmlns:a16="http://schemas.microsoft.com/office/drawing/2014/main" id="{CC790AF2-792C-1FE6-DD05-90EC3B197084}"/>
              </a:ext>
            </a:extLst>
          </p:cNvPr>
          <p:cNvSpPr>
            <a:spLocks xmlns:a="http://schemas.openxmlformats.org/drawingml/2006/main" noGrp="1"/>
          </p:cNvSpPr>
          <p:nvPr/>
        </p:nvSpPr>
        <p:spPr>
          <a:xfrm xmlns:a="http://schemas.openxmlformats.org/drawingml/2006/main">
            <a:off x="457200" y="673100"/>
            <a:ext cx="11277600" cy="430887"/>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2800" b="1">
                <a:solidFill>
                  <a:srgbClr val="004690"/>
                </a:solidFill>
                <a:latin typeface="Calibri"/>
                <a:ea typeface="Calibri"/>
                <a:cs typeface="Calibri"/>
              </a:rPr>
              <a:t>Penilaian dan bukti belajar menurut RPS</a:t>
            </a:r>
          </a:p>
        </p:txBody>
      </p:sp>
      <p:sp>
        <p:nvSpPr>
          <p:cNvPr id="4" name="TextBox 3">
            <a:extLst xmlns:a="http://schemas.openxmlformats.org/drawingml/2006/main">
              <a:ext uri="{FF2B5EF4-FFF2-40B4-BE49-F238E27FC236}">
                <a16:creationId xmlns:a16="http://schemas.microsoft.com/office/drawing/2014/main" id="{95EB5E85-CDEF-D9C3-43A7-35C8A3FD685D}"/>
              </a:ext>
            </a:extLst>
          </p:cNvPr>
          <p:cNvSpPr>
            <a:spLocks xmlns:a="http://schemas.openxmlformats.org/drawingml/2006/main" noGrp="1"/>
          </p:cNvSpPr>
          <p:nvPr/>
        </p:nvSpPr>
        <p:spPr>
          <a:xfrm xmlns:a="http://schemas.openxmlformats.org/drawingml/2006/main">
            <a:off x="457200" y="1371600"/>
            <a:ext cx="11277600" cy="2308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500" i="1">
                <a:solidFill>
                  <a:srgbClr val="606060"/>
                </a:solidFill>
                <a:latin typeface="Calibri"/>
                <a:ea typeface="Calibri"/>
                <a:cs typeface="Calibri"/>
              </a:rPr>
              <a:t>Bobot resmi dan satu proyek kelompok sepanjang semester</a:t>
            </a:r>
          </a:p>
        </p:txBody>
      </p:sp>
      <p:sp>
        <p:nvSpPr>
          <p:cNvPr id="5" name="TextBox 4">
            <a:extLst xmlns:a="http://schemas.openxmlformats.org/drawingml/2006/main">
              <a:ext uri="{FF2B5EF4-FFF2-40B4-BE49-F238E27FC236}">
                <a16:creationId xmlns:a16="http://schemas.microsoft.com/office/drawing/2014/main" id="{190D0544-C9CE-4898-445E-842C4D31CCED}"/>
              </a:ext>
            </a:extLst>
          </p:cNvPr>
          <p:cNvSpPr>
            <a:spLocks xmlns:a="http://schemas.openxmlformats.org/drawingml/2006/main" noGrp="1"/>
          </p:cNvSpPr>
          <p:nvPr/>
        </p:nvSpPr>
        <p:spPr>
          <a:xfrm xmlns:a="http://schemas.openxmlformats.org/drawingml/2006/main">
            <a:off x="660400" y="20447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UTS teori: 20% dari nilai akhir.</a:t>
            </a:r>
          </a:p>
        </p:txBody>
      </p:sp>
      <p:sp>
        <p:nvSpPr>
          <p:cNvPr id="6" name="TextBox 5">
            <a:extLst xmlns:a="http://schemas.openxmlformats.org/drawingml/2006/main">
              <a:ext uri="{FF2B5EF4-FFF2-40B4-BE49-F238E27FC236}">
                <a16:creationId xmlns:a16="http://schemas.microsoft.com/office/drawing/2014/main" id="{D930F06B-EECD-970A-E1D4-B58B34ABEBA5}"/>
              </a:ext>
            </a:extLst>
          </p:cNvPr>
          <p:cNvSpPr>
            <a:spLocks xmlns:a="http://schemas.openxmlformats.org/drawingml/2006/main" noGrp="1"/>
          </p:cNvSpPr>
          <p:nvPr/>
        </p:nvSpPr>
        <p:spPr>
          <a:xfrm xmlns:a="http://schemas.openxmlformats.org/drawingml/2006/main">
            <a:off x="660400" y="28448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UAS teori: 30% dari nilai akhir.</a:t>
            </a:r>
          </a:p>
        </p:txBody>
      </p:sp>
      <p:sp>
        <p:nvSpPr>
          <p:cNvPr id="7" name="TextBox 6">
            <a:extLst xmlns:a="http://schemas.openxmlformats.org/drawingml/2006/main">
              <a:ext uri="{FF2B5EF4-FFF2-40B4-BE49-F238E27FC236}">
                <a16:creationId xmlns:a16="http://schemas.microsoft.com/office/drawing/2014/main" id="{7866CAA4-56E2-7F58-227E-41DD2264F4DD}"/>
              </a:ext>
            </a:extLst>
          </p:cNvPr>
          <p:cNvSpPr>
            <a:spLocks xmlns:a="http://schemas.openxmlformats.org/drawingml/2006/main" noGrp="1"/>
          </p:cNvSpPr>
          <p:nvPr/>
        </p:nvSpPr>
        <p:spPr>
          <a:xfrm xmlns:a="http://schemas.openxmlformats.org/drawingml/2006/main">
            <a:off x="660400" y="36449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a:t>
            </a:r>
            <a:r>
              <a:rPr>
                <a:solidFill>
                  <a:srgbClr val="101919"/>
                </a:solidFill>
                <a:latin typeface="Calibri"/>
                <a:ea typeface="Calibri"/>
                <a:cs typeface="Calibri"/>
              </a:rPr>
              <a:t>Satu proyek kelompok (tiga mahasiswa): 50% dari nilai akhir.</a:t>
            </a:r>
          </a:p>
        </p:txBody>
      </p:sp>
      <p:sp>
        <p:nvSpPr>
          <p:cNvPr id="8" name="TextBox 7">
            <a:extLst xmlns:a="http://schemas.openxmlformats.org/drawingml/2006/main">
              <a:ext uri="{FF2B5EF4-FFF2-40B4-BE49-F238E27FC236}">
                <a16:creationId xmlns:a16="http://schemas.microsoft.com/office/drawing/2014/main" id="{D7CA94F0-02F4-375E-8415-13A4F434DE67}"/>
              </a:ext>
            </a:extLst>
          </p:cNvPr>
          <p:cNvSpPr>
            <a:spLocks xmlns:a="http://schemas.openxmlformats.org/drawingml/2006/main" noGrp="1"/>
          </p:cNvSpPr>
          <p:nvPr/>
        </p:nvSpPr>
        <p:spPr>
          <a:xfrm xmlns:a="http://schemas.openxmlformats.org/drawingml/2006/main">
            <a:off x="660400" y="44450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Simpan riwayat Git, URL deploy, Docker artifacts, hasil uji, dan makalah IEEE.</a:t>
            </a:r>
          </a:p>
        </p:txBody>
      </p:sp>
      <p:sp>
        <p:nvSpPr>
          <p:cNvPr id="9" name="TextBox 8">
            <a:extLst xmlns:a="http://schemas.openxmlformats.org/drawingml/2006/main">
              <a:ext uri="{FF2B5EF4-FFF2-40B4-BE49-F238E27FC236}">
                <a16:creationId xmlns:a16="http://schemas.microsoft.com/office/drawing/2014/main" id="{B6C7A6B9-B36F-DB67-C39C-2CD808213FDF}"/>
              </a:ext>
            </a:extLst>
          </p:cNvPr>
          <p:cNvSpPr>
            <a:spLocks xmlns:a="http://schemas.openxmlformats.org/drawingml/2006/main" noGrp="1"/>
          </p:cNvSpPr>
          <p:nvPr/>
        </p:nvSpPr>
        <p:spPr>
          <a:xfrm xmlns:a="http://schemas.openxmlformats.org/drawingml/2006/main">
            <a:off x="660400" y="52451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a:t>
            </a:r>
            <a:r>
              <a:rPr>
                <a:solidFill>
                  <a:srgbClr val="101919"/>
                </a:solidFill>
                <a:latin typeface="Calibri"/>
                <a:ea typeface="Calibri"/>
                <a:cs typeface="Calibri"/>
              </a:rPr>
              <a:t>Proyek dipresentasikan minggu 7 (UTS) dan minggu 14 (UAS); latihan lab membantu implementasi.</a:t>
            </a:r>
          </a:p>
        </p:txBody>
      </p:sp>
      <p:sp>
        <p:nvSpPr>
          <p:cNvPr id="10" name="TextBox 9">
            <a:extLst xmlns:a="http://schemas.openxmlformats.org/drawingml/2006/main">
              <a:ext uri="{FF2B5EF4-FFF2-40B4-BE49-F238E27FC236}">
                <a16:creationId xmlns:a16="http://schemas.microsoft.com/office/drawing/2014/main" id="{C45D52D4-AE6A-A723-3598-5257D9223099}"/>
              </a:ext>
            </a:extLst>
          </p:cNvPr>
          <p:cNvSpPr>
            <a:spLocks xmlns:a="http://schemas.openxmlformats.org/drawingml/2006/main" noGrp="1"/>
          </p:cNvSpPr>
          <p:nvPr/>
        </p:nvSpPr>
        <p:spPr>
          <a:xfrm xmlns:a="http://schemas.openxmlformats.org/drawingml/2006/main">
            <a:off x="457200" y="6413500"/>
            <a:ext cx="11277600" cy="1384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900">
                <a:solidFill>
                  <a:srgbClr val="696969"/>
                </a:solidFill>
                <a:latin typeface="Calibri"/>
                <a:ea typeface="Calibri"/>
                <a:cs typeface="Calibri"/>
              </a:rPr>
              <a:t>Materi praktik: </a:t>
            </a:r>
            <a:r>
              <a:rPr sz="900">
                <a:solidFill>
                  <a:srgbClr val="696969"/>
                </a:solidFill>
                <a:latin typeface="Calibri"/>
                <a:ea typeface="Calibri"/>
                <a:cs typeface="Calibri"/>
              </a:rPr>
              <a:t>SeedFlora/meet1CloudService</a:t>
            </a:r>
            <a:r>
              <a:rPr sz="900">
                <a:solidFill>
                  <a:srgbClr val="696969"/>
                </a:solidFill>
                <a:latin typeface="Calibri"/>
                <a:ea typeface="Calibri"/>
                <a:cs typeface="Calibri"/>
              </a:rPr>
              <a:t>  |  Sumber: RPS COMP6991031</a:t>
            </a:r>
          </a:p>
        </p:txBody>
      </p:sp>
    </p:spTree>
    <p:extLst>
      <p:ext uri="{BB962C8B-B14F-4D97-AF65-F5344CB8AC3E}">
        <p14:creationId xmlns:p14="http://schemas.microsoft.com/office/powerpoint/2010/main" val="64684855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label">
            <a:extLst xmlns:a="http://schemas.openxmlformats.org/drawingml/2006/main">
              <a:ext uri="{FF2B5EF4-FFF2-40B4-BE49-F238E27FC236}">
                <a16:creationId xmlns:a16="http://schemas.microsoft.com/office/drawing/2014/main" id="{09DFE82B-D0D5-4257-B4BF-C5CC1E0FB2A0}"/>
              </a:ext>
            </a:extLst>
          </p:cNvPr>
          <p:cNvSpPr>
            <a:spLocks xmlns:a="http://schemas.openxmlformats.org/drawingml/2006/main" noGrp="1"/>
          </p:cNvSpPr>
          <p:nvPr/>
        </p:nvSpPr>
        <p:spPr>
          <a:xfrm xmlns:a="http://schemas.openxmlformats.org/drawingml/2006/main">
            <a:off x="514350" y="257175"/>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0">
                <a:solidFill>
                  <a:srgbClr val="62728A"/>
                </a:solidFill>
                <a:latin typeface="Calibri"/>
                <a:ea typeface="Calibri"/>
                <a:cs typeface="Calibri"/>
              </a:defRPr>
            </a:pPr>
            <a:r>
              <a:rPr sz="1275" b="0">
                <a:solidFill>
                  <a:srgbClr val="62728A"/>
                </a:solidFill>
                <a:latin typeface="Calibri"/>
                <a:ea typeface="Calibri"/>
                <a:cs typeface="Calibri"/>
              </a:rPr>
              <a:t>BINUS UNIVERSITY  |  Cloud Services  |  Pertemuan 1</a:t>
            </a:r>
          </a:p>
        </p:txBody>
      </p:sp>
      <p:sp>
        <p:nvSpPr>
          <p:cNvPr id="2" name="main-title">
            <a:extLst xmlns:a="http://schemas.openxmlformats.org/drawingml/2006/main">
              <a:ext uri="{FF2B5EF4-FFF2-40B4-BE49-F238E27FC236}">
                <a16:creationId xmlns:a16="http://schemas.microsoft.com/office/drawing/2014/main" id="{577ADD34-8DAC-4667-8412-13348D04AD9B}"/>
              </a:ext>
            </a:extLst>
          </p:cNvPr>
          <p:cNvSpPr>
            <a:spLocks xmlns:a="http://schemas.openxmlformats.org/drawingml/2006/main" noGrp="1"/>
          </p:cNvSpPr>
          <p:nvPr/>
        </p:nvSpPr>
        <p:spPr>
          <a:xfrm xmlns:a="http://schemas.openxmlformats.org/drawingml/2006/main">
            <a:off x="514350" y="58102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850" b="1">
                <a:solidFill>
                  <a:srgbClr val="072A79"/>
                </a:solidFill>
                <a:latin typeface="Calibri"/>
                <a:ea typeface="Calibri"/>
                <a:cs typeface="Calibri"/>
              </a:defRPr>
            </a:pPr>
            <a:r>
              <a:rPr sz="2850" b="1">
                <a:solidFill>
                  <a:srgbClr val="072A79"/>
                </a:solidFill>
                <a:latin typeface="Calibri"/>
                <a:ea typeface="Calibri"/>
                <a:cs typeface="Calibri"/>
              </a:rPr>
              <a:t>Service model menentukan pekerjaan tim</a:t>
            </a:r>
          </a:p>
        </p:txBody>
      </p:sp>
      <p:sp>
        <p:nvSpPr>
          <p:cNvPr id="3" name="subtitle">
            <a:extLst xmlns:a="http://schemas.openxmlformats.org/drawingml/2006/main">
              <a:ext uri="{FF2B5EF4-FFF2-40B4-BE49-F238E27FC236}">
                <a16:creationId xmlns:a16="http://schemas.microsoft.com/office/drawing/2014/main" id="{CA079AEE-8D93-47A6-B5A4-A91175589B34}"/>
              </a:ext>
            </a:extLst>
          </p:cNvPr>
          <p:cNvSpPr>
            <a:spLocks xmlns:a="http://schemas.openxmlformats.org/drawingml/2006/main" noGrp="1"/>
          </p:cNvSpPr>
          <p:nvPr/>
        </p:nvSpPr>
        <p:spPr>
          <a:xfrm xmlns:a="http://schemas.openxmlformats.org/drawingml/2006/main">
            <a:off x="514350" y="12001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75" b="0">
                <a:solidFill>
                  <a:srgbClr val="62728A"/>
                </a:solidFill>
                <a:latin typeface="Calibri"/>
                <a:ea typeface="Calibri"/>
                <a:cs typeface="Calibri"/>
              </a:defRPr>
            </a:pPr>
            <a:r>
              <a:rPr sz="1575" b="0">
                <a:solidFill>
                  <a:srgbClr val="62728A"/>
                </a:solidFill>
                <a:latin typeface="Calibri"/>
                <a:ea typeface="Calibri"/>
                <a:cs typeface="Calibri"/>
              </a:rPr>
              <a:t>Kasus kerja: tim kecil ingin merilis aplikasi tanpa mengelola sistem operasi.</a:t>
            </a:r>
          </a:p>
        </p:txBody>
      </p:sp>
      <p:sp>
        <p:nvSpPr>
          <p:cNvPr id="4" name="orange-rule">
            <a:extLst xmlns:a="http://schemas.openxmlformats.org/drawingml/2006/main">
              <a:ext uri="{FF2B5EF4-FFF2-40B4-BE49-F238E27FC236}">
                <a16:creationId xmlns:a16="http://schemas.microsoft.com/office/drawing/2014/main" id="{9D879FCA-89B6-4BA1-BFB1-911AB171D0E7}"/>
              </a:ext>
            </a:extLst>
          </p:cNvPr>
          <p:cNvSpPr>
            <a:spLocks xmlns:a="http://schemas.openxmlformats.org/drawingml/2006/main" noGrp="1"/>
          </p:cNvSpPr>
          <p:nvPr/>
        </p:nvSpPr>
        <p:spPr>
          <a:xfrm xmlns:a="http://schemas.openxmlformats.org/drawingml/2006/main">
            <a:off x="514350" y="1657350"/>
            <a:ext cx="876300" cy="47625"/>
          </a:xfrm>
          <a:prstGeom xmlns:a="http://schemas.openxmlformats.org/drawingml/2006/main" prst="rect">
            <a:avLst/>
          </a:prstGeom>
          <a:solidFill xmlns:a="http://schemas.openxmlformats.org/drawingml/2006/main">
            <a:srgbClr val="FF701B"/>
          </a:solidFill>
          <a:ln xmlns:a="http://schemas.openxmlformats.org/drawingml/2006/main" w="0">
            <a:noFill/>
          </a:ln>
        </p:spPr>
      </p:sp>
      <p:sp>
        <p:nvSpPr>
          <p:cNvPr id="5" name="footer-left">
            <a:extLst xmlns:a="http://schemas.openxmlformats.org/drawingml/2006/main">
              <a:ext uri="{FF2B5EF4-FFF2-40B4-BE49-F238E27FC236}">
                <a16:creationId xmlns:a16="http://schemas.microsoft.com/office/drawing/2014/main" id="{FA8142F6-4EB7-40F2-88FA-BEAE8B86B6B1}"/>
              </a:ext>
            </a:extLst>
          </p:cNvPr>
          <p:cNvSpPr>
            <a:spLocks xmlns:a="http://schemas.openxmlformats.org/drawingml/2006/main" noGrp="1"/>
          </p:cNvSpPr>
          <p:nvPr/>
        </p:nvSpPr>
        <p:spPr>
          <a:xfrm xmlns:a="http://schemas.openxmlformats.org/drawingml/2006/main">
            <a:off x="514350" y="64293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25" b="0">
                <a:solidFill>
                  <a:srgbClr val="62728A"/>
                </a:solidFill>
                <a:latin typeface="Calibri"/>
                <a:ea typeface="Calibri"/>
                <a:cs typeface="Calibri"/>
              </a:defRPr>
            </a:pPr>
            <a:r>
              <a:rPr sz="1125" b="0">
                <a:solidFill>
                  <a:srgbClr val="62728A"/>
                </a:solidFill>
                <a:latin typeface="Calibri"/>
                <a:ea typeface="Calibri"/>
                <a:cs typeface="Calibri"/>
              </a:rPr>
              <a:t>COMP6991031  |  Cloud Services</a:t>
            </a:r>
          </a:p>
        </p:txBody>
      </p:sp>
      <p:sp>
        <p:nvSpPr>
          <p:cNvPr id="6" name="footer-right">
            <a:extLst xmlns:a="http://schemas.openxmlformats.org/drawingml/2006/main">
              <a:ext uri="{FF2B5EF4-FFF2-40B4-BE49-F238E27FC236}">
                <a16:creationId xmlns:a16="http://schemas.microsoft.com/office/drawing/2014/main" id="{52D9A349-0BD1-46A4-825D-F62A7B89A12F}"/>
              </a:ext>
            </a:extLst>
          </p:cNvPr>
          <p:cNvSpPr>
            <a:spLocks xmlns:a="http://schemas.openxmlformats.org/drawingml/2006/main" noGrp="1"/>
          </p:cNvSpPr>
          <p:nvPr/>
        </p:nvSpPr>
        <p:spPr>
          <a:xfrm xmlns:a="http://schemas.openxmlformats.org/drawingml/2006/main">
            <a:off x="11430000" y="64293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25" b="0">
                <a:solidFill>
                  <a:srgbClr val="62728A"/>
                </a:solidFill>
                <a:latin typeface="Calibri"/>
                <a:ea typeface="Calibri"/>
                <a:cs typeface="Calibri"/>
              </a:defRPr>
            </a:pPr>
            <a:r>
              <a:rPr sz="1125" b="0">
                <a:solidFill>
                  <a:srgbClr val="62728A"/>
                </a:solidFill>
                <a:latin typeface="Calibri"/>
                <a:ea typeface="Calibri"/>
                <a:cs typeface="Calibri"/>
              </a:rPr>
              <a:t>36</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756ba0243d44276"/>
          <a:stretch xmlns:a="http://schemas.openxmlformats.org/drawingml/2006/main"/>
        </p:blipFill>
        <p:spPr>
          <a:xfrm xmlns:a="http://schemas.openxmlformats.org/drawingml/2006/main">
            <a:off x="514350" y="2182151"/>
            <a:ext cx="7096125" cy="3350948"/>
          </a:xfrm>
          <a:prstGeom xmlns:a="http://schemas.openxmlformats.org/drawingml/2006/main" prst="rect">
            <a:avLst/>
          </a:prstGeom>
        </p:spPr>
      </p:pic>
      <p:sp>
        <p:nvSpPr>
          <p:cNvPr id="8" name="image-caption">
            <a:extLst xmlns:a="http://schemas.openxmlformats.org/drawingml/2006/main">
              <a:ext uri="{FF2B5EF4-FFF2-40B4-BE49-F238E27FC236}">
                <a16:creationId xmlns:a16="http://schemas.microsoft.com/office/drawing/2014/main" id="{9E08B7C4-A6D0-435F-ABBB-737DB86C074C}"/>
              </a:ext>
            </a:extLst>
          </p:cNvPr>
          <p:cNvSpPr>
            <a:spLocks xmlns:a="http://schemas.openxmlformats.org/drawingml/2006/main" noGrp="1"/>
          </p:cNvSpPr>
          <p:nvPr/>
        </p:nvSpPr>
        <p:spPr>
          <a:xfrm xmlns:a="http://schemas.openxmlformats.org/drawingml/2006/main">
            <a:off x="514350" y="5838825"/>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0">
                <a:solidFill>
                  <a:srgbClr val="62728A"/>
                </a:solidFill>
                <a:latin typeface="Calibri"/>
                <a:ea typeface="Calibri"/>
                <a:cs typeface="Calibri"/>
              </a:defRPr>
            </a:pPr>
            <a:r>
              <a:rPr sz="1275" b="0">
                <a:solidFill>
                  <a:srgbClr val="62728A"/>
                </a:solidFill>
                <a:latin typeface="Calibri"/>
                <a:ea typeface="Calibri"/>
                <a:cs typeface="Calibri"/>
              </a:rPr>
              <a:t>Aplikasi Lab 01: garis tanggung jawab berubah saat model layanan berubah.</a:t>
            </a:r>
          </a:p>
        </p:txBody>
      </p:sp>
      <p:sp>
        <p:nvSpPr>
          <p:cNvPr id="9" name="lab-link-label">
            <a:extLst xmlns:a="http://schemas.openxmlformats.org/drawingml/2006/main">
              <a:ext uri="{FF2B5EF4-FFF2-40B4-BE49-F238E27FC236}">
                <a16:creationId xmlns:a16="http://schemas.microsoft.com/office/drawing/2014/main" id="{AFC0604A-C436-48F8-A633-4959F271F75C}"/>
              </a:ext>
            </a:extLst>
          </p:cNvPr>
          <p:cNvSpPr>
            <a:spLocks xmlns:a="http://schemas.openxmlformats.org/drawingml/2006/main" noGrp="1"/>
          </p:cNvSpPr>
          <p:nvPr/>
        </p:nvSpPr>
        <p:spPr>
          <a:xfrm xmlns:a="http://schemas.openxmlformats.org/drawingml/2006/main">
            <a:off x="7953375" y="1952625"/>
            <a:ext cx="333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1">
                <a:solidFill>
                  <a:srgbClr val="FF701B"/>
                </a:solidFill>
                <a:latin typeface="Calibri"/>
                <a:ea typeface="Calibri"/>
                <a:cs typeface="Calibri"/>
              </a:defRPr>
            </a:pPr>
            <a:r>
              <a:rPr sz="1650" b="1">
                <a:solidFill>
                  <a:srgbClr val="FF701B"/>
                </a:solidFill>
                <a:latin typeface="Calibri"/>
                <a:ea typeface="Calibri"/>
                <a:cs typeface="Calibri"/>
              </a:rPr>
              <a:t>LAB 01</a:t>
            </a:r>
          </a:p>
        </p:txBody>
      </p:sp>
      <p:sp>
        <p:nvSpPr>
          <p:cNvPr id="10" name="bridge-points">
            <a:extLst xmlns:a="http://schemas.openxmlformats.org/drawingml/2006/main">
              <a:ext uri="{FF2B5EF4-FFF2-40B4-BE49-F238E27FC236}">
                <a16:creationId xmlns:a16="http://schemas.microsoft.com/office/drawing/2014/main" id="{D0574219-CC46-4EB1-A682-68A10841C45E}"/>
              </a:ext>
            </a:extLst>
          </p:cNvPr>
          <p:cNvSpPr>
            <a:spLocks xmlns:a="http://schemas.openxmlformats.org/drawingml/2006/main" noGrp="1"/>
          </p:cNvSpPr>
          <p:nvPr/>
        </p:nvSpPr>
        <p:spPr>
          <a:xfrm xmlns:a="http://schemas.openxmlformats.org/drawingml/2006/main">
            <a:off x="7953375" y="2333625"/>
            <a:ext cx="3429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0">
                <a:solidFill>
                  <a:srgbClr val="13243B"/>
                </a:solidFill>
                <a:latin typeface="Calibri"/>
                <a:ea typeface="Calibri"/>
                <a:cs typeface="Calibri"/>
              </a:defRPr>
            </a:pPr>
            <a:r>
              <a:rPr sz="1650" b="0">
                <a:solidFill>
                  <a:srgbClr val="13243B"/>
                </a:solidFill>
                <a:latin typeface="Calibri"/>
                <a:ea typeface="Calibri"/>
                <a:cs typeface="Calibri"/>
              </a:rPr>
              <a:t>1. SaaS memberi aplikasi siap pakai. PaaS menjalankan kode tim. FaaS mengeksekusi fungsi saat dipanggil.</a:t>
            </a:r>
          </a:p>
          <a:p xmlns:a="http://schemas.openxmlformats.org/drawingml/2006/main">
            <a:r>
              <a:t/>
            </a:r>
          </a:p>
          <a:p xmlns:a="http://schemas.openxmlformats.org/drawingml/2006/main">
            <a:pPr>
              <a:defRPr sz="1650" b="0">
                <a:solidFill>
                  <a:srgbClr val="13243B"/>
                </a:solidFill>
                <a:latin typeface="Calibri"/>
                <a:ea typeface="Calibri"/>
                <a:cs typeface="Calibri"/>
              </a:defRPr>
            </a:pPr>
            <a:r>
              <a:rPr sz="1650" b="0">
                <a:solidFill>
                  <a:srgbClr val="13243B"/>
                </a:solidFill>
                <a:latin typeface="Calibri"/>
                <a:ea typeface="Calibri"/>
                <a:cs typeface="Calibri"/>
              </a:rPr>
              <a:t>2. Di Lab 01, ubah model layanan dan amati bagian yang tetap menjadi tanggung jawab Anda.</a:t>
            </a:r>
          </a:p>
          <a:p xmlns:a="http://schemas.openxmlformats.org/drawingml/2006/main">
            <a:r>
              <a:t/>
            </a:r>
          </a:p>
          <a:p xmlns:a="http://schemas.openxmlformats.org/drawingml/2006/main">
            <a:pPr>
              <a:defRPr sz="1650" b="0">
                <a:solidFill>
                  <a:srgbClr val="13243B"/>
                </a:solidFill>
                <a:latin typeface="Calibri"/>
                <a:ea typeface="Calibri"/>
                <a:cs typeface="Calibri"/>
              </a:defRPr>
            </a:pPr>
            <a:r>
              <a:rPr sz="1650" b="0">
                <a:solidFill>
                  <a:srgbClr val="13243B"/>
                </a:solidFill>
                <a:latin typeface="Calibri"/>
                <a:ea typeface="Calibri"/>
                <a:cs typeface="Calibri"/>
              </a:rPr>
              <a:t>3. Diskusi: bila data pengguna sensitif, keputusan mana yang berubah?</a:t>
            </a:r>
          </a:p>
        </p:txBody>
      </p:sp>
      <p:sp>
        <p:nvSpPr>
          <p:cNvPr id="11" name="command-label">
            <a:extLst xmlns:a="http://schemas.openxmlformats.org/drawingml/2006/main">
              <a:ext uri="{FF2B5EF4-FFF2-40B4-BE49-F238E27FC236}">
                <a16:creationId xmlns:a16="http://schemas.microsoft.com/office/drawing/2014/main" id="{B10D6634-82A4-4463-AC65-12A7F3D46E6A}"/>
              </a:ext>
            </a:extLst>
          </p:cNvPr>
          <p:cNvSpPr>
            <a:spLocks xmlns:a="http://schemas.openxmlformats.org/drawingml/2006/main" noGrp="1"/>
          </p:cNvSpPr>
          <p:nvPr/>
        </p:nvSpPr>
        <p:spPr>
          <a:xfrm xmlns:a="http://schemas.openxmlformats.org/drawingml/2006/main">
            <a:off x="7953375" y="5286375"/>
            <a:ext cx="342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072A79"/>
                </a:solidFill>
                <a:latin typeface="Calibri"/>
                <a:ea typeface="Calibri"/>
                <a:cs typeface="Calibri"/>
              </a:defRPr>
            </a:pPr>
            <a:r>
              <a:rPr sz="1275" b="1">
                <a:solidFill>
                  <a:srgbClr val="072A79"/>
                </a:solidFill>
                <a:latin typeface="Calibri"/>
                <a:ea typeface="Calibri"/>
                <a:cs typeface="Calibri"/>
              </a:rPr>
              <a:t>Perintah pertama yang akan dicoba</a:t>
            </a:r>
          </a:p>
        </p:txBody>
      </p:sp>
      <p:sp>
        <p:nvSpPr>
          <p:cNvPr id="12" name="bridge-command">
            <a:extLst xmlns:a="http://schemas.openxmlformats.org/drawingml/2006/main">
              <a:ext uri="{FF2B5EF4-FFF2-40B4-BE49-F238E27FC236}">
                <a16:creationId xmlns:a16="http://schemas.microsoft.com/office/drawing/2014/main" id="{8BA4FA95-F41A-4884-BA44-8F54E2603BE7}"/>
              </a:ext>
            </a:extLst>
          </p:cNvPr>
          <p:cNvSpPr>
            <a:spLocks xmlns:a="http://schemas.openxmlformats.org/drawingml/2006/main" noGrp="1"/>
          </p:cNvSpPr>
          <p:nvPr/>
        </p:nvSpPr>
        <p:spPr>
          <a:xfrm xmlns:a="http://schemas.openxmlformats.org/drawingml/2006/main">
            <a:off x="7953375" y="5591175"/>
            <a:ext cx="3476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031D5B"/>
                </a:solidFill>
                <a:latin typeface="Calibri"/>
                <a:ea typeface="Calibri"/>
                <a:cs typeface="Calibri"/>
              </a:defRPr>
            </a:pPr>
            <a:r>
              <a:rPr sz="1425" b="1">
                <a:solidFill>
                  <a:srgbClr val="031D5B"/>
                </a:solidFill>
                <a:latin typeface="Calibri"/>
                <a:ea typeface="Calibri"/>
                <a:cs typeface="Calibri"/>
              </a:rPr>
              <a:t>npm run dev</a:t>
            </a:r>
          </a:p>
        </p:txBody>
      </p:sp>
    </p:spTree>
    <p:extLst>
      <p:ext uri="{BB962C8B-B14F-4D97-AF65-F5344CB8AC3E}">
        <p14:creationId xmlns:p14="http://schemas.microsoft.com/office/powerpoint/2010/main" val="114549680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course-label">
            <a:extLst xmlns:a="http://schemas.openxmlformats.org/drawingml/2006/main">
              <a:ext uri="{FF2B5EF4-FFF2-40B4-BE49-F238E27FC236}">
                <a16:creationId xmlns:a16="http://schemas.microsoft.com/office/drawing/2014/main" id="{C4A33AD2-477D-4F9A-A07C-26398E322EE8}"/>
              </a:ext>
            </a:extLst>
          </p:cNvPr>
          <p:cNvSpPr>
            <a:spLocks xmlns:a="http://schemas.openxmlformats.org/drawingml/2006/main" noGrp="1"/>
          </p:cNvSpPr>
          <p:nvPr/>
        </p:nvSpPr>
        <p:spPr>
          <a:xfrm xmlns:a="http://schemas.openxmlformats.org/drawingml/2006/main">
            <a:off x="514350" y="257175"/>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0">
                <a:solidFill>
                  <a:srgbClr val="62728A"/>
                </a:solidFill>
                <a:latin typeface="Calibri"/>
                <a:ea typeface="Calibri"/>
                <a:cs typeface="Calibri"/>
              </a:defRPr>
            </a:pPr>
            <a:r>
              <a:rPr sz="1275" b="0">
                <a:solidFill>
                  <a:srgbClr val="62728A"/>
                </a:solidFill>
                <a:latin typeface="Calibri"/>
                <a:ea typeface="Calibri"/>
                <a:cs typeface="Calibri"/>
              </a:rPr>
              <a:t>BINUS UNIVERSITY  |  Cloud Services  |  Pertemuan 1</a:t>
            </a:r>
          </a:p>
        </p:txBody>
      </p:sp>
      <p:sp>
        <p:nvSpPr>
          <p:cNvPr id="2" name="main-title">
            <a:extLst xmlns:a="http://schemas.openxmlformats.org/drawingml/2006/main">
              <a:ext uri="{FF2B5EF4-FFF2-40B4-BE49-F238E27FC236}">
                <a16:creationId xmlns:a16="http://schemas.microsoft.com/office/drawing/2014/main" id="{D756CAE2-EDA7-4EA3-9CFC-272882B339B9}"/>
              </a:ext>
            </a:extLst>
          </p:cNvPr>
          <p:cNvSpPr>
            <a:spLocks xmlns:a="http://schemas.openxmlformats.org/drawingml/2006/main" noGrp="1"/>
          </p:cNvSpPr>
          <p:nvPr/>
        </p:nvSpPr>
        <p:spPr>
          <a:xfrm xmlns:a="http://schemas.openxmlformats.org/drawingml/2006/main">
            <a:off x="514350" y="58102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850" b="1">
                <a:solidFill>
                  <a:srgbClr val="072A79"/>
                </a:solidFill>
                <a:latin typeface="Calibri"/>
                <a:ea typeface="Calibri"/>
                <a:cs typeface="Calibri"/>
              </a:defRPr>
            </a:pPr>
            <a:r>
              <a:rPr sz="2850" b="1">
                <a:solidFill>
                  <a:srgbClr val="072A79"/>
                </a:solidFill>
                <a:latin typeface="Calibri"/>
                <a:ea typeface="Calibri"/>
                <a:cs typeface="Calibri"/>
              </a:rPr>
              <a:t>Sebelum Lab 01: pilih model cloud</a:t>
            </a:r>
          </a:p>
        </p:txBody>
      </p:sp>
      <p:sp>
        <p:nvSpPr>
          <p:cNvPr id="3" name="subtitle">
            <a:extLst xmlns:a="http://schemas.openxmlformats.org/drawingml/2006/main">
              <a:ext uri="{FF2B5EF4-FFF2-40B4-BE49-F238E27FC236}">
                <a16:creationId xmlns:a16="http://schemas.microsoft.com/office/drawing/2014/main" id="{EAA9D75A-6626-4DE1-93AE-3F5C4631EECF}"/>
              </a:ext>
            </a:extLst>
          </p:cNvPr>
          <p:cNvSpPr>
            <a:spLocks xmlns:a="http://schemas.openxmlformats.org/drawingml/2006/main" noGrp="1"/>
          </p:cNvSpPr>
          <p:nvPr/>
        </p:nvSpPr>
        <p:spPr>
          <a:xfrm xmlns:a="http://schemas.openxmlformats.org/drawingml/2006/main">
            <a:off x="514350" y="12001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75" b="0">
                <a:solidFill>
                  <a:srgbClr val="62728A"/>
                </a:solidFill>
                <a:latin typeface="Calibri"/>
                <a:ea typeface="Calibri"/>
                <a:cs typeface="Calibri"/>
              </a:defRPr>
            </a:pPr>
            <a:r>
              <a:rPr sz="1575" b="0">
                <a:solidFill>
                  <a:srgbClr val="62728A"/>
                </a:solidFill>
                <a:latin typeface="Calibri"/>
                <a:ea typeface="Calibri"/>
                <a:cs typeface="Calibri"/>
              </a:rPr>
              <a:t>Apa yang dikelola provider, dan apa yang masih dikelola tim?</a:t>
            </a:r>
          </a:p>
        </p:txBody>
      </p:sp>
      <p:sp>
        <p:nvSpPr>
          <p:cNvPr id="4" name="orange-rule">
            <a:extLst xmlns:a="http://schemas.openxmlformats.org/drawingml/2006/main">
              <a:ext uri="{FF2B5EF4-FFF2-40B4-BE49-F238E27FC236}">
                <a16:creationId xmlns:a16="http://schemas.microsoft.com/office/drawing/2014/main" id="{7CCFD6F8-7300-4C93-AEBF-9FB3C4155446}"/>
              </a:ext>
            </a:extLst>
          </p:cNvPr>
          <p:cNvSpPr>
            <a:spLocks xmlns:a="http://schemas.openxmlformats.org/drawingml/2006/main" noGrp="1"/>
          </p:cNvSpPr>
          <p:nvPr/>
        </p:nvSpPr>
        <p:spPr>
          <a:xfrm xmlns:a="http://schemas.openxmlformats.org/drawingml/2006/main">
            <a:off x="514350" y="1657350"/>
            <a:ext cx="876300" cy="47625"/>
          </a:xfrm>
          <a:prstGeom xmlns:a="http://schemas.openxmlformats.org/drawingml/2006/main" prst="rect">
            <a:avLst/>
          </a:prstGeom>
          <a:solidFill xmlns:a="http://schemas.openxmlformats.org/drawingml/2006/main">
            <a:srgbClr val="FF701B"/>
          </a:solidFill>
          <a:ln xmlns:a="http://schemas.openxmlformats.org/drawingml/2006/main" w="0">
            <a:noFill/>
          </a:ln>
        </p:spPr>
      </p:sp>
      <p:sp>
        <p:nvSpPr>
          <p:cNvPr id="5" name="footer-left">
            <a:extLst xmlns:a="http://schemas.openxmlformats.org/drawingml/2006/main">
              <a:ext uri="{FF2B5EF4-FFF2-40B4-BE49-F238E27FC236}">
                <a16:creationId xmlns:a16="http://schemas.microsoft.com/office/drawing/2014/main" id="{8D429E23-6C01-4328-A140-9441B37DF957}"/>
              </a:ext>
            </a:extLst>
          </p:cNvPr>
          <p:cNvSpPr>
            <a:spLocks xmlns:a="http://schemas.openxmlformats.org/drawingml/2006/main" noGrp="1"/>
          </p:cNvSpPr>
          <p:nvPr/>
        </p:nvSpPr>
        <p:spPr>
          <a:xfrm xmlns:a="http://schemas.openxmlformats.org/drawingml/2006/main">
            <a:off x="514350" y="64293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25" b="0">
                <a:solidFill>
                  <a:srgbClr val="62728A"/>
                </a:solidFill>
                <a:latin typeface="Calibri"/>
                <a:ea typeface="Calibri"/>
                <a:cs typeface="Calibri"/>
              </a:defRPr>
            </a:pPr>
            <a:r>
              <a:rPr sz="1125" b="0">
                <a:solidFill>
                  <a:srgbClr val="62728A"/>
                </a:solidFill>
                <a:latin typeface="Calibri"/>
                <a:ea typeface="Calibri"/>
                <a:cs typeface="Calibri"/>
              </a:rPr>
              <a:t>COMP6991031  |  Cloud Services</a:t>
            </a:r>
          </a:p>
        </p:txBody>
      </p:sp>
      <p:sp>
        <p:nvSpPr>
          <p:cNvPr id="6" name="footer-right">
            <a:extLst xmlns:a="http://schemas.openxmlformats.org/drawingml/2006/main">
              <a:ext uri="{FF2B5EF4-FFF2-40B4-BE49-F238E27FC236}">
                <a16:creationId xmlns:a16="http://schemas.microsoft.com/office/drawing/2014/main" id="{F3AC0805-0D30-4D8A-AFB2-AAABA5C3F232}"/>
              </a:ext>
            </a:extLst>
          </p:cNvPr>
          <p:cNvSpPr>
            <a:spLocks xmlns:a="http://schemas.openxmlformats.org/drawingml/2006/main" noGrp="1"/>
          </p:cNvSpPr>
          <p:nvPr/>
        </p:nvSpPr>
        <p:spPr>
          <a:xfrm xmlns:a="http://schemas.openxmlformats.org/drawingml/2006/main">
            <a:off x="11430000" y="64293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25" b="0">
                <a:solidFill>
                  <a:srgbClr val="62728A"/>
                </a:solidFill>
                <a:latin typeface="Calibri"/>
                <a:ea typeface="Calibri"/>
                <a:cs typeface="Calibri"/>
              </a:defRPr>
            </a:pPr>
            <a:r>
              <a:rPr sz="1125" b="0">
                <a:solidFill>
                  <a:srgbClr val="62728A"/>
                </a:solidFill>
                <a:latin typeface="Calibri"/>
                <a:ea typeface="Calibri"/>
                <a:cs typeface="Calibri"/>
              </a:rPr>
              <a:t>37</a:t>
            </a:r>
          </a:p>
        </p:txBody>
      </p:sp>
      <p:sp>
        <p:nvSpPr>
          <p:cNvPr id="7" name="watch-label">
            <a:extLst xmlns:a="http://schemas.openxmlformats.org/drawingml/2006/main">
              <a:ext uri="{FF2B5EF4-FFF2-40B4-BE49-F238E27FC236}">
                <a16:creationId xmlns:a16="http://schemas.microsoft.com/office/drawing/2014/main" id="{EE63FE0A-9346-4101-B013-B9713CF3BAA9}"/>
              </a:ext>
            </a:extLst>
          </p:cNvPr>
          <p:cNvSpPr>
            <a:spLocks xmlns:a="http://schemas.openxmlformats.org/drawingml/2006/main" noGrp="1"/>
          </p:cNvSpPr>
          <p:nvPr/>
        </p:nvSpPr>
        <p:spPr>
          <a:xfrm xmlns:a="http://schemas.openxmlformats.org/drawingml/2006/main">
            <a:off x="514350" y="20002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FF701B"/>
                </a:solidFill>
                <a:latin typeface="Calibri"/>
                <a:ea typeface="Calibri"/>
                <a:cs typeface="Calibri"/>
              </a:defRPr>
            </a:pPr>
            <a:r>
              <a:rPr sz="1425" b="1">
                <a:solidFill>
                  <a:srgbClr val="FF701B"/>
                </a:solidFill>
                <a:latin typeface="Calibri"/>
                <a:ea typeface="Calibri"/>
                <a:cs typeface="Calibri"/>
              </a:rPr>
              <a:t>TONTON</a:t>
            </a:r>
          </a:p>
        </p:txBody>
      </p:sp>
      <p:sp>
        <p:nvSpPr>
          <p:cNvPr id="8" name="video-link">
            <a:extLst xmlns:a="http://schemas.openxmlformats.org/drawingml/2006/main">
              <a:ext uri="{FF2B5EF4-FFF2-40B4-BE49-F238E27FC236}">
                <a16:creationId xmlns:a16="http://schemas.microsoft.com/office/drawing/2014/main" id="{C05BEDE3-36FB-4838-BB75-01F4613E5706}"/>
              </a:ext>
            </a:extLst>
          </p:cNvPr>
          <p:cNvSpPr>
            <a:spLocks xmlns:a="http://schemas.openxmlformats.org/drawingml/2006/main" noGrp="1"/>
          </p:cNvSpPr>
          <p:nvPr/>
        </p:nvSpPr>
        <p:spPr>
          <a:xfrm xmlns:a="http://schemas.openxmlformats.org/drawingml/2006/main">
            <a:off x="514350" y="2352675"/>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b="0">
                <a:solidFill>
                  <a:srgbClr val="1477D4"/>
                </a:solidFill>
                <a:latin typeface="Calibri"/>
                <a:ea typeface="Calibri"/>
                <a:cs typeface="Calibri"/>
              </a:defRPr>
            </a:pPr>
            <a:r>
              <a:rPr sz="1725" u="sng">
                <a:solidFill>
                  <a:srgbClr val="1477D4"/>
                </a:solidFill>
                <a:latin typeface="Calibri"/>
                <a:ea typeface="Calibri"/>
                <a:cs typeface="Calibri"/>
                <a:hlinkClick xmlns:r="http://schemas.openxmlformats.org/officeDocument/2006/relationships" r:id="R78fefa6f1eab45a3"/>
              </a:rPr>
              <a:t>AWS: What is Cloud Computing? (video)</a:t>
            </a:r>
          </a:p>
        </p:txBody>
      </p:sp>
      <p:sp>
        <p:nvSpPr>
          <p:cNvPr id="9" name="video-why">
            <a:extLst xmlns:a="http://schemas.openxmlformats.org/drawingml/2006/main">
              <a:ext uri="{FF2B5EF4-FFF2-40B4-BE49-F238E27FC236}">
                <a16:creationId xmlns:a16="http://schemas.microsoft.com/office/drawing/2014/main" id="{10F22602-93FD-41FD-8EBF-1FED0C46F276}"/>
              </a:ext>
            </a:extLst>
          </p:cNvPr>
          <p:cNvSpPr>
            <a:spLocks xmlns:a="http://schemas.openxmlformats.org/drawingml/2006/main" noGrp="1"/>
          </p:cNvSpPr>
          <p:nvPr/>
        </p:nvSpPr>
        <p:spPr>
          <a:xfrm xmlns:a="http://schemas.openxmlformats.org/drawingml/2006/main">
            <a:off x="514350" y="2762250"/>
            <a:ext cx="628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b="0">
                <a:solidFill>
                  <a:srgbClr val="13243B"/>
                </a:solidFill>
                <a:latin typeface="Calibri"/>
                <a:ea typeface="Calibri"/>
                <a:cs typeface="Calibri"/>
              </a:defRPr>
            </a:pPr>
            <a:r>
              <a:rPr sz="1500" b="0">
                <a:solidFill>
                  <a:srgbClr val="13243B"/>
                </a:solidFill>
                <a:latin typeface="Calibri"/>
                <a:ea typeface="Calibri"/>
                <a:cs typeface="Calibri"/>
              </a:rPr>
              <a:t>Identifikasi lima karakteristik NIST pada aplikasi yang akan dipakai di Lab 01.</a:t>
            </a:r>
          </a:p>
        </p:txBody>
      </p:sp>
      <p:sp>
        <p:nvSpPr>
          <p:cNvPr id="10" name="read-label">
            <a:extLst xmlns:a="http://schemas.openxmlformats.org/drawingml/2006/main">
              <a:ext uri="{FF2B5EF4-FFF2-40B4-BE49-F238E27FC236}">
                <a16:creationId xmlns:a16="http://schemas.microsoft.com/office/drawing/2014/main" id="{ECAA4D44-E8A2-4847-A413-A217DB47B487}"/>
              </a:ext>
            </a:extLst>
          </p:cNvPr>
          <p:cNvSpPr>
            <a:spLocks xmlns:a="http://schemas.openxmlformats.org/drawingml/2006/main" noGrp="1"/>
          </p:cNvSpPr>
          <p:nvPr/>
        </p:nvSpPr>
        <p:spPr>
          <a:xfrm xmlns:a="http://schemas.openxmlformats.org/drawingml/2006/main">
            <a:off x="514350" y="35242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FF701B"/>
                </a:solidFill>
                <a:latin typeface="Calibri"/>
                <a:ea typeface="Calibri"/>
                <a:cs typeface="Calibri"/>
              </a:defRPr>
            </a:pPr>
            <a:r>
              <a:rPr sz="1425" b="1">
                <a:solidFill>
                  <a:srgbClr val="FF701B"/>
                </a:solidFill>
                <a:latin typeface="Calibri"/>
                <a:ea typeface="Calibri"/>
                <a:cs typeface="Calibri"/>
              </a:rPr>
              <a:t>BACA</a:t>
            </a:r>
          </a:p>
        </p:txBody>
      </p:sp>
      <p:sp>
        <p:nvSpPr>
          <p:cNvPr id="11" name="article-link">
            <a:extLst xmlns:a="http://schemas.openxmlformats.org/drawingml/2006/main">
              <a:ext uri="{FF2B5EF4-FFF2-40B4-BE49-F238E27FC236}">
                <a16:creationId xmlns:a16="http://schemas.microsoft.com/office/drawing/2014/main" id="{98E679D6-CB75-4B46-A386-F69E357ACFA2}"/>
              </a:ext>
            </a:extLst>
          </p:cNvPr>
          <p:cNvSpPr>
            <a:spLocks xmlns:a="http://schemas.openxmlformats.org/drawingml/2006/main" noGrp="1"/>
          </p:cNvSpPr>
          <p:nvPr/>
        </p:nvSpPr>
        <p:spPr>
          <a:xfrm xmlns:a="http://schemas.openxmlformats.org/drawingml/2006/main">
            <a:off x="514350" y="386715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b="0">
                <a:solidFill>
                  <a:srgbClr val="1477D4"/>
                </a:solidFill>
                <a:latin typeface="Calibri"/>
                <a:ea typeface="Calibri"/>
                <a:cs typeface="Calibri"/>
              </a:defRPr>
            </a:pPr>
            <a:r>
              <a:rPr sz="1725" u="sng">
                <a:solidFill>
                  <a:srgbClr val="1477D4"/>
                </a:solidFill>
                <a:latin typeface="Calibri"/>
                <a:ea typeface="Calibri"/>
                <a:cs typeface="Calibri"/>
                <a:hlinkClick xmlns:r="http://schemas.openxmlformats.org/officeDocument/2006/relationships" r:id="Rfaf7eacbcf1041b3"/>
              </a:rPr>
              <a:t>AWS: What is Cloud Computing? (artikel)</a:t>
            </a:r>
          </a:p>
        </p:txBody>
      </p:sp>
      <p:sp>
        <p:nvSpPr>
          <p:cNvPr id="12" name="extra-link">
            <a:extLst xmlns:a="http://schemas.openxmlformats.org/drawingml/2006/main">
              <a:ext uri="{FF2B5EF4-FFF2-40B4-BE49-F238E27FC236}">
                <a16:creationId xmlns:a16="http://schemas.microsoft.com/office/drawing/2014/main" id="{0622C208-ADEA-4C00-84EB-E465BE7EB28D}"/>
              </a:ext>
            </a:extLst>
          </p:cNvPr>
          <p:cNvSpPr>
            <a:spLocks xmlns:a="http://schemas.openxmlformats.org/drawingml/2006/main" noGrp="1"/>
          </p:cNvSpPr>
          <p:nvPr/>
        </p:nvSpPr>
        <p:spPr>
          <a:xfrm xmlns:a="http://schemas.openxmlformats.org/drawingml/2006/main">
            <a:off x="514350" y="4381500"/>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b="0">
                <a:solidFill>
                  <a:srgbClr val="1477D4"/>
                </a:solidFill>
                <a:latin typeface="Calibri"/>
                <a:ea typeface="Calibri"/>
                <a:cs typeface="Calibri"/>
              </a:defRPr>
            </a:pPr>
            <a:r>
              <a:rPr sz="1500" u="sng">
                <a:solidFill>
                  <a:srgbClr val="1477D4"/>
                </a:solidFill>
                <a:latin typeface="Calibri"/>
                <a:ea typeface="Calibri"/>
                <a:cs typeface="Calibri"/>
                <a:hlinkClick xmlns:r="http://schemas.openxmlformats.org/officeDocument/2006/relationships" r:id="R4230314ad4394dde"/>
              </a:rPr>
              <a:t>NIST SP 800-145: lima karakteristik cloud</a:t>
            </a:r>
          </a:p>
        </p:txBody>
      </p:sp>
      <p:sp>
        <p:nvSpPr>
          <p:cNvPr id="13" name="extra2-link">
            <a:extLst xmlns:a="http://schemas.openxmlformats.org/drawingml/2006/main">
              <a:ext uri="{FF2B5EF4-FFF2-40B4-BE49-F238E27FC236}">
                <a16:creationId xmlns:a16="http://schemas.microsoft.com/office/drawing/2014/main" id="{4A8C7790-83CB-4779-8A4E-EDD0BBB41AB9}"/>
              </a:ext>
            </a:extLst>
          </p:cNvPr>
          <p:cNvSpPr>
            <a:spLocks xmlns:a="http://schemas.openxmlformats.org/drawingml/2006/main" noGrp="1"/>
          </p:cNvSpPr>
          <p:nvPr/>
        </p:nvSpPr>
        <p:spPr>
          <a:xfrm xmlns:a="http://schemas.openxmlformats.org/drawingml/2006/main">
            <a:off x="514350" y="4857750"/>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b="0">
                <a:solidFill>
                  <a:srgbClr val="1477D4"/>
                </a:solidFill>
                <a:latin typeface="Calibri"/>
                <a:ea typeface="Calibri"/>
                <a:cs typeface="Calibri"/>
              </a:defRPr>
            </a:pPr>
            <a:r>
              <a:rPr sz="1500" u="sng">
                <a:solidFill>
                  <a:srgbClr val="1477D4"/>
                </a:solidFill>
                <a:latin typeface="Calibri"/>
                <a:ea typeface="Calibri"/>
                <a:cs typeface="Calibri"/>
                <a:hlinkClick xmlns:r="http://schemas.openxmlformats.org/officeDocument/2006/relationships" r:id="R7b69c969940b4a3b"/>
              </a:rPr>
              <a:t>Synergy Q2 2026: belanja cloud $143.4 miliar</a:t>
            </a:r>
          </a:p>
        </p:txBody>
      </p:sp>
      <p:sp>
        <p:nvSpPr>
          <p:cNvPr id="14" name="try-label">
            <a:extLst xmlns:a="http://schemas.openxmlformats.org/drawingml/2006/main">
              <a:ext uri="{FF2B5EF4-FFF2-40B4-BE49-F238E27FC236}">
                <a16:creationId xmlns:a16="http://schemas.microsoft.com/office/drawing/2014/main" id="{90890008-9483-4719-AC41-1F10C6773271}"/>
              </a:ext>
            </a:extLst>
          </p:cNvPr>
          <p:cNvSpPr>
            <a:spLocks xmlns:a="http://schemas.openxmlformats.org/drawingml/2006/main" noGrp="1"/>
          </p:cNvSpPr>
          <p:nvPr/>
        </p:nvSpPr>
        <p:spPr>
          <a:xfrm xmlns:a="http://schemas.openxmlformats.org/drawingml/2006/main">
            <a:off x="7286625" y="20002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FF701B"/>
                </a:solidFill>
                <a:latin typeface="Calibri"/>
                <a:ea typeface="Calibri"/>
                <a:cs typeface="Calibri"/>
              </a:defRPr>
            </a:pPr>
            <a:r>
              <a:rPr sz="1425" b="1">
                <a:solidFill>
                  <a:srgbClr val="FF701B"/>
                </a:solidFill>
                <a:latin typeface="Calibri"/>
                <a:ea typeface="Calibri"/>
                <a:cs typeface="Calibri"/>
              </a:rPr>
              <a:t>COBA 5 MENIT</a:t>
            </a:r>
          </a:p>
        </p:txBody>
      </p:sp>
      <p:sp>
        <p:nvSpPr>
          <p:cNvPr id="15" name="code-lines">
            <a:extLst xmlns:a="http://schemas.openxmlformats.org/drawingml/2006/main">
              <a:ext uri="{FF2B5EF4-FFF2-40B4-BE49-F238E27FC236}">
                <a16:creationId xmlns:a16="http://schemas.microsoft.com/office/drawing/2014/main" id="{0D517B01-F253-44A1-8E4D-CB5B1BDB17B7}"/>
              </a:ext>
            </a:extLst>
          </p:cNvPr>
          <p:cNvSpPr>
            <a:spLocks xmlns:a="http://schemas.openxmlformats.org/drawingml/2006/main" noGrp="1"/>
          </p:cNvSpPr>
          <p:nvPr/>
        </p:nvSpPr>
        <p:spPr>
          <a:xfrm xmlns:a="http://schemas.openxmlformats.org/drawingml/2006/main">
            <a:off x="7286625" y="2352675"/>
            <a:ext cx="4286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1">
                <a:solidFill>
                  <a:srgbClr val="031D5B"/>
                </a:solidFill>
                <a:latin typeface="Calibri"/>
                <a:ea typeface="Calibri"/>
                <a:cs typeface="Calibri"/>
              </a:defRPr>
            </a:pPr>
            <a:r>
              <a:rPr sz="1650" b="1">
                <a:solidFill>
                  <a:srgbClr val="031D5B"/>
                </a:solidFill>
                <a:latin typeface="Calibri"/>
                <a:ea typeface="Calibri"/>
                <a:cs typeface="Calibri"/>
              </a:rPr>
              <a:t>cd starter</a:t>
            </a:r>
          </a:p>
          <a:p xmlns:a="http://schemas.openxmlformats.org/drawingml/2006/main">
            <a:pPr>
              <a:defRPr sz="1650" b="1">
                <a:solidFill>
                  <a:srgbClr val="031D5B"/>
                </a:solidFill>
                <a:latin typeface="Calibri"/>
                <a:ea typeface="Calibri"/>
                <a:cs typeface="Calibri"/>
              </a:defRPr>
            </a:pPr>
            <a:r>
              <a:rPr sz="1650" b="1">
                <a:solidFill>
                  <a:srgbClr val="031D5B"/>
                </a:solidFill>
                <a:latin typeface="Calibri"/>
                <a:ea typeface="Calibri"/>
                <a:cs typeface="Calibri"/>
              </a:rPr>
              <a:t>npm run dev</a:t>
            </a:r>
          </a:p>
          <a:p xmlns:a="http://schemas.openxmlformats.org/drawingml/2006/main">
            <a:pPr>
              <a:defRPr sz="1650" b="1">
                <a:solidFill>
                  <a:srgbClr val="031D5B"/>
                </a:solidFill>
                <a:latin typeface="Calibri"/>
                <a:ea typeface="Calibri"/>
                <a:cs typeface="Calibri"/>
              </a:defRPr>
            </a:pPr>
            <a:r>
              <a:rPr sz="1650" b="1">
                <a:solidFill>
                  <a:srgbClr val="031D5B"/>
                </a:solidFill>
                <a:latin typeface="Calibri"/>
                <a:ea typeface="Calibri"/>
                <a:cs typeface="Calibri"/>
              </a:rPr>
              <a:t>npm test</a:t>
            </a:r>
          </a:p>
        </p:txBody>
      </p:sp>
      <p:sp>
        <p:nvSpPr>
          <p:cNvPr id="16" name="code-explain">
            <a:extLst xmlns:a="http://schemas.openxmlformats.org/drawingml/2006/main">
              <a:ext uri="{FF2B5EF4-FFF2-40B4-BE49-F238E27FC236}">
                <a16:creationId xmlns:a16="http://schemas.microsoft.com/office/drawing/2014/main" id="{2334884E-DD5D-49A6-A188-7E93E55D3D53}"/>
              </a:ext>
            </a:extLst>
          </p:cNvPr>
          <p:cNvSpPr>
            <a:spLocks xmlns:a="http://schemas.openxmlformats.org/drawingml/2006/main" noGrp="1"/>
          </p:cNvSpPr>
          <p:nvPr/>
        </p:nvSpPr>
        <p:spPr>
          <a:xfrm xmlns:a="http://schemas.openxmlformats.org/drawingml/2006/main">
            <a:off x="7286625" y="41719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0">
                <a:solidFill>
                  <a:srgbClr val="13243B"/>
                </a:solidFill>
                <a:latin typeface="Calibri"/>
                <a:ea typeface="Calibri"/>
                <a:cs typeface="Calibri"/>
              </a:defRPr>
            </a:pPr>
            <a:r>
              <a:rPr sz="1425" b="0">
                <a:solidFill>
                  <a:srgbClr val="13243B"/>
                </a:solidFill>
                <a:latin typeface="Calibri"/>
                <a:ea typeface="Calibri"/>
                <a:cs typeface="Calibri"/>
              </a:rPr>
              <a:t>Buka Cloud Model Lab, pilih model, lalu pastikan 18 tes berjalan.</a:t>
            </a:r>
          </a:p>
        </p:txBody>
      </p:sp>
      <p:sp>
        <p:nvSpPr>
          <p:cNvPr id="17" name="repo-label">
            <a:extLst xmlns:a="http://schemas.openxmlformats.org/drawingml/2006/main">
              <a:ext uri="{FF2B5EF4-FFF2-40B4-BE49-F238E27FC236}">
                <a16:creationId xmlns:a16="http://schemas.microsoft.com/office/drawing/2014/main" id="{8DB3F1BD-83AC-456D-86B3-D9C55BCB5962}"/>
              </a:ext>
            </a:extLst>
          </p:cNvPr>
          <p:cNvSpPr>
            <a:spLocks xmlns:a="http://schemas.openxmlformats.org/drawingml/2006/main" noGrp="1"/>
          </p:cNvSpPr>
          <p:nvPr/>
        </p:nvSpPr>
        <p:spPr>
          <a:xfrm xmlns:a="http://schemas.openxmlformats.org/drawingml/2006/main">
            <a:off x="514350" y="5343525"/>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FF701B"/>
                </a:solidFill>
                <a:latin typeface="Calibri"/>
                <a:ea typeface="Calibri"/>
                <a:cs typeface="Calibri"/>
              </a:defRPr>
            </a:pPr>
            <a:r>
              <a:rPr sz="1350" b="1">
                <a:solidFill>
                  <a:srgbClr val="FF701B"/>
                </a:solidFill>
                <a:latin typeface="Calibri"/>
                <a:ea typeface="Calibri"/>
                <a:cs typeface="Calibri"/>
              </a:rPr>
              <a:t>MODUL DAN KODE LAB</a:t>
            </a:r>
          </a:p>
        </p:txBody>
      </p:sp>
      <p:sp>
        <p:nvSpPr>
          <p:cNvPr id="18" name="repo-link">
            <a:extLst xmlns:a="http://schemas.openxmlformats.org/drawingml/2006/main">
              <a:ext uri="{FF2B5EF4-FFF2-40B4-BE49-F238E27FC236}">
                <a16:creationId xmlns:a16="http://schemas.microsoft.com/office/drawing/2014/main" id="{1B273235-E8E8-4CD9-8C6E-F53B4BB9B101}"/>
              </a:ext>
            </a:extLst>
          </p:cNvPr>
          <p:cNvSpPr>
            <a:spLocks xmlns:a="http://schemas.openxmlformats.org/drawingml/2006/main" noGrp="1"/>
          </p:cNvSpPr>
          <p:nvPr/>
        </p:nvSpPr>
        <p:spPr>
          <a:xfrm xmlns:a="http://schemas.openxmlformats.org/drawingml/2006/main">
            <a:off x="514350" y="565785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b="0">
                <a:solidFill>
                  <a:srgbClr val="1477D4"/>
                </a:solidFill>
                <a:latin typeface="Calibri"/>
                <a:ea typeface="Calibri"/>
                <a:cs typeface="Calibri"/>
              </a:defRPr>
            </a:pPr>
            <a:r>
              <a:rPr sz="1725" u="sng">
                <a:solidFill>
                  <a:srgbClr val="1477D4"/>
                </a:solidFill>
                <a:latin typeface="Calibri"/>
                <a:ea typeface="Calibri"/>
                <a:cs typeface="Calibri"/>
                <a:hlinkClick xmlns:r="http://schemas.openxmlformats.org/officeDocument/2006/relationships" r:id="R328387c8f16b4b9e"/>
              </a:rPr>
              <a:t>github.com/SeedFlora/meet1CloudService</a:t>
            </a:r>
          </a:p>
        </p:txBody>
      </p:sp>
    </p:spTree>
    <p:extLst>
      <p:ext uri="{BB962C8B-B14F-4D97-AF65-F5344CB8AC3E}">
        <p14:creationId xmlns:p14="http://schemas.microsoft.com/office/powerpoint/2010/main" val="139714023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2026-10-07T19:11:52.8530000Z</dcterms:created>
  <dcterms:modified xsi:type="dcterms:W3CDTF">2026-10-07T19:11:52.8530000Z</dcterms:modified>
</coreProperties>
</file>