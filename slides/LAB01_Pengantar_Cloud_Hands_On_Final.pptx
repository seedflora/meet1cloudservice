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2bb206a5b34734" /><Relationship Type="http://schemas.openxmlformats.org/officeDocument/2006/relationships/extended-properties" Target="/docProps/app.xml" Id="R424fc8afeba24080" /><Relationship Type="http://schemas.openxmlformats.org/officeDocument/2006/relationships/officeDocument" Target="/ppt/presentation.xml" Id="R892476fb366d48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4ef222607c4bd1"/>
  </p:sldMasterIdLst>
  <p:notesMasterIdLst>
    <p:notesMasterId xmlns:r="http://schemas.openxmlformats.org/officeDocument/2006/relationships" r:id="Re9ddcbf2555b4ef6"/>
  </p:notesMasterIdLst>
  <p:sldIdLst>
    <p:sldId xmlns:r="http://schemas.openxmlformats.org/officeDocument/2006/relationships" id="256" r:id="R64b98e1fb289405a"/>
    <p:sldId xmlns:r="http://schemas.openxmlformats.org/officeDocument/2006/relationships" id="257" r:id="R7efa6429a33d4d39"/>
    <p:sldId xmlns:r="http://schemas.openxmlformats.org/officeDocument/2006/relationships" id="258" r:id="Rbae253236aac478a"/>
    <p:sldId xmlns:r="http://schemas.openxmlformats.org/officeDocument/2006/relationships" id="259" r:id="Rae59cb462b774d0d"/>
    <p:sldId xmlns:r="http://schemas.openxmlformats.org/officeDocument/2006/relationships" id="260" r:id="R863189838ba549ed"/>
    <p:sldId xmlns:r="http://schemas.openxmlformats.org/officeDocument/2006/relationships" id="261" r:id="R6a1830cf569b41bf"/>
    <p:sldId xmlns:r="http://schemas.openxmlformats.org/officeDocument/2006/relationships" id="262" r:id="Reb4c3ea036474bf4"/>
    <p:sldId xmlns:r="http://schemas.openxmlformats.org/officeDocument/2006/relationships" id="263" r:id="R79f1e23278e5497d"/>
    <p:sldId xmlns:r="http://schemas.openxmlformats.org/officeDocument/2006/relationships" id="264" r:id="R9bcd1df243d444bc"/>
    <p:sldId xmlns:r="http://schemas.openxmlformats.org/officeDocument/2006/relationships" id="265" r:id="Rfa468b3386ab4722"/>
    <p:sldId xmlns:r="http://schemas.openxmlformats.org/officeDocument/2006/relationships" id="266" r:id="R2f5b8f27ccee4f81"/>
    <p:sldId xmlns:r="http://schemas.openxmlformats.org/officeDocument/2006/relationships" id="267" r:id="R9625d33847a9421e"/>
    <p:sldId xmlns:r="http://schemas.openxmlformats.org/officeDocument/2006/relationships" id="268" r:id="Ra6a06c70c33b4cbb"/>
    <p:sldId xmlns:r="http://schemas.openxmlformats.org/officeDocument/2006/relationships" id="269" r:id="R2a5a6c5711184d54"/>
    <p:sldId xmlns:r="http://schemas.openxmlformats.org/officeDocument/2006/relationships" id="270" r:id="Rdfbf60b11aa04c4c"/>
    <p:sldId xmlns:r="http://schemas.openxmlformats.org/officeDocument/2006/relationships" id="271" r:id="R1d8ede59e98f4e6d"/>
    <p:sldId xmlns:r="http://schemas.openxmlformats.org/officeDocument/2006/relationships" id="272" r:id="R421d5a9c2b1c4581"/>
    <p:sldId xmlns:r="http://schemas.openxmlformats.org/officeDocument/2006/relationships" id="273" r:id="R9a6601a3965d4ae4"/>
    <p:sldId xmlns:r="http://schemas.openxmlformats.org/officeDocument/2006/relationships" id="274" r:id="R51cde53f755e4b41"/>
    <p:sldId xmlns:r="http://schemas.openxmlformats.org/officeDocument/2006/relationships" id="275" r:id="R02b3bfe474824108"/>
    <p:sldId xmlns:r="http://schemas.openxmlformats.org/officeDocument/2006/relationships" id="276" r:id="R25094f4fce2b4575"/>
    <p:sldId xmlns:r="http://schemas.openxmlformats.org/officeDocument/2006/relationships" id="277" r:id="Rbbce63a13e424ef7"/>
    <p:sldId xmlns:r="http://schemas.openxmlformats.org/officeDocument/2006/relationships" id="278" r:id="R289f415db53347fc"/>
    <p:sldId xmlns:r="http://schemas.openxmlformats.org/officeDocument/2006/relationships" id="279" r:id="Rd9d263d4c4584701"/>
    <p:sldId xmlns:r="http://schemas.openxmlformats.org/officeDocument/2006/relationships" id="280" r:id="R847180dcf14f4e19"/>
    <p:sldId xmlns:r="http://schemas.openxmlformats.org/officeDocument/2006/relationships" id="281" r:id="R1da9bcaa181b42c6"/>
    <p:sldId xmlns:r="http://schemas.openxmlformats.org/officeDocument/2006/relationships" id="282" r:id="Ra8376ef143f844fc"/>
    <p:sldId xmlns:r="http://schemas.openxmlformats.org/officeDocument/2006/relationships" id="283" r:id="R380d738dac1c4008"/>
    <p:sldId xmlns:r="http://schemas.openxmlformats.org/officeDocument/2006/relationships" id="284" r:id="R18b96cb94af2460f"/>
    <p:sldId xmlns:r="http://schemas.openxmlformats.org/officeDocument/2006/relationships" id="285" r:id="R43c6ab4cd3f34a7b"/>
    <p:sldId xmlns:r="http://schemas.openxmlformats.org/officeDocument/2006/relationships" id="286" r:id="R9fa56b38e9ca4777"/>
    <p:sldId xmlns:r="http://schemas.openxmlformats.org/officeDocument/2006/relationships" id="287" r:id="Rb9af13a85f124c9c"/>
    <p:sldId xmlns:r="http://schemas.openxmlformats.org/officeDocument/2006/relationships" id="288" r:id="Rafdb9147164d458d"/>
    <p:sldId xmlns:r="http://schemas.openxmlformats.org/officeDocument/2006/relationships" id="289" r:id="R1ea6792a9cbd4303"/>
    <p:sldId xmlns:r="http://schemas.openxmlformats.org/officeDocument/2006/relationships" id="290" r:id="R0a73545f9ac84405"/>
    <p:sldId xmlns:r="http://schemas.openxmlformats.org/officeDocument/2006/relationships" id="291" r:id="R25cbc121882b40ac"/>
    <p:sldId xmlns:r="http://schemas.openxmlformats.org/officeDocument/2006/relationships" id="292" r:id="R37edb51c91cd4be5"/>
    <p:sldId xmlns:r="http://schemas.openxmlformats.org/officeDocument/2006/relationships" id="293" r:id="R393f62cc81d942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c08a8dde1b4def" /><Relationship Type="http://schemas.openxmlformats.org/officeDocument/2006/relationships/slideMaster" Target="/ppt/slideMasters/slideMaster1.xml" Id="Rd14ef222607c4bd1" /><Relationship Type="http://schemas.openxmlformats.org/officeDocument/2006/relationships/notesMaster" Target="/ppt/notesMasters/notesMaster1.xml" Id="Re9ddcbf2555b4ef6" /><Relationship Type="http://schemas.openxmlformats.org/officeDocument/2006/relationships/presProps" Target="/ppt/presProps.xml" Id="R56dcccd7de88417b" /><Relationship Type="http://schemas.openxmlformats.org/officeDocument/2006/relationships/viewProps" Target="/ppt/viewProps.xml" Id="Rcc20e690e15c483c" /><Relationship Type="http://schemas.openxmlformats.org/officeDocument/2006/relationships/tableStyles" Target="/ppt/tableStyles.xml" Id="Rb94b8a40dda64fd4" /><Relationship Type="http://schemas.openxmlformats.org/officeDocument/2006/relationships/slide" Target="/ppt/slides/slide1.xml" Id="R64b98e1fb289405a" /><Relationship Type="http://schemas.openxmlformats.org/officeDocument/2006/relationships/slide" Target="/ppt/slides/slide2.xml" Id="R7efa6429a33d4d39" /><Relationship Type="http://schemas.openxmlformats.org/officeDocument/2006/relationships/slide" Target="/ppt/slides/slide3.xml" Id="Rbae253236aac478a" /><Relationship Type="http://schemas.openxmlformats.org/officeDocument/2006/relationships/slide" Target="/ppt/slides/slide4.xml" Id="Rae59cb462b774d0d" /><Relationship Type="http://schemas.openxmlformats.org/officeDocument/2006/relationships/slide" Target="/ppt/slides/slide5.xml" Id="R863189838ba549ed" /><Relationship Type="http://schemas.openxmlformats.org/officeDocument/2006/relationships/slide" Target="/ppt/slides/slide6.xml" Id="R6a1830cf569b41bf" /><Relationship Type="http://schemas.openxmlformats.org/officeDocument/2006/relationships/slide" Target="/ppt/slides/slide7.xml" Id="Reb4c3ea036474bf4" /><Relationship Type="http://schemas.openxmlformats.org/officeDocument/2006/relationships/slide" Target="/ppt/slides/slide8.xml" Id="R79f1e23278e5497d" /><Relationship Type="http://schemas.openxmlformats.org/officeDocument/2006/relationships/slide" Target="/ppt/slides/slide9.xml" Id="R9bcd1df243d444bc" /><Relationship Type="http://schemas.openxmlformats.org/officeDocument/2006/relationships/slide" Target="/ppt/slides/slide10.xml" Id="Rfa468b3386ab4722" /><Relationship Type="http://schemas.openxmlformats.org/officeDocument/2006/relationships/slide" Target="/ppt/slides/slide11.xml" Id="R2f5b8f27ccee4f81" /><Relationship Type="http://schemas.openxmlformats.org/officeDocument/2006/relationships/slide" Target="/ppt/slides/slide12.xml" Id="R9625d33847a9421e" /><Relationship Type="http://schemas.openxmlformats.org/officeDocument/2006/relationships/slide" Target="/ppt/slides/slide13.xml" Id="Ra6a06c70c33b4cbb" /><Relationship Type="http://schemas.openxmlformats.org/officeDocument/2006/relationships/slide" Target="/ppt/slides/slide14.xml" Id="R2a5a6c5711184d54" /><Relationship Type="http://schemas.openxmlformats.org/officeDocument/2006/relationships/slide" Target="/ppt/slides/slide15.xml" Id="Rdfbf60b11aa04c4c" /><Relationship Type="http://schemas.openxmlformats.org/officeDocument/2006/relationships/slide" Target="/ppt/slides/slide16.xml" Id="R1d8ede59e98f4e6d" /><Relationship Type="http://schemas.openxmlformats.org/officeDocument/2006/relationships/slide" Target="/ppt/slides/slide17.xml" Id="R421d5a9c2b1c4581" /><Relationship Type="http://schemas.openxmlformats.org/officeDocument/2006/relationships/slide" Target="/ppt/slides/slide18.xml" Id="R9a6601a3965d4ae4" /><Relationship Type="http://schemas.openxmlformats.org/officeDocument/2006/relationships/slide" Target="/ppt/slides/slide19.xml" Id="R51cde53f755e4b41" /><Relationship Type="http://schemas.openxmlformats.org/officeDocument/2006/relationships/slide" Target="/ppt/slides/slide20.xml" Id="R02b3bfe474824108" /><Relationship Type="http://schemas.openxmlformats.org/officeDocument/2006/relationships/slide" Target="/ppt/slides/slide21.xml" Id="R25094f4fce2b4575" /><Relationship Type="http://schemas.openxmlformats.org/officeDocument/2006/relationships/slide" Target="/ppt/slides/slide22.xml" Id="Rbbce63a13e424ef7" /><Relationship Type="http://schemas.openxmlformats.org/officeDocument/2006/relationships/slide" Target="/ppt/slides/slide23.xml" Id="R289f415db53347fc" /><Relationship Type="http://schemas.openxmlformats.org/officeDocument/2006/relationships/slide" Target="/ppt/slides/slide24.xml" Id="Rd9d263d4c4584701" /><Relationship Type="http://schemas.openxmlformats.org/officeDocument/2006/relationships/slide" Target="/ppt/slides/slide25.xml" Id="R847180dcf14f4e19" /><Relationship Type="http://schemas.openxmlformats.org/officeDocument/2006/relationships/slide" Target="/ppt/slides/slide26.xml" Id="R1da9bcaa181b42c6" /><Relationship Type="http://schemas.openxmlformats.org/officeDocument/2006/relationships/slide" Target="/ppt/slides/slide27.xml" Id="Ra8376ef143f844fc" /><Relationship Type="http://schemas.openxmlformats.org/officeDocument/2006/relationships/slide" Target="/ppt/slides/slide28.xml" Id="R380d738dac1c4008" /><Relationship Type="http://schemas.openxmlformats.org/officeDocument/2006/relationships/slide" Target="/ppt/slides/slide29.xml" Id="R18b96cb94af2460f" /><Relationship Type="http://schemas.openxmlformats.org/officeDocument/2006/relationships/slide" Target="/ppt/slides/slide30.xml" Id="R43c6ab4cd3f34a7b" /><Relationship Type="http://schemas.openxmlformats.org/officeDocument/2006/relationships/slide" Target="/ppt/slides/slide31.xml" Id="R9fa56b38e9ca4777" /><Relationship Type="http://schemas.openxmlformats.org/officeDocument/2006/relationships/slide" Target="/ppt/slides/slide32.xml" Id="Rb9af13a85f124c9c" /><Relationship Type="http://schemas.openxmlformats.org/officeDocument/2006/relationships/slide" Target="/ppt/slides/slide33.xml" Id="Rafdb9147164d458d" /><Relationship Type="http://schemas.openxmlformats.org/officeDocument/2006/relationships/slide" Target="/ppt/slides/slide34.xml" Id="R1ea6792a9cbd4303" /><Relationship Type="http://schemas.openxmlformats.org/officeDocument/2006/relationships/slide" Target="/ppt/slides/slide35.xml" Id="R0a73545f9ac84405" /><Relationship Type="http://schemas.openxmlformats.org/officeDocument/2006/relationships/slide" Target="/ppt/slides/slide36.xml" Id="R25cbc121882b40ac" /><Relationship Type="http://schemas.openxmlformats.org/officeDocument/2006/relationships/slide" Target="/ppt/slides/slide37.xml" Id="R37edb51c91cd4be5" /><Relationship Type="http://schemas.openxmlformats.org/officeDocument/2006/relationships/slide" Target="/ppt/slides/slide38.xml" Id="R393f62cc81d942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2edea9b27648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5c3553a9924334" /><Relationship Type="http://schemas.openxmlformats.org/officeDocument/2006/relationships/notesMaster" Target="/ppt/notesMasters/notesMaster1.xml" Id="R1e2e04e314ca4f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1f1b4b8e514b09" /><Relationship Type="http://schemas.openxmlformats.org/officeDocument/2006/relationships/notesMaster" Target="/ppt/notesMasters/notesMaster1.xml" Id="R5ee3b805a6b945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ee4e6c035243c2" /><Relationship Type="http://schemas.openxmlformats.org/officeDocument/2006/relationships/notesMaster" Target="/ppt/notesMasters/notesMaster1.xml" Id="R79078844570b43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1c9f18b50b453c" /><Relationship Type="http://schemas.openxmlformats.org/officeDocument/2006/relationships/notesMaster" Target="/ppt/notesMasters/notesMaster1.xml" Id="R2d48e343df724e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4d482a78c545a6" /><Relationship Type="http://schemas.openxmlformats.org/officeDocument/2006/relationships/notesMaster" Target="/ppt/notesMasters/notesMaster1.xml" Id="Re2c8a5d539484d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50fc03004d4abb" /><Relationship Type="http://schemas.openxmlformats.org/officeDocument/2006/relationships/notesMaster" Target="/ppt/notesMasters/notesMaster1.xml" Id="R7b0d42ce0eb040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f18b0c553b4a6f" /><Relationship Type="http://schemas.openxmlformats.org/officeDocument/2006/relationships/notesMaster" Target="/ppt/notesMasters/notesMaster1.xml" Id="R012660d0da7c4e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55f98ad9bd4b9d" /><Relationship Type="http://schemas.openxmlformats.org/officeDocument/2006/relationships/notesMaster" Target="/ppt/notesMasters/notesMaster1.xml" Id="R8eef3c67ba8b46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eaaea1e6b54fe7" /><Relationship Type="http://schemas.openxmlformats.org/officeDocument/2006/relationships/notesMaster" Target="/ppt/notesMasters/notesMaster1.xml" Id="R3e86c2f8f0f943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efb68e3d3e240c9" /><Relationship Type="http://schemas.openxmlformats.org/officeDocument/2006/relationships/notesMaster" Target="/ppt/notesMasters/notesMaster1.xml" Id="R2afd49d48bf242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98d9f8233244ad3" /><Relationship Type="http://schemas.openxmlformats.org/officeDocument/2006/relationships/notesMaster" Target="/ppt/notesMasters/notesMaster1.xml" Id="R78d9f8024f0f44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fdc24c7632b480a" /><Relationship Type="http://schemas.openxmlformats.org/officeDocument/2006/relationships/notesMaster" Target="/ppt/notesMasters/notesMaster1.xml" Id="R0d85b0725eef43e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226a868f5af4df0" /><Relationship Type="http://schemas.openxmlformats.org/officeDocument/2006/relationships/notesMaster" Target="/ppt/notesMasters/notesMaster1.xml" Id="R7e6f424506f4400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095f88e258e4561" /><Relationship Type="http://schemas.openxmlformats.org/officeDocument/2006/relationships/notesMaster" Target="/ppt/notesMasters/notesMaster1.xml" Id="R68b316904b75410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adc9b38465b4e0f" /><Relationship Type="http://schemas.openxmlformats.org/officeDocument/2006/relationships/notesMaster" Target="/ppt/notesMasters/notesMaster1.xml" Id="Rae64dba59ba241b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c229e679ea64cec" /><Relationship Type="http://schemas.openxmlformats.org/officeDocument/2006/relationships/notesMaster" Target="/ppt/notesMasters/notesMaster1.xml" Id="R87d46fdbcbf14a0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2441074692e4bde" /><Relationship Type="http://schemas.openxmlformats.org/officeDocument/2006/relationships/notesMaster" Target="/ppt/notesMasters/notesMaster1.xml" Id="Rd8c5823334a0405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527fbfb06de4b72" /><Relationship Type="http://schemas.openxmlformats.org/officeDocument/2006/relationships/notesMaster" Target="/ppt/notesMasters/notesMaster1.xml" Id="Rc87182f66db947a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345f8d74dac4fc6" /><Relationship Type="http://schemas.openxmlformats.org/officeDocument/2006/relationships/notesMaster" Target="/ppt/notesMasters/notesMaster1.xml" Id="R99d193c0105e4fb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19cb46960024f6f" /><Relationship Type="http://schemas.openxmlformats.org/officeDocument/2006/relationships/notesMaster" Target="/ppt/notesMasters/notesMaster1.xml" Id="R85f5dd5f3b1b448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344a66a39f6498b" /><Relationship Type="http://schemas.openxmlformats.org/officeDocument/2006/relationships/notesMaster" Target="/ppt/notesMasters/notesMaster1.xml" Id="Rf21855d9dd4e472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b3b6e74ae58495a" /><Relationship Type="http://schemas.openxmlformats.org/officeDocument/2006/relationships/notesMaster" Target="/ppt/notesMasters/notesMaster1.xml" Id="Re5aa873928364a4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13b1ef15da34f17" /><Relationship Type="http://schemas.openxmlformats.org/officeDocument/2006/relationships/notesMaster" Target="/ppt/notesMasters/notesMaster1.xml" Id="Rcb7631bef71744b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34666c8edd94aac" /><Relationship Type="http://schemas.openxmlformats.org/officeDocument/2006/relationships/notesMaster" Target="/ppt/notesMasters/notesMaster1.xml" Id="Rbc62ae81a4554bc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322b9aa3a8e45e9" /><Relationship Type="http://schemas.openxmlformats.org/officeDocument/2006/relationships/notesMaster" Target="/ppt/notesMasters/notesMaster1.xml" Id="Refdf25533257486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cbcb650f59f4876" /><Relationship Type="http://schemas.openxmlformats.org/officeDocument/2006/relationships/notesMaster" Target="/ppt/notesMasters/notesMaster1.xml" Id="Rc778843c815f4cd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8e258b20c3e415c" /><Relationship Type="http://schemas.openxmlformats.org/officeDocument/2006/relationships/notesMaster" Target="/ppt/notesMasters/notesMaster1.xml" Id="R8201abbb35e442a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a657376b12c4a71" /><Relationship Type="http://schemas.openxmlformats.org/officeDocument/2006/relationships/notesMaster" Target="/ppt/notesMasters/notesMaster1.xml" Id="R3f8875a1e66c4a9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f3633cb97cc4075" /><Relationship Type="http://schemas.openxmlformats.org/officeDocument/2006/relationships/notesMaster" Target="/ppt/notesMasters/notesMaster1.xml" Id="R5275451eb2e64e3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c56072cdd5f48d1" /><Relationship Type="http://schemas.openxmlformats.org/officeDocument/2006/relationships/notesMaster" Target="/ppt/notesMasters/notesMaster1.xml" Id="Rc892337702974fa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d9dc9584bbf4bc1" /><Relationship Type="http://schemas.openxmlformats.org/officeDocument/2006/relationships/notesMaster" Target="/ppt/notesMasters/notesMaster1.xml" Id="Rd7dc233e322e463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3de15020dec4d16" /><Relationship Type="http://schemas.openxmlformats.org/officeDocument/2006/relationships/notesMaster" Target="/ppt/notesMasters/notesMaster1.xml" Id="Rdb7ad8943b7e4cc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3bd71da645a4f0e" /><Relationship Type="http://schemas.openxmlformats.org/officeDocument/2006/relationships/notesMaster" Target="/ppt/notesMasters/notesMaster1.xml" Id="R398df11e7a1147e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b5e06c51d7a4f82" /><Relationship Type="http://schemas.openxmlformats.org/officeDocument/2006/relationships/notesMaster" Target="/ppt/notesMasters/notesMaster1.xml" Id="R7fc8a6b884424d9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9ca439abf7d434d" /><Relationship Type="http://schemas.openxmlformats.org/officeDocument/2006/relationships/notesMaster" Target="/ppt/notesMasters/notesMaster1.xml" Id="Rfaba661ee7324e4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e5ba0fb717c4643" /><Relationship Type="http://schemas.openxmlformats.org/officeDocument/2006/relationships/notesMaster" Target="/ppt/notesMasters/notesMaster1.xml" Id="Rd397c5fa4913475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b1c11e9e11945d2" /><Relationship Type="http://schemas.openxmlformats.org/officeDocument/2006/relationships/notesMaster" Target="/ppt/notesMasters/notesMaster1.xml" Id="R38e931b593bf446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027322c87014782" /><Relationship Type="http://schemas.openxmlformats.org/officeDocument/2006/relationships/notesMaster" Target="/ppt/notesMasters/notesMaster1.xml" Id="R04e1eabd614349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375adce5114450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82210a450f4676" /><Relationship Type="http://schemas.openxmlformats.org/officeDocument/2006/relationships/slideLayout" Target="/ppt/slideLayouts/slideLayout1.xml" Id="R7d92214cc4f74c2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92214cc4f74c27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ee502fc7745e8" /><Relationship Type="http://schemas.openxmlformats.org/officeDocument/2006/relationships/image" Target="/ppt/media/image.jpeg" Id="Re7f8672e7a0c4f05" /><Relationship Type="http://schemas.openxmlformats.org/officeDocument/2006/relationships/image" Target="/ppt/media/image.png" Id="Rf4de98281dff4903" /><Relationship Type="http://schemas.openxmlformats.org/officeDocument/2006/relationships/image" Target="/ppt/media/image2.png" Id="R389ebeea773646c7" /><Relationship Type="http://schemas.openxmlformats.org/officeDocument/2006/relationships/notesSlide" Target="/ppt/notesSlides/notesSlide1.xml" Id="R0614978d50f541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d68614145f4504" /><Relationship Type="http://schemas.openxmlformats.org/officeDocument/2006/relationships/image" Target="/ppt/media/image.png" Id="Rdc264ab12386409a" /><Relationship Type="http://schemas.openxmlformats.org/officeDocument/2006/relationships/image" Target="/ppt/media/image2.png" Id="R7244d79c0e574fb7" /><Relationship Type="http://schemas.openxmlformats.org/officeDocument/2006/relationships/image" Target="/ppt/media/image3.png" Id="R2b098290670a4b24" /><Relationship Type="http://schemas.openxmlformats.org/officeDocument/2006/relationships/image" Target="/ppt/media/image4.png" Id="Re3db15e623194562" /><Relationship Type="http://schemas.openxmlformats.org/officeDocument/2006/relationships/image" Target="/ppt/media/image5.png" Id="R57506dd0a8034058" /><Relationship Type="http://schemas.openxmlformats.org/officeDocument/2006/relationships/image" Target="/ppt/media/image6.png" Id="Re31d496fcf554928" /><Relationship Type="http://schemas.openxmlformats.org/officeDocument/2006/relationships/image" Target="/ppt/media/image7.png" Id="R635e121cd1f44637" /><Relationship Type="http://schemas.openxmlformats.org/officeDocument/2006/relationships/notesSlide" Target="/ppt/notesSlides/notesSlide2.xml" Id="R71a594b1d28947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b67e1331f4dfd" /><Relationship Type="http://schemas.openxmlformats.org/officeDocument/2006/relationships/image" Target="/ppt/media/image.png" Id="R2c14b66ed97749fb" /><Relationship Type="http://schemas.openxmlformats.org/officeDocument/2006/relationships/image" Target="/ppt/media/image2.png" Id="R4c64c7b366d2476d" /><Relationship Type="http://schemas.openxmlformats.org/officeDocument/2006/relationships/image" Target="/ppt/media/image8.png" Id="R86ca406e56384e69" /><Relationship Type="http://schemas.openxmlformats.org/officeDocument/2006/relationships/image" Target="/ppt/media/image9.png" Id="R6678f8e686a24257" /><Relationship Type="http://schemas.openxmlformats.org/officeDocument/2006/relationships/image" Target="/ppt/media/image6.png" Id="R86f3508d61274462" /><Relationship Type="http://schemas.openxmlformats.org/officeDocument/2006/relationships/image" Target="/ppt/media/image10.png" Id="Rf0fa6ea6a2a343ae" /><Relationship Type="http://schemas.openxmlformats.org/officeDocument/2006/relationships/image" Target="/ppt/media/image11.png" Id="Ra6a06180b0904881" /><Relationship Type="http://schemas.openxmlformats.org/officeDocument/2006/relationships/image" Target="/ppt/media/image12.png" Id="Rc4d0c64263f0491b" /><Relationship Type="http://schemas.openxmlformats.org/officeDocument/2006/relationships/notesSlide" Target="/ppt/notesSlides/notesSlide3.xml" Id="R3453a82aa15546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70e44b3254f7a" /><Relationship Type="http://schemas.openxmlformats.org/officeDocument/2006/relationships/image" Target="/ppt/media/image.png" Id="R1a07ff54b1764ef6" /><Relationship Type="http://schemas.openxmlformats.org/officeDocument/2006/relationships/image" Target="/ppt/media/image2.png" Id="R6180c8a93bf0408e" /><Relationship Type="http://schemas.openxmlformats.org/officeDocument/2006/relationships/notesSlide" Target="/ppt/notesSlides/notesSlide4.xml" Id="R4023ac97951a4d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1d57f3b494504" /><Relationship Type="http://schemas.openxmlformats.org/officeDocument/2006/relationships/image" Target="/ppt/media/image.png" Id="R839d9dfdbbdd4762" /><Relationship Type="http://schemas.openxmlformats.org/officeDocument/2006/relationships/image" Target="/ppt/media/image2.png" Id="R3f3e9fce724d4682" /><Relationship Type="http://schemas.openxmlformats.org/officeDocument/2006/relationships/image" Target="/ppt/media/image13.png" Id="Rbef1262d9c214a60" /><Relationship Type="http://schemas.openxmlformats.org/officeDocument/2006/relationships/notesSlide" Target="/ppt/notesSlides/notesSlide5.xml" Id="R3dc3d82797e94b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8f3f012fc4056" /><Relationship Type="http://schemas.openxmlformats.org/officeDocument/2006/relationships/image" Target="/ppt/media/image.png" Id="R682064eca54448c7" /><Relationship Type="http://schemas.openxmlformats.org/officeDocument/2006/relationships/image" Target="/ppt/media/image2.png" Id="R50431fc76f4a4ee7" /><Relationship Type="http://schemas.openxmlformats.org/officeDocument/2006/relationships/notesSlide" Target="/ppt/notesSlides/notesSlide6.xml" Id="Rb5bdded5373d4e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2ca43417f4ad3" /><Relationship Type="http://schemas.openxmlformats.org/officeDocument/2006/relationships/image" Target="/ppt/media/image.png" Id="Racfcd76cf428439c" /><Relationship Type="http://schemas.openxmlformats.org/officeDocument/2006/relationships/image" Target="/ppt/media/image2.png" Id="R23ebb5f58be04a18" /><Relationship Type="http://schemas.openxmlformats.org/officeDocument/2006/relationships/notesSlide" Target="/ppt/notesSlides/notesSlide7.xml" Id="R6733ba0cbf0842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e008780c04342" /><Relationship Type="http://schemas.openxmlformats.org/officeDocument/2006/relationships/image" Target="/ppt/media/image.png" Id="Rb002035784554d6d" /><Relationship Type="http://schemas.openxmlformats.org/officeDocument/2006/relationships/image" Target="/ppt/media/image2.png" Id="Rf255305dd1a448a3" /><Relationship Type="http://schemas.openxmlformats.org/officeDocument/2006/relationships/notesSlide" Target="/ppt/notesSlides/notesSlide8.xml" Id="Rf664fbcbc6e54e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e60f8821840f8" /><Relationship Type="http://schemas.openxmlformats.org/officeDocument/2006/relationships/image" Target="/ppt/media/image.png" Id="Radd407617ca94644" /><Relationship Type="http://schemas.openxmlformats.org/officeDocument/2006/relationships/image" Target="/ppt/media/image2.png" Id="Rfa79c10fe5bb4802" /><Relationship Type="http://schemas.openxmlformats.org/officeDocument/2006/relationships/notesSlide" Target="/ppt/notesSlides/notesSlide9.xml" Id="R9ebc1ef40f5043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3071e7c4743f9" /><Relationship Type="http://schemas.openxmlformats.org/officeDocument/2006/relationships/image" Target="/ppt/media/image.png" Id="R0438d8e5ce8a42ce" /><Relationship Type="http://schemas.openxmlformats.org/officeDocument/2006/relationships/image" Target="/ppt/media/image2.png" Id="R840e3e48229e479f" /><Relationship Type="http://schemas.openxmlformats.org/officeDocument/2006/relationships/notesSlide" Target="/ppt/notesSlides/notesSlide10.xml" Id="R786c6a8da62c495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49a5ce8094cf6" /><Relationship Type="http://schemas.openxmlformats.org/officeDocument/2006/relationships/image" Target="/ppt/media/image.png" Id="Rcd93dcc21b034069" /><Relationship Type="http://schemas.openxmlformats.org/officeDocument/2006/relationships/image" Target="/ppt/media/image2.png" Id="R7454eda27b8843c5" /><Relationship Type="http://schemas.openxmlformats.org/officeDocument/2006/relationships/image" Target="/ppt/media/image14.png" Id="R6245b06cc2d741ec" /><Relationship Type="http://schemas.openxmlformats.org/officeDocument/2006/relationships/notesSlide" Target="/ppt/notesSlides/notesSlide11.xml" Id="Ra60bc1bf8b094fc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38ae1063f4f0e" /><Relationship Type="http://schemas.openxmlformats.org/officeDocument/2006/relationships/image" Target="/ppt/media/image.png" Id="Rc9dd6ff045ca4765" /><Relationship Type="http://schemas.openxmlformats.org/officeDocument/2006/relationships/image" Target="/ppt/media/image2.png" Id="R05ed16c2c75e4d76" /><Relationship Type="http://schemas.openxmlformats.org/officeDocument/2006/relationships/notesSlide" Target="/ppt/notesSlides/notesSlide12.xml" Id="R4381dd7c74a8480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ad159ea6b43f5" /><Relationship Type="http://schemas.openxmlformats.org/officeDocument/2006/relationships/image" Target="/ppt/media/image.png" Id="R9bf8537371dd4064" /><Relationship Type="http://schemas.openxmlformats.org/officeDocument/2006/relationships/image" Target="/ppt/media/image2.png" Id="Ra3e1109f115d429e" /><Relationship Type="http://schemas.openxmlformats.org/officeDocument/2006/relationships/notesSlide" Target="/ppt/notesSlides/notesSlide13.xml" Id="R734de359fba6421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1ad11225549eb" /><Relationship Type="http://schemas.openxmlformats.org/officeDocument/2006/relationships/image" Target="/ppt/media/image.png" Id="R53550b95a52b4138" /><Relationship Type="http://schemas.openxmlformats.org/officeDocument/2006/relationships/image" Target="/ppt/media/image2.png" Id="R2f94b741b8b94502" /><Relationship Type="http://schemas.openxmlformats.org/officeDocument/2006/relationships/notesSlide" Target="/ppt/notesSlides/notesSlide14.xml" Id="R6226a08b79874d3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360570bb124697" /><Relationship Type="http://schemas.openxmlformats.org/officeDocument/2006/relationships/image" Target="/ppt/media/image.png" Id="Rbbc3568fb5d3442b" /><Relationship Type="http://schemas.openxmlformats.org/officeDocument/2006/relationships/image" Target="/ppt/media/image2.png" Id="R3d45f3b00b654cf2" /><Relationship Type="http://schemas.openxmlformats.org/officeDocument/2006/relationships/notesSlide" Target="/ppt/notesSlides/notesSlide15.xml" Id="R817d0d6dacf34f6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d54c6e43046a8" /><Relationship Type="http://schemas.openxmlformats.org/officeDocument/2006/relationships/image" Target="/ppt/media/image.png" Id="Rda401c0ba560453e" /><Relationship Type="http://schemas.openxmlformats.org/officeDocument/2006/relationships/image" Target="/ppt/media/image2.png" Id="R85ee9a1e48c44ed9" /><Relationship Type="http://schemas.openxmlformats.org/officeDocument/2006/relationships/notesSlide" Target="/ppt/notesSlides/notesSlide16.xml" Id="R6d40805b72bb4fa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ca3e430b643d7" /><Relationship Type="http://schemas.openxmlformats.org/officeDocument/2006/relationships/image" Target="/ppt/media/image.png" Id="R642630cc6d414bb8" /><Relationship Type="http://schemas.openxmlformats.org/officeDocument/2006/relationships/image" Target="/ppt/media/image2.png" Id="Rb671e37c1fd84200" /><Relationship Type="http://schemas.openxmlformats.org/officeDocument/2006/relationships/notesSlide" Target="/ppt/notesSlides/notesSlide17.xml" Id="R3d5b6b153dca4b6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917b5df2844ee" /><Relationship Type="http://schemas.openxmlformats.org/officeDocument/2006/relationships/image" Target="/ppt/media/image.png" Id="Rf4aa9074de304b8f" /><Relationship Type="http://schemas.openxmlformats.org/officeDocument/2006/relationships/image" Target="/ppt/media/image2.png" Id="Rc9375b31017241f3" /><Relationship Type="http://schemas.openxmlformats.org/officeDocument/2006/relationships/notesSlide" Target="/ppt/notesSlides/notesSlide18.xml" Id="R1c242707f153465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013586036433e" /><Relationship Type="http://schemas.openxmlformats.org/officeDocument/2006/relationships/image" Target="/ppt/media/image.png" Id="R66cc9f29d288456d" /><Relationship Type="http://schemas.openxmlformats.org/officeDocument/2006/relationships/image" Target="/ppt/media/image2.png" Id="R1c9c5b7c21a045d7" /><Relationship Type="http://schemas.openxmlformats.org/officeDocument/2006/relationships/notesSlide" Target="/ppt/notesSlides/notesSlide19.xml" Id="Radbc5e896db54cb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5ee18a0754e50" /><Relationship Type="http://schemas.openxmlformats.org/officeDocument/2006/relationships/image" Target="/ppt/media/image.png" Id="R3142ccaaf56e4fb0" /><Relationship Type="http://schemas.openxmlformats.org/officeDocument/2006/relationships/image" Target="/ppt/media/image2.png" Id="Rf9d5985b5a12458a" /><Relationship Type="http://schemas.openxmlformats.org/officeDocument/2006/relationships/notesSlide" Target="/ppt/notesSlides/notesSlide20.xml" Id="Rc1dca832f0c2492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11338b88f492e" /><Relationship Type="http://schemas.openxmlformats.org/officeDocument/2006/relationships/image" Target="/ppt/media/image.png" Id="R681a6dfa9c4248de" /><Relationship Type="http://schemas.openxmlformats.org/officeDocument/2006/relationships/image" Target="/ppt/media/image2.png" Id="R4ea5181df94a4553" /><Relationship Type="http://schemas.openxmlformats.org/officeDocument/2006/relationships/notesSlide" Target="/ppt/notesSlides/notesSlide21.xml" Id="R93483d7b851445c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3008e5d594dc7" /><Relationship Type="http://schemas.openxmlformats.org/officeDocument/2006/relationships/image" Target="/ppt/media/image.png" Id="Rb58666662a904318" /><Relationship Type="http://schemas.openxmlformats.org/officeDocument/2006/relationships/image" Target="/ppt/media/image2.png" Id="R6c6ad2f2a62347d6" /><Relationship Type="http://schemas.openxmlformats.org/officeDocument/2006/relationships/image" Target="/ppt/media/image14.png" Id="Rf78077e137f04282" /><Relationship Type="http://schemas.openxmlformats.org/officeDocument/2006/relationships/notesSlide" Target="/ppt/notesSlides/notesSlide22.xml" Id="Rdcfcac4b6a85474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bf503569044ff" /><Relationship Type="http://schemas.openxmlformats.org/officeDocument/2006/relationships/image" Target="/ppt/media/image.png" Id="R311ca82f65924287" /><Relationship Type="http://schemas.openxmlformats.org/officeDocument/2006/relationships/image" Target="/ppt/media/image2.png" Id="R2fa1246ad31a4e0b" /><Relationship Type="http://schemas.openxmlformats.org/officeDocument/2006/relationships/notesSlide" Target="/ppt/notesSlides/notesSlide23.xml" Id="R913d4e705ea94a1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f06d9161c4e93" /><Relationship Type="http://schemas.openxmlformats.org/officeDocument/2006/relationships/image" Target="/ppt/media/image.png" Id="Rc56c956eb34745b9" /><Relationship Type="http://schemas.openxmlformats.org/officeDocument/2006/relationships/image" Target="/ppt/media/image2.png" Id="R1af1c7c505184dcc" /><Relationship Type="http://schemas.openxmlformats.org/officeDocument/2006/relationships/notesSlide" Target="/ppt/notesSlides/notesSlide24.xml" Id="R7e5367b5d4e34ee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7b2393a784442" /><Relationship Type="http://schemas.openxmlformats.org/officeDocument/2006/relationships/image" Target="/ppt/media/image.png" Id="Re7a1495c6af9482b" /><Relationship Type="http://schemas.openxmlformats.org/officeDocument/2006/relationships/image" Target="/ppt/media/image2.png" Id="R5987a57304744883" /><Relationship Type="http://schemas.openxmlformats.org/officeDocument/2006/relationships/notesSlide" Target="/ppt/notesSlides/notesSlide25.xml" Id="R04893b3b61de418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8c31088a64226" /><Relationship Type="http://schemas.openxmlformats.org/officeDocument/2006/relationships/image" Target="/ppt/media/image.png" Id="R8abd5e3039d44301" /><Relationship Type="http://schemas.openxmlformats.org/officeDocument/2006/relationships/image" Target="/ppt/media/image2.png" Id="R52b2a50a276e4f9a" /><Relationship Type="http://schemas.openxmlformats.org/officeDocument/2006/relationships/image" Target="/ppt/media/image5.png" Id="R3b864e7323c64dd1" /><Relationship Type="http://schemas.openxmlformats.org/officeDocument/2006/relationships/image" Target="/ppt/media/image6.png" Id="R24d2e91495504d95" /><Relationship Type="http://schemas.openxmlformats.org/officeDocument/2006/relationships/image" Target="/ppt/media/image8.png" Id="Rd3d35a3ebc44419c" /><Relationship Type="http://schemas.openxmlformats.org/officeDocument/2006/relationships/image" Target="/ppt/media/image15.png" Id="Rae6e0958cb2745b3" /><Relationship Type="http://schemas.openxmlformats.org/officeDocument/2006/relationships/image" Target="/ppt/media/image3.png" Id="R9e50c05e87674ea2" /><Relationship Type="http://schemas.openxmlformats.org/officeDocument/2006/relationships/image" Target="/ppt/media/image11.png" Id="R921bb227e1064567" /><Relationship Type="http://schemas.openxmlformats.org/officeDocument/2006/relationships/notesSlide" Target="/ppt/notesSlides/notesSlide26.xml" Id="R758f992665ef47f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6da9204a54c21" /><Relationship Type="http://schemas.openxmlformats.org/officeDocument/2006/relationships/image" Target="/ppt/media/image.png" Id="Rcea21f461c35401b" /><Relationship Type="http://schemas.openxmlformats.org/officeDocument/2006/relationships/image" Target="/ppt/media/image2.png" Id="Rd59c09881d044987" /><Relationship Type="http://schemas.openxmlformats.org/officeDocument/2006/relationships/image" Target="/ppt/media/image12.png" Id="R4545ba9391b94ba4" /><Relationship Type="http://schemas.openxmlformats.org/officeDocument/2006/relationships/image" Target="/ppt/media/image16.png" Id="Ra961e33833664a7d" /><Relationship Type="http://schemas.openxmlformats.org/officeDocument/2006/relationships/image" Target="/ppt/media/image6.png" Id="R95570d217e514784" /><Relationship Type="http://schemas.openxmlformats.org/officeDocument/2006/relationships/image" Target="/ppt/media/image8.png" Id="Rb99944dde45d45ce" /><Relationship Type="http://schemas.openxmlformats.org/officeDocument/2006/relationships/image" Target="/ppt/media/image3.png" Id="Rb75461011c104551" /><Relationship Type="http://schemas.openxmlformats.org/officeDocument/2006/relationships/image" Target="/ppt/media/image15.png" Id="Ra49ee2d1b675475e" /><Relationship Type="http://schemas.openxmlformats.org/officeDocument/2006/relationships/notesSlide" Target="/ppt/notesSlides/notesSlide27.xml" Id="R0e11b3cb26b445a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9b1273a8f443b" /><Relationship Type="http://schemas.openxmlformats.org/officeDocument/2006/relationships/image" Target="/ppt/media/image.png" Id="R76b008618dcf437e" /><Relationship Type="http://schemas.openxmlformats.org/officeDocument/2006/relationships/image" Target="/ppt/media/image2.png" Id="R1ef5aaaeb57d411b" /><Relationship Type="http://schemas.openxmlformats.org/officeDocument/2006/relationships/notesSlide" Target="/ppt/notesSlides/notesSlide28.xml" Id="Re2e6333439b6496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3743d32ea47ee" /><Relationship Type="http://schemas.openxmlformats.org/officeDocument/2006/relationships/image" Target="/ppt/media/image.png" Id="R0464e49f53f341d9" /><Relationship Type="http://schemas.openxmlformats.org/officeDocument/2006/relationships/image" Target="/ppt/media/image2.png" Id="R517d0ca5f251414b" /><Relationship Type="http://schemas.openxmlformats.org/officeDocument/2006/relationships/image" Target="/ppt/media/image12.png" Id="Rc7dcf387feed4cef" /><Relationship Type="http://schemas.openxmlformats.org/officeDocument/2006/relationships/image" Target="/ppt/media/image3.png" Id="R7e297ee5d17347ce" /><Relationship Type="http://schemas.openxmlformats.org/officeDocument/2006/relationships/image" Target="/ppt/media/image4.png" Id="Rf03fecedd0f94793" /><Relationship Type="http://schemas.openxmlformats.org/officeDocument/2006/relationships/image" Target="/ppt/media/image6.png" Id="R08300652fb824976" /><Relationship Type="http://schemas.openxmlformats.org/officeDocument/2006/relationships/image" Target="/ppt/media/image15.png" Id="R7ea4c2979ef2498e" /><Relationship Type="http://schemas.openxmlformats.org/officeDocument/2006/relationships/notesSlide" Target="/ppt/notesSlides/notesSlide29.xml" Id="R3446d905b7ca4f4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136e4f15a48e5" /><Relationship Type="http://schemas.openxmlformats.org/officeDocument/2006/relationships/image" Target="/ppt/media/image.png" Id="R05088d8e67374e64" /><Relationship Type="http://schemas.openxmlformats.org/officeDocument/2006/relationships/image" Target="/ppt/media/image2.png" Id="R62024b13fc9c4624" /><Relationship Type="http://schemas.openxmlformats.org/officeDocument/2006/relationships/image" Target="/ppt/media/image14.png" Id="R7545dcbbf6734277" /><Relationship Type="http://schemas.openxmlformats.org/officeDocument/2006/relationships/image" Target="/ppt/media/image17.png" Id="Rc16f9e55a9cf49fe" /><Relationship Type="http://schemas.openxmlformats.org/officeDocument/2006/relationships/image" Target="/ppt/media/image18.png" Id="R5dd7c9275f8f4aaa" /><Relationship Type="http://schemas.openxmlformats.org/officeDocument/2006/relationships/image" Target="/ppt/media/image19.png" Id="Rcf46b9d59c5c4406" /><Relationship Type="http://schemas.openxmlformats.org/officeDocument/2006/relationships/notesSlide" Target="/ppt/notesSlides/notesSlide30.xml" Id="R2e2d6be54ace42e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d8df21e124964" /><Relationship Type="http://schemas.openxmlformats.org/officeDocument/2006/relationships/image" Target="/ppt/media/image.png" Id="R971834a6496d4d4a" /><Relationship Type="http://schemas.openxmlformats.org/officeDocument/2006/relationships/image" Target="/ppt/media/image2.png" Id="R052365e622db47ba" /><Relationship Type="http://schemas.openxmlformats.org/officeDocument/2006/relationships/image" Target="/ppt/media/image14.png" Id="R473aec14264742fe" /><Relationship Type="http://schemas.openxmlformats.org/officeDocument/2006/relationships/notesSlide" Target="/ppt/notesSlides/notesSlide31.xml" Id="R8b475d16ed23412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1b5c9642e40d7" /><Relationship Type="http://schemas.openxmlformats.org/officeDocument/2006/relationships/image" Target="/ppt/media/image.png" Id="R1543eb70688d4c6b" /><Relationship Type="http://schemas.openxmlformats.org/officeDocument/2006/relationships/image" Target="/ppt/media/image2.png" Id="Rd28c9ca18bf14c9e" /><Relationship Type="http://schemas.openxmlformats.org/officeDocument/2006/relationships/image" Target="/ppt/media/image3.png" Id="R8d7c394c0038470b" /><Relationship Type="http://schemas.openxmlformats.org/officeDocument/2006/relationships/image" Target="/ppt/media/image4.png" Id="Ra85f1fa27a234c18" /><Relationship Type="http://schemas.openxmlformats.org/officeDocument/2006/relationships/image" Target="/ppt/media/image5.png" Id="R323eddf205044ce9" /><Relationship Type="http://schemas.openxmlformats.org/officeDocument/2006/relationships/image" Target="/ppt/media/image6.png" Id="Rfa3832c64ed1453e" /><Relationship Type="http://schemas.openxmlformats.org/officeDocument/2006/relationships/image" Target="/ppt/media/image7.png" Id="Rdd00ec6fac674b63" /><Relationship Type="http://schemas.openxmlformats.org/officeDocument/2006/relationships/notesSlide" Target="/ppt/notesSlides/notesSlide32.xml" Id="R44eecc4c7df6440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abbf853874eb3" /><Relationship Type="http://schemas.openxmlformats.org/officeDocument/2006/relationships/image" Target="/ppt/media/image.png" Id="Ree03123570aa4564" /><Relationship Type="http://schemas.openxmlformats.org/officeDocument/2006/relationships/image" Target="/ppt/media/image2.png" Id="R1dbd7bb9099946d8" /><Relationship Type="http://schemas.openxmlformats.org/officeDocument/2006/relationships/image" Target="/ppt/media/image20.png" Id="R5d0efc06064e4367" /><Relationship Type="http://schemas.openxmlformats.org/officeDocument/2006/relationships/notesSlide" Target="/ppt/notesSlides/notesSlide33.xml" Id="Re23a5e3c54b04ee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480a40aa3447b" /><Relationship Type="http://schemas.openxmlformats.org/officeDocument/2006/relationships/image" Target="/ppt/media/image.png" Id="Rc0b7b3711b0640f4" /><Relationship Type="http://schemas.openxmlformats.org/officeDocument/2006/relationships/image" Target="/ppt/media/image2.png" Id="Re77374bf1b0545da" /><Relationship Type="http://schemas.openxmlformats.org/officeDocument/2006/relationships/image" Target="/ppt/media/image21.png" Id="R42a0a84394844a9a" /><Relationship Type="http://schemas.openxmlformats.org/officeDocument/2006/relationships/notesSlide" Target="/ppt/notesSlides/notesSlide34.xml" Id="Raca4480485b049a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fda3eefc64c32" /><Relationship Type="http://schemas.openxmlformats.org/officeDocument/2006/relationships/image" Target="/ppt/media/image.png" Id="R21582e93a5f34b17" /><Relationship Type="http://schemas.openxmlformats.org/officeDocument/2006/relationships/image" Target="/ppt/media/image2.png" Id="R7e5932d16b7d4ec4" /><Relationship Type="http://schemas.openxmlformats.org/officeDocument/2006/relationships/image" Target="/ppt/media/image22.png" Id="Re980f2189c13464a" /><Relationship Type="http://schemas.openxmlformats.org/officeDocument/2006/relationships/notesSlide" Target="/ppt/notesSlides/notesSlide35.xml" Id="R45ace7e26bd9454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5a8ec543e46fe" /><Relationship Type="http://schemas.openxmlformats.org/officeDocument/2006/relationships/image" Target="/ppt/media/image.png" Id="Rf3b5feac99844cc3" /><Relationship Type="http://schemas.openxmlformats.org/officeDocument/2006/relationships/image" Target="/ppt/media/image2.png" Id="R9e60ee5bf8d04b5b" /><Relationship Type="http://schemas.openxmlformats.org/officeDocument/2006/relationships/image" Target="/ppt/media/image23.png" Id="R38ce2ffc22654f67" /><Relationship Type="http://schemas.openxmlformats.org/officeDocument/2006/relationships/notesSlide" Target="/ppt/notesSlides/notesSlide36.xml" Id="R55eb505ade084d2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95b07dcde4c39" /><Relationship Type="http://schemas.openxmlformats.org/officeDocument/2006/relationships/image" Target="/ppt/media/image.png" Id="Rf1a39dc0f5ca4649" /><Relationship Type="http://schemas.openxmlformats.org/officeDocument/2006/relationships/image" Target="/ppt/media/image2.png" Id="Rfd10a64532aa4019" /><Relationship Type="http://schemas.openxmlformats.org/officeDocument/2006/relationships/image" Target="/ppt/media/image24.png" Id="R0bd29387f0894779" /><Relationship Type="http://schemas.openxmlformats.org/officeDocument/2006/relationships/notesSlide" Target="/ppt/notesSlides/notesSlide37.xml" Id="R1013776f039645e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21ff105cc41d0" /><Relationship Type="http://schemas.openxmlformats.org/officeDocument/2006/relationships/image" Target="/ppt/media/image.png" Id="Rc48676879d2c4322" /><Relationship Type="http://schemas.openxmlformats.org/officeDocument/2006/relationships/image" Target="/ppt/media/image2.png" Id="Rbd05bf2130224d3b" /><Relationship Type="http://schemas.openxmlformats.org/officeDocument/2006/relationships/image" Target="/ppt/media/image25.png" Id="R2b99f071f1084a83" /><Relationship Type="http://schemas.openxmlformats.org/officeDocument/2006/relationships/notesSlide" Target="/ppt/notesSlides/notesSlide38.xml" Id="R0ea2d6233c594589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7f8672e7a0c4f0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e98281dff49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1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9ebeea773646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0B0CFF34-ED08-41D1-8834-5E6ACEE8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888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4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COMP6991031   |   PRAKTIKUM 1   |   DEMO 90 MENIT</a:t>
            </a:r>
            <a:endParaRPr sz="14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29C0BFA2-9D2C-41E8-9EC8-824F8E5D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8920"/>
            <a:ext cx="112471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CLOUD MODEL LAB</a:t>
            </a:r>
            <a:endParaRPr sz="50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C32AB5F5-3E3F-40EE-86EB-412EE9AE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MODEL CLOUD + WEB/API</a:t>
            </a:r>
            <a:endParaRPr sz="30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D2836F0D-4E23-4AB6-8590-53B2ED14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1960"/>
            <a:ext cx="11247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IaaS/PaaS/SaaS, studi kasus, uji Node, Git, deploy opsional</a:t>
            </a:r>
            <a:endParaRPr sz="1600"/>
          </a:p>
        </p:txBody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5168208C-825E-481F-8ACC-658BDE56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006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C8A4D9F-CBD1-4EA9-9A8F-5F553B2E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776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 spc="3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PERTEMUAN 1  |  PENGANTAR CLOUD COMPUTING</a:t>
            </a:r>
            <a:endParaRPr sz="12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93481669-BB35-48FE-9E99-6292B4E2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Budi Juarto, S.T., M.Kom.</a:t>
            </a:r>
            <a:endParaRPr sz="13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1DAB5F05-2CF1-4780-B121-5B6289FF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Departemen Informatika  -  BINUS @Bandung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7596684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EB6D095-F36C-420A-B65D-B9FF6070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3C3EDCE-C490-4B3F-9EFD-54DA3569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04843FA-A87B-4901-B9D0-4E95EE61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264ab1238640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44d79c0e574f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CE98B07F-6EF0-4C6D-8738-0E4FC49F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530C38FB-5D9C-4D9F-A41C-6A838C47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Overview Praktikum 1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CFED9C5C-B2A2-40B7-87D7-438495AF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Alur 90 menit: pahami model, jalankan aplikasi, analisis kasus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ABCAD2F-50C4-45B7-9312-0C60A63F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FDD19DE8-635D-4592-8FAA-92C4E478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TUJUAN PRAKTIKUM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Hands-on Service Model</a:t>
            </a:r>
            <a:endParaRPr sz="1100"/>
          </a:p>
        </p:txBody>
      </p:sp>
      <p:pic>
        <p:nvPicPr>
          <p:cNvPr id="4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98290670a4b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C08A8494-5F67-4DEA-A3AA-25825CAE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60604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Gunakan repo template meet1CloudService</a:t>
            </a:r>
            <a:endParaRPr sz="1100"/>
          </a:p>
        </p:txBody>
      </p:sp>
      <p:pic>
        <p:nvPicPr>
          <p:cNvPr id="4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db15e6231945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33756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4ECE87C3-DC54-4E70-8498-3A306F10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24612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Jalankan web dan dua endpoint API lokal</a:t>
            </a:r>
            <a:endParaRPr sz="1100"/>
          </a:p>
        </p:txBody>
      </p:sp>
      <p:pic>
        <p:nvPicPr>
          <p:cNvPr id="48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506dd0a80340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97764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78CC8E2E-9CBF-4A5D-8260-7F06053E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8620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Bandingkan IaaS, PaaS, SaaS, FaaS</a:t>
            </a:r>
            <a:endParaRPr sz="1100"/>
          </a:p>
        </p:txBody>
      </p:sp>
      <p:pic>
        <p:nvPicPr>
          <p:cNvPr id="50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d496fcf5549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6177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EB8BA214-4C95-4496-91A9-A6E69494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2628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Isi worksheet kasus A-D dengan alasan</a:t>
            </a:r>
            <a:endParaRPr sz="1100"/>
          </a:p>
        </p:txBody>
      </p:sp>
      <p:pic>
        <p:nvPicPr>
          <p:cNvPr id="52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e121cd1f446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25780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13260803-C991-4165-BEB4-4D98D4B8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16636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Uji, commit, push; deploy Vercel opsional</a:t>
            </a:r>
            <a:endParaRPr sz="1100"/>
          </a:p>
        </p:txBody>
      </p:sp>
      <p:sp>
        <p:nvSpPr>
          <p:cNvPr id="22" name="Shape 13">
            <a:extLst xmlns:a="http://schemas.openxmlformats.org/drawingml/2006/main">
              <a:ext uri="{FF2B5EF4-FFF2-40B4-BE49-F238E27FC236}">
                <a16:creationId xmlns:a16="http://schemas.microsoft.com/office/drawing/2014/main" id="{AD06840C-D226-4BF1-B9E5-C5B8A4B6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3" name="Text 14">
            <a:extLst xmlns:a="http://schemas.openxmlformats.org/drawingml/2006/main">
              <a:ext uri="{FF2B5EF4-FFF2-40B4-BE49-F238E27FC236}">
                <a16:creationId xmlns:a16="http://schemas.microsoft.com/office/drawing/2014/main" id="{1A50EC09-7DD8-41A4-852A-CBFB31AC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KONTRIBUSI KE PROYEK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Kelompok 3 orang</a:t>
            </a:r>
            <a:endParaRPr sz="1100"/>
          </a:p>
        </p:txBody>
      </p:sp>
      <p:sp>
        <p:nvSpPr>
          <p:cNvPr id="24" name="Text 15">
            <a:extLst xmlns:a="http://schemas.openxmlformats.org/drawingml/2006/main">
              <a:ext uri="{FF2B5EF4-FFF2-40B4-BE49-F238E27FC236}">
                <a16:creationId xmlns:a16="http://schemas.microsoft.com/office/drawing/2014/main" id="{D21631EA-7829-4F2F-9A9F-2F8F27F5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Lab 01 memberi dasar memilih model cloud.</a:t>
            </a:r>
            <a:b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Simpan catatan bila berguna untuk proyek.</a:t>
            </a:r>
            <a:b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Checkpoint minggu 7; final minggu 14.</a:t>
            </a:r>
            <a:b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b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endParaRPr sz="1200"/>
          </a:p>
        </p:txBody>
      </p:sp>
      <p:sp>
        <p:nvSpPr>
          <p:cNvPr id="25" name="Shape 16">
            <a:extLst xmlns:a="http://schemas.openxmlformats.org/drawingml/2006/main">
              <a:ext uri="{FF2B5EF4-FFF2-40B4-BE49-F238E27FC236}">
                <a16:creationId xmlns:a16="http://schemas.microsoft.com/office/drawing/2014/main" id="{30F1B9C9-4358-44F0-BA67-BB2C07DA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6" name="Text 17">
            <a:extLst xmlns:a="http://schemas.openxmlformats.org/drawingml/2006/main">
              <a:ext uri="{FF2B5EF4-FFF2-40B4-BE49-F238E27FC236}">
                <a16:creationId xmlns:a16="http://schemas.microsoft.com/office/drawing/2014/main" id="{E86164F5-CB1C-4982-A3F1-75B86001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Tidak ada pengumpulan atau nilai Lab 01 terpisah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8520939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1EDAFFE-45C7-4E42-9501-31387361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D1E40B2-1A3F-404F-B2CA-8EE75CDD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EA8237C-6DA2-43F5-906D-2561ED3B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14b66ed97749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6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64c7b366d247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73625741-7002-4EBD-88C9-9155EEC3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284DBB6-C605-43FF-90C5-ACD22C0A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Persiapan Lab 01: Node.js lokal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A0FD2495-0B2B-4C74-91B6-CECCB0E4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Siapkan akses repo, Node.js, Git, dan tempat mencatat hasil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A0F77F3B-0D71-4E4A-BA7E-4CA1B9C3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B9B75C54-DC5B-45D7-AB70-72CA6ADA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0661F0C3-3717-48C6-9404-138A752B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9047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748D70E8-8C3B-4DAA-AEFF-BFA09FE6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90472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1</a:t>
            </a:r>
            <a:endParaRPr sz="1600"/>
          </a:p>
        </p:txBody>
      </p:sp>
      <p:pic>
        <p:nvPicPr>
          <p:cNvPr id="7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ca406e56384e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57600" y="1490472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4AE46835-5F90-47A9-AD45-B5B65594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417320"/>
            <a:ext cx="2560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Node.js + Browser</a:t>
            </a:r>
            <a:endParaRPr sz="12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12B06E55-8EFA-4F7E-A22E-CE692D2D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333756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Node.js 20+ dan browser modern untuk web/API lokal.</a:t>
            </a:r>
            <a:endParaRPr sz="1100"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9268C1F8-DCF4-428A-89AD-8D965885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7FB1D296-E433-4F4F-B055-5DB27C08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B9CB5B52-F403-40C9-8332-7A16A746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49047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076C754B-200C-4329-9256-72712A0B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490472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2</a:t>
            </a:r>
            <a:endParaRPr sz="1600"/>
          </a:p>
        </p:txBody>
      </p:sp>
      <p:pic>
        <p:nvPicPr>
          <p:cNvPr id="7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8f8e686a242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98080" y="1490472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73B0FF15-4B19-423B-820D-118DBCFD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417320"/>
            <a:ext cx="2560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Akses GitHub</a:t>
            </a:r>
            <a:endParaRPr sz="120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CF8374E7-7119-4F4A-83E8-BB0E25B9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011680"/>
            <a:ext cx="333756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Internet untuk template dan push; praktik utama dapat dijalankan lokal.</a:t>
            </a:r>
            <a:endParaRPr sz="110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C7A035AF-1F26-4200-BBA7-61265369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05EF4D18-21A8-4332-9183-92FE3456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A8F03633-BB41-4087-A651-FA7C0453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49047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19E962BF-2E77-4677-A4F8-41064958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490472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3</a:t>
            </a:r>
            <a:endParaRPr sz="1600"/>
          </a:p>
        </p:txBody>
      </p:sp>
      <p:pic>
        <p:nvPicPr>
          <p:cNvPr id="8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f3508d612744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38560" y="1490472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0E34E7BD-E80F-49A2-90DC-25296FB3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417320"/>
            <a:ext cx="2560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Email Aktif</a:t>
            </a:r>
            <a:endParaRPr sz="1200"/>
          </a:p>
        </p:txBody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B82C52F9-CA61-4177-B1B6-752849C6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011680"/>
            <a:ext cx="333756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Gunakan email yang dapat menerima verifikasi akun GitHub.</a:t>
            </a:r>
            <a:endParaRPr sz="1100"/>
          </a:p>
        </p:txBody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7BA0A0A8-35C4-4931-AB90-C30F2A7A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067A652D-0DA9-4F2C-90B1-B244D09F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33" name="Shape 26">
            <a:extLst xmlns:a="http://schemas.openxmlformats.org/drawingml/2006/main">
              <a:ext uri="{FF2B5EF4-FFF2-40B4-BE49-F238E27FC236}">
                <a16:creationId xmlns:a16="http://schemas.microsoft.com/office/drawing/2014/main" id="{7F05709F-4D0B-4B86-A211-F99D01C4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6791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B13459B0-DC7B-406D-AED4-40AD51A6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67912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7C3AED"/>
                </a:solidFill>
                <a:latin typeface="Calibri"/>
                <a:ea typeface="Calibri"/>
                <a:cs typeface="Calibri"/>
              </a:rPr>
              <a:t>4</a:t>
            </a:r>
            <a:endParaRPr sz="1600"/>
          </a:p>
        </p:txBody>
      </p:sp>
      <p:pic>
        <p:nvPicPr>
          <p:cNvPr id="93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fa6ea6a2a343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57600" y="3867912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7EF6E3D9-0A54-4FA0-8932-F88904C3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94760"/>
            <a:ext cx="2560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Metode 2FA</a:t>
            </a:r>
            <a:endParaRPr sz="1200"/>
          </a:p>
        </p:txBody>
      </p:sp>
      <p:sp>
        <p:nvSpPr>
          <p:cNvPr id="37" name="Text 29">
            <a:extLst xmlns:a="http://schemas.openxmlformats.org/drawingml/2006/main">
              <a:ext uri="{FF2B5EF4-FFF2-40B4-BE49-F238E27FC236}">
                <a16:creationId xmlns:a16="http://schemas.microsoft.com/office/drawing/2014/main" id="{0D4FA0E5-8204-41A1-913D-03E26E1F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89120"/>
            <a:ext cx="333756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Siapkan autentikator atau passkey sesuai pengaturan akun.</a:t>
            </a:r>
            <a:endParaRPr sz="1100"/>
          </a:p>
        </p:txBody>
      </p:sp>
      <p:sp>
        <p:nvSpPr>
          <p:cNvPr id="38" name="Shape 30">
            <a:extLst xmlns:a="http://schemas.openxmlformats.org/drawingml/2006/main">
              <a:ext uri="{FF2B5EF4-FFF2-40B4-BE49-F238E27FC236}">
                <a16:creationId xmlns:a16="http://schemas.microsoft.com/office/drawing/2014/main" id="{FE375C6F-6483-4960-A4A2-797F89C7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9" name="Shape 31">
            <a:extLst xmlns:a="http://schemas.openxmlformats.org/drawingml/2006/main">
              <a:ext uri="{FF2B5EF4-FFF2-40B4-BE49-F238E27FC236}">
                <a16:creationId xmlns:a16="http://schemas.microsoft.com/office/drawing/2014/main" id="{D6A1F621-560E-4BED-BF11-DDB66D87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40" name="Shape 32">
            <a:extLst xmlns:a="http://schemas.openxmlformats.org/drawingml/2006/main">
              <a:ext uri="{FF2B5EF4-FFF2-40B4-BE49-F238E27FC236}">
                <a16:creationId xmlns:a16="http://schemas.microsoft.com/office/drawing/2014/main" id="{8D025A28-BA02-48D7-BBD2-C4CB5353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86791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41" name="Text 33">
            <a:extLst xmlns:a="http://schemas.openxmlformats.org/drawingml/2006/main">
              <a:ext uri="{FF2B5EF4-FFF2-40B4-BE49-F238E27FC236}">
                <a16:creationId xmlns:a16="http://schemas.microsoft.com/office/drawing/2014/main" id="{45A74081-B161-44C4-8D46-1BDE79EA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867912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5</a:t>
            </a:r>
            <a:endParaRPr sz="1600"/>
          </a:p>
        </p:txBody>
      </p:sp>
      <p:pic>
        <p:nvPicPr>
          <p:cNvPr id="100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a06180b09048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98080" y="3867912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43" name="Text 34">
            <a:extLst xmlns:a="http://schemas.openxmlformats.org/drawingml/2006/main">
              <a:ext uri="{FF2B5EF4-FFF2-40B4-BE49-F238E27FC236}">
                <a16:creationId xmlns:a16="http://schemas.microsoft.com/office/drawing/2014/main" id="{18CB83EA-63AA-42B6-95E4-993FF3C1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794760"/>
            <a:ext cx="2560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Vercel Opsional</a:t>
            </a:r>
            <a:endParaRPr sz="1200"/>
          </a:p>
        </p:txBody>
      </p:sp>
      <p:sp>
        <p:nvSpPr>
          <p:cNvPr id="44" name="Text 35">
            <a:extLst xmlns:a="http://schemas.openxmlformats.org/drawingml/2006/main">
              <a:ext uri="{FF2B5EF4-FFF2-40B4-BE49-F238E27FC236}">
                <a16:creationId xmlns:a16="http://schemas.microsoft.com/office/drawing/2014/main" id="{7A6A0216-8A77-4BA5-B24E-08B06A72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389120"/>
            <a:ext cx="333756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Jalur inti memakai Node lokal. Cek syarat akun jika mencoba deploy.</a:t>
            </a:r>
            <a:endParaRPr sz="1100"/>
          </a:p>
        </p:txBody>
      </p:sp>
      <p:sp>
        <p:nvSpPr>
          <p:cNvPr id="45" name="Shape 36">
            <a:extLst xmlns:a="http://schemas.openxmlformats.org/drawingml/2006/main">
              <a:ext uri="{FF2B5EF4-FFF2-40B4-BE49-F238E27FC236}">
                <a16:creationId xmlns:a16="http://schemas.microsoft.com/office/drawing/2014/main" id="{D6778897-9DBB-4B76-9570-B5427338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6" name="Shape 37">
            <a:extLst xmlns:a="http://schemas.openxmlformats.org/drawingml/2006/main">
              <a:ext uri="{FF2B5EF4-FFF2-40B4-BE49-F238E27FC236}">
                <a16:creationId xmlns:a16="http://schemas.microsoft.com/office/drawing/2014/main" id="{B8023570-2A1D-4D48-BF1A-733258F1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47" name="Shape 38">
            <a:extLst xmlns:a="http://schemas.openxmlformats.org/drawingml/2006/main">
              <a:ext uri="{FF2B5EF4-FFF2-40B4-BE49-F238E27FC236}">
                <a16:creationId xmlns:a16="http://schemas.microsoft.com/office/drawing/2014/main" id="{EA49A671-ADEC-4A88-A115-2063C422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86791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48" name="Text 39">
            <a:extLst xmlns:a="http://schemas.openxmlformats.org/drawingml/2006/main">
              <a:ext uri="{FF2B5EF4-FFF2-40B4-BE49-F238E27FC236}">
                <a16:creationId xmlns:a16="http://schemas.microsoft.com/office/drawing/2014/main" id="{1B224C9A-DC14-4040-821D-AFE4FC98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867912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E40AF"/>
                </a:solidFill>
                <a:latin typeface="Calibri"/>
                <a:ea typeface="Calibri"/>
                <a:cs typeface="Calibri"/>
              </a:rPr>
              <a:t>6</a:t>
            </a:r>
            <a:endParaRPr sz="1600"/>
          </a:p>
        </p:txBody>
      </p:sp>
      <p:pic>
        <p:nvPicPr>
          <p:cNvPr id="107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d0c64263f049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38560" y="3867912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50" name="Text 40">
            <a:extLst xmlns:a="http://schemas.openxmlformats.org/drawingml/2006/main">
              <a:ext uri="{FF2B5EF4-FFF2-40B4-BE49-F238E27FC236}">
                <a16:creationId xmlns:a16="http://schemas.microsoft.com/office/drawing/2014/main" id="{B6DFB02E-7A12-48D6-BBF1-5E11E506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3794760"/>
            <a:ext cx="2560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Editor dan catatan</a:t>
            </a:r>
            <a:endParaRPr sz="1200"/>
          </a:p>
        </p:txBody>
      </p:sp>
      <p:sp>
        <p:nvSpPr>
          <p:cNvPr id="51" name="Text 41">
            <a:extLst xmlns:a="http://schemas.openxmlformats.org/drawingml/2006/main">
              <a:ext uri="{FF2B5EF4-FFF2-40B4-BE49-F238E27FC236}">
                <a16:creationId xmlns:a16="http://schemas.microsoft.com/office/drawing/2014/main" id="{9056CAAB-A43E-4405-9CFC-4FCA8BEF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389120"/>
            <a:ext cx="333756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Gunakan VS Code untuk starter/student.json dan catatan opsional.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4552623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2F1FD02-2E46-4A2B-B87E-B069F520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9E79F66-EB06-4053-B370-08B109EB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17A695B-AD22-486B-800D-94BF7D8F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F99CADE-6499-4414-A411-489AB291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422A1EA-FA12-465F-8AF8-AEFE5590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1587A08-A5CA-4706-9EE8-32449D51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40A5B26-CBDC-4BB3-9A58-DC9E35DA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07ff54b1764e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80c8a93bf040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B0AFDA7-48F8-43BF-B33E-B3E7CA43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01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D263ACF8-DE92-41E9-96FD-2A998FBA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Setup GitHub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Account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46320DE4-FDC7-4901-B09D-BF710D12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500B16B-E5DB-4F1C-B2B2-9F521D35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Step 1: bikin akun GitHub - foundation untuk semua tools developer.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2939556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A11E082-4953-4C35-AA8D-00EF2546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B12829D-CEAA-4F28-91FD-568D44DE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9427E58-D6E7-4285-A30B-993C9140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9d9dfdbbdd47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e9fce724d46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D490D5B4-AB7B-42E7-82F4-2304B875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7DF6995F-643E-4958-B5A0-337C8BBB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Step 1.1 - Siapkan akun GitHub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5CB28D02-F43D-48FC-BB1B-0CEB7A23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Jika sudah punya akun, langsung buka repo template Lab 01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C896B23F-2F86-4218-87D2-63C6F170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DF6E2E21-141A-4F4A-BFF5-65AF69CA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6FEE537B-F700-4B9B-9BFF-B07AECE0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9F2C9F0B-0CC4-47DE-B264-E83F7977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C930B9DC-EAFB-4DE9-B63B-9CC03EF5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0E467D45-1512-4E65-A7C2-6AEEA2E9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Step-by-step GitHub signup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10276863-AFD9-4B1C-A457-6D2416A1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# 1. Buka https://github.com/signup
# 2. Ikuti formulir dan verifikasi email.
# 3. Aktifkan keamanan akun sesuai petunjuk GitHub.
# 4. Masuk dan catat username Anda.
# 5. Jangan simpan password/token dalam repo.
# 6. Buka github.com/SeedFlora/meet1CloudService.
# 7. Lanjutkan dengan Use this template.</a:t>
            </a:r>
            <a:endParaRPr sz="1400">
              <a:solidFill>
                <a:srgbClr val="E2E8F0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85DBC039-F3D8-47B5-8FF8-0E101461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21C84B5C-7C7F-4FD3-AAEF-81122B60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5448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Yang HARUS Anda Catat</a:t>
            </a:r>
            <a:endParaRPr sz="14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9866C56E-19BF-4BD0-8E72-B080A692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024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Di Notepad/Notion - simpan dengan aman:</a:t>
            </a:r>
            <a:endParaRPr sz="110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E859F37B-D744-4057-AF25-419C4933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23160"/>
            <a:ext cx="512064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C89E5E0C-6EC5-478E-8537-2D0055C8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423160"/>
            <a:ext cx="2194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GitHub username:</a:t>
            </a:r>
            <a:endParaRPr sz="11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F0B9C845-3003-40D7-9A10-ECC1F9B8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423160"/>
            <a:ext cx="2743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________________</a:t>
            </a:r>
            <a:endParaRPr sz="110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753F6A4-7FF5-40BA-B44E-FA2029EE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80360"/>
            <a:ext cx="512064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D5F887FE-8ED3-44F7-B659-766A59F7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880360"/>
            <a:ext cx="2194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Email yang dipakai:</a:t>
            </a:r>
            <a:endParaRPr sz="11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F9E42D30-00D7-46AB-9FC8-7565DEC1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880360"/>
            <a:ext cx="2743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________________</a:t>
            </a:r>
            <a:endParaRPr sz="110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71E15FAE-3DBC-40BD-B91F-3525AE8B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7560"/>
            <a:ext cx="512064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7842C7A2-14B1-4726-9828-0E9F58E9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337560"/>
            <a:ext cx="2194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URL profile:</a:t>
            </a:r>
            <a:endParaRPr sz="110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D0D65F7B-DEAE-4FAE-99C3-DF691334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3337560"/>
            <a:ext cx="2743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github.com/[username]</a:t>
            </a:r>
            <a:endParaRPr sz="1100"/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9ABA456C-65A9-4360-9E74-C7F82E40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94760"/>
            <a:ext cx="512064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F497CE9-F144-4C07-9150-612DEF23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794760"/>
            <a:ext cx="2194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Tanggal signup:</a:t>
            </a:r>
            <a:endParaRPr sz="11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A25DE79D-DF45-4DB2-85DB-144EE396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3794760"/>
            <a:ext cx="2743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________________</a:t>
            </a:r>
            <a:endParaRPr sz="1100"/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95CB4F74-4FB6-4EE4-B9C2-1981DEA3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34840"/>
            <a:ext cx="512064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7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f1262d9c214a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457200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34" name="Text 29">
            <a:extLst xmlns:a="http://schemas.openxmlformats.org/drawingml/2006/main">
              <a:ext uri="{FF2B5EF4-FFF2-40B4-BE49-F238E27FC236}">
                <a16:creationId xmlns:a16="http://schemas.microsoft.com/office/drawing/2014/main" id="{33763FFE-1B40-4F9D-8553-45A39789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52628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PENTING</a:t>
            </a:r>
            <a:endParaRPr sz="1200"/>
          </a:p>
        </p:txBody>
      </p:sp>
      <p:sp>
        <p:nvSpPr>
          <p:cNvPr id="35" name="Text 30">
            <a:extLst xmlns:a="http://schemas.openxmlformats.org/drawingml/2006/main">
              <a:ext uri="{FF2B5EF4-FFF2-40B4-BE49-F238E27FC236}">
                <a16:creationId xmlns:a16="http://schemas.microsoft.com/office/drawing/2014/main" id="{3805DA9D-97E1-405F-9672-6046CCF4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937760"/>
            <a:ext cx="484632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Username GitHub jadi 'permanent identity' karier dev Anda. Hindari nickname childish - recruiter akan lihat ini.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1413598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AAD70A8-48C1-41B2-A20F-8FFB957F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41554A1-5CCF-45F3-91EF-61E7A68C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1548167-8BA6-4C2E-90AA-CFC27E3C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2064eca54448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431fc76f4a4e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F2255361-9E03-4603-99C3-A3626D5B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0CAEAB4E-EFEA-437A-B60D-3B068812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Step 1.2 - Buat repo dari template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C3B87C29-2570-4E03-840E-85F4F453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Repo pribadi berisi aplikasi, tes, modul, dan bukti Lab 01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B8789488-9550-4BCB-B87C-58ECE3B8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484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E3FBCDE9-1695-4C0A-9B70-0C0D9BC2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57BB8C8E-6903-4E59-8C04-8A0038A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DCDD3AFF-8C0D-4C67-AC73-6064C868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B406E86C-3FDA-4030-8B51-4E37325A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1C2235B9-0C0C-4AE8-BC22-8B9FC2F4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Gunakan template meet1CloudService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FBCB3705-958F-4682-B984-97BF6DFF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109728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# 1. Buka github.com/SeedFlora/meet1CloudService
# 2. Klik Use this template &gt; Create a new repository.
# 3. Beri nama repo pribadi; buat repo.
# 4. Clone dari terminal:
git clone https://github.com/USERNAME/NAMA-REPO.git
cd NAMA-REPO
# 5. Cek starter/, README, MODUL_MAHASISWA, screenshots/.
# 6. Simpan token, password, dan NIM di luar repo publik.</a:t>
            </a:r>
            <a:endParaRPr sz="1400">
              <a:solidFill>
                <a:srgbClr val="E2E8F0"/>
              </a:solidFill>
              <a:latin typeface="Consolas"/>
              <a:ea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7386906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0BAB0E0-B1AB-47ED-8C77-7DB40E6A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A007CF7-6831-4ED1-9815-3F371E82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7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2720DB8-0B33-4182-AD3A-147CBD25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cd76cf42843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ebb5f58be04a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EDB3EBA2-8CE4-4C21-A3C0-BA9C8279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96448B5-4C88-4304-9381-67C14E2A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Step 1.3 - Jalankan project starter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5FA7630F-DEF0-41BC-8306-F965376C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Uji dulu di lokal; tidak perlu npm install untuk proyek ini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D8C61575-833D-4C9E-91E0-04C30445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5F2B8005-C8DF-49D1-A8EF-0BF7C250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A65754BC-8FE5-41A3-8F5A-AD403F29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F8E450B1-2B4D-48DE-A73D-E67E3A57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63AE0FFB-DDFA-4715-BEC9-3A5ECABE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69E659EC-7041-47CB-B37D-98734EC4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Perintah dari root repo pribadi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D21F2942-EDF2-4F64-B195-C9CAD4AE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cd starter
node --version       # perlu Node.js 20+
npm test             # 18 tes
npm run dev          # server lokal :3000
# Buka http://localhost:3000
# Terminal kedua:
curl http://localhost:3000/api/hello
# Endpoint rekomendasi: lihat slide 35</a:t>
            </a:r>
            <a:endParaRPr sz="1400">
              <a:solidFill>
                <a:srgbClr val="E2E8F0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363962B1-1857-47F7-8BAC-152D7F80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8900F038-5D48-4862-9D91-3A71EE4A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136DBB7-FBBB-4E61-AD5E-883E9F68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745A9170-9778-4801-A55C-B67AA266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4027FE62-3D7F-4609-94FC-34B44B21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82DAE9B8-2ADF-4623-837A-9EB65F7D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Struktur aplikasi</a:t>
            </a:r>
            <a:endParaRPr sz="9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541004FC-BF9E-4B87-BDE0-3EDD303E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starter/
  index.html             # tampilan model cloud
  student.json           # identitas contoh
  api/hello.js           # contoh FaaS
  api/recommend.js       # alasan rekomendasi
  tests/                 # 18 pengujian
  scripts/dev-server.mjs # server lokal
Isi student.json, lalu jalankan npm test lagi.</a:t>
            </a:r>
            <a:endParaRPr sz="1400">
              <a:solidFill>
                <a:srgbClr val="E2E8F0"/>
              </a:solidFill>
              <a:latin typeface="Consolas"/>
              <a:ea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0462459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CF43268-1197-470C-8A5A-5DC5C9E9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A7640D9-339F-429C-9041-733F6DD3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4EC805A-B76E-4129-A927-605344A9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E011501-A895-46C3-9970-6CD76161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811CA60-3BF4-44F0-8ABF-AE5DE3FF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9E68EE1-EBE9-483F-A0F5-E1B02BBE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593C5C9-F25A-4648-8BF8-02B939CA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2035784554d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55305dd1a448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1B70AA73-04C4-4AC0-8086-82E31212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02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1E2D28B9-5485-4592-A6DA-7F0F76D6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Deploy Vercel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(opsional)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71CE9008-B2A0-4B4B-9353-50CF1B25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58481163-FC22-432C-B1C4-B0AB739A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Setelah praktik lokal dan push; lewati bila waktu kelas terbatas.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5979750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AB83DE1-EAB4-4021-981F-8AAB880C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D80AB6C-E197-4852-9B4C-3948123A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9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93DDB61-6958-4AE6-B95C-DE354A57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d407617ca946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9c10fe5bb48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94F88385-3CCD-4F5B-B2D1-306277AB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5FB55778-46B7-473E-962F-62B97721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Step 2.1 - Hubungkan Vercel (opsional)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D3113F5-2625-4BB5-ADB9-8FA18205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Jalur deploy dikerjakan setelah uji lokal dan push berhasil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039D110-C252-4D7C-A406-DA18B227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484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99459D60-999D-467B-80B2-D143E3F1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6DD80196-5B78-45A3-9754-33446DA2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6DF42D1D-EF8D-425B-870D-F64B3F83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78657A9C-2EDA-44B0-850D-64189D0D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F7826655-2CDE-4414-BC10-D0B13539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Step-by-step Vercel signup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ACF554D9-A856-481C-940C-AF259D99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109728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# 1. Buka https://vercel.com/signup
# 2. Masuk dengan GitHub.
# 3. Beri izin GitHub App pada repo pribadi Lab 01.
# 4. Pilih paket tanpa biaya sesuai kondisi akun.
# 5. Periksa akun dan dashboard Vercel.
# 6. Jangan menaruh token atau password di project.
Jika kelas hanya lokal, simpan bukti localhost dan API di hasil/lab01.md.</a:t>
            </a:r>
            <a:endParaRPr sz="1400">
              <a:solidFill>
                <a:srgbClr val="E2E8F0"/>
              </a:solidFill>
              <a:latin typeface="Consolas"/>
              <a:ea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8229276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71E463B-2725-4C75-998B-8D4FF802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7505C64-3FCA-4EF8-9857-A670BBB9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10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1E49D31-1D62-41D9-8CF7-FB9738F7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8d8e5ce8a42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0e3e48229e47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A1678345-E7BC-4AED-B5FC-7F642621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DEB4F7D-E461-4A73-833F-18F30BCE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Step 2.2 - Import repo (opsional)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55BB962C-D8E0-4C76-BAB7-BCCDE93F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Import repo pribadi; atur Root Directory ke starter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CF6DD53C-B4D2-4528-B9CD-41D2B6A1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69D3CB1F-2A4F-4A87-B506-ACA1FCCC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12A448D4-3A0D-477D-8E27-8146A7CB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F5C9D8E8-3BAE-46CD-9509-7CC38653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ECA19877-E282-4EBE-A7A2-B085E4F3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AA979D08-02E3-49D2-821D-6F2D469D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Import flow di dashboard Vercel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7EFCB12A-9341-48C2-AA2E-CDFDCF97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# 1. Dashboard Vercel &gt; Add New &gt; Project.
# 2. Pilih repo pribadi yang dibuat dari template.
# 3. Framework preset: Other (bila diminta).
# 4. Root Directory: starter  &lt;-- WAJIB.
# 5. Tinjau konfigurasi, klik Deploy.
# 6. Cek log deployment dan URL yang diberikan.
Salah root directory dapat membuat /api/* hilang.</a:t>
            </a:r>
            <a:endParaRPr sz="1400">
              <a:solidFill>
                <a:srgbClr val="E2E8F0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DC1F210E-0DD5-42BB-8191-7A2396F3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E454D634-62FF-4D07-8F05-0669885C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5448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Apa yang Terjadi di Belakang?</a:t>
            </a:r>
            <a:endParaRPr sz="14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E9C9D9F-2FF6-4496-8A6E-88FE73F2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488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F13EF921-9398-4FCD-BEF0-9F4AA237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488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3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1CDE4995-C4CA-4910-878D-DAF1BDFC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57400"/>
            <a:ext cx="4663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Vercel mengambil repo</a:t>
            </a:r>
            <a:endParaRPr sz="11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CF32D5AB-5AAC-4DB5-9CAF-A908B001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1720"/>
            <a:ext cx="4663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Kode di starter/ menjadi root aplikasi</a:t>
            </a:r>
            <a:endParaRPr sz="95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1572D76C-1A56-4147-A703-39B7ABDD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89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5ED57BF0-09EF-4900-9509-53C2D3E0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89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3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BC38C715-0C10-4FD6-AA7C-3B4B0616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97480"/>
            <a:ext cx="4663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Site dan Functions</a:t>
            </a:r>
            <a:endParaRPr sz="11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E25FBCCA-426A-4331-A70B-B0AD012A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71800"/>
            <a:ext cx="4663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Halaman statis serta dua endpoint API</a:t>
            </a:r>
            <a:endParaRPr sz="950"/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73D177D5-A949-4673-B0D5-4BBF6F6B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204EB599-CBB5-4782-9020-F13F3D15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3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0EE7D805-10F3-413E-8447-252C8248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7560"/>
            <a:ext cx="4663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Deploy ke infrastruktur Vercel</a:t>
            </a:r>
            <a:endParaRPr sz="110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F7682DD3-D7DD-4AF3-88A7-91D01BD4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1880"/>
            <a:ext cx="4663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Platform menyajikan halaman dan Functions</a:t>
            </a:r>
            <a:endParaRPr sz="950"/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4CEB61E5-2CD5-4FAD-ABA6-C7EE1D23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690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A10C9D55-0B71-4B58-8812-B3B0B934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690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3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642985A8-DBDB-4EEE-BE3F-E1659CEA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7640"/>
            <a:ext cx="4663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Assign URL otomatis</a:t>
            </a:r>
            <a:endParaRPr sz="110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A66926F8-46C2-4F70-9FFF-2A3A2E23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51960"/>
            <a:ext cx="4663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URL unik project Anda, bukan contoh tetap</a:t>
            </a:r>
            <a:endParaRPr sz="950"/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51282462-CBDA-4543-A703-C5465947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0916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913CC089-E654-4B0D-87F3-090CF9BC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0916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3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EB8D0205-AAE3-4A5D-9239-709FDCAE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17720"/>
            <a:ext cx="4663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HTTPS auto-setup</a:t>
            </a:r>
            <a:endParaRPr sz="1100"/>
          </a:p>
        </p:txBody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D81945CB-6834-42F0-B0EB-98F24DAC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92040"/>
            <a:ext cx="4663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Sertifikat dikelola oleh platform</a:t>
            </a:r>
            <a:endParaRPr sz="950"/>
          </a:p>
        </p:txBody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B7355685-041D-4C00-9CCC-FF6DCD81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492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8B1F8EF7-10FB-45E2-AA11-B5C282E9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492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sz="1300"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E42A5463-7545-44AE-A37E-977B7494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57800"/>
            <a:ext cx="4663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Webhook ke GitHub</a:t>
            </a:r>
            <a:endParaRPr sz="1100"/>
          </a:p>
        </p:txBody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68B27509-D8B6-4805-BB18-A7D9182C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32120"/>
            <a:ext cx="4663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Tiap push ke main = auto redeploy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7188835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A5EC2E0-AC3B-40ED-89FE-587C7666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1EA7B75-1CB4-4F02-BF27-FEBF6805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11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26AEEE0-6BA7-4A62-839D-466FE7ED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93dcc21b0340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4eda27b8843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0AE8F540-2287-47FE-AEB3-279016A5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72FB7B1-886C-4C7E-85B2-6921009D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Step 2.3 - Verifikasi live (opsional)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CB080F1-27C2-4950-828C-26B9730E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Buka domain milik Anda sesudah deployment Ready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C9A077C-F67B-4B54-B328-168ACBFA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34518C70-457C-4A52-A356-DF8ECC67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93E82AAA-B3E9-4981-9FC3-D06410DC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19B26E45-386F-43F0-8EF1-5556B895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89F04507-4C5E-4E3B-9E88-6DA8972E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852A9D2E-214B-4196-A094-03C2E06B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Setelah klik Deploy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0F6D6637-FC3A-463B-9DE8-C6F7EB8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1097280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# 1. Tunggu status deployment Ready.
# 2. Buka https://DOMAIN-ANDA/
# 3. Periksa model cloud dan data student.json.
# 4. Buka https://DOMAIN-ANDA/api/hello
# 5. Buka /api/recommend?spiky=1&amp;smallTeam=1
# 6. Keduanya harus memberi respons JSON 200.
# 7. Coba input salah; API harus memberi 400.
# 8. Catat URL dan screenshot di hasil/lab01.md.</a:t>
            </a:r>
            <a:endParaRPr sz="1400">
              <a:solidFill>
                <a:srgbClr val="E2E8F0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415D0BC8-36C8-460E-8CD0-3398C007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1960"/>
            <a:ext cx="11247120" cy="1920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4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5b06cc2d741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480560"/>
            <a:ext cx="594360" cy="594360"/>
          </a:xfrm>
          <a:prstGeom xmlns:a="http://schemas.openxmlformats.org/drawingml/2006/main" prst="rect">
            <a:avLst/>
          </a:prstGeom>
        </p:spPr>
      </p:pic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8A2F4D70-587F-4825-BF49-7233D905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343400"/>
            <a:ext cx="9875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CHECKPOINT - Verifikasi</a:t>
            </a:r>
            <a:endParaRPr sz="1600"/>
          </a:p>
        </p:txBody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8A434374-8DE6-475B-9B4C-9E057AEB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846320"/>
            <a:ext cx="987552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 ] Halaman model cloud terbuka
[ ] /api/hello -&gt; 200
[ ] /api/recommend valid -&gt; 200
[ ] input salah -&gt; 400
[ ] URL dan bukti tercatat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0585760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7802E0A-7D0A-4F73-87E2-6AF6886E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335F69A-4B3D-4B53-9E9A-3BCDD10A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4D31791-4E11-4A16-A1F0-287C415F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dd6ff045ca47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ed16c2c75e4d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5F9BDADB-FF13-4AF3-B6C1-869373CF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97E63497-8C37-45DC-98AB-EB4BC503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Step 2.4 - Uji redeploy (opsional)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721D3397-22E8-40F7-A65A-0B804A99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Push perubahan di repo pribadi; periksa deployment baru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EFEC19D7-5CB4-4DDE-B464-6AA207E9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484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B110D1B0-5C99-49EF-9F80-23136684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085B8F9B-E22E-4C6F-B1C8-B8FE2EF1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7B262461-EBC6-4ED6-BC6D-FFD19298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B56A5EC8-A979-4702-AC7D-0B111246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FA2BAEA9-6897-4B6E-8B1F-1E6BF77D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Edit di GitHub -&gt; auto redeploy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32508113-F863-45D8-8DAE-0F09D080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109728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# 1. Edit starter/student.json dengan data Anda.
# 2. Di lokal, jalankan:
cd starter &amp;&amp; npm test
# 3. Kembali ke root repo.
# 4. Periksa git status dan diff.
# 5. Commit lalu push ke branch utama.
# 6. Buka tab Deployments di Vercel.
# 7. Tunggu status Ready; refresh halaman live.
# 8. Catat perubahan yang terlihat dan URL deployment.
Push Git memicu deployment baru bila integrasi aktif.</a:t>
            </a:r>
            <a:endParaRPr sz="1400">
              <a:solidFill>
                <a:srgbClr val="E2E8F0"/>
              </a:solidFill>
              <a:latin typeface="Consolas"/>
              <a:ea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654711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A9C7399-1717-474C-8C6E-399EEFD8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BAE316E-4998-4BD1-9538-DA7E5954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28090A9-2E3F-447E-B7BD-46B2D732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E5DAFB4-3BD4-40FB-B7DD-43FA4A58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1C4466D-9C79-4F47-9E5C-F42002F2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5E34F9F-1235-4B5F-A518-8591D309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D2BD96E-EC90-4BCC-8400-6D1F089A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f8537371dd40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1109f115d42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0B4C27D9-226F-4448-AE4D-58DE5779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03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23E4289C-ABEC-44D2-A5C0-F5E71D46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Identifikasi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Service Model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7DFD42B6-7C8E-41B3-A23C-2176F460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1BF52BA3-DB00-40D1-9284-6EDB4211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Step 3: dari tools yang Anda pakai - mana IaaS? PaaS? SaaS?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9021218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26070A0-2380-49AE-89F0-50195FD1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AD885DB-F883-478D-9371-50579894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14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EAE7373-4042-4283-8425-1C2B9E2A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550b95a52b41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4b741b8b945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26CE4F96-6AEE-4554-8657-10E634CF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3920077-A52E-4F9E-B098-97BD774E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Recap Konsep - IaaS / PaaS / SaaS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BCF4569C-5507-46E6-BFF7-9A46D6E7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Lihat mana yang cocok dengan tools yang baru Anda pakai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1313BB40-67A9-4E55-B617-C8384187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300B4DBC-175E-4B4F-8278-CDCB1B82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6B101C9A-2B7D-4D66-A80A-FCEF94A5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3703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IaaS</a:t>
            </a:r>
            <a:endParaRPr sz="30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3A39425E-F72E-408F-B19E-8A69289E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5960"/>
            <a:ext cx="3703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 spc="1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Infrastructure as a Service</a:t>
            </a:r>
            <a:endParaRPr sz="10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3D5E5EFC-2D5C-418C-B106-3CBE2638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68880"/>
            <a:ext cx="33375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Anda dapat: virtual machine kosong (CPU, RAM, disk, network).</a:t>
            </a:r>
            <a:endParaRPr sz="110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16D20719-67F4-482A-B4C1-B6A94373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46120"/>
            <a:ext cx="333756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467CD3CA-0FEC-4675-8C8F-B02D0F15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91840"/>
            <a:ext cx="31546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Anda manage: OS, runtime, middleware, app, data</a:t>
            </a:r>
            <a:endParaRPr sz="10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919E73D7-80D6-4D8C-BDD0-593ADD04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97680"/>
            <a:ext cx="3337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Contoh tools:</a:t>
            </a:r>
            <a:endParaRPr sz="10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DBA7E9DD-42BF-4ACD-8E0E-6AC80FBF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17720"/>
            <a:ext cx="324612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AWS EC2</a:t>
            </a:r>
            <a:endParaRPr sz="110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Google Compute Engine</a:t>
            </a:r>
            <a:endParaRPr sz="110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Oracle Cloud Compute</a:t>
            </a:r>
            <a:endParaRPr sz="11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932A67DD-E4BD-4C0A-AF1E-0E87C76F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AEFA41AC-A4E0-4282-A8CC-FA9AB6E5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6D3953E9-7FB1-4AAD-B793-571DA73B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63040"/>
            <a:ext cx="3703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PaaS</a:t>
            </a:r>
            <a:endParaRPr sz="30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4CA65D49-A56D-440C-B9C7-BDC75564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965960"/>
            <a:ext cx="3703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 spc="1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Platform as a Service</a:t>
            </a:r>
            <a:endParaRPr sz="10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CF4E3DFA-FA79-4520-9112-D5639F54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468880"/>
            <a:ext cx="33375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Anda dapat: platform siap deploy code.</a:t>
            </a:r>
            <a:endParaRPr sz="110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3013AA7E-4239-4C30-89E3-7D32905C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246120"/>
            <a:ext cx="333756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97A4157F-4CBA-405A-9340-225D41D1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91840"/>
            <a:ext cx="31546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Tim mengelola kode, data, konfigurasi, dan akses; platform mengelola runtime.</a:t>
            </a:r>
            <a:endParaRPr sz="10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1DC6F9A5-992D-4059-B36E-336419B8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297680"/>
            <a:ext cx="3337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Contoh tools:</a:t>
            </a:r>
            <a:endParaRPr sz="100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51A471C-E1C7-4D2F-A520-DCB7C25C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17720"/>
            <a:ext cx="324612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Vercel</a:t>
            </a:r>
            <a:endParaRPr sz="110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Heroku</a:t>
            </a:r>
            <a:endParaRPr sz="110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Railway</a:t>
            </a:r>
            <a:endParaRPr sz="110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Fly.io</a:t>
            </a:r>
            <a:endParaRPr sz="110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Render</a:t>
            </a:r>
            <a:endParaRPr sz="110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6B54B7A9-E690-4523-B7BF-DCC1A3E8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205DBEEB-B634-4C8D-AC0B-09F92004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F252A696-7EA6-4B4C-BCB4-5841595C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63040"/>
            <a:ext cx="3703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SaaS</a:t>
            </a:r>
            <a:endParaRPr sz="30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514BB205-A041-4A38-AB07-746AE502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965960"/>
            <a:ext cx="3703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 spc="1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Software as a Service</a:t>
            </a:r>
            <a:endParaRPr sz="1000"/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97541F19-5147-41ED-8D4D-72778D18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468880"/>
            <a:ext cx="33375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Anda dapat: aplikasi siap pakai via browser.</a:t>
            </a:r>
            <a:endParaRPr sz="1100"/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3C0AE2DA-608A-4D0C-918D-D2A9DB8E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246120"/>
            <a:ext cx="333756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A63932E7-2266-4CA1-B0B4-36B98624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291840"/>
            <a:ext cx="31546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Anda manage: data + akun. Vendor handle SEMUA.</a:t>
            </a:r>
            <a:endParaRPr sz="1000"/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66DF345A-D882-4ED3-B6FD-1FF90D6A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297680"/>
            <a:ext cx="3337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1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Contoh tools:</a:t>
            </a:r>
            <a:endParaRPr sz="1000"/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4E1BDC46-448A-4C86-89A0-DD091CA0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617720"/>
            <a:ext cx="324612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GitHub</a:t>
            </a:r>
            <a:endParaRPr sz="110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Gmail</a:t>
            </a:r>
            <a:endParaRPr sz="110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Notion</a:t>
            </a:r>
            <a:endParaRPr sz="110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Figma</a:t>
            </a:r>
            <a:endParaRPr sz="110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Canva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4681467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BE31468-4259-4CDE-9BAE-F562B449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8F3944D-A8BC-4FA9-844F-60078760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15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BBFC98F-07C6-4313-979E-CC698B20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c3568fb5d344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45f3b00b654c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C219020A-12EF-4EC6-A59B-565A670E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54F9FEC-751C-470B-AE1C-3E863D43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Latihan Identifikasi - Isi Tabel Ini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3961CA53-F4E1-4A91-9409-1AF998CE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Klasifikasikan layanan; Vercel hanya bila jalur opsional dikerjakan.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07EBCD2-197F-40CF-B38A-9135E75D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21AAEDF7-BF2F-4E61-A58F-3567126D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Tool</a:t>
            </a:r>
            <a:endParaRPr sz="12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7C077381-CB4E-4577-A118-9372AA24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41732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Fungsi di Praktikum</a:t>
            </a:r>
            <a:endParaRPr sz="12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5EFBFAA6-2525-4595-8AFE-FB4A645A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41732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Model (Pilih)</a:t>
            </a:r>
            <a:endParaRPr sz="12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D7B66794-9F43-40A0-97C6-E9E6DFFC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417320"/>
            <a:ext cx="3474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Alasan</a:t>
            </a:r>
            <a:endParaRPr sz="120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24185299-88B1-46D9-86C8-CD97E610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0240"/>
            <a:ext cx="112471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1CA50A5C-2855-45FA-83F0-45FF8F2E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1828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GitHub</a:t>
            </a:r>
            <a:endParaRPr sz="12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13F8C82B-4994-4FC3-8A98-5593BFA8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920240"/>
            <a:ext cx="32004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Hosting code + git version control</a:t>
            </a:r>
            <a:endParaRPr sz="100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60218D22-6DC3-4F8E-8E67-7E8B9977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011680"/>
            <a:ext cx="1828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16A61D4E-0179-48DA-9BAA-B3C97C59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011680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i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______</a:t>
            </a:r>
            <a:endParaRPr sz="12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5A05F31C-ACE4-431D-A636-F4F79D6E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920240"/>
            <a:ext cx="3474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____________________________</a:t>
            </a:r>
            <a:endParaRPr sz="1000"/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904C6C0D-C6E4-49C0-8807-56D157A9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12471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95594299-6106-4AF1-9098-CE596520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60320"/>
            <a:ext cx="1828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Vercel</a:t>
            </a:r>
            <a:endParaRPr sz="12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3F58539-D37B-4349-9816-72F5885F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2560320"/>
            <a:ext cx="32004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Deploy web dan API bila jalur opsional dipilih</a:t>
            </a:r>
            <a:endParaRPr sz="100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87931C96-E680-4385-A0EB-68B8E002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651760"/>
            <a:ext cx="1828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A22919BA-F579-478F-8520-65E6D93F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651760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i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______</a:t>
            </a:r>
            <a:endParaRPr sz="12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30817978-99A9-4D83-A544-3A72AF50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560320"/>
            <a:ext cx="3474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____________________________</a:t>
            </a:r>
            <a:endParaRPr sz="1000"/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C9565823-CBBD-4607-A451-1C7AF810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112471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7E495CAC-9A9D-4341-99A1-CA689752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00400"/>
            <a:ext cx="1828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Browser</a:t>
            </a:r>
            <a:endParaRPr sz="12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F5EF56FE-DE39-489F-BF4B-F953F468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3200400"/>
            <a:ext cx="32004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Klien yang membuka halaman dan API</a:t>
            </a:r>
            <a:endParaRPr sz="100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C251D3A9-71B1-47E5-B7AF-45A93AFA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291840"/>
            <a:ext cx="1828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022B897E-467C-450A-AD74-4AE6A4E7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291840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i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______</a:t>
            </a:r>
            <a:endParaRPr sz="1200"/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A84BC726-5E14-4B4A-AEA2-B9AFACA2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200400"/>
            <a:ext cx="3474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____________________________</a:t>
            </a:r>
            <a:endParaRPr sz="1000"/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F3AE22DB-BC0A-46FD-8BBE-4990F77A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0"/>
            <a:ext cx="112471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27EBCAA5-A3DC-4505-B3A4-C6B59B12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0"/>
            <a:ext cx="1828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Gmail</a:t>
            </a:r>
            <a:endParaRPr sz="1200"/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3952C713-F7F2-4568-B953-A2F24B42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3840480"/>
            <a:ext cx="32004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Login + verifikasi akun</a:t>
            </a:r>
            <a:endParaRPr sz="1000"/>
          </a:p>
        </p:txBody>
      </p:sp>
      <p:sp>
        <p:nvSpPr>
          <p:cNvPr id="36" name="Shape 32">
            <a:extLst xmlns:a="http://schemas.openxmlformats.org/drawingml/2006/main">
              <a:ext uri="{FF2B5EF4-FFF2-40B4-BE49-F238E27FC236}">
                <a16:creationId xmlns:a16="http://schemas.microsoft.com/office/drawing/2014/main" id="{DD7F1020-DBDB-468E-B760-3D40B255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931920"/>
            <a:ext cx="1828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F0E6FC53-96D0-4D41-A3A2-96A840FD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931920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i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______</a:t>
            </a:r>
            <a:endParaRPr sz="1200"/>
          </a:p>
        </p:txBody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BEA1EBF4-3288-4148-9586-C9E0AB72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840480"/>
            <a:ext cx="3474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____________________________</a:t>
            </a:r>
            <a:endParaRPr sz="1000"/>
          </a:p>
        </p:txBody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C13A5D7C-4375-4DFF-97D8-F5536B6D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80560"/>
            <a:ext cx="112471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4EDF0702-624A-4263-A196-DC2CE74D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80560"/>
            <a:ext cx="1828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Fungsi /api/hello</a:t>
            </a:r>
            <a:endParaRPr sz="1200"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93401D3B-AABB-4A53-8F2E-CCC909A3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4480560"/>
            <a:ext cx="32004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Contoh fungsi serverless saat deploy</a:t>
            </a:r>
            <a:endParaRPr sz="1000"/>
          </a:p>
        </p:txBody>
      </p:sp>
      <p:sp>
        <p:nvSpPr>
          <p:cNvPr id="42" name="Shape 38">
            <a:extLst xmlns:a="http://schemas.openxmlformats.org/drawingml/2006/main">
              <a:ext uri="{FF2B5EF4-FFF2-40B4-BE49-F238E27FC236}">
                <a16:creationId xmlns:a16="http://schemas.microsoft.com/office/drawing/2014/main" id="{7D76582C-3863-4E4B-AFEF-49853CB3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572000"/>
            <a:ext cx="1828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1C6F10B1-D7F6-4091-9302-6A5341DB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572000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i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______</a:t>
            </a:r>
            <a:endParaRPr sz="1200"/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7A3D6538-48E9-42B7-ADE4-7CC279F5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480560"/>
            <a:ext cx="3474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____________________________</a:t>
            </a:r>
            <a:endParaRPr sz="1000"/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B94F36D9-64EB-48C1-A482-BB0E70A6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20640"/>
            <a:ext cx="112471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88AD0DA2-01D5-4A8F-B5D0-8D963126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20640"/>
            <a:ext cx="1828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CDN Vercel (opsional)</a:t>
            </a:r>
            <a:endParaRPr sz="1200"/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7B9FDB70-D487-43E5-8326-D2A41301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5120640"/>
            <a:ext cx="32004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Distribusi file statis bila deploy</a:t>
            </a:r>
            <a:endParaRPr sz="1000"/>
          </a:p>
        </p:txBody>
      </p:sp>
      <p:sp>
        <p:nvSpPr>
          <p:cNvPr id="48" name="Shape 44">
            <a:extLst xmlns:a="http://schemas.openxmlformats.org/drawingml/2006/main">
              <a:ext uri="{FF2B5EF4-FFF2-40B4-BE49-F238E27FC236}">
                <a16:creationId xmlns:a16="http://schemas.microsoft.com/office/drawing/2014/main" id="{5FA5DB92-F252-4A64-9D22-A02585F7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5212080"/>
            <a:ext cx="1828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9FD7C251-9300-4756-9A89-F9A790C5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5212080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i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______</a:t>
            </a:r>
            <a:endParaRPr sz="1200"/>
          </a:p>
        </p:txBody>
      </p:sp>
      <p:sp>
        <p:nvSpPr>
          <p:cNvPr id="50" name="Text 46">
            <a:extLst xmlns:a="http://schemas.openxmlformats.org/drawingml/2006/main">
              <a:ext uri="{FF2B5EF4-FFF2-40B4-BE49-F238E27FC236}">
                <a16:creationId xmlns:a16="http://schemas.microsoft.com/office/drawing/2014/main" id="{4547A995-9165-4F26-AB7E-3613C49B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5120640"/>
            <a:ext cx="3474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____________________________</a:t>
            </a:r>
            <a:endParaRPr sz="1000"/>
          </a:p>
        </p:txBody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74919346-676A-4208-96DF-F8D91E9D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2648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Jawaban dibahas saat presentasi - tulis dulu jawaban Anda di kertas/notes app.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4675294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6B8A204-800F-4310-930D-6F84E0E5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9F05163-9B5B-4A0C-9F22-377C5811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3C6F704-63B4-41BA-9817-FA993CBA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B7EDD5E-99B8-441B-9EF7-6923F530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27C6993-26D0-4CAF-AAC1-7055AEE8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67DCE98-71ED-49F3-B215-124572B6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795DB28-12DF-49B5-BDEA-0DAF0154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01c0ba56045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ee9a1e48c44e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E0A71CF3-8051-4FD5-BC8D-EBDE7411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04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4DE981AD-C7C4-4985-8031-8C2218C2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Diskusi biaya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cloud (opsional)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DC328B00-8B1B-4E12-A404-4A5E79BC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66F4D67C-B8B5-46B7-BF35-3C2A0E00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Harga dan kuota berubah; hitung kebutuhan lalu cek sumber resmi.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8853029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CF82EDB-6DA4-4708-A87D-AD3800AC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653A6CD-F31A-4522-A003-2036E591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17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345A9FB-AB08-4E5C-95E1-0A6B81D5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630cc6d414b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1e37c1fd842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15DFAD3F-2FAA-4CA1-BBB0-93EE6271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3B572F79-33FC-49E5-9A4C-95B197FC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Biaya cloud: komponen yang perlu dicek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E9791B22-7D8E-42F2-8AB6-A7432811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Gunakan kuota dan harga resmi pada tanggal praktik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CAE0F11C-9E0F-436D-A8C1-831DD3EA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FCFE5504-0EF1-44F4-A15D-B8BA45B2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2286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Service</a:t>
            </a:r>
            <a:endParaRPr sz="11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F405AE15-9E14-4AD7-A313-402A52CF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417320"/>
            <a:ext cx="3200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Kuota yang dicek</a:t>
            </a:r>
            <a:endParaRPr sz="11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1AB7B73F-DDBF-4D89-92C7-922A4EE1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17320"/>
            <a:ext cx="2286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Jika butuh lebih</a:t>
            </a:r>
            <a:endParaRPr sz="11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396DE9D-6119-4630-8B59-DAE9A58A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417320"/>
            <a:ext cx="2834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Hal yang dinilai</a:t>
            </a:r>
            <a:endParaRPr sz="110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8675E3C3-1E42-4B8E-B259-ABBD2A35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74520"/>
            <a:ext cx="112471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D7E7A9E-B5CA-4BEF-8D3F-0056C2F8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74520"/>
            <a:ext cx="1371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FDFEF72-2C4A-4C3C-917B-14AA9BC7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74520"/>
            <a:ext cx="21488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GitHub Free</a:t>
            </a:r>
            <a:endParaRPr sz="11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84DE9B98-D3A7-4FF8-8840-8E110644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874520"/>
            <a:ext cx="32004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Cek batas repo dan Actions saat praktik</a:t>
            </a:r>
            <a:endParaRPr sz="10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9AE3CCC8-9953-413C-8898-560686A5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74520"/>
            <a:ext cx="22860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Cek paket resmi</a:t>
            </a:r>
            <a:endParaRPr sz="10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0A680F7-DF7E-41FB-BD4B-98ED27A4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74520"/>
            <a:ext cx="2834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Riwayat kode dan otomasi CI</a:t>
            </a:r>
            <a:endParaRPr sz="950"/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D1F09C0-D879-4294-8878-0B309ED4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8880"/>
            <a:ext cx="112471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77F90B94-CA5E-4228-A5B3-9C1A8052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8880"/>
            <a:ext cx="1371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4F1F21FE-C01B-4C05-9AA6-00FDF8C0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468880"/>
            <a:ext cx="21488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Vercel Hobby</a:t>
            </a:r>
            <a:endParaRPr sz="110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D6D2B77-F910-465A-B074-1C52E222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468880"/>
            <a:ext cx="32004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Cek kuota akun sebelum deploy opsional</a:t>
            </a:r>
            <a:endParaRPr sz="10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966CF96C-FA60-4EF2-A5D5-79DF2D01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468880"/>
            <a:ext cx="22860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Cek paket resmi</a:t>
            </a:r>
            <a:endParaRPr sz="10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30CE725A-8B4A-40F7-9B66-9BAAFD1D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68880"/>
            <a:ext cx="2834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Web, API, build, dan transfer data</a:t>
            </a:r>
            <a:endParaRPr sz="950"/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5536B657-ED56-476E-B06D-7D9BA761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3240"/>
            <a:ext cx="112471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F4C43905-59B4-4564-A6B6-D9C54A81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3240"/>
            <a:ext cx="1371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7F697A73-A268-4429-AF45-B0933765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488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Domain Custom</a:t>
            </a:r>
            <a:endParaRPr sz="110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941E6ADA-3FE4-4E90-A494-3D1C5FC6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063240"/>
            <a:ext cx="32004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Subdomain platform dapat dipakai</a:t>
            </a:r>
            <a:endParaRPr sz="10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E8F321C8-D85B-4FA9-BFEB-A90AC3BB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063240"/>
            <a:ext cx="22860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Cek registrar</a:t>
            </a:r>
            <a:endParaRPr sz="1000"/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A30CB88D-9707-4E49-AD9E-15A36850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63240"/>
            <a:ext cx="2834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Nama domain sesuai kebutuhan</a:t>
            </a:r>
            <a:endParaRPr sz="950"/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5BF8552A-C4D1-4C21-A840-EB5D1BE0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112471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84F34328-A3B1-498B-B2BC-0A1DE6B7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1371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9C1C7819-448F-43AE-9D86-D4B8AAFD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57600"/>
            <a:ext cx="21488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SSL HTTPS</a:t>
            </a:r>
            <a:endParaRPr sz="1100"/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AC23285E-5F23-4934-8EB2-902DE7CA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657600"/>
            <a:ext cx="32004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Periksa HTTPS pada deployment</a:t>
            </a:r>
            <a:endParaRPr sz="10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B25DA29B-3051-45C0-8ACB-2F88C266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657600"/>
            <a:ext cx="22860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Cek fitur paket</a:t>
            </a:r>
            <a:endParaRPr sz="1000"/>
          </a:p>
        </p:txBody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D650200C-A50D-474F-8C1C-AFA66A14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57600"/>
            <a:ext cx="2834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Keamanan transport dan identitas</a:t>
            </a:r>
            <a:endParaRPr sz="950"/>
          </a:p>
        </p:txBody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AA5ACD04-57AF-4875-9CB8-52AB47C8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1960"/>
            <a:ext cx="112471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C5CF2E0C-EB8F-4F77-8D97-6139C4CC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1960"/>
            <a:ext cx="1371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43089BE6-FDC6-4267-B826-FE3507CA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51960"/>
            <a:ext cx="21488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CDN Edge</a:t>
            </a:r>
            <a:endParaRPr sz="1100"/>
          </a:p>
        </p:txBody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87A83767-AD6E-4AC5-AD73-9D5DE4C6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251960"/>
            <a:ext cx="32004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Cek cakupan dan penggunaan CDN</a:t>
            </a:r>
            <a:endParaRPr sz="1000"/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7E3A4C3E-3E8D-4B3C-B94C-99B1633F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251960"/>
            <a:ext cx="22860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Cek kuota paket</a:t>
            </a:r>
            <a:endParaRPr sz="1000"/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6D4B9FF6-47D9-4647-B59A-94AAB1AA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51960"/>
            <a:ext cx="2834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Latensi dan cache file statis</a:t>
            </a:r>
            <a:endParaRPr sz="950"/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7D8005EF-C340-4254-9B40-FDEAD484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46320"/>
            <a:ext cx="112471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6" name="Shape 42">
            <a:extLst xmlns:a="http://schemas.openxmlformats.org/drawingml/2006/main">
              <a:ext uri="{FF2B5EF4-FFF2-40B4-BE49-F238E27FC236}">
                <a16:creationId xmlns:a16="http://schemas.microsoft.com/office/drawing/2014/main" id="{4A80FD4F-96FB-4C41-9276-6A2E238C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46320"/>
            <a:ext cx="1371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802D6D5A-F51C-4C3A-BCC1-DB95A0B0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46320"/>
            <a:ext cx="21488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Build Minutes</a:t>
            </a:r>
            <a:endParaRPr sz="1100"/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480D8B5B-1256-461C-B244-B287E666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846320"/>
            <a:ext cx="32004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Lihat pemakaian build di dashboard</a:t>
            </a:r>
            <a:endParaRPr sz="1000"/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56B98DD0-1B41-4940-8F47-2B14B9F9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846320"/>
            <a:ext cx="22860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Cek batas paket</a:t>
            </a:r>
            <a:endParaRPr sz="1000"/>
          </a:p>
        </p:txBody>
      </p:sp>
      <p:sp>
        <p:nvSpPr>
          <p:cNvPr id="50" name="Text 46">
            <a:extLst xmlns:a="http://schemas.openxmlformats.org/drawingml/2006/main">
              <a:ext uri="{FF2B5EF4-FFF2-40B4-BE49-F238E27FC236}">
                <a16:creationId xmlns:a16="http://schemas.microsoft.com/office/drawing/2014/main" id="{54517CF3-9BA2-45D9-87D2-FF421113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46320"/>
            <a:ext cx="2834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Waktu dan frekuensi build</a:t>
            </a:r>
            <a:endParaRPr sz="950"/>
          </a:p>
        </p:txBody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A0A6BAFD-2FB6-4F4B-BD4D-7E2B0F86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Kesimpulan: 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Untuk proyek kelas, pantau kuota aktual di dashboard; biaya bergantung pemakaian dan plan.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9998504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753CDE6-4C3E-4878-9CBC-1907D090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3F54A6E-2A86-4C7D-99F3-6AEFE30F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18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26E9F3B-7B8A-4281-9ACC-3FCA258E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aa9074de304b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375b31017241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31D87EEA-4139-4C94-9F73-1A0E5A09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26610D1-5AA8-4FA0-8B1F-1C392E72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Latihan - Estimasi Trafik Web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D1CAC49-7E65-451E-A836-FEDCDB4C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Hitung bandwidth, lalu cek kuota dan harga resmi.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1A3E47E6-A52F-4E87-B4AB-DF3E0BD8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F9B40D76-2847-47F6-8B48-0D7CD394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Skenario: </a:t>
            </a: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Site portfolio Anda viral di LinkedIn - traffic naik dari 100 ke 5000 visitor/hari.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5000 visitor x 30 hari = 150K visit/bulan. Tiap visit load ~500 KB. </a:t>
            </a: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Hitung bandwidth; biaya mengikuti paket yang dipilih.</a:t>
            </a:r>
            <a:endParaRPr sz="13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3F55F87B-07EC-43EF-B025-27002DDE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5577840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51E81A1A-22BE-4297-8053-9EF5E76A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5212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Step-by-step Hitungan</a:t>
            </a:r>
            <a:endParaRPr sz="13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9EA21480-95F2-443B-B5DD-AFD81BD2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17520"/>
            <a:ext cx="52120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C38F53E2-F9D6-4DDC-95DA-3D26FC46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3774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Bandwidth per visit:</a:t>
            </a:r>
            <a:endParaRPr sz="105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07BE08DD-4F0F-4683-B941-912E61B5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17520"/>
            <a:ext cx="2606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500 KB</a:t>
            </a:r>
            <a:endParaRPr sz="105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1DC25ABD-A9ED-4B7B-8D74-E7E049AF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0"/>
            <a:ext cx="52120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98959D06-4B2B-4464-BC8B-652BB8B7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74720"/>
            <a:ext cx="23774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Total bandwidth/bulan:</a:t>
            </a:r>
            <a:endParaRPr sz="105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FCB22EAF-140B-4EFF-8AF2-7C203B39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74720"/>
            <a:ext cx="2606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150,000 × 500 KB</a:t>
            </a:r>
            <a:endParaRPr sz="105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4E09B1D7-C660-4B2C-AB8E-CBD3F710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31920"/>
            <a:ext cx="52120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026442BF-81C7-4390-B8CE-E211F108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31920"/>
            <a:ext cx="23774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Konversi ke GB:</a:t>
            </a:r>
            <a:endParaRPr sz="105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E8436EF-A4A2-4CC3-BE4E-55D9B073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931920"/>
            <a:ext cx="2606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75,000,000 KB = 75 GB</a:t>
            </a:r>
            <a:endParaRPr sz="105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D2261E5A-EEFD-4581-80D5-6743F051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89120"/>
            <a:ext cx="52120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FC635357-0FC7-4EAD-86DD-D9BCF466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89120"/>
            <a:ext cx="23774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Kuota paket saat ini:</a:t>
            </a:r>
            <a:endParaRPr sz="105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AF85132B-83D4-4871-A7E2-A9056D1D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89120"/>
            <a:ext cx="2606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Baca dashboard/dokumentasi resmi</a:t>
            </a:r>
            <a:endParaRPr sz="105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AE354008-A345-49F2-BAFB-0FA141EF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46320"/>
            <a:ext cx="52120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739C1E00-D4F9-4567-AA08-3B07AD3A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46320"/>
            <a:ext cx="23774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Kalau 10K visitor/hari?</a:t>
            </a:r>
            <a:endParaRPr sz="105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E9F71A88-73ED-4AA2-90A3-D927270C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46320"/>
            <a:ext cx="2606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Hitung ulang dan cek kuota</a:t>
            </a:r>
            <a:endParaRPr sz="1050"/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9305D6F6-21DB-4709-AA7F-77FDFDA5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03520"/>
            <a:ext cx="52120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666DC4D0-41B1-4A0C-8325-5D5F082B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303520"/>
            <a:ext cx="23774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Jika kuota lewat:</a:t>
            </a:r>
            <a:endParaRPr sz="105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F4482B71-534A-470E-A5C2-C9F4BE12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303520"/>
            <a:ext cx="2606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Optimasi atau pilih paket sesuai kebutuhan</a:t>
            </a:r>
            <a:endParaRPr sz="1050"/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2FB13D7E-62A1-4373-8DDC-49C1B705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760720"/>
            <a:ext cx="52120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352CF0EC-B562-4B4E-878A-2F9DEC7C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760720"/>
            <a:ext cx="23774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Dasar biaya:</a:t>
            </a:r>
            <a:endParaRPr sz="105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850750FC-41A3-49BE-849C-DE4E7FC3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60720"/>
            <a:ext cx="2606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Volume x tarif resmi</a:t>
            </a:r>
            <a:endParaRPr sz="1050"/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DDD8059B-CE8C-4A55-8CB4-FB8FC609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14600"/>
            <a:ext cx="5486400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863C1DC7-C49D-4355-A050-3362C793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6040"/>
            <a:ext cx="5120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Hasil perhitungan</a:t>
            </a:r>
            <a:endParaRPr sz="1300"/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E1C0CD5F-6C4A-4EE8-B3EC-4F5B27F5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17520"/>
            <a:ext cx="512064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65C8F89A-AEFC-45C5-ABBE-755476E2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17520"/>
            <a:ext cx="512064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Traffic 5K visit/hari: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75 GB/bulan</a:t>
            </a:r>
            <a:endParaRPr sz="1200"/>
          </a:p>
        </p:txBody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4AED0197-A761-4931-BE6D-029F1D7E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34840"/>
            <a:ext cx="512064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4EEDD487-F124-4EAF-80C6-1A76D94F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34840"/>
            <a:ext cx="512064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Traffic 10K visit/hari: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150 GB/bulan</a:t>
            </a:r>
            <a:endParaRPr sz="1200"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56E09E61-5B53-4EEC-96D5-F0D527C5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760720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Bandingkan biaya komputasi, data, jaringan, dan operasi.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5883094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7CEB72C-F4D2-47CF-9409-6D0E5DB1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D840014-D7CF-44DB-91D3-CE40310E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919C485-9697-466D-950E-19174446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01F8D5-6D2E-4CF9-BC83-0FD3A231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DA14136-9D59-47A2-BC1F-5E3FE1E5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05142A2-3734-4753-8593-23C7B53A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211C39D-F200-4678-B723-17C9C7BE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cc9f29d28845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9c5b7c21a045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CC832B10-C7EA-44B6-BE86-592F195C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05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DEB2F657-028B-4912-8B90-2B347807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Documentation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&amp; Laporan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B6F75B8D-9E54-43C4-995B-32FBB9CA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1ABCE3EC-C03D-4EE4-B39B-91A288D5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Step 5: tulis laporan 1 halaman dari yang baru Anda kerjakan.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33657441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976DF11-65A1-447A-9832-A5AEC81E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75D8801-0394-4C0B-A973-4D2F055C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20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35F2BB0-0601-4011-95D7-72B06355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42ccaaf56e4f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d5985b5a1245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7E69D9AD-D0D9-4D62-ADDB-C5B7D6B0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C26098B-9B01-4378-A5B3-EB744EEF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Laporan Lab 01: hasil/lab01.md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43FBCE10-91D5-45F4-B2F6-8B89FF62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Salin hasil/TEMPLATE_LAPORAN.md, lalu isi dari bukti sendiri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F1D5B34-72B9-4738-AA1E-0904C3C3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484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E519AD20-32C4-4285-91BD-08D1B164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7C74E308-EFFC-4FEB-9011-70AC1F27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LAPORAN LAB 01 - MODEL CLOUD + WEB/API</a:t>
            </a:r>
            <a:endParaRPr sz="12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EE6DFA3F-7C85-449B-B219-34913BC4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Nama: ___________________________</a:t>
            </a:r>
            <a:endParaRPr sz="11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A473FFB-985D-4759-AB87-87F07E5B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01168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Kelas: ___________________________</a:t>
            </a:r>
            <a:endParaRPr sz="11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05FE6EA0-8910-4298-8AE4-22AE4A03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2316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1. Identitas dan repo pribadi</a:t>
            </a:r>
            <a:endParaRPr sz="12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F8407674-2EE0-4180-BB81-37FA72F1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Username GitHub: __________________  URL repo: ______________________________</a:t>
            </a:r>
            <a:endParaRPr sz="10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72F0FCF-8BB1-441C-BC1F-8C659323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7180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URL Vercel (jika deploy): __________________  Atau: jalur lokal saja</a:t>
            </a:r>
            <a:endParaRPr sz="10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4EA31170-26D6-41B3-9F8D-98B7D787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3756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2. Model layanan dan tanggung jawab</a:t>
            </a:r>
            <a:endParaRPr sz="12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A00D6E99-B74F-486E-A504-B7AB1017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1188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GitHub: SaaS; Vercel site: PaaS; api/: FaaS. Jelaskan batas yang dikelola.</a:t>
            </a:r>
            <a:endParaRPr sz="10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D0A0DFD6-07EF-498A-8064-ABB5CE6D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8620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Bandingkan public, private, hybrid, dan alternatif pilihan Anda.</a:t>
            </a:r>
            <a:endParaRPr sz="10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1794575D-F4C1-450D-82CB-23CFA0AC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5196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3. Kasus A-D dan alasan teknis</a:t>
            </a:r>
            <a:endParaRPr sz="12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F5C7F78C-62DC-4E2F-9562-773CA9DB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2628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Catat faktor kebutuhan, ranking, pilihan, trade-off, dan model harga.</a:t>
            </a:r>
            <a:endParaRPr sz="10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84C5712-CD60-4407-BCC8-B476D1BE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9204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4. Hasil uji dan refleksi</a:t>
            </a:r>
            <a:endParaRPr sz="120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696ECAB1-1DA0-43D2-9482-A6CA9ADD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6636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npm test: ____/18; web: ____; /api/hello: ____; rekomendasi: ____</a:t>
            </a:r>
            <a:endParaRPr sz="10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BEF8B7AB-A4AC-4624-8B08-0DC69398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4068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___________________________________________________________________________________________</a:t>
            </a:r>
            <a:endParaRPr sz="10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752FD064-7401-483D-B692-28ECC49C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71500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___________________________________________________________________________________________</a:t>
            </a:r>
            <a:endParaRPr sz="100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FA28DAE6-F4CD-43A9-B69F-BE52F15F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03504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Lampiran: screenshot web, tes, dua API, dan deploy bila dikerjakan.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69796656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54DFA8B-330F-4ADB-A82D-CFD6FAF0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2CB8535-C286-4A46-9524-8D09DE38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482287A-FCD9-4975-A961-E1FC5B6B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68A64D0-52E9-4B7E-8C61-8020FBFC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227F7C2-09AA-423B-9FFE-14B47EC0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3AA38F4-F330-47E9-9998-CA9D6EDA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1831737-F806-4220-A2E8-1A577B8E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a6dfa9c4248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a5181df94a45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6B7B5156-99CF-43A3-9A83-3DAC2C1F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06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79BD8DBD-B539-4CA7-8E11-9B89AB69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Cleanup &amp;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Catatan Belajar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76D4B24F-B82C-4069-AB4E-9F9DAB1B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56EF1D7B-8952-4503-B483-745A62C5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Step 6: rapikan resource dan simpan catatan opsional.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05689718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301DBA9-3823-4F34-B290-BD0AD089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843D295-BF4B-4D4F-91BF-AA09D622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59AE74A-D80F-4E8D-81C8-F4D5F20D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666662a9043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ad2f2a62347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8C48D332-0DD4-4922-9523-BCA43879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7B7F28FB-8EE4-48EA-9444-08D39696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Arsip bukti dan rapikan resource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3A63619C-071B-43E7-85A0-35B3DDAD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Sesudah praktik, simpan catatan yang membantu proyek dan rapikan resource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A406B8FC-8A43-4E9B-BF02-E72F9B3D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B9570D4E-46E5-424E-B5BB-265C5C51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FF825F01-4829-4C9A-96B1-B628C427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SIMPAN BUKTI BELAJAR</a:t>
            </a:r>
            <a:endParaRPr sz="13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5A6F1B78-AB47-4AE9-91E4-256AEBD1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5212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Repo dan laporan menunjukkan proses kerja Anda:</a:t>
            </a:r>
            <a:endParaRPr sz="1100"/>
          </a:p>
        </p:txBody>
      </p:sp>
      <p:pic>
        <p:nvPicPr>
          <p:cNvPr id="5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077e137f042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7889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DDDE7A80-5A21-48BA-BF8B-BEF5F308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69748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Tautkan repo pribadi di portofolio bila sesuai.</a:t>
            </a:r>
            <a:endParaRPr sz="1100"/>
          </a:p>
        </p:txBody>
      </p:sp>
      <p:pic>
        <p:nvPicPr>
          <p:cNvPr id="6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077e137f042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38328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E3C2BEAB-59B3-4E14-B5F4-CBE2254B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29184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Simpan laporan dan screenshot hasil uji.</a:t>
            </a:r>
            <a:endParaRPr sz="1100"/>
          </a:p>
        </p:txBody>
      </p:sp>
      <p:pic>
        <p:nvPicPr>
          <p:cNvPr id="63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077e137f042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97764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9" name="Text 12">
            <a:extLst xmlns:a="http://schemas.openxmlformats.org/drawingml/2006/main">
              <a:ext uri="{FF2B5EF4-FFF2-40B4-BE49-F238E27FC236}">
                <a16:creationId xmlns:a16="http://schemas.microsoft.com/office/drawing/2014/main" id="{B45F7424-4D15-405B-883D-EE04D752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8620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Pastikan repo publik bebas data pribadi.</a:t>
            </a:r>
            <a:endParaRPr sz="1100"/>
          </a:p>
        </p:txBody>
      </p:sp>
      <p:pic>
        <p:nvPicPr>
          <p:cNvPr id="6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077e137f042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57200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1" name="Text 13">
            <a:extLst xmlns:a="http://schemas.openxmlformats.org/drawingml/2006/main">
              <a:ext uri="{FF2B5EF4-FFF2-40B4-BE49-F238E27FC236}">
                <a16:creationId xmlns:a16="http://schemas.microsoft.com/office/drawing/2014/main" id="{3F7C8C6F-078E-4D4E-BD73-1E98C84A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48056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Jelaskan keputusan model dan trade-off.</a:t>
            </a:r>
            <a:endParaRPr sz="1100"/>
          </a:p>
        </p:txBody>
      </p:sp>
      <p:pic>
        <p:nvPicPr>
          <p:cNvPr id="67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077e137f042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16636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3" name="Text 14">
            <a:extLst xmlns:a="http://schemas.openxmlformats.org/drawingml/2006/main">
              <a:ext uri="{FF2B5EF4-FFF2-40B4-BE49-F238E27FC236}">
                <a16:creationId xmlns:a16="http://schemas.microsoft.com/office/drawing/2014/main" id="{7E2AAF45-428C-4915-B2FE-1488C21B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07492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Cek kuota resmi bila tetap deploy.</a:t>
            </a:r>
            <a:endParaRPr sz="1100"/>
          </a:p>
        </p:txBody>
      </p:sp>
      <p:sp>
        <p:nvSpPr>
          <p:cNvPr id="24" name="Shape 15">
            <a:extLst xmlns:a="http://schemas.openxmlformats.org/drawingml/2006/main">
              <a:ext uri="{FF2B5EF4-FFF2-40B4-BE49-F238E27FC236}">
                <a16:creationId xmlns:a16="http://schemas.microsoft.com/office/drawing/2014/main" id="{1848D036-C837-4EA5-9B3E-930B7B31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16">
            <a:extLst xmlns:a="http://schemas.openxmlformats.org/drawingml/2006/main">
              <a:ext uri="{FF2B5EF4-FFF2-40B4-BE49-F238E27FC236}">
                <a16:creationId xmlns:a16="http://schemas.microsoft.com/office/drawing/2014/main" id="{9328D256-83B7-4A76-A669-59EE63AF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26" name="Text 17">
            <a:extLst xmlns:a="http://schemas.openxmlformats.org/drawingml/2006/main">
              <a:ext uri="{FF2B5EF4-FFF2-40B4-BE49-F238E27FC236}">
                <a16:creationId xmlns:a16="http://schemas.microsoft.com/office/drawing/2014/main" id="{8B0CAD57-8F95-4ECA-8B42-BCE7B558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BERSIHKAN SESUAI KEBUTUHAN</a:t>
            </a:r>
            <a:endParaRPr sz="1300"/>
          </a:p>
        </p:txBody>
      </p:sp>
      <p:sp>
        <p:nvSpPr>
          <p:cNvPr id="27" name="Text 18">
            <a:extLst xmlns:a="http://schemas.openxmlformats.org/drawingml/2006/main">
              <a:ext uri="{FF2B5EF4-FFF2-40B4-BE49-F238E27FC236}">
                <a16:creationId xmlns:a16="http://schemas.microsoft.com/office/drawing/2014/main" id="{FAA5CB7A-C744-412C-8168-9DA8EDBD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48840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Cek resource yang masih dipakai proyek kelompok:</a:t>
            </a:r>
            <a:endParaRPr sz="1100"/>
          </a:p>
        </p:txBody>
      </p:sp>
      <p:sp>
        <p:nvSpPr>
          <p:cNvPr id="28" name="Shape 19">
            <a:extLst xmlns:a="http://schemas.openxmlformats.org/drawingml/2006/main">
              <a:ext uri="{FF2B5EF4-FFF2-40B4-BE49-F238E27FC236}">
                <a16:creationId xmlns:a16="http://schemas.microsoft.com/office/drawing/2014/main" id="{73E86296-BCF5-4388-B99D-5FE85749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89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29" name="Text 20">
            <a:extLst xmlns:a="http://schemas.openxmlformats.org/drawingml/2006/main">
              <a:ext uri="{FF2B5EF4-FFF2-40B4-BE49-F238E27FC236}">
                <a16:creationId xmlns:a16="http://schemas.microsoft.com/office/drawing/2014/main" id="{054A0463-67A7-4395-930C-CDA36936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89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300"/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DAD0A5BF-CC80-4A46-B2FB-7A984E55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97480"/>
            <a:ext cx="4663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Hentikan server lokal dengan Ctrl+C.</a:t>
            </a:r>
            <a:endParaRPr sz="1050"/>
          </a:p>
        </p:txBody>
      </p:sp>
      <p:sp>
        <p:nvSpPr>
          <p:cNvPr id="31" name="Shape 22">
            <a:extLst xmlns:a="http://schemas.openxmlformats.org/drawingml/2006/main">
              <a:ext uri="{FF2B5EF4-FFF2-40B4-BE49-F238E27FC236}">
                <a16:creationId xmlns:a16="http://schemas.microsoft.com/office/drawing/2014/main" id="{5DFD09BC-CAA1-4806-86EE-E7F6D39C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47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32" name="Text 23">
            <a:extLst xmlns:a="http://schemas.openxmlformats.org/drawingml/2006/main">
              <a:ext uri="{FF2B5EF4-FFF2-40B4-BE49-F238E27FC236}">
                <a16:creationId xmlns:a16="http://schemas.microsoft.com/office/drawing/2014/main" id="{0ED0E88E-7A6F-44EB-AE66-C6EE3356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47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300"/>
          </a:p>
        </p:txBody>
      </p:sp>
      <p:sp>
        <p:nvSpPr>
          <p:cNvPr id="33" name="Text 24">
            <a:extLst xmlns:a="http://schemas.openxmlformats.org/drawingml/2006/main">
              <a:ext uri="{FF2B5EF4-FFF2-40B4-BE49-F238E27FC236}">
                <a16:creationId xmlns:a16="http://schemas.microsoft.com/office/drawing/2014/main" id="{6E9B6012-D7D6-4126-9D7C-0AC087F9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83280"/>
            <a:ext cx="4663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Jika deploy: hapus project Vercel bila tidak dipakai.</a:t>
            </a:r>
            <a:endParaRPr sz="1050"/>
          </a:p>
        </p:txBody>
      </p:sp>
      <p:sp>
        <p:nvSpPr>
          <p:cNvPr id="34" name="Shape 25">
            <a:extLst xmlns:a="http://schemas.openxmlformats.org/drawingml/2006/main">
              <a:ext uri="{FF2B5EF4-FFF2-40B4-BE49-F238E27FC236}">
                <a16:creationId xmlns:a16="http://schemas.microsoft.com/office/drawing/2014/main" id="{1C7AA35A-53BB-4260-9535-EA3CD581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605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35" name="Text 26">
            <a:extLst xmlns:a="http://schemas.openxmlformats.org/drawingml/2006/main">
              <a:ext uri="{FF2B5EF4-FFF2-40B4-BE49-F238E27FC236}">
                <a16:creationId xmlns:a16="http://schemas.microsoft.com/office/drawing/2014/main" id="{AEEB66A9-AD05-4EDC-BDA0-BCAA9020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605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300"/>
          </a:p>
        </p:txBody>
      </p:sp>
      <p:sp>
        <p:nvSpPr>
          <p:cNvPr id="36" name="Text 27">
            <a:extLst xmlns:a="http://schemas.openxmlformats.org/drawingml/2006/main">
              <a:ext uri="{FF2B5EF4-FFF2-40B4-BE49-F238E27FC236}">
                <a16:creationId xmlns:a16="http://schemas.microsoft.com/office/drawing/2014/main" id="{6904179D-A7AC-4C64-BA19-55750651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69080"/>
            <a:ext cx="4663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Arsipkan repo; periksa file sebelum ubah visibilitas.</a:t>
            </a:r>
            <a:endParaRPr sz="1050"/>
          </a:p>
        </p:txBody>
      </p:sp>
      <p:sp>
        <p:nvSpPr>
          <p:cNvPr id="37" name="Shape 28">
            <a:extLst xmlns:a="http://schemas.openxmlformats.org/drawingml/2006/main">
              <a:ext uri="{FF2B5EF4-FFF2-40B4-BE49-F238E27FC236}">
                <a16:creationId xmlns:a16="http://schemas.microsoft.com/office/drawing/2014/main" id="{8B99D564-79C1-4C83-A235-FCB9F9A8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38" name="Text 29">
            <a:extLst xmlns:a="http://schemas.openxmlformats.org/drawingml/2006/main">
              <a:ext uri="{FF2B5EF4-FFF2-40B4-BE49-F238E27FC236}">
                <a16:creationId xmlns:a16="http://schemas.microsoft.com/office/drawing/2014/main" id="{5F2B4B58-1655-4493-BC84-CE122036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63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300"/>
          </a:p>
        </p:txBody>
      </p:sp>
      <p:sp>
        <p:nvSpPr>
          <p:cNvPr id="39" name="Text 30">
            <a:extLst xmlns:a="http://schemas.openxmlformats.org/drawingml/2006/main">
              <a:ext uri="{FF2B5EF4-FFF2-40B4-BE49-F238E27FC236}">
                <a16:creationId xmlns:a16="http://schemas.microsoft.com/office/drawing/2014/main" id="{A322F0D1-D925-4F3C-AFF2-79CEA7D2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54880"/>
            <a:ext cx="4663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Akun GitHub/Vercel dapat dipakai untuk lab berikutnya.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34986754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CC6DE10-17B5-4BE7-A7FD-6DCF2211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547C013-6A9B-4A69-AAEC-39910BFC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23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833365D-F5AF-41C1-89DA-EC813EF7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1ca82f659242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1246ad31a4e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EFC2F6A0-798B-45C2-BC81-566943D1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965C26FB-EF41-4ED6-BFAA-F53CD902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Catatan latihan Lab 01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47E4FFB-5170-4289-A796-FC766F87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Repo latihan dan screenshot bersifat opsional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11698620-2BC6-4A39-9A4E-B0064239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8D1E596-AF6C-4353-9341-C2CA5B9C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Lab 01 tidak dikumpulkan. Gunakan hasilnya untuk keputusan arsitektur proyek 3 orang.</a:t>
            </a:r>
            <a:b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</a:b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 </a:t>
            </a:r>
            <a:endParaRPr sz="13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5B1E5846-89C6-4969-8966-CB0CA6B3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47120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68F1B4D8-E072-414D-A580-44900CAF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Contoh catatan di repo</a:t>
            </a:r>
            <a:endParaRPr sz="13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20F3AF46-602D-492A-B8AC-7E7CA110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17520"/>
            <a:ext cx="10972800" cy="3154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0885C0D1-8F22-40DA-BCB7-8C4F1798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17520"/>
            <a:ext cx="109728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3C09BE1A-7316-4604-B4A4-1EBA2229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998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E6F77942-86D6-499C-9F31-63B7DD73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0998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8B0858D5-F544-4CAF-B387-C255F5C9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0998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4E220376-9814-4FF9-92EC-B102E2ED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17520"/>
            <a:ext cx="10241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Ringkasan praktik untuk proyek</a:t>
            </a:r>
            <a:endParaRPr sz="9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E37E13D7-B752-410D-822A-A23035D0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80"/>
            <a:ext cx="10698480" cy="2697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400" b="1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Repo latihan: URL opsional</a:t>
            </a:r>
            <a:r>
              <a:rPr sz="1400" b="1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
</a:t>
            </a:r>
            <a:r>
              <a:rPr sz="1400" b="1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Catatan: hasil/lab01.md bila dibuat</a:t>
            </a:r>
            <a:br>
              <a:rPr sz="1400" b="1">
                <a:solidFill>
                  <a:srgbClr val="E2E8F0"/>
                </a:solidFill>
                <a:latin typeface="Consolas"/>
                <a:ea typeface="Consolas"/>
                <a:cs typeface="Consolas"/>
              </a:rPr>
            </a:br>
            <a:r>
              <a:rPr sz="1400" b="1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Uji: npm test, web, dua API</a:t>
            </a:r>
            <a:br>
              <a:rPr sz="1400" b="1">
                <a:solidFill>
                  <a:srgbClr val="E2E8F0"/>
                </a:solidFill>
                <a:latin typeface="Consolas"/>
                <a:ea typeface="Consolas"/>
                <a:cs typeface="Consolas"/>
              </a:rPr>
            </a:br>
            <a:r>
              <a:rPr sz="1400" b="1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Keputusan: model cloud per komponen</a:t>
            </a:r>
            <a:br>
              <a:rPr sz="1400" b="1">
                <a:solidFill>
                  <a:srgbClr val="E2E8F0"/>
                </a:solidFill>
                <a:latin typeface="Consolas"/>
                <a:ea typeface="Consolas"/>
                <a:cs typeface="Consolas"/>
              </a:rPr>
            </a:br>
            <a:r>
              <a:rPr sz="1400" b="1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Proyek: checkpoint minggu 7, final minggu 14.</a:t>
            </a:r>
            <a:br>
              <a:rPr sz="1400" b="1">
                <a:solidFill>
                  <a:srgbClr val="E2E8F0"/>
                </a:solidFill>
                <a:latin typeface="Consolas"/>
                <a:ea typeface="Consolas"/>
                <a:cs typeface="Consolas"/>
              </a:rPr>
            </a:br>
            <a:r>
              <a:rPr sz="1400" b="1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
</a:t>
            </a:r>
            <a:r>
              <a:rPr sz="1400" b="1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endParaRPr sz="1400">
              <a:solidFill>
                <a:srgbClr val="E2E8F0"/>
              </a:solidFill>
              <a:latin typeface="Consolas"/>
              <a:ea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68932289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4283D38-1ABD-4C84-9D8E-299FE308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F630044-ABAF-4BC6-B25B-C6DA67A4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24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C0E9091-137C-445D-BB6D-B0DC11F2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c956eb34745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f1c7c505184d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38106DD8-2EC6-4D0C-8855-8F0A4E4F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475A2C4-C46B-4F57-9D23-7B70EAA2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Cek pemahaman Lab 01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3017031A-42BE-47D4-8242-D54667AA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Diskusi formatif; tanpa poin atau nilai per lab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628CACC2-B4DE-4EC0-95A3-76F426B9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6338AFA-2EDB-4F34-A0E6-E438AE3B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2560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Komponen</a:t>
            </a:r>
            <a:endParaRPr sz="11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1A3C311C-ED6D-4D5A-AB8F-A7B89E79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417320"/>
            <a:ext cx="8229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Fokus</a:t>
            </a:r>
            <a:endParaRPr sz="11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5D2FA8C0-FD36-4E77-9ACE-A89B2AC2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23774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Sudah kuat</a:t>
            </a:r>
            <a:endParaRPr sz="11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D60E2555-2E4E-462D-B0A7-2FDA47FC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2286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Perlu ulas</a:t>
            </a:r>
            <a:endParaRPr sz="11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8875512B-F9B7-4F3F-99F5-324F2BC3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17320"/>
            <a:ext cx="23774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Coba ulang</a:t>
            </a:r>
            <a:endParaRPr sz="11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328DC59E-D6F9-4470-B3BB-23B9FA5A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74520"/>
            <a:ext cx="112471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AE0007E6-9356-4518-948B-DC8BA597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74520"/>
            <a:ext cx="1371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9A8FF4C7-E036-43BC-98E4-380E06B6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74520"/>
            <a:ext cx="2423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Kombinasi model</a:t>
            </a:r>
            <a:endParaRPr sz="11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50929EE8-2C25-4FDA-A8B1-F4DC4B06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874520"/>
            <a:ext cx="8229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Model</a:t>
            </a:r>
            <a:endParaRPr sz="14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1963DDDA-BE9A-410D-92C8-016C8295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874520"/>
            <a:ext cx="2377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Model per komponen sesuai kebutuhan kasus</a:t>
            </a:r>
            <a:endParaRPr sz="9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A52DBD2-436A-4B80-80AC-40EB0A0E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874520"/>
            <a:ext cx="22860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Model cukup cocok, rincian komponen kurang</a:t>
            </a:r>
            <a:endParaRPr sz="9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A122911E-600E-4B20-BA02-D62C9BA9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74520"/>
            <a:ext cx="2377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Model tidak cocok atau hanya salin engine</a:t>
            </a:r>
            <a:endParaRPr sz="90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16F1F8DC-AAFF-4495-9989-4747ADE0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112471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42BA5459-6053-4D85-8BEA-B7CDD911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1371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F1215DEA-119E-4466-83D0-B29921C2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43200"/>
            <a:ext cx="2423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Justifikasi</a:t>
            </a:r>
            <a:endParaRPr sz="11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ADB6291E-FF7B-4316-A56E-8833DB2B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743200"/>
            <a:ext cx="8229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Alasan</a:t>
            </a:r>
            <a:endParaRPr sz="140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159FBBC9-B35C-41B1-ABCF-0CB57AE9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743200"/>
            <a:ext cx="2377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Tiga faktor terkait konteks; bandingkan alternatif</a:t>
            </a:r>
            <a:endParaRPr sz="90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6CEC90EE-F4F3-4AAD-991F-25916F39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743200"/>
            <a:ext cx="22860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Dua faktor; alasan masih umum</a:t>
            </a:r>
            <a:endParaRPr sz="9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EE7AE061-FA29-4E74-9926-C8887B56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43200"/>
            <a:ext cx="2377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Alasan tanpa kaitan dengan konteks</a:t>
            </a:r>
            <a:endParaRPr sz="90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A65CBAF4-DFB5-42D2-B45A-36174653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112471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23D98051-E3C4-4A00-B0D0-E6BD6F7C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1371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398387B7-9F25-4ACE-9D0E-5E2397C9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11880"/>
            <a:ext cx="2423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Trade-off</a:t>
            </a:r>
            <a:endParaRPr sz="11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A07F8E8C-AD7D-4152-9BDD-C72AC691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611880"/>
            <a:ext cx="8229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Risiko</a:t>
            </a:r>
            <a:endParaRPr sz="140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2854340A-BD04-46F4-8F2D-3F480B85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611880"/>
            <a:ext cx="2377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Risiko dan mitigasi jelas per pilihan</a:t>
            </a:r>
            <a:endParaRPr sz="900"/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75579A41-000B-48BF-B49A-5B0FCE69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611880"/>
            <a:ext cx="22860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Risiko disebut, mitigasi belum jelas</a:t>
            </a:r>
            <a:endParaRPr sz="900"/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116C9E3D-6008-4B97-8D36-ECE8BEC0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11880"/>
            <a:ext cx="2377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Tidak membahas kekurangan pilihan</a:t>
            </a:r>
            <a:endParaRPr sz="900"/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A6DB65FA-F6A0-4781-BC38-F093E1C3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80560"/>
            <a:ext cx="112471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6AF23EB9-F6F4-4B4D-A498-DF130120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80560"/>
            <a:ext cx="1371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0B66C064-456D-4B1B-8DB0-E009CF50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80560"/>
            <a:ext cx="2423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Repo dan uji</a:t>
            </a:r>
            <a:endParaRPr sz="1100"/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A9279FA7-7C60-44DC-A4C1-4637E910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480560"/>
            <a:ext cx="8229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Praktik</a:t>
            </a:r>
            <a:endParaRPr sz="1400"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EC8F738E-B022-4354-B8C4-EE0A00F0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4480560"/>
            <a:ext cx="2377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18 tes, web/API, laporan, dan bukti sendiri</a:t>
            </a:r>
            <a:endParaRPr sz="900"/>
          </a:p>
        </p:txBody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E45E5FF5-D5DD-4A65-BF7E-85917BEE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4480560"/>
            <a:ext cx="22860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Sebagian bukti uji atau laporan kurang</a:t>
            </a:r>
            <a:endParaRPr sz="900"/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BA02A94B-F7DB-4296-99CA-B5815C88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80560"/>
            <a:ext cx="2377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Kode atau bukti tidak dapat diperiksa</a:t>
            </a:r>
            <a:endParaRPr sz="900"/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11F609FB-F369-4A66-B500-7E96C1AD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49240"/>
            <a:ext cx="112471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31C19463-580B-4BC3-90D3-DBA9360B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49240"/>
            <a:ext cx="1371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8728E39A-E5FA-4321-B1A7-C7E8176E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349240"/>
            <a:ext cx="2423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Vercel</a:t>
            </a:r>
            <a:endParaRPr sz="1100"/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FABA3895-F187-45BD-B989-9011BD2C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5349240"/>
            <a:ext cx="8229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Pilihan</a:t>
            </a:r>
            <a:endParaRPr sz="1400"/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B6EACE87-D467-4621-95C4-71BA3EC9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5349240"/>
            <a:ext cx="2377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Jika dipilih, URL web/API berfungsi</a:t>
            </a:r>
            <a:endParaRPr sz="900"/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866672A9-CC66-43E4-AA53-E645348A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5349240"/>
            <a:ext cx="22860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Jalur lokal lengkap tetap memenuhi inti</a:t>
            </a:r>
            <a:endParaRPr sz="900"/>
          </a:p>
        </p:txBody>
      </p:sp>
      <p:sp>
        <p:nvSpPr>
          <p:cNvPr id="50" name="Text 46">
            <a:extLst xmlns:a="http://schemas.openxmlformats.org/drawingml/2006/main">
              <a:ext uri="{FF2B5EF4-FFF2-40B4-BE49-F238E27FC236}">
                <a16:creationId xmlns:a16="http://schemas.microsoft.com/office/drawing/2014/main" id="{47232C73-36C0-49A1-A845-C845D916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349240"/>
            <a:ext cx="2377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Tidak ada penalti bila tidak deploy</a:t>
            </a:r>
            <a:endParaRPr sz="900"/>
          </a:p>
        </p:txBody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A41DDC10-D28C-47E0-9F61-153629BD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Gunakan umpan balik ini saat memilih arsitektur proyek kelompok.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88848424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CDE7790-CCD1-43C5-9D25-1E29BD05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E550D30-5D4A-4AAC-8123-2D2CF5AA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25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74CDB2A-F9B5-4C72-8CAB-46563487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a1495c6af948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87a573047448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E45B1E6E-3EF4-475B-876F-CF5A8710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93CFBDF-B640-4834-918E-A7F3647E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6 kendala umum saat praktik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07741B3-C68A-4FDB-92FB-6AF45C85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Gunakan gejala dan hasil tes untuk memilih perbaikan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A715E6D0-16A4-49E6-85B9-DCBD050D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17BD0E28-6CF5-41A8-A73D-D2CE03A8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CFFDA0C1-1277-4C4F-81FE-A588808A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Identitas contoh</a:t>
            </a:r>
            <a:endParaRPr sz="12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E4C55F0E-0199-4553-94D1-66785D35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student.json masih nilai template meski tes lulus.</a:t>
            </a:r>
            <a:endParaRPr sz="10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7B1ABF36-8400-467A-9B3E-FF7E3747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80360"/>
            <a:ext cx="33375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E3C45438-8E40-4B3C-9861-538AB632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26080"/>
            <a:ext cx="3154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Isi nama, kelas, username GitHub; jangan NIM.</a:t>
            </a:r>
            <a:endParaRPr sz="10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6D14F95A-9C7C-4AAB-8481-20050A5E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38D0497D-0FDC-4190-B104-3FEF5FD5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F39CB37F-C1C1-4878-ADED-02690972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41732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Port 3000 terpakai</a:t>
            </a:r>
            <a:endParaRPr sz="12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16D3B0B0-36BF-4421-8269-C224E5D3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6596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Server Node gagal berjalan karena proses lain memakai port 3000.</a:t>
            </a:r>
            <a:endParaRPr sz="105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1F9E8612-98B8-4F7F-9ADA-079A8F0C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880360"/>
            <a:ext cx="33375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7E1A6AD5-976B-4260-8FBF-5A74692A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6080"/>
            <a:ext cx="3154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Hentikan server lama, lalu uji URL lagi.</a:t>
            </a:r>
            <a:endParaRPr sz="100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8ED5D0BF-C6B9-413E-B14C-B4261CB5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02E9CFBE-24FC-4FAC-8496-92ABF8E5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47853D22-9BF4-40D6-B150-F158734D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41732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Folder kerja salah</a:t>
            </a:r>
            <a:endParaRPr sz="12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0B92EC69-F43B-41B7-A055-B2E54666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96596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npm run dev dijalankan dari root, bukan starter/.</a:t>
            </a:r>
            <a:endParaRPr sz="105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69B897DF-AEC9-4A0C-AE62-F1F4CED9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880360"/>
            <a:ext cx="33375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13F21611-89FB-421C-9218-818FAECD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926080"/>
            <a:ext cx="3154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cd starter; npm test; npm run dev.</a:t>
            </a:r>
            <a:endParaRPr sz="100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89BB8316-3AEB-4C05-9B59-D6B7AD7D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BF485E8F-AF2C-492E-8030-11FB022F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359C4D79-27F2-44CE-B66F-650624AB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9476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Push belum terjadi</a:t>
            </a:r>
            <a:endParaRPr sz="12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C61C5C62-FA8D-42D4-A477-6A965575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4340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Commit lokal belum otomatis muncul di GitHub.</a:t>
            </a:r>
            <a:endParaRPr sz="1050"/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9B8DC41E-F0E2-4469-A32F-A17451F0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57800"/>
            <a:ext cx="33375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E304FDD8-739F-4C29-83FF-4737BC85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03520"/>
            <a:ext cx="3154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git push -u origin main; cocokkan SHA.</a:t>
            </a:r>
            <a:endParaRPr sz="100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583C4D72-4011-4B4A-893B-4A7CBB70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B37A98B3-6FC4-49F7-BA28-81A91349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E2A1447A-41FC-4357-A5C0-311A51FD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79476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API 404 atau 400</a:t>
            </a:r>
            <a:endParaRPr sz="12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1FE1F20B-1828-4DED-B061-263FAEC7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34340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404 berarti route salah; 400 berarti faktor tak dikenal.</a:t>
            </a:r>
            <a:endParaRPr sz="1050"/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DC1037B7-790E-42AE-AD8D-5B8EEEAA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257800"/>
            <a:ext cx="33375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9245D698-6EF5-4F00-91DB-6A280C34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03520"/>
            <a:ext cx="3154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Periksa path, query, dan log server.</a:t>
            </a:r>
            <a:endParaRPr sz="1000"/>
          </a:p>
        </p:txBody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3A885FD4-E260-4339-BFB6-FF9C4963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DC5360C9-B31B-420D-9575-0C1C3EE6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1337BB10-0BE3-40B7-88DF-BFF6A527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79476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Bukti belum lengkap</a:t>
            </a:r>
            <a:endParaRPr sz="1200"/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E97366C4-260C-400A-AC6A-4E56C202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34340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Laporan tanpa hasil tes/web/API sendiri sulit diperiksa.</a:t>
            </a:r>
            <a:endParaRPr sz="1050"/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15A48BBE-6FE8-43F7-A2A7-79ADA496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257800"/>
            <a:ext cx="33375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B8125DDF-2F04-446E-BF0E-BC77CAED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5303520"/>
            <a:ext cx="3154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Simpan bukti pribadi di hasil/bukti/.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68530393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8150A24-0917-4DA2-80D8-DE868501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70C3C92-A4C1-4467-B424-D6F9E582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18900A1-63E5-454D-B724-48FFC776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bd5e3039d443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6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b2a50a276e4f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6D71FCC2-BDAE-4EA9-B402-4CCA4877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38D12B1-3FF2-4B24-A733-8D62B2D6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Pilihan latihan lanjutan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F8F34E8-BC2B-446D-8838-F8A4C69B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Pilih satu setelah tugas inti selesai; catat hasilnya di laporan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D4061368-AEEA-4151-AF9C-FC6DA507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CC73F71B-2D58-4402-9095-6F492D8F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pic>
        <p:nvPicPr>
          <p:cNvPr id="7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864e7323c64d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148590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AEEBA044-B248-4E69-8CF8-A2418BB4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417320"/>
            <a:ext cx="2057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Kasus baru</a:t>
            </a:r>
            <a:endParaRPr sz="1200"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B3412F28-0298-466F-9508-1202B060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508760"/>
            <a:ext cx="9144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0D20260A-B5C0-49B9-9C96-C9B19D2B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508760"/>
            <a:ext cx="914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7C3AED"/>
                </a:solidFill>
                <a:latin typeface="Calibri"/>
                <a:ea typeface="Calibri"/>
                <a:cs typeface="Calibri"/>
              </a:rPr>
              <a:t>Opsional</a:t>
            </a:r>
            <a:endParaRPr sz="9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64835ACC-ED1A-4AC0-8B54-35AA8D47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333756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Rancang model cloud untuk layanan UMKM lain.</a:t>
            </a:r>
            <a:endParaRPr sz="1100"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4944A5F2-F54B-4221-B54F-B89DF783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72ADC355-B63A-44F0-968B-9EE5745D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pic>
        <p:nvPicPr>
          <p:cNvPr id="7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2e91495504d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4840" y="148590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5421913D-01F2-4D91-A6C9-E914F48B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417320"/>
            <a:ext cx="2057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Ubah bobot engine</a:t>
            </a:r>
            <a:endParaRPr sz="1200"/>
          </a:p>
        </p:txBody>
      </p:sp>
      <p:sp>
        <p:nvSpPr>
          <p:cNvPr id="21" name="Shape 15">
            <a:extLst xmlns:a="http://schemas.openxmlformats.org/drawingml/2006/main">
              <a:ext uri="{FF2B5EF4-FFF2-40B4-BE49-F238E27FC236}">
                <a16:creationId xmlns:a16="http://schemas.microsoft.com/office/drawing/2014/main" id="{0B15F17B-AD14-40C3-86AE-1FE8019B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508760"/>
            <a:ext cx="9144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B25B79A8-A724-4024-B760-A68C34BB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508760"/>
            <a:ext cx="914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7C3AED"/>
                </a:solidFill>
                <a:latin typeface="Calibri"/>
                <a:ea typeface="Calibri"/>
                <a:cs typeface="Calibri"/>
              </a:rPr>
              <a:t>Opsional</a:t>
            </a:r>
            <a:endParaRPr sz="90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016093AE-543A-4A11-8604-B5032B7F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011680"/>
            <a:ext cx="333756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Uji bagaimana faktor mengubah ranking dan alasan.</a:t>
            </a:r>
            <a:endParaRPr sz="110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8E612F9E-6609-44A2-B757-BAE550D9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FA3BC75B-3157-4B0E-9CA5-F4101D68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pic>
        <p:nvPicPr>
          <p:cNvPr id="8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35a3ebc4441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320" y="148590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AA5953C2-96B5-420F-B9FC-0329FEF4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417320"/>
            <a:ext cx="2057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Audit data publik</a:t>
            </a:r>
            <a:endParaRPr sz="1200"/>
          </a:p>
        </p:txBody>
      </p:sp>
      <p:sp>
        <p:nvSpPr>
          <p:cNvPr id="28" name="Shape 21">
            <a:extLst xmlns:a="http://schemas.openxmlformats.org/drawingml/2006/main">
              <a:ext uri="{FF2B5EF4-FFF2-40B4-BE49-F238E27FC236}">
                <a16:creationId xmlns:a16="http://schemas.microsoft.com/office/drawing/2014/main" id="{6A68E3EF-883B-4E4A-9EE9-3AEA1A04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1508760"/>
            <a:ext cx="9144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59AC994B-57B3-4C11-8A83-25940B83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1508760"/>
            <a:ext cx="914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7C3AED"/>
                </a:solidFill>
                <a:latin typeface="Calibri"/>
                <a:ea typeface="Calibri"/>
                <a:cs typeface="Calibri"/>
              </a:rPr>
              <a:t>Opsional</a:t>
            </a:r>
            <a:endParaRPr sz="900"/>
          </a:p>
        </p:txBody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208EF575-C27C-4A1C-B297-6452F777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011680"/>
            <a:ext cx="333756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Periksa staged files agar NIM/token tidak terunggah.</a:t>
            </a:r>
            <a:endParaRPr sz="1100"/>
          </a:p>
        </p:txBody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AC12B4FA-F6F9-4C20-ADA5-DE2CC3C4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C7B19EB5-35B5-4EE6-9E0B-5B6268C1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pic>
        <p:nvPicPr>
          <p:cNvPr id="9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6e0958cb2745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386334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34" name="Text 26">
            <a:extLst xmlns:a="http://schemas.openxmlformats.org/drawingml/2006/main">
              <a:ext uri="{FF2B5EF4-FFF2-40B4-BE49-F238E27FC236}">
                <a16:creationId xmlns:a16="http://schemas.microsoft.com/office/drawing/2014/main" id="{F55B7117-72D2-41EB-9E28-47DF1D51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94760"/>
            <a:ext cx="2057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Uji API salah</a:t>
            </a:r>
            <a:endParaRPr sz="1200"/>
          </a:p>
        </p:txBody>
      </p:sp>
      <p:sp>
        <p:nvSpPr>
          <p:cNvPr id="35" name="Shape 27">
            <a:extLst xmlns:a="http://schemas.openxmlformats.org/drawingml/2006/main">
              <a:ext uri="{FF2B5EF4-FFF2-40B4-BE49-F238E27FC236}">
                <a16:creationId xmlns:a16="http://schemas.microsoft.com/office/drawing/2014/main" id="{C8CC7EC4-7C37-48E3-B717-DCD6E185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886200"/>
            <a:ext cx="9144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2DA4FB01-ADDC-4E4E-A203-507E2E2A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886200"/>
            <a:ext cx="914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7C3AED"/>
                </a:solidFill>
                <a:latin typeface="Calibri"/>
                <a:ea typeface="Calibri"/>
                <a:cs typeface="Calibri"/>
              </a:rPr>
              <a:t>Opsional</a:t>
            </a:r>
            <a:endParaRPr sz="900"/>
          </a:p>
        </p:txBody>
      </p:sp>
      <p:sp>
        <p:nvSpPr>
          <p:cNvPr id="37" name="Text 29">
            <a:extLst xmlns:a="http://schemas.openxmlformats.org/drawingml/2006/main">
              <a:ext uri="{FF2B5EF4-FFF2-40B4-BE49-F238E27FC236}">
                <a16:creationId xmlns:a16="http://schemas.microsoft.com/office/drawing/2014/main" id="{D0958818-7981-4059-8D61-C65E2182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89120"/>
            <a:ext cx="333756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Kirim faktor tak dikenal; jelaskan HTTP 400.</a:t>
            </a:r>
            <a:endParaRPr sz="1100"/>
          </a:p>
        </p:txBody>
      </p:sp>
      <p:sp>
        <p:nvSpPr>
          <p:cNvPr id="38" name="Shape 30">
            <a:extLst xmlns:a="http://schemas.openxmlformats.org/drawingml/2006/main">
              <a:ext uri="{FF2B5EF4-FFF2-40B4-BE49-F238E27FC236}">
                <a16:creationId xmlns:a16="http://schemas.microsoft.com/office/drawing/2014/main" id="{EA37309C-9496-4BED-87ED-B39A2E7B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9" name="Shape 31">
            <a:extLst xmlns:a="http://schemas.openxmlformats.org/drawingml/2006/main">
              <a:ext uri="{FF2B5EF4-FFF2-40B4-BE49-F238E27FC236}">
                <a16:creationId xmlns:a16="http://schemas.microsoft.com/office/drawing/2014/main" id="{AC1F4B93-CF5B-48D7-B200-5D71E884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pic>
        <p:nvPicPr>
          <p:cNvPr id="98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0c05e87674e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4840" y="386334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41" name="Text 32">
            <a:extLst xmlns:a="http://schemas.openxmlformats.org/drawingml/2006/main">
              <a:ext uri="{FF2B5EF4-FFF2-40B4-BE49-F238E27FC236}">
                <a16:creationId xmlns:a16="http://schemas.microsoft.com/office/drawing/2014/main" id="{FEAD9275-B4A8-47F3-A848-037A6F69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794760"/>
            <a:ext cx="2057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Deploy opsional</a:t>
            </a:r>
            <a:endParaRPr sz="1200"/>
          </a:p>
        </p:txBody>
      </p:sp>
      <p:sp>
        <p:nvSpPr>
          <p:cNvPr id="42" name="Shape 33">
            <a:extLst xmlns:a="http://schemas.openxmlformats.org/drawingml/2006/main">
              <a:ext uri="{FF2B5EF4-FFF2-40B4-BE49-F238E27FC236}">
                <a16:creationId xmlns:a16="http://schemas.microsoft.com/office/drawing/2014/main" id="{A264F9A0-C2AD-4517-85F1-E1895ADA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886200"/>
            <a:ext cx="9144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43" name="Text 34">
            <a:extLst xmlns:a="http://schemas.openxmlformats.org/drawingml/2006/main">
              <a:ext uri="{FF2B5EF4-FFF2-40B4-BE49-F238E27FC236}">
                <a16:creationId xmlns:a16="http://schemas.microsoft.com/office/drawing/2014/main" id="{957CEDA6-1E91-434F-9456-94EE7152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886200"/>
            <a:ext cx="914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7C3AED"/>
                </a:solidFill>
                <a:latin typeface="Calibri"/>
                <a:ea typeface="Calibri"/>
                <a:cs typeface="Calibri"/>
              </a:rPr>
              <a:t>Opsional</a:t>
            </a:r>
            <a:endParaRPr sz="900"/>
          </a:p>
        </p:txBody>
      </p:sp>
      <p:sp>
        <p:nvSpPr>
          <p:cNvPr id="44" name="Text 35">
            <a:extLst xmlns:a="http://schemas.openxmlformats.org/drawingml/2006/main">
              <a:ext uri="{FF2B5EF4-FFF2-40B4-BE49-F238E27FC236}">
                <a16:creationId xmlns:a16="http://schemas.microsoft.com/office/drawing/2014/main" id="{C3C60445-7995-4AB9-B5F5-3CFA7003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389120"/>
            <a:ext cx="333756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Impor starter ke Vercel; uji halaman dan dua API.</a:t>
            </a:r>
            <a:endParaRPr sz="1100"/>
          </a:p>
        </p:txBody>
      </p:sp>
      <p:sp>
        <p:nvSpPr>
          <p:cNvPr id="45" name="Shape 36">
            <a:extLst xmlns:a="http://schemas.openxmlformats.org/drawingml/2006/main">
              <a:ext uri="{FF2B5EF4-FFF2-40B4-BE49-F238E27FC236}">
                <a16:creationId xmlns:a16="http://schemas.microsoft.com/office/drawing/2014/main" id="{C953340C-6EB1-4E9F-9815-C22C8CB6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6" name="Shape 37">
            <a:extLst xmlns:a="http://schemas.openxmlformats.org/drawingml/2006/main">
              <a:ext uri="{FF2B5EF4-FFF2-40B4-BE49-F238E27FC236}">
                <a16:creationId xmlns:a16="http://schemas.microsoft.com/office/drawing/2014/main" id="{768AB305-DCE6-4AB5-B543-858BBD93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pic>
        <p:nvPicPr>
          <p:cNvPr id="105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bb227e10645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320" y="386334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48" name="Text 38">
            <a:extLst xmlns:a="http://schemas.openxmlformats.org/drawingml/2006/main">
              <a:ext uri="{FF2B5EF4-FFF2-40B4-BE49-F238E27FC236}">
                <a16:creationId xmlns:a16="http://schemas.microsoft.com/office/drawing/2014/main" id="{F5F70BEB-0CD8-40F2-B2CC-95BB87EB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3794760"/>
            <a:ext cx="2057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Periksa CI</a:t>
            </a:r>
            <a:endParaRPr sz="1200"/>
          </a:p>
        </p:txBody>
      </p:sp>
      <p:sp>
        <p:nvSpPr>
          <p:cNvPr id="49" name="Shape 39">
            <a:extLst xmlns:a="http://schemas.openxmlformats.org/drawingml/2006/main">
              <a:ext uri="{FF2B5EF4-FFF2-40B4-BE49-F238E27FC236}">
                <a16:creationId xmlns:a16="http://schemas.microsoft.com/office/drawing/2014/main" id="{DB10C876-BC4F-49C9-B5AA-856F8281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3886200"/>
            <a:ext cx="9144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50" name="Text 40">
            <a:extLst xmlns:a="http://schemas.openxmlformats.org/drawingml/2006/main">
              <a:ext uri="{FF2B5EF4-FFF2-40B4-BE49-F238E27FC236}">
                <a16:creationId xmlns:a16="http://schemas.microsoft.com/office/drawing/2014/main" id="{D47B3B45-DCF9-4519-A448-781FAA65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3886200"/>
            <a:ext cx="914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7C3AED"/>
                </a:solidFill>
                <a:latin typeface="Calibri"/>
                <a:ea typeface="Calibri"/>
                <a:cs typeface="Calibri"/>
              </a:rPr>
              <a:t>Opsional</a:t>
            </a:r>
            <a:endParaRPr sz="900"/>
          </a:p>
        </p:txBody>
      </p:sp>
      <p:sp>
        <p:nvSpPr>
          <p:cNvPr id="51" name="Text 41">
            <a:extLst xmlns:a="http://schemas.openxmlformats.org/drawingml/2006/main">
              <a:ext uri="{FF2B5EF4-FFF2-40B4-BE49-F238E27FC236}">
                <a16:creationId xmlns:a16="http://schemas.microsoft.com/office/drawing/2014/main" id="{9C99CFB3-830C-46B6-845C-250F80A6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389120"/>
            <a:ext cx="333756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Buka Actions setelah push; jelaskan hasil tes.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5965184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AA0D221-8D65-4E77-B62F-5A8B3609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5DCEF41-61C2-41BA-B12C-628F497D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27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9A9E0B1-628E-4775-A7F7-3D1309BB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7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21f461c3540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7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9c09881d0449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9BF835F0-04A0-4E5C-B370-7773AE40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BEE49C03-5D5F-49BB-805B-B01FBE78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Rujukan dan bantuan Lab 01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B07555B0-D09F-4CCE-A61A-92E37ED6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Mulai dari modul repo dan dokumentasi resmi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ADA41483-66C8-4A39-A21F-289D9AE1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93DDBC61-9721-470F-8F4D-1418F12A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Dokumentasi Resmi</a:t>
            </a:r>
            <a:endParaRPr sz="14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1189596A-7857-4456-A664-76A5972F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52120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8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45ba9391b94b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12140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CC58B742-CCB1-4E85-8FA7-76604313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57400"/>
            <a:ext cx="2103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GitHub Quickstart</a:t>
            </a:r>
            <a:endParaRPr sz="11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15C76EA3-E6D0-496D-A776-84578409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011680"/>
            <a:ext cx="2560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976D2"/>
                </a:solidFill>
                <a:latin typeface="Consolas"/>
                <a:ea typeface="Consolas"/>
                <a:cs typeface="Consolas"/>
              </a:rPr>
              <a:t>docs.github.com/get-started</a:t>
            </a:r>
            <a:endParaRPr sz="95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DBFEEE83-4CB8-4C6B-A85A-FEDCA2A6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52120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8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45ba9391b94b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71576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DF11F1E7-3658-4EA7-82EA-85767DC6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51760"/>
            <a:ext cx="2103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Vercel Hobby Tier</a:t>
            </a:r>
            <a:endParaRPr sz="110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54CD9131-C961-42A5-AF5F-91EA20BC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606040"/>
            <a:ext cx="2560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976D2"/>
                </a:solidFill>
                <a:latin typeface="Consolas"/>
                <a:ea typeface="Consolas"/>
                <a:cs typeface="Consolas"/>
              </a:rPr>
              <a:t>vercel.com/docs/limits</a:t>
            </a:r>
            <a:endParaRPr sz="950"/>
          </a:p>
        </p:txBody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490781B4-CAE4-4589-A513-DE838005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00400"/>
            <a:ext cx="52120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8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45ba9391b94b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31012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2" name="Text 15">
            <a:extLst xmlns:a="http://schemas.openxmlformats.org/drawingml/2006/main">
              <a:ext uri="{FF2B5EF4-FFF2-40B4-BE49-F238E27FC236}">
                <a16:creationId xmlns:a16="http://schemas.microsoft.com/office/drawing/2014/main" id="{4FBC7F10-35AF-42A7-9A44-09E7FBED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46120"/>
            <a:ext cx="2103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Vercel CLI Install</a:t>
            </a:r>
            <a:endParaRPr sz="1100"/>
          </a:p>
        </p:txBody>
      </p:sp>
      <p:sp>
        <p:nvSpPr>
          <p:cNvPr id="23" name="Text 16">
            <a:extLst xmlns:a="http://schemas.openxmlformats.org/drawingml/2006/main">
              <a:ext uri="{FF2B5EF4-FFF2-40B4-BE49-F238E27FC236}">
                <a16:creationId xmlns:a16="http://schemas.microsoft.com/office/drawing/2014/main" id="{B8F62F63-B61F-44E5-A18B-630AC4A4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200400"/>
            <a:ext cx="2560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976D2"/>
                </a:solidFill>
                <a:latin typeface="Consolas"/>
                <a:ea typeface="Consolas"/>
                <a:cs typeface="Consolas"/>
              </a:rPr>
              <a:t>vercel.com/docs/cli</a:t>
            </a:r>
            <a:endParaRPr sz="950"/>
          </a:p>
        </p:txBody>
      </p:sp>
      <p:sp>
        <p:nvSpPr>
          <p:cNvPr id="24" name="Shape 17">
            <a:extLst xmlns:a="http://schemas.openxmlformats.org/drawingml/2006/main">
              <a:ext uri="{FF2B5EF4-FFF2-40B4-BE49-F238E27FC236}">
                <a16:creationId xmlns:a16="http://schemas.microsoft.com/office/drawing/2014/main" id="{1E4341E8-6A95-4C78-AB56-B3586D95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94760"/>
            <a:ext cx="52120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93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45ba9391b94b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90448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6" name="Text 18">
            <a:extLst xmlns:a="http://schemas.openxmlformats.org/drawingml/2006/main">
              <a:ext uri="{FF2B5EF4-FFF2-40B4-BE49-F238E27FC236}">
                <a16:creationId xmlns:a16="http://schemas.microsoft.com/office/drawing/2014/main" id="{E796628C-5385-4B40-81CD-A1EFBBA2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0480"/>
            <a:ext cx="2103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GitHub Actions</a:t>
            </a:r>
            <a:endParaRPr sz="1100"/>
          </a:p>
        </p:txBody>
      </p:sp>
      <p:sp>
        <p:nvSpPr>
          <p:cNvPr id="27" name="Text 19">
            <a:extLst xmlns:a="http://schemas.openxmlformats.org/drawingml/2006/main">
              <a:ext uri="{FF2B5EF4-FFF2-40B4-BE49-F238E27FC236}">
                <a16:creationId xmlns:a16="http://schemas.microsoft.com/office/drawing/2014/main" id="{C22F87AC-D221-4747-99D0-A9BBD4AA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794760"/>
            <a:ext cx="2560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976D2"/>
                </a:solidFill>
                <a:latin typeface="Consolas"/>
                <a:ea typeface="Consolas"/>
                <a:cs typeface="Consolas"/>
              </a:rPr>
              <a:t>docs.github.com/actions</a:t>
            </a:r>
            <a:endParaRPr sz="950"/>
          </a:p>
        </p:txBody>
      </p:sp>
      <p:sp>
        <p:nvSpPr>
          <p:cNvPr id="28" name="Shape 20">
            <a:extLst xmlns:a="http://schemas.openxmlformats.org/drawingml/2006/main">
              <a:ext uri="{FF2B5EF4-FFF2-40B4-BE49-F238E27FC236}">
                <a16:creationId xmlns:a16="http://schemas.microsoft.com/office/drawing/2014/main" id="{DD69B759-F80A-4B53-A21C-E6A8161D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89120"/>
            <a:ext cx="52120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97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45ba9391b94b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49884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A46199A6-9F9E-4332-8EEA-3D94FFDC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4840"/>
            <a:ext cx="2103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HTML Basics MDN</a:t>
            </a:r>
            <a:endParaRPr sz="1100"/>
          </a:p>
        </p:txBody>
      </p:sp>
      <p:sp>
        <p:nvSpPr>
          <p:cNvPr id="31" name="Text 22">
            <a:extLst xmlns:a="http://schemas.openxmlformats.org/drawingml/2006/main">
              <a:ext uri="{FF2B5EF4-FFF2-40B4-BE49-F238E27FC236}">
                <a16:creationId xmlns:a16="http://schemas.microsoft.com/office/drawing/2014/main" id="{F6569F15-D46B-4A3C-9D3B-426A6A94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4389120"/>
            <a:ext cx="2560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976D2"/>
                </a:solidFill>
                <a:latin typeface="Consolas"/>
                <a:ea typeface="Consolas"/>
                <a:cs typeface="Consolas"/>
              </a:rPr>
              <a:t>developer.mozilla.org/HTML</a:t>
            </a:r>
            <a:endParaRPr sz="950"/>
          </a:p>
        </p:txBody>
      </p:sp>
      <p:sp>
        <p:nvSpPr>
          <p:cNvPr id="32" name="Shape 23">
            <a:extLst xmlns:a="http://schemas.openxmlformats.org/drawingml/2006/main">
              <a:ext uri="{FF2B5EF4-FFF2-40B4-BE49-F238E27FC236}">
                <a16:creationId xmlns:a16="http://schemas.microsoft.com/office/drawing/2014/main" id="{AD32F1F1-192C-43AF-886E-84466A0E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83480"/>
            <a:ext cx="52120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101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45ba9391b94b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09320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34" name="Text 24">
            <a:extLst xmlns:a="http://schemas.openxmlformats.org/drawingml/2006/main">
              <a:ext uri="{FF2B5EF4-FFF2-40B4-BE49-F238E27FC236}">
                <a16:creationId xmlns:a16="http://schemas.microsoft.com/office/drawing/2014/main" id="{E53ED1C6-BDEC-478D-9656-30BA2523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29200"/>
            <a:ext cx="2103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Repo Lab 01</a:t>
            </a:r>
            <a:endParaRPr sz="1100"/>
          </a:p>
        </p:txBody>
      </p:sp>
      <p:sp>
        <p:nvSpPr>
          <p:cNvPr id="35" name="Text 25">
            <a:extLst xmlns:a="http://schemas.openxmlformats.org/drawingml/2006/main">
              <a:ext uri="{FF2B5EF4-FFF2-40B4-BE49-F238E27FC236}">
                <a16:creationId xmlns:a16="http://schemas.microsoft.com/office/drawing/2014/main" id="{FD08E7AE-E31F-4E53-AF34-FE472909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4983480"/>
            <a:ext cx="2560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976D2"/>
                </a:solidFill>
                <a:latin typeface="Consolas"/>
                <a:ea typeface="Consolas"/>
                <a:cs typeface="Consolas"/>
              </a:rPr>
              <a:t>github.com/SeedFlora/meet1CloudService</a:t>
            </a:r>
            <a:endParaRPr sz="950"/>
          </a:p>
        </p:txBody>
      </p:sp>
      <p:sp>
        <p:nvSpPr>
          <p:cNvPr id="36" name="Shape 26">
            <a:extLst xmlns:a="http://schemas.openxmlformats.org/drawingml/2006/main">
              <a:ext uri="{FF2B5EF4-FFF2-40B4-BE49-F238E27FC236}">
                <a16:creationId xmlns:a16="http://schemas.microsoft.com/office/drawing/2014/main" id="{EFAE0A48-061F-4794-9895-C0019AD4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7" name="Text 27">
            <a:extLst xmlns:a="http://schemas.openxmlformats.org/drawingml/2006/main">
              <a:ext uri="{FF2B5EF4-FFF2-40B4-BE49-F238E27FC236}">
                <a16:creationId xmlns:a16="http://schemas.microsoft.com/office/drawing/2014/main" id="{04E8DE4A-3F4F-494E-83F4-4E71542F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5448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Bantuan Stuck</a:t>
            </a:r>
            <a:endParaRPr sz="1400"/>
          </a:p>
        </p:txBody>
      </p:sp>
      <p:pic>
        <p:nvPicPr>
          <p:cNvPr id="106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61e33833664a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1031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39" name="Text 28">
            <a:extLst xmlns:a="http://schemas.openxmlformats.org/drawingml/2006/main">
              <a:ext uri="{FF2B5EF4-FFF2-40B4-BE49-F238E27FC236}">
                <a16:creationId xmlns:a16="http://schemas.microsoft.com/office/drawing/2014/main" id="{98C4A318-4B67-43C5-ABB5-06FD94D2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29968"/>
            <a:ext cx="4663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Tanya ChatGPT/Claude</a:t>
            </a:r>
            <a:endParaRPr sz="1100"/>
          </a:p>
        </p:txBody>
      </p:sp>
      <p:sp>
        <p:nvSpPr>
          <p:cNvPr id="40" name="Text 29">
            <a:extLst xmlns:a="http://schemas.openxmlformats.org/drawingml/2006/main">
              <a:ext uri="{FF2B5EF4-FFF2-40B4-BE49-F238E27FC236}">
                <a16:creationId xmlns:a16="http://schemas.microsoft.com/office/drawing/2014/main" id="{0A4B2E30-C6C1-4118-A297-79F9148E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4288"/>
            <a:ext cx="4663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Paste error message + context untuk debug cepat</a:t>
            </a:r>
            <a:endParaRPr sz="950"/>
          </a:p>
        </p:txBody>
      </p:sp>
      <p:pic>
        <p:nvPicPr>
          <p:cNvPr id="109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570d217e5147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74320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42" name="Text 30">
            <a:extLst xmlns:a="http://schemas.openxmlformats.org/drawingml/2006/main">
              <a:ext uri="{FF2B5EF4-FFF2-40B4-BE49-F238E27FC236}">
                <a16:creationId xmlns:a16="http://schemas.microsoft.com/office/drawing/2014/main" id="{82B60B19-A9CD-4C5F-BA2B-22103F26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70048"/>
            <a:ext cx="4663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Stack Overflow</a:t>
            </a:r>
            <a:endParaRPr sz="1100"/>
          </a:p>
        </p:txBody>
      </p:sp>
      <p:sp>
        <p:nvSpPr>
          <p:cNvPr id="43" name="Text 31">
            <a:extLst xmlns:a="http://schemas.openxmlformats.org/drawingml/2006/main">
              <a:ext uri="{FF2B5EF4-FFF2-40B4-BE49-F238E27FC236}">
                <a16:creationId xmlns:a16="http://schemas.microsoft.com/office/drawing/2014/main" id="{578EC403-296F-44D7-932C-239016CE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44368"/>
            <a:ext cx="4663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Cari pesan error lengkap dan cocokkan versi alat.</a:t>
            </a:r>
            <a:endParaRPr sz="950"/>
          </a:p>
        </p:txBody>
      </p:sp>
      <p:pic>
        <p:nvPicPr>
          <p:cNvPr id="112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45ba9391b94b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338328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45" name="Text 32">
            <a:extLst xmlns:a="http://schemas.openxmlformats.org/drawingml/2006/main">
              <a:ext uri="{FF2B5EF4-FFF2-40B4-BE49-F238E27FC236}">
                <a16:creationId xmlns:a16="http://schemas.microsoft.com/office/drawing/2014/main" id="{CF4DBD17-5203-4344-A514-82E7CFFF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10128"/>
            <a:ext cx="4663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Forum LMS kelas</a:t>
            </a:r>
            <a:endParaRPr sz="1100"/>
          </a:p>
        </p:txBody>
      </p:sp>
      <p:sp>
        <p:nvSpPr>
          <p:cNvPr id="46" name="Text 33">
            <a:extLst xmlns:a="http://schemas.openxmlformats.org/drawingml/2006/main">
              <a:ext uri="{FF2B5EF4-FFF2-40B4-BE49-F238E27FC236}">
                <a16:creationId xmlns:a16="http://schemas.microsoft.com/office/drawing/2014/main" id="{68A8DE78-030B-43A2-AF9A-B8F17D80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84448"/>
            <a:ext cx="4663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Tuliskan gejala, perintah, hasil; sembunyikan token.</a:t>
            </a:r>
            <a:endParaRPr sz="950"/>
          </a:p>
        </p:txBody>
      </p:sp>
      <p:pic>
        <p:nvPicPr>
          <p:cNvPr id="115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944dde45d45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402336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48" name="Text 34">
            <a:extLst xmlns:a="http://schemas.openxmlformats.org/drawingml/2006/main">
              <a:ext uri="{FF2B5EF4-FFF2-40B4-BE49-F238E27FC236}">
                <a16:creationId xmlns:a16="http://schemas.microsoft.com/office/drawing/2014/main" id="{F3F0BD87-0081-4625-AB32-02EA85FC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50208"/>
            <a:ext cx="4663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Tanya dosen</a:t>
            </a:r>
            <a:endParaRPr sz="1100"/>
          </a:p>
        </p:txBody>
      </p:sp>
      <p:sp>
        <p:nvSpPr>
          <p:cNvPr id="49" name="Text 35">
            <a:extLst xmlns:a="http://schemas.openxmlformats.org/drawingml/2006/main">
              <a:ext uri="{FF2B5EF4-FFF2-40B4-BE49-F238E27FC236}">
                <a16:creationId xmlns:a16="http://schemas.microsoft.com/office/drawing/2014/main" id="{5DF6AE94-5CB5-4B82-8B74-24EBD6A8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24528"/>
            <a:ext cx="4663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Ikuti jadwal konsultasi kelas yang diumumkan.</a:t>
            </a:r>
            <a:endParaRPr sz="950"/>
          </a:p>
        </p:txBody>
      </p:sp>
      <p:pic>
        <p:nvPicPr>
          <p:cNvPr id="118" name="Imag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5461011c1045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466344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51" name="Text 36">
            <a:extLst xmlns:a="http://schemas.openxmlformats.org/drawingml/2006/main">
              <a:ext uri="{FF2B5EF4-FFF2-40B4-BE49-F238E27FC236}">
                <a16:creationId xmlns:a16="http://schemas.microsoft.com/office/drawing/2014/main" id="{189AE276-3DF2-4781-AF8E-30D94994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90288"/>
            <a:ext cx="4663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GitHub Issues</a:t>
            </a:r>
            <a:endParaRPr sz="1100"/>
          </a:p>
        </p:txBody>
      </p:sp>
      <p:sp>
        <p:nvSpPr>
          <p:cNvPr id="52" name="Text 37">
            <a:extLst xmlns:a="http://schemas.openxmlformats.org/drawingml/2006/main">
              <a:ext uri="{FF2B5EF4-FFF2-40B4-BE49-F238E27FC236}">
                <a16:creationId xmlns:a16="http://schemas.microsoft.com/office/drawing/2014/main" id="{9C2DBACE-2720-4F77-9D1B-D20CB5B0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64608"/>
            <a:ext cx="4663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Catat bug dan langkah reproduksi di repo pribadi.</a:t>
            </a:r>
            <a:endParaRPr sz="950"/>
          </a:p>
        </p:txBody>
      </p:sp>
      <p:pic>
        <p:nvPicPr>
          <p:cNvPr id="121" name="Imag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9ee2d1b67547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53035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54" name="Text 38">
            <a:extLst xmlns:a="http://schemas.openxmlformats.org/drawingml/2006/main">
              <a:ext uri="{FF2B5EF4-FFF2-40B4-BE49-F238E27FC236}">
                <a16:creationId xmlns:a16="http://schemas.microsoft.com/office/drawing/2014/main" id="{7C474890-FADF-4D90-8FC6-8C54C013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30368"/>
            <a:ext cx="4663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Pair Programming</a:t>
            </a:r>
            <a:endParaRPr sz="1100"/>
          </a:p>
        </p:txBody>
      </p:sp>
      <p:sp>
        <p:nvSpPr>
          <p:cNvPr id="55" name="Text 39">
            <a:extLst xmlns:a="http://schemas.openxmlformats.org/drawingml/2006/main">
              <a:ext uri="{FF2B5EF4-FFF2-40B4-BE49-F238E27FC236}">
                <a16:creationId xmlns:a16="http://schemas.microsoft.com/office/drawing/2014/main" id="{DCF6B7E4-825E-4BA8-9E74-85383621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04688"/>
            <a:ext cx="4663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Bandingkan hasil, lalu jelaskan alasan masing-masing.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17208279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C54FD36-E21A-458D-AC9C-E28F41E5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6894502-6D3C-4C10-8527-8FC68FD7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28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9DCB9FD-9D94-4459-8639-479996A7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b008618dcf43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5aaaeb57d41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6669F946-CCFA-40AC-8A46-0F9B7280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FC3E506-A3C8-4E6F-B21D-FFE00B7F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Cheat sheet Lab 01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2C2E0414-A3C6-4269-8082-99340F31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Perintah inti, bukti, dan batas data publik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EBE9FEAC-3B26-4114-B809-039B905F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D67319A4-8213-420E-9533-423CA37A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E5EEE98C-DEFB-46D2-BE16-B0152130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Lokasi penting</a:t>
            </a:r>
            <a:endParaRPr sz="13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ED2FC2A6-AB1C-4229-916F-922F951D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github.com/signup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localhost:3000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github.com/[user]/[repo]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hasil/lab01.md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/api/hello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/api/recommend</a:t>
            </a:r>
            <a:endParaRPr sz="10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07C309BA-EE9E-49A4-B010-B311E3DD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8C9DFC58-BF28-4C98-8601-DA13FECA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9816242E-4FD1-484F-B839-67207570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Flow Step</a:t>
            </a:r>
            <a:endParaRPr sz="13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3643F370-251A-4F51-9D25-6304AF76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1. Buat repo pribadi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2. Isi student.json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3. npm test: 18 lulus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4. npm run dev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5. Uji web dan API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6. Kasus A-D; push Git</a:t>
            </a:r>
            <a:endParaRPr sz="105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88907BF-400D-449D-B15C-F473C8D3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1D281F02-E310-42A9-A215-88D4677C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9BDA9BA5-A2B9-4FE3-8465-FD4213F8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File latihan</a:t>
            </a:r>
            <a:endParaRPr sz="13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7E334586-0F75-4606-9540-2614E5E0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starter/student.json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hasil/lab01.md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hasil/bukti/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README.md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Kode dan alasan kasus A-D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Tanpa NIM/token/password</a:t>
            </a:r>
            <a:endParaRPr sz="105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0D6CB933-461E-475E-BE16-B5DA1D53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E3E8EAF1-E4AD-423B-BDC6-FCACC1BA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20936788-5DDF-42F6-BFBD-80A9F22E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Service Model</a:t>
            </a:r>
            <a:endParaRPr sz="13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24CD58F7-A074-4FD7-98F3-77F78E35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IaaS = VM kosong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PaaS = platform deploy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SaaS = aplikasi ready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GitHub = SaaS dev tools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Vercel = PaaS hosting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AWS EC2 = IaaS</a:t>
            </a:r>
            <a:endParaRPr sz="105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A76AFB45-99B4-4DBD-B797-8EA900FF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1DC3724F-7436-413B-801F-A4A617A5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90361CDF-DE25-4717-A95D-29EB9100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Uji dan port</a:t>
            </a:r>
            <a:endParaRPr sz="13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8F6D42F4-3521-405D-9715-D17F4DFC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Node.js 20+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localhost:3000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npm test: 18/18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/api/hello: 200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/recommend valid: 200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faktor salah: HTTP 400</a:t>
            </a:r>
            <a:endParaRPr sz="105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6B6C11BD-A204-44C0-8202-E87B5CCE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5C1F62AE-C52E-491F-952F-261B6293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E5E9FE37-49FF-447D-B7FC-86917D19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Avoid Pitfall</a:t>
            </a:r>
            <a:endParaRPr sz="13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5F71DBD5-1FC7-4F39-B2E9-9E21D3EC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Jangan taruh NIM/secret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Cek root starter/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Cek port 3000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Periksa staged diff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Push setelah commit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Cek Actions dan SHA</a:t>
            </a:r>
            <a:endParaRPr sz="105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679CE2DB-C73C-476F-910B-23807180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C9D5B1F4-4E1A-49C7-A207-EE3BBCE6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00E37FD8-6A6F-4FB0-A987-20F2861F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Catatan proyek</a:t>
            </a:r>
            <a:endParaRPr sz="13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F691F18D-CED0-4B16-8325-F974FAA9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Model cloud dan API untuk proyek | Tim 3 orang | Checkpoint minggu 7 | Final minggu 14 | Tidak ada submit Lab 01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</a:t>
            </a:r>
            <a:endParaRPr sz="1050"/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A56C1B94-98DA-462F-9F2D-AE6F1A2B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434EB8B3-7395-40DB-989D-97275FA1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351330A5-B214-4B36-A954-4AB89836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Bonus Challenge</a:t>
            </a:r>
            <a:endParaRPr sz="1300"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D12B6EEE-CFA4-4A4B-9C97-C4BAAD3B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Kasus baru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Ubah bobot engine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Audit data publik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Uji API salah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Deploy Vercel opsional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Periksa GitHub Actions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7857808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5285410-B78A-40D6-ABCD-43145516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DFF37F3-4C56-4B28-BD01-E7462818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29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1BBE6A5-AA80-46B9-A6FD-7C920263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64e49f53f341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d0ca5f25141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5E055D99-A6D7-4750-B699-78D889CD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9D199E3E-5D36-41F9-B667-9818A35D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Alur 100 menit: 90 praktik + 10 buffer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231BC986-DF8A-46BC-8FD7-0003FB64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Ikuti checkpoint modul; sesuaikan tempo kelas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883F5B9F-BC2D-48F4-B16E-3413E76C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57760635-D3BB-4789-BEAA-0C5925DF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371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0DBA3DEB-9168-45E9-849E-2E238B57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00200"/>
            <a:ext cx="146304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DBEC2114-D26E-4105-A536-110AF153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00200"/>
            <a:ext cx="1463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0-10 min</a:t>
            </a:r>
            <a:endParaRPr sz="1100"/>
          </a:p>
        </p:txBody>
      </p:sp>
      <p:pic>
        <p:nvPicPr>
          <p:cNvPr id="6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cf387feed4c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23160" y="16459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5F6B6E2A-75FD-4B4F-B198-B65AC927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508760"/>
            <a:ext cx="4114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Briefing dan preflight</a:t>
            </a:r>
            <a:endParaRPr sz="13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921C5B05-9DF4-49FF-9B40-7C893846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874520"/>
            <a:ext cx="8503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Cek Node, Git, browser, repo, dan batas data publik.</a:t>
            </a:r>
            <a:endParaRPr sz="1000"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DDDAF479-CFD6-4C52-A8BC-E62E95FA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112471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90776D28-7EED-4B3C-B8C1-19DEEF10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1371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56B03410-53D2-4B31-A6D4-0F752582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60320"/>
            <a:ext cx="146304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3E8A05DD-6222-4CA1-9457-83AB433B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60320"/>
            <a:ext cx="1463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10-30 min</a:t>
            </a:r>
            <a:endParaRPr sz="1100"/>
          </a:p>
        </p:txBody>
      </p:sp>
      <p:pic>
        <p:nvPicPr>
          <p:cNvPr id="7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297ee5d17347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23160" y="260604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00BDD6F6-244C-4185-8C1D-25EB1E3C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68880"/>
            <a:ext cx="4114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Repo dan identitas aman</a:t>
            </a:r>
            <a:endParaRPr sz="130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833B7F20-1972-4069-8D72-1EFB9BF7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34640"/>
            <a:ext cx="8503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Use this template; isi student.json tanpa NIM.</a:t>
            </a:r>
            <a:endParaRPr sz="100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64B5BFF6-82A0-45C8-BC0E-4572AF8B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7560"/>
            <a:ext cx="112471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DC2DFF5F-B6FF-483E-B08D-212416BF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7560"/>
            <a:ext cx="1371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A468BB96-7870-41FF-9E71-6DA64471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146304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45CF0F6-5050-41A5-9368-98498768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1463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30-55 min</a:t>
            </a:r>
            <a:endParaRPr sz="1100"/>
          </a:p>
        </p:txBody>
      </p:sp>
      <p:pic>
        <p:nvPicPr>
          <p:cNvPr id="7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3fecedd0f947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23160" y="356616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6158BE52-6AEC-4947-BA8D-7EA17DF9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29000"/>
            <a:ext cx="4114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Tes, web, dan API lokal</a:t>
            </a:r>
            <a:endParaRPr sz="1300"/>
          </a:p>
        </p:txBody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FF44C95F-5E44-4CE0-8820-04F8E515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94760"/>
            <a:ext cx="8503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npm test 18/18; npm run dev; cek /hello dan /recommend.</a:t>
            </a:r>
            <a:endParaRPr sz="1000"/>
          </a:p>
        </p:txBody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E3476A7F-495D-4C1D-848B-DD387742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7680"/>
            <a:ext cx="112471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AB4FFBAC-1E5B-4F2B-A13F-A88161BF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7680"/>
            <a:ext cx="1371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33" name="Shape 26">
            <a:extLst xmlns:a="http://schemas.openxmlformats.org/drawingml/2006/main">
              <a:ext uri="{FF2B5EF4-FFF2-40B4-BE49-F238E27FC236}">
                <a16:creationId xmlns:a16="http://schemas.microsoft.com/office/drawing/2014/main" id="{F8A74752-CD5F-4FC6-A8F7-8FC2750C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80560"/>
            <a:ext cx="146304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FAB91401-7F94-4539-8083-F90169B3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80560"/>
            <a:ext cx="1463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55-80 min</a:t>
            </a:r>
            <a:endParaRPr sz="1100"/>
          </a:p>
        </p:txBody>
      </p:sp>
      <p:pic>
        <p:nvPicPr>
          <p:cNvPr id="86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300652fb8249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23160" y="452628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A875C33A-EAF9-43E1-923E-75AD16C4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89120"/>
            <a:ext cx="4114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Analisis kasus A-D</a:t>
            </a:r>
            <a:endParaRPr sz="1300"/>
          </a:p>
        </p:txBody>
      </p:sp>
      <p:sp>
        <p:nvSpPr>
          <p:cNvPr id="37" name="Text 29">
            <a:extLst xmlns:a="http://schemas.openxmlformats.org/drawingml/2006/main">
              <a:ext uri="{FF2B5EF4-FFF2-40B4-BE49-F238E27FC236}">
                <a16:creationId xmlns:a16="http://schemas.microsoft.com/office/drawing/2014/main" id="{1E5E4539-BBAE-4020-9F42-B4B01B92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754880"/>
            <a:ext cx="8503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Bandingkan model per komponen, alasan, dan trade-off.</a:t>
            </a:r>
            <a:endParaRPr sz="1000"/>
          </a:p>
        </p:txBody>
      </p:sp>
      <p:sp>
        <p:nvSpPr>
          <p:cNvPr id="38" name="Shape 30">
            <a:extLst xmlns:a="http://schemas.openxmlformats.org/drawingml/2006/main">
              <a:ext uri="{FF2B5EF4-FFF2-40B4-BE49-F238E27FC236}">
                <a16:creationId xmlns:a16="http://schemas.microsoft.com/office/drawing/2014/main" id="{2E3ABA0D-7C9A-437A-9C99-553496AC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4712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9" name="Shape 31">
            <a:extLst xmlns:a="http://schemas.openxmlformats.org/drawingml/2006/main">
              <a:ext uri="{FF2B5EF4-FFF2-40B4-BE49-F238E27FC236}">
                <a16:creationId xmlns:a16="http://schemas.microsoft.com/office/drawing/2014/main" id="{78D306BA-24DC-4022-9C17-CE66B858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371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40" name="Shape 32">
            <a:extLst xmlns:a="http://schemas.openxmlformats.org/drawingml/2006/main">
              <a:ext uri="{FF2B5EF4-FFF2-40B4-BE49-F238E27FC236}">
                <a16:creationId xmlns:a16="http://schemas.microsoft.com/office/drawing/2014/main" id="{9775DDCF-B68B-4FF2-A16F-DDDBC553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40680"/>
            <a:ext cx="146304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41" name="Text 33">
            <a:extLst xmlns:a="http://schemas.openxmlformats.org/drawingml/2006/main">
              <a:ext uri="{FF2B5EF4-FFF2-40B4-BE49-F238E27FC236}">
                <a16:creationId xmlns:a16="http://schemas.microsoft.com/office/drawing/2014/main" id="{14E566E0-1B64-4545-9CE6-254CC8D1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40680"/>
            <a:ext cx="1463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80-100 min</a:t>
            </a:r>
            <a:endParaRPr sz="1100"/>
          </a:p>
        </p:txBody>
      </p:sp>
      <p:pic>
        <p:nvPicPr>
          <p:cNvPr id="93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a4c2979ef249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23160" y="548640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43" name="Text 34">
            <a:extLst xmlns:a="http://schemas.openxmlformats.org/drawingml/2006/main">
              <a:ext uri="{FF2B5EF4-FFF2-40B4-BE49-F238E27FC236}">
                <a16:creationId xmlns:a16="http://schemas.microsoft.com/office/drawing/2014/main" id="{3FF45678-37ED-4438-8E04-7DB39768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349240"/>
            <a:ext cx="4114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Laporan, push, buffer</a:t>
            </a:r>
            <a:endParaRPr sz="1300"/>
          </a:p>
        </p:txBody>
      </p:sp>
      <p:sp>
        <p:nvSpPr>
          <p:cNvPr id="44" name="Text 35">
            <a:extLst xmlns:a="http://schemas.openxmlformats.org/drawingml/2006/main">
              <a:ext uri="{FF2B5EF4-FFF2-40B4-BE49-F238E27FC236}">
                <a16:creationId xmlns:a16="http://schemas.microsoft.com/office/drawing/2014/main" id="{298BA43E-5D18-46A9-B369-24AA18FD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715000"/>
            <a:ext cx="8503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80-90: bukti dan push; 90-100: tanya jawab atau Vercel opsional.</a:t>
            </a:r>
            <a:endParaRPr sz="1000"/>
          </a:p>
        </p:txBody>
      </p:sp>
      <p:sp>
        <p:nvSpPr>
          <p:cNvPr id="45" name="Text 36">
            <a:extLst xmlns:a="http://schemas.openxmlformats.org/drawingml/2006/main">
              <a:ext uri="{FF2B5EF4-FFF2-40B4-BE49-F238E27FC236}">
                <a16:creationId xmlns:a16="http://schemas.microsoft.com/office/drawing/2014/main" id="{2406F8F3-E87F-4D03-8337-2DBC39D9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Jika sudah selesai, pilih latihan lanjutan pada slide 26.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17850420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4D6852A-E65C-4CA1-8BF6-625F1E05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B5BE3C-FFF2-4FD3-BEFE-EC7342F8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30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3AE8442-EECC-493A-ADC8-1D47EB5C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88d8e67374e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024b13fc9c46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04A34EB0-CB30-4651-B3E0-30BF0EA3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18D63C9-D4FA-44CA-9C6A-7995FE3C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Wrap-Up &amp; Persiapan Praktikum 2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42D957F-3086-40F3-BB2B-56411CA8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Apa yang dipelajari + persiapan untuk minggu depan</a:t>
            </a:r>
            <a:endParaRPr sz="12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9168C390-F820-4D11-ACB3-A29458FB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Yang Sudah Anda Lakukan Hari Ini</a:t>
            </a:r>
            <a:endParaRPr sz="1600"/>
          </a:p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B9F6CB15-4C66-4D2D-886A-A3D9DF7F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02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6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45dcbbf67342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92024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11F9B793-F4B2-4493-B35F-5D41E21D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74520"/>
            <a:ext cx="5166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Buat repo dari template dan isi identitas aman.</a:t>
            </a:r>
            <a:endParaRPr sz="1100"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AB61B959-B8FD-4B7C-AFB7-43D43809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0592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6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45dcbbf67342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450592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50C6A6CE-162A-4E4D-A8AE-62921FFC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04872"/>
            <a:ext cx="5166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Jalankan Cloud Model Lab dan API di localhost:3000.</a:t>
            </a:r>
            <a:endParaRPr sz="1100"/>
          </a:p>
        </p:txBody>
      </p:sp>
      <p:sp>
        <p:nvSpPr>
          <p:cNvPr id="17" name="Shape 11">
            <a:extLst xmlns:a="http://schemas.openxmlformats.org/drawingml/2006/main">
              <a:ext uri="{FF2B5EF4-FFF2-40B4-BE49-F238E27FC236}">
                <a16:creationId xmlns:a16="http://schemas.microsoft.com/office/drawing/2014/main" id="{736F1A52-BEBD-405C-AC6A-0E39D0CA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80944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7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45dcbbf67342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980944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9" name="Text 12">
            <a:extLst xmlns:a="http://schemas.openxmlformats.org/drawingml/2006/main">
              <a:ext uri="{FF2B5EF4-FFF2-40B4-BE49-F238E27FC236}">
                <a16:creationId xmlns:a16="http://schemas.microsoft.com/office/drawing/2014/main" id="{531F1FA9-F3EF-4ED1-AA07-FA2BFDB7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935224"/>
            <a:ext cx="5166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Jalankan 18 tes dan amati HTTP 200/400.</a:t>
            </a:r>
            <a:endParaRPr sz="1100"/>
          </a:p>
        </p:txBody>
      </p:sp>
      <p:sp>
        <p:nvSpPr>
          <p:cNvPr id="20" name="Shape 13">
            <a:extLst xmlns:a="http://schemas.openxmlformats.org/drawingml/2006/main">
              <a:ext uri="{FF2B5EF4-FFF2-40B4-BE49-F238E27FC236}">
                <a16:creationId xmlns:a16="http://schemas.microsoft.com/office/drawing/2014/main" id="{D357169E-6E55-48A8-BC21-DD13623E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11296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73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45dcbbf67342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3511296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2" name="Text 14">
            <a:extLst xmlns:a="http://schemas.openxmlformats.org/drawingml/2006/main">
              <a:ext uri="{FF2B5EF4-FFF2-40B4-BE49-F238E27FC236}">
                <a16:creationId xmlns:a16="http://schemas.microsoft.com/office/drawing/2014/main" id="{1F28448C-4A98-4120-B27D-16AFB476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465576"/>
            <a:ext cx="5166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Bandingkan IaaS, PaaS, SaaS, dan FaaS.</a:t>
            </a:r>
            <a:endParaRPr sz="1100"/>
          </a:p>
        </p:txBody>
      </p:sp>
      <p:sp>
        <p:nvSpPr>
          <p:cNvPr id="23" name="Shape 15">
            <a:extLst xmlns:a="http://schemas.openxmlformats.org/drawingml/2006/main">
              <a:ext uri="{FF2B5EF4-FFF2-40B4-BE49-F238E27FC236}">
                <a16:creationId xmlns:a16="http://schemas.microsoft.com/office/drawing/2014/main" id="{C4263483-2C07-451A-9738-3D55BC9A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41648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76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45dcbbf67342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404164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5" name="Text 16">
            <a:extLst xmlns:a="http://schemas.openxmlformats.org/drawingml/2006/main">
              <a:ext uri="{FF2B5EF4-FFF2-40B4-BE49-F238E27FC236}">
                <a16:creationId xmlns:a16="http://schemas.microsoft.com/office/drawing/2014/main" id="{645D151E-7F8C-4110-A87B-A4CFF7DB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95928"/>
            <a:ext cx="5166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Analisis kasus A-D dengan alasan dan trade-off.</a:t>
            </a:r>
            <a:endParaRPr sz="1100"/>
          </a:p>
        </p:txBody>
      </p:sp>
      <p:sp>
        <p:nvSpPr>
          <p:cNvPr id="26" name="Shape 17">
            <a:extLst xmlns:a="http://schemas.openxmlformats.org/drawingml/2006/main">
              <a:ext uri="{FF2B5EF4-FFF2-40B4-BE49-F238E27FC236}">
                <a16:creationId xmlns:a16="http://schemas.microsoft.com/office/drawing/2014/main" id="{F5B15120-D933-4377-A650-C68A21C6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79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45dcbbf67342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457200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8" name="Text 18">
            <a:extLst xmlns:a="http://schemas.openxmlformats.org/drawingml/2006/main">
              <a:ext uri="{FF2B5EF4-FFF2-40B4-BE49-F238E27FC236}">
                <a16:creationId xmlns:a16="http://schemas.microsoft.com/office/drawing/2014/main" id="{6C59E591-360E-4317-95D2-1A33FE4D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26280"/>
            <a:ext cx="5166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Catatan, screenshot, commit, dan push bersifat opsional.</a:t>
            </a:r>
            <a:endParaRPr sz="1100"/>
          </a:p>
        </p:txBody>
      </p:sp>
      <p:sp>
        <p:nvSpPr>
          <p:cNvPr id="29" name="Shape 19">
            <a:extLst xmlns:a="http://schemas.openxmlformats.org/drawingml/2006/main">
              <a:ext uri="{FF2B5EF4-FFF2-40B4-BE49-F238E27FC236}">
                <a16:creationId xmlns:a16="http://schemas.microsoft.com/office/drawing/2014/main" id="{CD71F697-D3F9-42E0-B12E-907C6A98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pic>
        <p:nvPicPr>
          <p:cNvPr id="82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f9e55a9cf49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155448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1" name="Text 20">
            <a:extLst xmlns:a="http://schemas.openxmlformats.org/drawingml/2006/main">
              <a:ext uri="{FF2B5EF4-FFF2-40B4-BE49-F238E27FC236}">
                <a16:creationId xmlns:a16="http://schemas.microsoft.com/office/drawing/2014/main" id="{38138A1B-B330-4E15-88DC-730D9D5F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55448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LANJUTKAN PROYEK KELOMPOK</a:t>
            </a:r>
            <a:endParaRPr sz="1100"/>
          </a:p>
        </p:txBody>
      </p:sp>
      <p:sp>
        <p:nvSpPr>
          <p:cNvPr id="32" name="Text 21">
            <a:extLst xmlns:a="http://schemas.openxmlformats.org/drawingml/2006/main">
              <a:ext uri="{FF2B5EF4-FFF2-40B4-BE49-F238E27FC236}">
                <a16:creationId xmlns:a16="http://schemas.microsoft.com/office/drawing/2014/main" id="{B88AF150-2CA2-4406-8FD9-ED6A2B56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1680"/>
            <a:ext cx="5212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Checkpoint minggu 7, final minggu 14</a:t>
            </a:r>
            <a:endParaRPr sz="1400"/>
          </a:p>
        </p:txBody>
      </p:sp>
      <p:sp>
        <p:nvSpPr>
          <p:cNvPr id="33" name="Text 22">
            <a:extLst xmlns:a="http://schemas.openxmlformats.org/drawingml/2006/main">
              <a:ext uri="{FF2B5EF4-FFF2-40B4-BE49-F238E27FC236}">
                <a16:creationId xmlns:a16="http://schemas.microsoft.com/office/drawing/2014/main" id="{61A8D246-2A56-4351-82E7-6CCBEF6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31720"/>
            <a:ext cx="52120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 ] Kelompok 3 orang dan masalah pengguna</a:t>
            </a:r>
            <a:endParaRPr sz="11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 ] Pilih model cloud per komponen</a:t>
            </a:r>
            <a:endParaRPr sz="11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 ] Simpan hasil latihan bila membantu</a:t>
            </a:r>
            <a:endParaRPr sz="11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 ] Tidak ada penyerahan Lab 01</a:t>
            </a:r>
            <a:endParaRPr sz="1100"/>
          </a:p>
        </p:txBody>
      </p:sp>
      <p:sp>
        <p:nvSpPr>
          <p:cNvPr id="34" name="Shape 23">
            <a:extLst xmlns:a="http://schemas.openxmlformats.org/drawingml/2006/main">
              <a:ext uri="{FF2B5EF4-FFF2-40B4-BE49-F238E27FC236}">
                <a16:creationId xmlns:a16="http://schemas.microsoft.com/office/drawing/2014/main" id="{661641C9-D755-4B70-BA16-5F620369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840480"/>
            <a:ext cx="54864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87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d7c9275f8f4a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397764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6" name="Text 24">
            <a:extLst xmlns:a="http://schemas.openxmlformats.org/drawingml/2006/main">
              <a:ext uri="{FF2B5EF4-FFF2-40B4-BE49-F238E27FC236}">
                <a16:creationId xmlns:a16="http://schemas.microsoft.com/office/drawing/2014/main" id="{D1E23C23-1FD8-41A9-BDA4-C0B34CC2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97764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2 - MINGGU DEPAN</a:t>
            </a:r>
            <a:endParaRPr sz="1100"/>
          </a:p>
        </p:txBody>
      </p:sp>
      <p:sp>
        <p:nvSpPr>
          <p:cNvPr id="37" name="Text 25">
            <a:extLst xmlns:a="http://schemas.openxmlformats.org/drawingml/2006/main">
              <a:ext uri="{FF2B5EF4-FFF2-40B4-BE49-F238E27FC236}">
                <a16:creationId xmlns:a16="http://schemas.microsoft.com/office/drawing/2014/main" id="{B05E9A2A-21AE-4387-89E8-8B7F212E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34840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Linux Fundamentals Hands-On</a:t>
            </a:r>
            <a:endParaRPr sz="1400"/>
          </a:p>
        </p:txBody>
      </p:sp>
      <p:sp>
        <p:nvSpPr>
          <p:cNvPr id="38" name="Text 26">
            <a:extLst xmlns:a="http://schemas.openxmlformats.org/drawingml/2006/main">
              <a:ext uri="{FF2B5EF4-FFF2-40B4-BE49-F238E27FC236}">
                <a16:creationId xmlns:a16="http://schemas.microsoft.com/office/drawing/2014/main" id="{3E2715BC-2C83-402E-B6F7-977E5566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00600"/>
            <a:ext cx="52120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Lab 02 memakai Bash: Git Bash, WSL, Linux, macOS, atau Codespaces.</a:t>
            </a:r>
            <a:endParaRPr sz="1100"/>
          </a:p>
        </p:txBody>
      </p:sp>
      <p:sp>
        <p:nvSpPr>
          <p:cNvPr id="39" name="Shape 27">
            <a:extLst xmlns:a="http://schemas.openxmlformats.org/drawingml/2006/main">
              <a:ext uri="{FF2B5EF4-FFF2-40B4-BE49-F238E27FC236}">
                <a16:creationId xmlns:a16="http://schemas.microsoft.com/office/drawing/2014/main" id="{183906A7-07E0-45EB-8968-F47DD8CF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20640"/>
            <a:ext cx="548640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92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6b9d59c5c44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5349240"/>
            <a:ext cx="640080" cy="640080"/>
          </a:xfrm>
          <a:prstGeom xmlns:a="http://schemas.openxmlformats.org/drawingml/2006/main" prst="rect">
            <a:avLst/>
          </a:prstGeom>
        </p:spPr>
      </p:pic>
      <p:sp>
        <p:nvSpPr>
          <p:cNvPr id="41" name="Text 28">
            <a:extLst xmlns:a="http://schemas.openxmlformats.org/drawingml/2006/main">
              <a:ext uri="{FF2B5EF4-FFF2-40B4-BE49-F238E27FC236}">
                <a16:creationId xmlns:a16="http://schemas.microsoft.com/office/drawing/2014/main" id="{F3BF25F5-AF70-40DC-854F-A810206E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166360"/>
            <a:ext cx="4023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Pertanyaan?</a:t>
            </a:r>
            <a:endParaRPr sz="2200"/>
          </a:p>
        </p:txBody>
      </p:sp>
      <p:sp>
        <p:nvSpPr>
          <p:cNvPr id="42" name="Text 29">
            <a:extLst xmlns:a="http://schemas.openxmlformats.org/drawingml/2006/main">
              <a:ext uri="{FF2B5EF4-FFF2-40B4-BE49-F238E27FC236}">
                <a16:creationId xmlns:a16="http://schemas.microsoft.com/office/drawing/2014/main" id="{980D2C06-18C5-47D9-B8C0-37F41A0E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669280"/>
            <a:ext cx="4023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Tanya dosen melalui kanal kelas yang diumumkan.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08336396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DC3E8A4-6E84-4436-9D3D-EB7F16E6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CE7C62D-5A1D-46B4-9EA4-1FA75592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31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53EB918-633E-4087-B9C9-4422F193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834a6496d4d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2365e622db47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AE72A730-8BC5-4312-A3DA-DF4734C1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C0AA2BE-965B-46DF-A15B-2000856A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Selamat - Praktikum 1 Selesai!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AEFFAB53-8F0A-493B-93D8-1F027FB5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Anda sudah menguji web, API, Git, dan pilihan model cloud.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6D42C4CA-E840-4668-8563-B3189681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17320"/>
            <a:ext cx="941832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4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aec14264742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91640" y="178308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4CE7B4F1-15A0-4670-9AE8-58D60B64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1554480"/>
            <a:ext cx="7955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4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LAB 01 SELESAI</a:t>
            </a:r>
            <a:endParaRPr sz="11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D8DC0417-209B-490A-B707-8D981502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1920240"/>
            <a:ext cx="7955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Web dan API lokal teruji</a:t>
            </a:r>
            <a:endParaRPr sz="22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2DD1723F-ADB1-4502-8937-2BE7BBFF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2423160"/>
            <a:ext cx="7955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Koding, uji, analisis keputusan, lalu simpan hasil di Git.</a:t>
            </a:r>
            <a:endParaRPr sz="12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0DBD1CD3-6DED-462F-B50E-CA65263A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Refleksi 3 Pertanyaan</a:t>
            </a:r>
            <a:endParaRPr sz="140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3648D13A-EFDF-40A2-BBC5-2797C502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36576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502A6FF2-571A-4A4E-BF92-05CF8138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3657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828BB944-7E5E-47F5-807C-3488D722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2200"/>
          </a:p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73CA5D9D-2100-4962-B8EE-3F4F6A96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06240"/>
            <a:ext cx="3291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Apa yang paling cepat dari yang Anda bayangkan?</a:t>
            </a:r>
            <a:endParaRPr sz="1200"/>
          </a:p>
        </p:txBody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4E6651B1-BF10-471E-8BFB-3567E8B3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611880"/>
            <a:ext cx="36576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AA8C6A1A-E05E-42A9-99DE-E99B9FDA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611880"/>
            <a:ext cx="3657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8C85380E-2AF4-4907-B83B-798D3591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61188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2200"/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E75E32E0-3037-49F2-AE8A-DE8224EE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206240"/>
            <a:ext cx="3291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Bagian mana yang masih bikin bingung?</a:t>
            </a:r>
            <a:endParaRPr sz="1200"/>
          </a:p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1123A9B1-DD7C-4A8D-893E-0225A004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611880"/>
            <a:ext cx="36576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20238F77-F2D3-4E6C-9E99-028283F7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611880"/>
            <a:ext cx="3657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AB3E8B88-3F92-4A0B-B434-79728591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61188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2200"/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7DB3E56B-8EC1-48FC-91F2-42868A81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206240"/>
            <a:ext cx="3291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Apa 1 hal yang ingin Anda eksplor lebih?</a:t>
            </a:r>
            <a:endParaRPr sz="1200"/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4C0AD8EC-0B5F-4326-88DC-0D863EAD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32120"/>
            <a:ext cx="112471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778032D2-1A7A-4310-A673-04704183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32120"/>
            <a:ext cx="109728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Catat URL repo pribadi dan satu alasan pemilihan model cloud.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Deploy Vercel hanya jika Anda memilih jalur tambahan.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40494957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982B71F-DA90-458A-9564-38FB9D0B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9B0704E-8715-47E1-B1F9-34F827BB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AF6F26E-D4AD-4D42-9609-838AD740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43eb70688d4c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8c9ca18bf14c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2D3F2BBD-2723-4771-9945-6291DF19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EC9FE72C-AF33-443C-9361-92EE308A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Jalur kode Lab 01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79B1EC7-7F87-424F-A965-1577E8F9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Repo mandiri: github.com/SeedFlora/meet1CloudService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C2CEF30-2E5B-4D37-818D-AC749C02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7E8D8D11-2226-45AF-AC7A-3855D349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LANGKAH DI KELAS</a:t>
            </a:r>
            <a:endParaRPr sz="1100"/>
          </a:p>
          <a:p xmlns:a="http://schemas.openxmlformats.org/drawingml/2006/main">
            <a:pPr marL="0" indent="0">
              <a:buNone/>
            </a:pPr>
            <a:endParaRPr sz="1100"/>
          </a:p>
          <a:p xmlns:a="http://schemas.openxmlformats.org/drawingml/2006/main">
            <a:pPr marL="0" indent="0">
              <a:buNone/>
            </a:pPr>
            <a:endParaRPr sz="1100"/>
          </a:p>
        </p:txBody>
      </p:sp>
      <p:pic>
        <p:nvPicPr>
          <p:cNvPr id="4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7c394c003847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7C862226-3ED5-4C7F-AE88-0622B23E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60604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Clone meet1CloudService dan buka root repo</a:t>
            </a:r>
            <a:endParaRPr sz="1100"/>
          </a:p>
        </p:txBody>
      </p:sp>
      <p:pic>
        <p:nvPicPr>
          <p:cNvPr id="4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5f1fa27a234c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33756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48527663-156B-4C10-9258-8499BC79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24612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cd starter; npm test; npm run dev</a:t>
            </a:r>
            <a:endParaRPr sz="1100"/>
          </a:p>
        </p:txBody>
      </p:sp>
      <p:pic>
        <p:nvPicPr>
          <p:cNvPr id="48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eddf205044c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97764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50388EFD-DE8B-4EF4-B3C5-34A18593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8620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Cek web dan API lokal: 200 / 400</a:t>
            </a:r>
            <a:endParaRPr sz="1100"/>
          </a:p>
        </p:txBody>
      </p:sp>
      <p:pic>
        <p:nvPicPr>
          <p:cNvPr id="50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3832c64ed145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6177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DCBD19A6-9848-42BA-8E61-1E05C00C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2628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Diskusikan kasus A-D, simpan catatan bila diperlukan</a:t>
            </a:r>
            <a:endParaRPr sz="1100"/>
          </a:p>
        </p:txBody>
      </p:sp>
      <p:pic>
        <p:nvPicPr>
          <p:cNvPr id="52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00ec6fac674b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25780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ED344075-CEBD-4A7F-AB07-1C346AB7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16636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Vercel opsional: Root Directory = starter</a:t>
            </a:r>
            <a:endParaRPr sz="1100"/>
          </a:p>
        </p:txBody>
      </p:sp>
      <p:sp>
        <p:nvSpPr>
          <p:cNvPr id="22" name="Shape 13">
            <a:extLst xmlns:a="http://schemas.openxmlformats.org/drawingml/2006/main">
              <a:ext uri="{FF2B5EF4-FFF2-40B4-BE49-F238E27FC236}">
                <a16:creationId xmlns:a16="http://schemas.microsoft.com/office/drawing/2014/main" id="{7371B8AE-8B98-4E7C-81DB-1B157996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3" name="Text 14">
            <a:extLst xmlns:a="http://schemas.openxmlformats.org/drawingml/2006/main">
              <a:ext uri="{FF2B5EF4-FFF2-40B4-BE49-F238E27FC236}">
                <a16:creationId xmlns:a16="http://schemas.microsoft.com/office/drawing/2014/main" id="{A3405D9C-0500-45EE-BC05-65DD7C00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BERKAS PENDAMPING</a:t>
            </a:r>
            <a:endParaRPr sz="1100"/>
          </a:p>
          <a:p xmlns:a="http://schemas.openxmlformats.org/drawingml/2006/main">
            <a:pPr marL="0" indent="0">
              <a:buNone/>
            </a:pPr>
            <a:endParaRPr sz="1100"/>
          </a:p>
          <a:p xmlns:a="http://schemas.openxmlformats.org/drawingml/2006/main">
            <a:pPr marL="0" indent="0">
              <a:buNone/>
            </a:pPr>
            <a:endParaRPr sz="1100"/>
          </a:p>
        </p:txBody>
      </p:sp>
      <p:sp>
        <p:nvSpPr>
          <p:cNvPr id="24" name="Text 15">
            <a:extLst xmlns:a="http://schemas.openxmlformats.org/drawingml/2006/main">
              <a:ext uri="{FF2B5EF4-FFF2-40B4-BE49-F238E27FC236}">
                <a16:creationId xmlns:a16="http://schemas.microsoft.com/office/drawing/2014/main" id="{F63AA34D-D18F-4290-A6BC-A7475505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README, MODUL_MAHASISWA, hasil/lab01.md, screenshots/</a:t>
            </a:r>
            <a:endParaRPr sz="1200"/>
          </a:p>
        </p:txBody>
      </p:sp>
      <p:sp>
        <p:nvSpPr>
          <p:cNvPr id="25" name="Shape 16">
            <a:extLst xmlns:a="http://schemas.openxmlformats.org/drawingml/2006/main">
              <a:ext uri="{FF2B5EF4-FFF2-40B4-BE49-F238E27FC236}">
                <a16:creationId xmlns:a16="http://schemas.microsoft.com/office/drawing/2014/main" id="{6B778F75-F829-4CA7-898F-8BFEC534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6" name="Text 17">
            <a:extLst xmlns:a="http://schemas.openxmlformats.org/drawingml/2006/main">
              <a:ext uri="{FF2B5EF4-FFF2-40B4-BE49-F238E27FC236}">
                <a16:creationId xmlns:a16="http://schemas.microsoft.com/office/drawing/2014/main" id="{FDCF1636-DDEF-4717-85F1-54A47918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Perintah, hasil, dan kunci ada di modul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0025286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9E3325D-0138-4EEE-90D6-57714D21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9DAB911-8C41-4732-877F-3F9E6205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33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5A0A5C4-EE79-4E5F-A73C-B599D974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3123570aa45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bd7bb9099946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3F544D19-2673-4102-BCA2-EFA68591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ED6CC52F-E270-4522-9582-D7086D80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Jalankan model cloud di web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5ECF6065-3FEA-4865-A064-F0561553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meet1CloudService/starter  |  bukti: screenshots/lab01_model_saas.png</a:t>
            </a:r>
            <a:endParaRPr sz="1200"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EE0D92E1-A2A3-B12F-4218-8612D3AA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7683500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>
            <a:solidFill>
              <a:srgbClr val="D3DEEE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50" name="Pictur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0efc06064e43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6100" y="2037821"/>
            <a:ext cx="7505700" cy="3544358"/>
          </a:xfrm>
          <a:prstGeom xmlns:a="http://schemas.openxmlformats.org/drawingml/2006/main" prst="rect">
            <a:avLst/>
          </a:prstGeom>
        </p:spPr>
      </p:pic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AA5097C-09BD-9F46-BF8C-7E6D2521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1435100"/>
            <a:ext cx="3390900" cy="473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>
            <a:solidFill>
              <a:srgbClr val="D3DEEE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F940C7DE-D488-E2E7-F441-CBF1BB43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1435100"/>
            <a:ext cx="3390900" cy="6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6F29DA66-226E-A36A-F49D-C65673D5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1676400"/>
            <a:ext cx="30099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37021"/>
                </a:solidFill>
                <a:latin typeface="Arial"/>
                <a:ea typeface="Arial"/>
                <a:cs typeface="Arial"/>
              </a:rPr>
              <a:t>PERINTAH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92220E3B-3261-5520-CACC-6A73427A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1917700"/>
            <a:ext cx="30099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92A44"/>
                </a:solidFill>
                <a:latin typeface="Consolas"/>
                <a:ea typeface="Consolas"/>
                <a:cs typeface="Consolas"/>
              </a:rPr>
              <a:t>cd starter
npm run dev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76283F46-DCFA-1375-24BC-787D41D5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2806700"/>
            <a:ext cx="30099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37021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1275176E-8ABE-0779-5376-45CA4B67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3048000"/>
            <a:ext cx="30099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20">
                <a:solidFill>
                  <a:srgbClr val="192A44"/>
                </a:solidFill>
                <a:latin typeface="Arial"/>
                <a:ea typeface="Arial"/>
                <a:cs typeface="Arial"/>
              </a:rPr>
              <a:t>Node menyajikan halaman dan API pada localhost:3000.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BC69EA94-39E6-4489-84B0-9241B0E6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4102100"/>
            <a:ext cx="30099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37021"/>
                </a:solidFill>
                <a:latin typeface="Arial"/>
                <a:ea typeface="Arial"/>
                <a:cs typeface="Arial"/>
              </a:rPr>
              <a:t>BACA SCREENSHOT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EEB0A659-9E67-56F8-14A5-4DB042EA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4343400"/>
            <a:ext cx="30099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20">
                <a:solidFill>
                  <a:srgbClr val="192A44"/>
                </a:solidFill>
                <a:latin typeface="Arial"/>
                <a:ea typeface="Arial"/>
                <a:cs typeface="Arial"/>
              </a:rPr>
              <a:t>SaaS: Anda mengelola data dan akses; provider mengelola UI, backend, runtime, hingga jaringan.</a:t>
            </a:r>
          </a:p>
        </p:txBody>
      </p:sp>
    </p:spTree>
    <p:extLst>
      <p:ext uri="{BB962C8B-B14F-4D97-AF65-F5344CB8AC3E}">
        <p14:creationId xmlns:p14="http://schemas.microsoft.com/office/powerpoint/2010/main" val="313600319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64B2E03-DF3A-42FE-BE23-5D4074A4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58A2EBA-7CDE-46F2-8E54-41AF5AD9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34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FB6DA62-B9DF-4B43-A18B-B6F44EAA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b7b3711b0640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7374bf1b0545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E5216E2A-DFAA-4D7A-B206-1FF2B6C3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0A517150-FDB7-464A-BA5C-B9BA1333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uji dan respons HTTP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6E18F6E-24CD-496A-8987-5A40EDE0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npm test dan curl: bukti logika serta HTTP lokal</a:t>
            </a: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 |  bukti: screenshots/lab01_uji_terkini.png</a:t>
            </a:r>
            <a:endParaRPr sz="1200"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CA2C3FC3-2268-3632-60A5-8F36FCCD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2522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>
            <a:solidFill>
              <a:srgbClr val="D3DEEE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9" name="Pictur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a0a84394844a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490898"/>
            <a:ext cx="11099800" cy="3723804"/>
          </a:xfrm>
          <a:prstGeom xmlns:a="http://schemas.openxmlformats.org/drawingml/2006/main" prst="rect">
            <a:avLst/>
          </a:prstGeom>
        </p:spPr>
      </p:pic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784C38AF-D50D-3EDB-2A20-35E58814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7500"/>
            <a:ext cx="11252200" cy="78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77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78179848-0254-FC95-B234-981E0248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5499100"/>
            <a:ext cx="34290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37021"/>
                </a:solidFill>
                <a:latin typeface="Arial"/>
                <a:ea typeface="Arial"/>
                <a:cs typeface="Arial"/>
              </a:rPr>
              <a:t>UJI UNIT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9F041FD0-C768-9242-FF37-021E9D2B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5727700"/>
            <a:ext cx="34290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FFFFFF"/>
                </a:solidFill>
                <a:latin typeface="Arial"/>
                <a:ea typeface="Arial"/>
                <a:cs typeface="Arial"/>
              </a:rPr>
              <a:t>npm test memeriksa logika: 18/18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AF74B100-F150-BE1A-A13C-CBD2FCE7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5499100"/>
            <a:ext cx="34290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37021"/>
                </a:solidFill>
                <a:latin typeface="Arial"/>
                <a:ea typeface="Arial"/>
                <a:cs typeface="Arial"/>
              </a:rPr>
              <a:t>API VALID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B864305D-94C1-CBA2-4912-2EC5B118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5727700"/>
            <a:ext cx="34290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FFFFFF"/>
                </a:solidFill>
                <a:latin typeface="Arial"/>
                <a:ea typeface="Arial"/>
                <a:cs typeface="Arial"/>
              </a:rPr>
              <a:t>curl GET kedua endpoint -&gt; 200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7FEE0EF9-5060-12FC-A5E6-E5367599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99100"/>
            <a:ext cx="34290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37021"/>
                </a:solidFill>
                <a:latin typeface="Arial"/>
                <a:ea typeface="Arial"/>
                <a:cs typeface="Arial"/>
              </a:rPr>
              <a:t>INPUT SALAH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B7FAF8FA-E512-3BA5-B85A-15159888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727700"/>
            <a:ext cx="34290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FFFFFF"/>
                </a:solidFill>
                <a:latin typeface="Arial"/>
                <a:ea typeface="Arial"/>
                <a:cs typeface="Arial"/>
              </a:rPr>
              <a:t>Faktor tak dikenal ditolak -&gt; 400</a:t>
            </a:r>
          </a:p>
        </p:txBody>
      </p:sp>
    </p:spTree>
    <p:extLst>
      <p:ext uri="{BB962C8B-B14F-4D97-AF65-F5344CB8AC3E}">
        <p14:creationId xmlns:p14="http://schemas.microsoft.com/office/powerpoint/2010/main" val="142809440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CB7509A-53DE-48B8-ABA8-035D167A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EC526B6-C51D-4FB7-B2C1-A9CE4027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35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F49BCC3-A609-438A-8181-4C1F3811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82e93a5f34b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5932d16b7d4e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2B194703-C42C-4B5E-BCF9-783FC1EE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F1938C9A-9F22-4DBB-B7D5-C73F55B9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Baca alasan rekomendasi API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05816E5-0C44-4C92-8A2F-1286865F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Contoh GET /api/recommend?spiky=1&amp;smallTeam=1  |  meet1CloudService</a:t>
            </a:r>
            <a:endParaRPr sz="1200"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EC1DECE2-2628-C7CB-FEA4-D365DF45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5778500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>
            <a:solidFill>
              <a:srgbClr val="D3DEEE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50" name="Pictur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80f2189c1346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6781" y="1536700"/>
            <a:ext cx="4539337" cy="4546600"/>
          </a:xfrm>
          <a:prstGeom xmlns:a="http://schemas.openxmlformats.org/drawingml/2006/main" prst="rect">
            <a:avLst/>
          </a:prstGeom>
        </p:spPr>
      </p:pic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B385846A-64BD-F96B-41EF-4810E6DB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435100"/>
            <a:ext cx="5295900" cy="473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>
            <a:solidFill>
              <a:srgbClr val="D3DEEE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3C105B72-5F56-7C52-86A4-F8DA4599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435100"/>
            <a:ext cx="5295900" cy="6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CA3C4127-31FF-42BC-7821-81F9C84F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676400"/>
            <a:ext cx="49149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37021"/>
                </a:solidFill>
                <a:latin typeface="Arial"/>
                <a:ea typeface="Arial"/>
                <a:cs typeface="Arial"/>
              </a:rPr>
              <a:t>PERINTAH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6B948D37-9E72-3494-11EA-B5CB7E50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917700"/>
            <a:ext cx="49149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250">
                <a:solidFill>
                  <a:srgbClr val="192A44"/>
                </a:solidFill>
                <a:latin typeface="Consolas"/>
                <a:ea typeface="Consolas"/>
                <a:cs typeface="Consolas"/>
              </a:rPr>
              <a:t>curl -G localhost:3000/api/recommend \
  -d spiky=1 -d smallTeam=1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5AB6565C-0FE5-F2FA-A08F-E5367770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3060700"/>
            <a:ext cx="49149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37021"/>
                </a:solidFill>
                <a:latin typeface="Arial"/>
                <a:ea typeface="Arial"/>
                <a:cs typeface="Arial"/>
              </a:rPr>
              <a:t>FUNGSI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9990807D-6B65-9918-1A13-800DC493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3302000"/>
            <a:ext cx="49149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20">
                <a:solidFill>
                  <a:srgbClr val="192A44"/>
                </a:solidFill>
                <a:latin typeface="Arial"/>
                <a:ea typeface="Arial"/>
                <a:cs typeface="Arial"/>
              </a:rPr>
              <a:t>Backend menimbang faktor kebutuhan, lalu mengurutkan model deployment.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00539832-A56F-EA6D-0BB3-F6D89EA8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4394200"/>
            <a:ext cx="49149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37021"/>
                </a:solidFill>
                <a:latin typeface="Arial"/>
                <a:ea typeface="Arial"/>
                <a:cs typeface="Arial"/>
              </a:rPr>
              <a:t>BACA SCREENSHOT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5D20B232-F9E2-BD2F-C64A-D8CE461B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4635500"/>
            <a:ext cx="49149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20">
                <a:solidFill>
                  <a:srgbClr val="192A44"/>
                </a:solidFill>
                <a:latin typeface="Arial"/>
                <a:ea typeface="Arial"/>
                <a:cs typeface="Arial"/>
              </a:rPr>
              <a:t>Respons JSON menampilkan faktor, bobot, score, alasan, dan ranking; bukan keputusan otomatis.</a:t>
            </a:r>
          </a:p>
        </p:txBody>
      </p:sp>
    </p:spTree>
    <p:extLst>
      <p:ext uri="{BB962C8B-B14F-4D97-AF65-F5344CB8AC3E}">
        <p14:creationId xmlns:p14="http://schemas.microsoft.com/office/powerpoint/2010/main" val="337364784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B952599-2EF8-4048-BC31-CA29355E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93EFDB2-7BA8-40A9-AAF2-9B459311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128B832-7880-4B2F-9C74-D342E74D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b5feac99844c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60ee5bf8d04b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48A2AA3D-7717-4347-8D69-DBA67790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D37DEC46-B57E-4700-9BC9-F12E85C4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Kerjakan dan jelaskan kasus A-D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B08642F2-98E3-4493-947B-C432D677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Form studi kasus di web  |  kunci lengkap: MODUL_MAHASISWA.md</a:t>
            </a:r>
            <a:endParaRPr sz="1200"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38AA2A82-EC05-AD61-CB62-EF08BE33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5270500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>
            <a:solidFill>
              <a:srgbClr val="D3DEEE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50" name="Pictur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ce2ffc22654f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449" y="1536700"/>
            <a:ext cx="4700003" cy="4546600"/>
          </a:xfrm>
          <a:prstGeom xmlns:a="http://schemas.openxmlformats.org/drawingml/2006/main" prst="rect">
            <a:avLst/>
          </a:prstGeom>
        </p:spPr>
      </p:pic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75BBBBC-6410-0C41-DFEC-CB4FC4F2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35100"/>
            <a:ext cx="5803900" cy="473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>
            <a:solidFill>
              <a:srgbClr val="D3DEEE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E67EAE97-0178-EE39-8E74-15685EE7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35100"/>
            <a:ext cx="5803900" cy="6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D447300D-F49F-FD2D-0287-E30D4413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54229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37021"/>
                </a:solidFill>
                <a:latin typeface="Arial"/>
                <a:ea typeface="Arial"/>
                <a:cs typeface="Arial"/>
              </a:rPr>
              <a:t>LANGKAH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BB56E5BA-4784-6A5A-4A26-6C222052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17700"/>
            <a:ext cx="54229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20">
                <a:solidFill>
                  <a:srgbClr val="192A44"/>
                </a:solidFill>
                <a:latin typeface="Arial"/>
                <a:ea typeface="Arial"/>
                <a:cs typeface="Arial"/>
              </a:rPr>
              <a:t>Pilih kasus, centang kebutuhan, bandingkan ranking dengan alasan Anda.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680C0108-013B-37AC-A7BC-2FC657AE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98800"/>
            <a:ext cx="54229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37021"/>
                </a:solidFill>
                <a:latin typeface="Arial"/>
                <a:ea typeface="Arial"/>
                <a:cs typeface="Arial"/>
              </a:rPr>
              <a:t>BUKTI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3FB5F485-D594-F2B3-E95B-6008C21F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40100"/>
            <a:ext cx="54229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20">
                <a:solidFill>
                  <a:srgbClr val="192A44"/>
                </a:solidFill>
                <a:latin typeface="Arial"/>
                <a:ea typeface="Arial"/>
                <a:cs typeface="Arial"/>
              </a:rPr>
              <a:t>Isi hasil/lab01.md: faktor, pilihan deployment, model layanan, trade-off.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5A6705D6-F445-FAC1-79E5-854D9415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21200"/>
            <a:ext cx="54229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37021"/>
                </a:solidFill>
                <a:latin typeface="Arial"/>
                <a:ea typeface="Arial"/>
                <a:cs typeface="Arial"/>
              </a:rPr>
              <a:t>KIRIM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FA58B17C-3C65-5DEA-408F-B74EA12B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54229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20">
                <a:solidFill>
                  <a:srgbClr val="192A44"/>
                </a:solidFill>
                <a:latin typeface="Arial"/>
                <a:ea typeface="Arial"/>
                <a:cs typeface="Arial"/>
              </a:rPr>
              <a:t>git add .; git commit -m "lab01"; git push. Opsional: deploy Vercel dari starter/.</a:t>
            </a:r>
          </a:p>
        </p:txBody>
      </p:sp>
    </p:spTree>
    <p:extLst>
      <p:ext uri="{BB962C8B-B14F-4D97-AF65-F5344CB8AC3E}">
        <p14:creationId xmlns:p14="http://schemas.microsoft.com/office/powerpoint/2010/main" val="1765685840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A160A60-A8FC-48E1-8319-380D1EC4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E670C42-10D6-4701-B119-7D27C3ED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37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F3BE90B-18C0-4A95-AE76-C981CBC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39dc0f5ca46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4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10a64532aa40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341B31D9-A7F1-463E-9675-63EFF760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7B23AE0F-E2A7-4064-998A-F983782B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langkah 1 | student.json dan tes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A5BC928D-A64D-4144-A523-7A714A92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Get-Content student.json; npm test memeriksa format dan logika</a:t>
            </a: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 |  render output aktual</a:t>
            </a:r>
            <a:endParaRPr sz="1200"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CA2C3FC3-2268-3632-60A5-8F36FCCD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2522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>
            <a:solidFill>
              <a:srgbClr val="D3DEEE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784C38AF-D50D-3EDB-2A20-35E58814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7500"/>
            <a:ext cx="11252200" cy="78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77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78179848-0254-FC95-B234-981E0248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5499100"/>
            <a:ext cx="34290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37021"/>
                </a:solidFill>
                <a:latin typeface="Arial"/>
                <a:ea typeface="Arial"/>
                <a:cs typeface="Arial"/>
              </a:rPr>
              <a:t>IDENTITAS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9F041FD0-C768-9242-FF37-021E9D2B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5727700"/>
            <a:ext cx="34290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FFFFFF"/>
                </a:solidFill>
                <a:latin typeface="Arial"/>
                <a:ea typeface="Arial"/>
                <a:cs typeface="Arial"/>
              </a:rPr>
              <a:t>Ganti tiga nilai contoh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AF74B100-F150-BE1A-A13C-CBD2FCE7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5499100"/>
            <a:ext cx="34290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37021"/>
                </a:solidFill>
                <a:latin typeface="Arial"/>
                <a:ea typeface="Arial"/>
                <a:cs typeface="Arial"/>
              </a:rPr>
              <a:t>UJI KODE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B864305D-94C1-CBA2-4912-2EC5B118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5727700"/>
            <a:ext cx="34290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FFFFFF"/>
                </a:solidFill>
                <a:latin typeface="Arial"/>
                <a:ea typeface="Arial"/>
                <a:cs typeface="Arial"/>
              </a:rPr>
              <a:t>18 lulus, 0 gagal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7FEE0EF9-5060-12FC-A5E6-E5367599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99100"/>
            <a:ext cx="34290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37021"/>
                </a:solidFill>
                <a:latin typeface="Arial"/>
                <a:ea typeface="Arial"/>
                <a:cs typeface="Arial"/>
              </a:rPr>
              <a:t>CATATAN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B7FAF8FA-E512-3BA5-B85A-15159888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727700"/>
            <a:ext cx="34290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FFFFFF"/>
                </a:solidFill>
                <a:latin typeface="Arial"/>
                <a:ea typeface="Arial"/>
                <a:cs typeface="Arial"/>
              </a:rPr>
              <a:t>Tes hijau belum cek isi nyata</a:t>
            </a:r>
          </a:p>
        </p:txBody>
      </p:sp>
      <p:pic>
        <p:nvPicPr>
          <p:cNvPr id="56" name="Pictur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d29387f08947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38665" y="1490898"/>
            <a:ext cx="7689270" cy="372380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065217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85E24B7-8C57-4A70-9F64-3250F326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240579C-C7A6-4830-89EE-F52B7D33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38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CCB18D3-B73E-4EFE-8549-2EC8EBF8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676879d2c43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4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05bf2130224d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E0480F92-74DD-44E7-950B-E0718FC8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DBDD267-A2D2-47E8-87CC-70C03830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Git | repo Lab 01 terbit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39BADEE-E109-4BEF-A5A6-2C003E74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Opsi -u menyimpan upstream; cocokkan SHA setelah push</a:t>
            </a:r>
            <a:endParaRPr sz="1200"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CA2C3FC3-2268-3632-60A5-8F36FCCD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2522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>
            <a:solidFill>
              <a:srgbClr val="D3DEEE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784C38AF-D50D-3EDB-2A20-35E58814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7500"/>
            <a:ext cx="11252200" cy="78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77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78179848-0254-FC95-B234-981E0248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5499100"/>
            <a:ext cx="34290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37021"/>
                </a:solidFill>
                <a:latin typeface="Arial"/>
                <a:ea typeface="Arial"/>
                <a:cs typeface="Arial"/>
              </a:rPr>
              <a:t>TUJUAN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9F041FD0-C768-9242-FF37-021E9D2B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5727700"/>
            <a:ext cx="34290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FFFFFF"/>
                </a:solidFill>
                <a:latin typeface="Arial"/>
                <a:ea typeface="Arial"/>
                <a:cs typeface="Arial"/>
              </a:rPr>
              <a:t>origin = meet1CloudService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AF74B100-F150-BE1A-A13C-CBD2FCE7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5499100"/>
            <a:ext cx="34290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37021"/>
                </a:solidFill>
                <a:latin typeface="Arial"/>
                <a:ea typeface="Arial"/>
                <a:cs typeface="Arial"/>
              </a:rPr>
              <a:t>HASIL PUSH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B864305D-94C1-CBA2-4912-2EC5B118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5727700"/>
            <a:ext cx="34290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 lokal = remote saat uji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7FEE0EF9-5060-12FC-A5E6-E5367599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99100"/>
            <a:ext cx="34290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37021"/>
                </a:solidFill>
                <a:latin typeface="Arial"/>
                <a:ea typeface="Arial"/>
                <a:cs typeface="Arial"/>
              </a:rPr>
              <a:t>MAHASISWA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B7FAF8FA-E512-3BA5-B85A-15159888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727700"/>
            <a:ext cx="34290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FFFFFF"/>
                </a:solidFill>
                <a:latin typeface="Arial"/>
                <a:ea typeface="Arial"/>
                <a:cs typeface="Arial"/>
              </a:rPr>
              <a:t>git push -u origin main</a:t>
            </a:r>
          </a:p>
        </p:txBody>
      </p:sp>
      <p:pic>
        <p:nvPicPr>
          <p:cNvPr id="56" name="Pictur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99f071f1084a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6439" y="1490898"/>
            <a:ext cx="9873722" cy="372380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0647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2026-10-07T18:59:52.6600000Z</dcterms:created>
  <dcterms:modified xsi:type="dcterms:W3CDTF">2026-10-07T18:59:52.6600000Z</dcterms:modified>
</coreProperties>
</file>