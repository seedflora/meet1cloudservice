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43"/>
    <p:sldId id="293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3522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7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6.png"/><Relationship Id="rId9" Type="http://schemas.openxmlformats.org/officeDocument/2006/relationships/image" Target="../media/image4.png"/><Relationship Id="rId10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7.png"/><Relationship Id="rId8" Type="http://schemas.openxmlformats.org/officeDocument/2006/relationships/image" Target="../media/image9.png"/><Relationship Id="rId9" Type="http://schemas.openxmlformats.org/officeDocument/2006/relationships/image" Target="../media/image4.png"/><Relationship Id="rId10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7.png"/><Relationship Id="rId9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40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COMP6991031   |   PRAKTIKUM 1   |   DEMO 90 MENIT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457200" y="27889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MODEL LAB</a:t>
            </a:r>
            <a:endParaRPr lang="en-US" sz="5000" dirty="0"/>
          </a:p>
        </p:txBody>
      </p:sp>
      <p:sp>
        <p:nvSpPr>
          <p:cNvPr id="6" name="Text 2"/>
          <p:cNvSpPr/>
          <p:nvPr/>
        </p:nvSpPr>
        <p:spPr>
          <a:xfrm>
            <a:off x="457200" y="36118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CLOUD + WEB/API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IaaS/PaaS/SaaS, studi kasus, uji Node, Git, deploy opsional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715000" y="48006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1  |  PENGANTAR CLOUD COMPUTING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Budi Juarto, S.T., M.Kom.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Departemen Informatika  -  BINUS @Bandung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Praktikum 1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i-FI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90 menit: pahami model, jalankan aplikasi, analisis kasus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PRAKTIKUM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20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Service Model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6060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Gunakan repo template meet1CloudService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33756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2461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Jalankan web dan dua endpoint API lokal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977640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34440" y="38862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i-FI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Bandingkan IaaS, PaaS, SaaS, FaaS</a:t>
            </a:r>
            <a:endParaRPr lang="en-US" sz="11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617720"/>
            <a:ext cx="320040" cy="32004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34440" y="45262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worksheet kasus A-D dengan alasan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57800"/>
            <a:ext cx="320040" cy="32004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34440" y="51663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Uji, commit, push; deploy Vercel opsional</a:t>
            </a:r>
            <a:endParaRPr lang="en-US" sz="1100" dirty="0"/>
          </a:p>
        </p:txBody>
      </p:sp>
      <p:sp>
        <p:nvSpPr>
          <p:cNvPr id="22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PRAKTIKUM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Dikumpul</a:t>
            </a: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URL repo pribadi Lab 01
2. starter/student.json terisi
3. hasil/lab01.md dan worksheet kasus
4. Bukti npm test, web, dan API
5. URL Vercel bila jalur deploy dikerjakan</a:t>
            </a:r>
            <a:endParaRPr lang="en-US" sz="1200" dirty="0"/>
          </a:p>
        </p:txBody>
      </p:sp>
      <p:sp>
        <p:nvSpPr>
          <p:cNvPr id="25" name="Shape 16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6" name="Text 17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kumpul mengikuti LMS/dosen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Pra-requisite - Yang Harus Disiapkan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Sebelum mulai - pastikan ini ready supaya tidak buang waktu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3703320" cy="50292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94360" y="149047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94360" y="1490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1490472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51560" y="14173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+ Browser Modern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40080" y="201168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/ Firefox / Edge versi 1 tahun terakhir. Safari OK untuk Mac.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29768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297680" y="1417320"/>
            <a:ext cx="3703320" cy="50292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434840" y="149047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434840" y="1490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1490472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892040" y="14173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Stabil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480560" y="201168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1 Mbps. Praktikum ini fully online - tidak ada install local.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13816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138160" y="1417320"/>
            <a:ext cx="370332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75320" y="149047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75320" y="1490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38560" y="1490472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732520" y="14173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Aktif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8321040" y="201168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email pribadi (gmail/outlook) - email Binusmaya kadang block external links.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5720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57200" y="379476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94360" y="386791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594360" y="3867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0" y="3867912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051560" y="37947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Nomor HP Aktif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640080" y="438912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verifikasi 2FA Vercel + GitHub. Pakai nomor sendiri, jangan nomor teman.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429768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4297680" y="3794760"/>
            <a:ext cx="3703320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4434840" y="386791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4434840" y="3867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3867912"/>
            <a:ext cx="365760" cy="365760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4892040" y="37947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Perlu Kartu Kredit</a:t>
            </a:r>
            <a:endParaRPr lang="en-US" sz="1200" dirty="0"/>
          </a:p>
        </p:txBody>
      </p:sp>
      <p:sp>
        <p:nvSpPr>
          <p:cNvPr id="44" name="Text 35"/>
          <p:cNvSpPr/>
          <p:nvPr/>
        </p:nvSpPr>
        <p:spPr>
          <a:xfrm>
            <a:off x="4480560" y="438912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Praktikum ini 100% free tier - tidak akan diminta CC. Kalau diminta, STOP dan tanya dosen.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813816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138160" y="3794760"/>
            <a:ext cx="3703320" cy="5029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8275320" y="386791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39"/>
          <p:cNvSpPr/>
          <p:nvPr/>
        </p:nvSpPr>
        <p:spPr>
          <a:xfrm>
            <a:off x="8275320" y="3867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38560" y="3867912"/>
            <a:ext cx="365760" cy="36576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8732520" y="37947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App</a:t>
            </a:r>
            <a:endParaRPr lang="en-US" sz="1200" dirty="0"/>
          </a:p>
        </p:txBody>
      </p:sp>
      <p:sp>
        <p:nvSpPr>
          <p:cNvPr id="51" name="Text 41"/>
          <p:cNvSpPr/>
          <p:nvPr/>
        </p:nvSpPr>
        <p:spPr>
          <a:xfrm>
            <a:off x="8321040" y="438912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Notepad/Notion/VS Code - untuk catat username + URL yang Anda buat hari ini.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01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GitHub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bikin akun GitHub - foundation untuk semua tools developer.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1.1 - Siapkan akun GitHub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sudah punya akun, langsung buka repo template Lab 01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Step-by-step GitHub signup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Buka https://github.com/signup
# 2. Ikuti formulir dan verifikasi email.
# 3. Aktifkan keamanan akun sesuai petunjuk GitHub.
# 4. Masuk dan catat username Anda.
# 5. Jangan simpan password/token dalam repo.
# 6. Buka github.com/SeedFlora/meet1CloudService.
# 7. Lanjutkan dengan Use this template.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HARUS Anda Catat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Notepad/Notion - simpan dengan aman: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00800" y="242316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37960" y="2423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username: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8732520" y="2423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400800" y="288036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53796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yang dipakai: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732520" y="2880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400800" y="333756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537960" y="33375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profile: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8732520" y="3337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github.com/[username]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0" y="379476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537960" y="3794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 signup: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8732520" y="3794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400800" y="4434840"/>
            <a:ext cx="5120640" cy="169164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572000"/>
            <a:ext cx="365760" cy="36576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949440" y="4526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PENTING</a:t>
            </a:r>
            <a:endParaRPr lang="en-US" sz="1200" dirty="0"/>
          </a:p>
        </p:txBody>
      </p:sp>
      <p:sp>
        <p:nvSpPr>
          <p:cNvPr id="35" name="Text 30"/>
          <p:cNvSpPr/>
          <p:nvPr/>
        </p:nvSpPr>
        <p:spPr>
          <a:xfrm>
            <a:off x="6537960" y="4937760"/>
            <a:ext cx="48463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 GitHub jadi 'permanent identity' karier dev Anda. Hindari nickname childish - recruiter akan lihat ini.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1.2 - Buat repo dari template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pribadi berisi aplikasi, tes, modul, dan bukti Lab 01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Gunakan template meet1CloudService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Buka github.com/SeedFlora/meet1CloudService
# 2. Klik Use this template &gt; Create a new repository.
# 3. Beri nama repo pribadi; buat repo.
# 4. Clone dari terminal:
git clone https://github.com/USERNAME/NAMA-REPO.git
cd NAMA-REPO
# 5. Cek starter/, README, MODUL_MAHASISWA, screenshots/.
# 6. Simpan token, password, dan NIM di luar repo publik.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1.3 - Jalankan project starter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dulu di lokal; tidak perlu npm install untuk proyek ini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dari root repo pribadi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cd starter
node --version       # perlu Node.js 20+
npm test             # 18 tes
npm run dev          # server lokal :3000
# Buka http://localhost:3000
# Terminal kedua:
curl http://localhost:3000/api/hello
# Endpoint rekomendasi: lihat slide 35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Struktur aplikasi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starter/
  index.html             # tampilan model cloud
  student.json           # identitas contoh
  api/hello.js           # contoh FaaS
  api/recommend.js       # alasan rekomendasi
  tests/                 # 18 pengujian
  scripts/dev-server.mjs # server lokal
Isi student.json, lalu jalankan npm test lagi.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02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Vercel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Deploy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signup Vercel + connect repo + deploy ke production.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2.1 - Hubungkan Vercel (opsional)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a-DK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deploy dikerjakan setelah uji lokal dan push berhasil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Step-by-step Vercel signup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Buka https://vercel.com/signup
# 2. Masuk dengan GitHub.
# 3. Beri izin GitHub App pada repo pribadi Lab 01.
# 4. Pilih paket tanpa biaya sesuai kondisi akun.
# 5. Periksa akun dan dashboard Vercel.
# 6. Jangan menaruh token atau password di project.
Jika kelas hanya lokal, simpan bukti localhost dan API di hasil/lab01.md.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2.2 - Import GitHub Repo (3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repo pribadi; atur Root Directory ke starter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flow di dashboard Vercel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Dashboard Vercel &gt; Add New &gt; Project.
# 2. Pilih repo pribadi yang dibuat dari template.
# 3. Framework preset: Other (bila diminta).
# 4. Root Directory: starter  &lt;-- WAJIB.
# 5. Tinjau konfigurasi, klik Deploy.
# 6. Cek log deployment dan URL yang diberikan.
Salah root directory dapat membuat /api/* hilang.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yang Terjadi di Belakang?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400800" y="2148840"/>
            <a:ext cx="365760" cy="365760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4008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858000" y="20574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mengambil repo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858000" y="23317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di starter/ menjadi root aplikasi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400800" y="2788920"/>
            <a:ext cx="365760" cy="365760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4008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6858000" y="26974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dan Functions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858000" y="2971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statis serta dua endpoint API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6400800" y="3429000"/>
            <a:ext cx="365760" cy="365760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008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858000" y="33375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ke infrastruktur Vercel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6858000" y="3611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menyajikan halaman dan Functions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400800" y="4069080"/>
            <a:ext cx="365760" cy="365760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4008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6858000" y="39776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URL otomatis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6858000" y="4251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unik project Anda, bukan contoh tetap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400800" y="4709160"/>
            <a:ext cx="365760" cy="365760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40080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6858000" y="46177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auto-setup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6858000" y="48920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Sertifikat dikelola oleh platform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400800" y="5349240"/>
            <a:ext cx="365760" cy="365760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400800" y="5349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6858000" y="5257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ke GitHub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6858000" y="55321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Tiap push ke main = auto redeploy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2.3 - Verifikasi web dan API live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domain milik Anda sesudah deployment Ready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274320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Setelah klik Deploy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Tunggu status deployment Ready.
# 2. Buka https://DOMAIN-ANDA/
# 3. Periksa model cloud dan data student.json.
# 4. Buka https://DOMAIN-ANDA/api/hello
# 5. Buka /api/recommend?spiky=1&amp;smallTeam=1
# 6. Keduanya harus memberi respons JSON 200.
# 7. Coba input salah; API harus memberi 400.
# 8. Catat URL dan screenshot di hasil/lab01.md.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457200" y="4251960"/>
            <a:ext cx="11247120" cy="19202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480560"/>
            <a:ext cx="594360" cy="5943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43434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- Verifikasi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554480" y="4846320"/>
            <a:ext cx="9875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Halaman model cloud terbuka
[ ] /api/hello -&gt; 200
[ ] /api/recommend valid -&gt; 200
[ ] input salah -&gt; 400
[ ] URL dan bukti tercatat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2.4 - Uji pembaruan otomatis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perubahan di repo pribadi; periksa deployment baru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 di GitHub -&gt; auto redeploy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Edit starter/student.json dengan data Anda.
# 2. Di lokal, jalankan:
cd starter &amp;&amp; npm test
# 3. Kembali ke root repo.
# 4. Periksa git status dan diff.
# 5. Commit lalu push ke branch utama.
# 6. Buka tab Deployments di Vercel.
# 7. Tunggu status Ready; refresh halaman live.
# 8. Catat perubahan yang terlihat dan URL deployment.
Push Git memicu deployment baru bila integrasi aktif.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03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Model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dari tools yang Anda pakai - mana IaaS? PaaS? SaaS?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Konsep - IaaS / PaaS / SaaS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Lihat mana yang cocok dengan tools yang baru Anda pakai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370332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3703320" cy="9144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7200" y="1463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457200" y="19659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kern="0" spc="1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a Service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40080" y="2468880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dapat: virtual machine kosong (CPU, RAM, disk, network).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3246120"/>
            <a:ext cx="333756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329184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manage: OS, runtime, middleware, app, data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40080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tools: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31520" y="461772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EC2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Compute Engine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Oracle Cloud Compute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297680" y="1417320"/>
            <a:ext cx="370332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417320"/>
            <a:ext cx="3703320" cy="9144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297680" y="1463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4297680" y="19659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kern="0" spc="1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as a Service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480560" y="2468880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dapat: platform siap deploy code.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480560" y="3246120"/>
            <a:ext cx="333756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72000" y="329184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manage: hanya app + data. Platform handle OS + runtime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480560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tools: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4572000" y="461772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Heroku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Railway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Fly.io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8138160" y="1417320"/>
            <a:ext cx="370332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138160" y="1417320"/>
            <a:ext cx="3703320" cy="9144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138160" y="1463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3000" dirty="0"/>
          </a:p>
        </p:txBody>
      </p:sp>
      <p:sp>
        <p:nvSpPr>
          <p:cNvPr id="31" name="Text 27"/>
          <p:cNvSpPr/>
          <p:nvPr/>
        </p:nvSpPr>
        <p:spPr>
          <a:xfrm>
            <a:off x="8138160" y="19659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kern="0" spc="1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as a Service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8321040" y="2468880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dapat: aplikasi siap pakai via browser.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8321040" y="3246120"/>
            <a:ext cx="333756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412480" y="329184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manage: data + akun. Vendor handle SEMUA.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8321040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tools: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8412480" y="461772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Gmail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Figma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Identifikasi - Isi Tabel Ini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Berdasarkan praktikum tadi - mana IaaS, PaaS, SaaS?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572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651760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di Praktikum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03504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(Pilih)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8046720" y="1417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Alasan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192024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19202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2651760" y="19202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code + git version control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35040" y="2011680"/>
            <a:ext cx="182880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126480" y="20116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046720" y="19202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7200" y="2560320"/>
            <a:ext cx="1124712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40080" y="2560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2651760" y="25603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+ serve static site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035040" y="2651760"/>
            <a:ext cx="182880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126480" y="2651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8046720" y="256032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57200" y="32004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0080" y="32004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2651760" y="3200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web browser tools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6035040" y="3291840"/>
            <a:ext cx="182880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12648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8046720" y="32004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457200" y="3840480"/>
            <a:ext cx="1124712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4008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2651760" y="3840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verifikasi akun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035040" y="3931920"/>
            <a:ext cx="182880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6126480" y="3931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8046720" y="384048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457200" y="448056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40080" y="44805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Encrypt SSL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2651760" y="44805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Sertifikat HTTPS otomatis Vercel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6035040" y="4572000"/>
            <a:ext cx="182880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126480" y="45720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8046720" y="44805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</a:t>
            </a:r>
            <a:endParaRPr lang="en-US" sz="1000" dirty="0"/>
          </a:p>
        </p:txBody>
      </p:sp>
      <p:sp>
        <p:nvSpPr>
          <p:cNvPr id="45" name="Shape 41"/>
          <p:cNvSpPr/>
          <p:nvPr/>
        </p:nvSpPr>
        <p:spPr>
          <a:xfrm>
            <a:off x="457200" y="5120640"/>
            <a:ext cx="1124712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640080" y="51206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Edge CDN</a:t>
            </a:r>
            <a:endParaRPr lang="en-US" sz="1200" dirty="0"/>
          </a:p>
        </p:txBody>
      </p:sp>
      <p:sp>
        <p:nvSpPr>
          <p:cNvPr id="47" name="Text 43"/>
          <p:cNvSpPr/>
          <p:nvPr/>
        </p:nvSpPr>
        <p:spPr>
          <a:xfrm>
            <a:off x="2651760" y="51206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+ serve file ke 100+ region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6035040" y="5212080"/>
            <a:ext cx="182880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6126480" y="52120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046720" y="51206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Jawaban dibahas saat presentasi - tulis dulu jawaban Anda di kertas/notes app.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04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free tier sampai kapan? Berapa kalau scale-up?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- Sampai Mana Batasnya?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GitHub free tier murah hati - tapi ada limit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114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017520" y="1417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0936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Pertama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0" y="14173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Anda Dapat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1874520"/>
            <a:ext cx="11247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7200" y="1874520"/>
            <a:ext cx="137160" cy="566928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77240" y="1874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Free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017520" y="18745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public repo, 2000 menit Actions/bulan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309360" y="1874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$4/bulan (Pro)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8686800" y="187452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+ 3000 menit + Copilot discount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57200" y="2468880"/>
            <a:ext cx="1124712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57200" y="2468880"/>
            <a:ext cx="13716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77240" y="246888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Hobby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3017520" y="24688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kuota Hobby terbaru sebelum deploy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6309360" y="24688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$20/bulan (Pro)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8686800" y="24688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TB bandwidth + team + analytics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457200" y="3063240"/>
            <a:ext cx="11247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457200" y="3063240"/>
            <a:ext cx="137160" cy="566928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77240" y="306324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Custom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3017520" y="306324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[username].vercel.app subdomain gratis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309360" y="30632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$10-15/tahun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8686800" y="30632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myapp.com - lebih professional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457200" y="3657600"/>
            <a:ext cx="1124712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57200" y="3657600"/>
            <a:ext cx="137160" cy="5669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77240" y="36576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 HTTPS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3017520" y="36576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Auto, gratis dari Let's Encrypt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6309360" y="36576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Tidak perlu paid - sudah gratis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8686800" y="36576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certificate kalau perlu (mahal)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457200" y="4251960"/>
            <a:ext cx="11247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57200" y="4251960"/>
            <a:ext cx="137160" cy="566928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777240" y="425196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 Edge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3017520" y="425196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POPs global, included Hobby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6309360" y="42519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Tidak perlu - sudah included</a:t>
            </a:r>
            <a:endParaRPr lang="en-US" sz="1000" dirty="0"/>
          </a:p>
        </p:txBody>
      </p:sp>
      <p:sp>
        <p:nvSpPr>
          <p:cNvPr id="44" name="Text 40"/>
          <p:cNvSpPr/>
          <p:nvPr/>
        </p:nvSpPr>
        <p:spPr>
          <a:xfrm>
            <a:off x="8686800" y="425196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Pro: priority routing + faster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457200" y="4846320"/>
            <a:ext cx="1124712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457200" y="4846320"/>
            <a:ext cx="137160" cy="56692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777240" y="48463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Minutes</a:t>
            </a:r>
            <a:endParaRPr lang="en-US" sz="1100" dirty="0"/>
          </a:p>
        </p:txBody>
      </p:sp>
      <p:sp>
        <p:nvSpPr>
          <p:cNvPr id="48" name="Text 44"/>
          <p:cNvSpPr/>
          <p:nvPr/>
        </p:nvSpPr>
        <p:spPr>
          <a:xfrm>
            <a:off x="3017520" y="48463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build usage pada dashboard</a:t>
            </a:r>
            <a:endParaRPr lang="en-US" sz="1000" dirty="0"/>
          </a:p>
        </p:txBody>
      </p:sp>
      <p:sp>
        <p:nvSpPr>
          <p:cNvPr id="49" name="Text 45"/>
          <p:cNvSpPr/>
          <p:nvPr/>
        </p:nvSpPr>
        <p:spPr>
          <a:xfrm>
            <a:off x="6309360" y="48463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Termasuk Pro plan</a:t>
            </a:r>
            <a:endParaRPr lang="en-US" sz="1000" dirty="0"/>
          </a:p>
        </p:txBody>
      </p:sp>
      <p:sp>
        <p:nvSpPr>
          <p:cNvPr id="50" name="Text 46"/>
          <p:cNvSpPr/>
          <p:nvPr/>
        </p:nvSpPr>
        <p:spPr>
          <a:xfrm>
            <a:off x="8686800" y="484632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Pro: faster CI + parallel build</a:t>
            </a:r>
            <a:endParaRPr lang="en-US" sz="950" dirty="0"/>
          </a:p>
        </p:txBody>
      </p:sp>
      <p:sp>
        <p:nvSpPr>
          <p:cNvPr id="51" name="Text 47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Kesimpulan: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proyek kelas, pantau kuota aktual di dashboard; biaya bergantung pemakaian dan plan.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- Hitung Cost Scale-Up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Skenario: site Anda jadi popular - berapa cost-nya?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50876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portfolio Anda viral di LinkedIn - traffic naik dari 100 ke 5000 visitor/hari.</a:t>
            </a:r>
            <a:endParaRPr lang="en-US" sz="1300" dirty="0"/>
          </a:p>
          <a:p>
            <a:pPr marL="0" indent="0">
              <a:buNone/>
            </a:pPr>
            <a:r>
              <a:rPr lang="en-US" sz="11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 visitor x 30 hari = 150K visit/bulan. Tiap visit load ~500 KB. Hitung consumption + cost.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2514600"/>
            <a:ext cx="5577840" cy="3749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26060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Hitungan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0175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77240" y="3017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 per visit: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200400" y="30175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 KB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40080" y="34747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77240" y="3474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bandwidth/bulan: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20040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150,000 × 500 KB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40080" y="39319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931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Konversi ke GB: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320040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75,000,000 KB = 75 GB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40080" y="43891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77240" y="4389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Vercel Hobby: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3200400" y="43891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Contoh: bandingkan dengan kuota terkini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40080" y="48463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77240" y="4846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10K visitor/hari?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200400" y="48463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Bandingkan hasil dengan kuota terkini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640080" y="53035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777240" y="5303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ke Pro: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200400" y="53035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Cek harga dan kuota Pro terkini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640080" y="5760720"/>
            <a:ext cx="5212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760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setahun: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3200400" y="5760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$20 × 12 = $240/tahun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6217920" y="2514600"/>
            <a:ext cx="5486400" cy="3749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40080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+ Tabungan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6400800" y="3017520"/>
            <a:ext cx="5120640" cy="12801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6400800" y="301752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Anda saat ini:</a:t>
            </a:r>
            <a:endParaRPr lang="en-US" sz="12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/ bulan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00800" y="4434840"/>
            <a:ext cx="5120640" cy="12801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400800" y="44348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scale-up 10K visit/hari:</a:t>
            </a:r>
            <a:endParaRPr lang="en-US" sz="12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 / bulan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6400800" y="5760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Bandingkan: AWS EC2 t3.medium + RDS + CDN: </a:t>
            </a:r>
            <a:r>
              <a:rPr lang="en-US" sz="1100" b="1" i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$80-150/bulan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05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Laporan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tulis laporan 1 halaman dari yang baru Anda kerjakan.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Lab 01: hasil/lab01.md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 hasil/TEMPLATE_LAPORAN.md, lalu isi dari bukti sendiri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LAB 01 - MODEL CLOUD + WEB/API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40080" y="2011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Nama: ___________________________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217920" y="2011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NIM: ___________________________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40080" y="2423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Identitas dan repo pribadi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7724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 GitHub: __________________  URL repo: ______________________________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777240" y="2971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Vercel (jika deploy): __________________  Atau: jalur lokal saja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40080" y="33375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Model layanan dan tanggung jawab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777240" y="3611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SaaS; Vercel site: PaaS; api/: FaaS. Jelaskan batas yang dikelola.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77240" y="3886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Bandingkan public, private, hybrid, dan alternatif pilihan Anda.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40080" y="42519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i-FI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Kasus A-D dan alasan teknis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777240" y="45262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Catat faktor kebutuhan, ranking, pilihan, trade-off, dan model harga.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40080" y="4892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n-NO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Hasil uji dan refleksi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777240" y="5166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test: ____/18; web: ____; /api/hello: ____; rekomendasi: ____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777240" y="5440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___________________________________________________________________________________________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77240" y="5715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___________________________________________________________________________________________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777240" y="6035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l-NL" sz="1000" i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Lampiran: screenshot web, tes, dua API, dan deploy bila dikerjakan.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06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Cleanup &amp;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6: kumpulkan + (optional) cleanup untuk hemat resource.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Cleanup - Optional!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 hapus akun setelah praktikum? Boleh - tapi saran simpan untuk portfolio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6400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7200" y="141732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SARAN: SIMPAN UNTUK PORTFOLIO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0080" y="21488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ini bisa jadi portfolio entry pertama Anda: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78892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34440" y="26974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ke README profile GitHub Anda</a:t>
            </a:r>
            <a:endParaRPr lang="en-US" sz="11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3832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34440" y="32918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URL live di LinkedIn 'Projects' section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97764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234440" y="38862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jadi personal landing page</a:t>
            </a:r>
            <a:endParaRPr lang="en-US" sz="11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572000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234440" y="44805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CV + social link - voila, portfolio dasar</a:t>
            </a:r>
            <a:endParaRPr lang="en-US" sz="11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166360"/>
            <a:ext cx="320040" cy="32004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1234440" y="5074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tidak expire kalau Anda aktif</a:t>
            </a:r>
            <a:endParaRPr lang="en-US" sz="1100" dirty="0"/>
          </a:p>
        </p:txBody>
      </p:sp>
      <p:sp>
        <p:nvSpPr>
          <p:cNvPr id="24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16"/>
          <p:cNvSpPr/>
          <p:nvPr/>
        </p:nvSpPr>
        <p:spPr>
          <a:xfrm>
            <a:off x="6217920" y="1417320"/>
            <a:ext cx="548640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17"/>
          <p:cNvSpPr/>
          <p:nvPr/>
        </p:nvSpPr>
        <p:spPr>
          <a:xfrm>
            <a:off x="6217920" y="1417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TETAP MAU HAPUS</a:t>
            </a:r>
            <a:endParaRPr lang="en-US" sz="1300" dirty="0"/>
          </a:p>
        </p:txBody>
      </p:sp>
      <p:sp>
        <p:nvSpPr>
          <p:cNvPr id="27" name="Text 18"/>
          <p:cNvSpPr/>
          <p:nvPr/>
        </p:nvSpPr>
        <p:spPr>
          <a:xfrm>
            <a:off x="6400800" y="21488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Cleanup steps - TUNGGU sampai nilai keluar dulu ya: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6400800" y="27889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0"/>
          <p:cNvSpPr/>
          <p:nvPr/>
        </p:nvSpPr>
        <p:spPr>
          <a:xfrm>
            <a:off x="64008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6858000" y="26974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dashboard -&gt; Project settings -&gt; Delete Project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6400800" y="34747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640080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24"/>
          <p:cNvSpPr/>
          <p:nvPr/>
        </p:nvSpPr>
        <p:spPr>
          <a:xfrm>
            <a:off x="6858000" y="33832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 -&gt; Settings -&gt; Danger Zone -&gt; Delete</a:t>
            </a:r>
            <a:endParaRPr lang="en-US" sz="1050" dirty="0"/>
          </a:p>
        </p:txBody>
      </p:sp>
      <p:sp>
        <p:nvSpPr>
          <p:cNvPr id="34" name="Shape 25"/>
          <p:cNvSpPr/>
          <p:nvPr/>
        </p:nvSpPr>
        <p:spPr>
          <a:xfrm>
            <a:off x="6400800" y="41605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640080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27"/>
          <p:cNvSpPr/>
          <p:nvPr/>
        </p:nvSpPr>
        <p:spPr>
          <a:xfrm>
            <a:off x="6858000" y="40690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account -&gt; Settings -&gt; Delete Account (opsional)</a:t>
            </a:r>
            <a:endParaRPr lang="en-US" sz="1050" dirty="0"/>
          </a:p>
        </p:txBody>
      </p:sp>
      <p:sp>
        <p:nvSpPr>
          <p:cNvPr id="37" name="Shape 28"/>
          <p:cNvSpPr/>
          <p:nvPr/>
        </p:nvSpPr>
        <p:spPr>
          <a:xfrm>
            <a:off x="6400800" y="48463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640080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9" name="Text 30"/>
          <p:cNvSpPr/>
          <p:nvPr/>
        </p:nvSpPr>
        <p:spPr>
          <a:xfrm>
            <a:off x="6858000" y="47548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account -&gt; Settings -&gt; Delete account (opsional)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Submit Praktikum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pribadi, laporan, dan bukti; deploy hanya bila dikerjakan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50876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Kumpulkan melalui kanal kelas yang ditetapkan dosen/LMS.
Waktu pengumpulan mengikuti pengumuman kelas.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2514600"/>
            <a:ext cx="11247120" cy="3749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2606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Post di kanal kelas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017520"/>
            <a:ext cx="10972800" cy="31546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0080" y="3017520"/>
            <a:ext cx="109728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30998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68680" y="30998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005840" y="30998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1188720" y="301752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 ringkas laporan pengumpulan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777240" y="3383280"/>
            <a:ext cx="10698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Lab 01 - [Nama Anda]
Repo pribadi: https://github.com/USERNAME/NAMA-REPO
Laporan: hasil/lab01.md
Worksheet kasus A-D: terisi dan beralasan
Bukti: npm test 18/18, web, /api/hello, /api/recommend
Vercel: URL deploy bila jalur opsional dikerjakan
Tulis NIM pada LMS bila diminta dosen; jangan unggah data pribadi ke repo publik.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Rubric Praktikum 1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Transparan - ini cara dinilai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114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383280" y="14173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Bobot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297680" y="1417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(A)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76656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(B)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9144000" y="1417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Work (C)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187452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57200" y="1874520"/>
            <a:ext cx="137160" cy="8229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77240" y="18745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Deployment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38328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30%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297680" y="18745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accessible, page custom dengan nama+NIM, no error console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6766560" y="1874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accessible tapi masih default hello world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9144000" y="18745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tidak accessible / 404 / page kosong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457200" y="2743200"/>
            <a:ext cx="11247120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2743200"/>
            <a:ext cx="137160" cy="8229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77240" y="27432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3383280" y="2743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20%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4297680" y="2743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+ README terisi + commit history bersih + index.html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766560" y="27432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tapi README minimal / commit kurang descriptive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9144000" y="2743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/ repo tidak ada / file salah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457200" y="361188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57200" y="3611880"/>
            <a:ext cx="137160" cy="82296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777240" y="361188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Service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33832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25%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4297680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6 row benar + alasan logis di tabel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6766560" y="3611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 row benar + sebagian alasan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9144000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≤3 row benar atau alasan asal tebak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57200" y="4480560"/>
            <a:ext cx="11247120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480560"/>
            <a:ext cx="137160" cy="8229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777240" y="44805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PDF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3383280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15%</a:t>
            </a:r>
            <a:endParaRPr lang="en-US" sz="1400" dirty="0"/>
          </a:p>
        </p:txBody>
      </p:sp>
      <p:sp>
        <p:nvSpPr>
          <p:cNvPr id="41" name="Text 37"/>
          <p:cNvSpPr/>
          <p:nvPr/>
        </p:nvSpPr>
        <p:spPr>
          <a:xfrm>
            <a:off x="4297680" y="44805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Lengkap 4 section + screenshot + refleksi insightful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6766560" y="44805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Lengkap tapi refleksi pendek / screenshot kurang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9144000" y="44805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tidak lengkap / asal-asalan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457200" y="534924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57200" y="5349240"/>
            <a:ext cx="137160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777240" y="53492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Calculation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3383280" y="5349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</a:t>
            </a:r>
            <a:endParaRPr lang="en-US" sz="1400" dirty="0"/>
          </a:p>
        </p:txBody>
      </p:sp>
      <p:sp>
        <p:nvSpPr>
          <p:cNvPr id="48" name="Text 44"/>
          <p:cNvSpPr/>
          <p:nvPr/>
        </p:nvSpPr>
        <p:spPr>
          <a:xfrm>
            <a:off x="4297680" y="5349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Benar + tunjukkan working hitungan + bandingkan paid tier</a:t>
            </a:r>
            <a:endParaRPr lang="en-US" sz="900" dirty="0"/>
          </a:p>
        </p:txBody>
      </p:sp>
      <p:sp>
        <p:nvSpPr>
          <p:cNvPr id="49" name="Text 45"/>
          <p:cNvSpPr/>
          <p:nvPr/>
        </p:nvSpPr>
        <p:spPr>
          <a:xfrm>
            <a:off x="6766560" y="53492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Hitungan ada tapi tidak lengkap working-nya</a:t>
            </a:r>
            <a:endParaRPr lang="en-US" sz="900" dirty="0"/>
          </a:p>
        </p:txBody>
      </p:sp>
      <p:sp>
        <p:nvSpPr>
          <p:cNvPr id="50" name="Text 46"/>
          <p:cNvSpPr/>
          <p:nvPr/>
        </p:nvSpPr>
        <p:spPr>
          <a:xfrm>
            <a:off x="9144000" y="5349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hitungan / salah konseptual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Lulus minimal: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(mostly B). Buat A: pastikan semua deliverable + refleksi tidak asal-asalan.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Common Pitfalls - Hindari Ini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sering bikin nilai turun walaupun sebenarnya bisa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94360" y="1417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Private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40080" y="196596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GitHub kadang Public, kadang Private. Kalau Private, Vercel tidak bisa akses.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40080" y="288036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31520" y="292608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repo -&gt; Change visibility -&gt; Public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29768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7680" y="141732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34840" y="1417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Diminta Credit Card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80560" y="196596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Berarti Anda salah pilih plan di Vercel (pilih Pro/Enterprise). Anda salah klik.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4480560" y="288036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72000" y="292608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Logout. Signup ulang. Pastikan pilih 'Hobby' plan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13816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138160" y="141732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75320" y="1417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index.html salah nama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8321040" y="196596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'Index.html' (huruf besar) atau 'index.htm' tidak akan tampil.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321040" y="288036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412480" y="292608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Hapus + bikin ulang dengan nama: index.html (semua huruf kecil)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5720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57200" y="379476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94360" y="3794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Lupa commit di GitHub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640080" y="43434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di GitHub web tapi lupa klik 'Commit changes' - perubahan hilang.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640080" y="525780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31520" y="53035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Selalu scroll bawah + klik tombol hijau 'Commit changes'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29768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297680" y="379476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434840" y="3794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Vercel tidak buka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4480560" y="43434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Mungkin deploy masih 'Building' atau gagal. Lihat tab Deployments.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4480560" y="525780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4572000" y="53035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failed deployment -&gt; baca log error. Biasanya: file path salah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813816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8138160" y="379476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275320" y="3794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tanpa screenshot</a:t>
            </a:r>
            <a:endParaRPr lang="en-US" sz="1200" dirty="0"/>
          </a:p>
        </p:txBody>
      </p:sp>
      <p:sp>
        <p:nvSpPr>
          <p:cNvPr id="43" name="Text 39"/>
          <p:cNvSpPr/>
          <p:nvPr/>
        </p:nvSpPr>
        <p:spPr>
          <a:xfrm>
            <a:off x="8321040" y="43434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submission minta 3 screenshot - banyak yang lupa lampirkan.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8321040" y="525780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8412480" y="53035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file submission slide 23 - checklist semua attachment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- Eksplorasi Lanjutan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Sudah selesai cepat? Coba 1 dari 6 challenge ini untuk extra credit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14859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5156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Domain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154680" y="150876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3154680" y="1508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5 poin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40080" y="201168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 domain di Namecheap ($1-2/tahun) + connect ke Vercel.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29768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297680" y="141732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1485900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CSS Framework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995160" y="150876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6995160" y="1508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5 poin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4480560" y="201168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Tailwind via CDN + redesign jadi modern card.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13816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138160" y="141732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320" y="1485900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73252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Analytics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10835640" y="150876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10835640" y="1508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3 poin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8321040" y="201168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Web Analytics free tier - lihat siapa visit site Anda.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5720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57200" y="379476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" y="3863340"/>
            <a:ext cx="365760" cy="36576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051560" y="3794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Multi-Page Site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3154680" y="388620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3154680" y="3886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5 poin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640080" y="438912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about.html + contact.html dengan navigation.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429768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4297680" y="379476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4840" y="3863340"/>
            <a:ext cx="365760" cy="365760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4892040" y="3794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 Parallel</a:t>
            </a:r>
            <a:endParaRPr lang="en-US" sz="1200" dirty="0"/>
          </a:p>
        </p:txBody>
      </p:sp>
      <p:sp>
        <p:nvSpPr>
          <p:cNvPr id="42" name="Shape 33"/>
          <p:cNvSpPr/>
          <p:nvPr/>
        </p:nvSpPr>
        <p:spPr>
          <a:xfrm>
            <a:off x="6995160" y="388620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6995160" y="3886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5 poin</a:t>
            </a:r>
            <a:endParaRPr lang="en-US" sz="900" dirty="0"/>
          </a:p>
        </p:txBody>
      </p:sp>
      <p:sp>
        <p:nvSpPr>
          <p:cNvPr id="44" name="Text 35"/>
          <p:cNvSpPr/>
          <p:nvPr/>
        </p:nvSpPr>
        <p:spPr>
          <a:xfrm>
            <a:off x="4480560" y="438912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juga ke GitHub Pages - compare dengan Vercel.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813816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138160" y="3794760"/>
            <a:ext cx="37033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5320" y="3863340"/>
            <a:ext cx="365760" cy="365760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8732520" y="3794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Score 100</a:t>
            </a:r>
            <a:endParaRPr lang="en-US" sz="1200" dirty="0"/>
          </a:p>
        </p:txBody>
      </p:sp>
      <p:sp>
        <p:nvSpPr>
          <p:cNvPr id="49" name="Shape 39"/>
          <p:cNvSpPr/>
          <p:nvPr/>
        </p:nvSpPr>
        <p:spPr>
          <a:xfrm>
            <a:off x="10835640" y="388620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0"/>
          <p:cNvSpPr/>
          <p:nvPr/>
        </p:nvSpPr>
        <p:spPr>
          <a:xfrm>
            <a:off x="10835640" y="3886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8 poin</a:t>
            </a:r>
            <a:endParaRPr lang="en-US" sz="900" dirty="0"/>
          </a:p>
        </p:txBody>
      </p:sp>
      <p:sp>
        <p:nvSpPr>
          <p:cNvPr id="51" name="Text 41"/>
          <p:cNvSpPr/>
          <p:nvPr/>
        </p:nvSpPr>
        <p:spPr>
          <a:xfrm>
            <a:off x="8321040" y="438912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Lighthouse di Chrome DevTools - dapat 100/100 di semua kategori.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Helpful Links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eksplor lebih lanjut + troubleshoot kalau stuck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5544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Dokumentasi Resmi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01168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12140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43000" y="20574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Quickstart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3246120" y="2011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97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docs.github.com/get-started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715768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43000" y="2651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Hobby Tier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3246120" y="2606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97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vercel.com/docs/limits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0040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310128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1430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CLI Install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3246120" y="3200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97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vercel.com/docs/cli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640080" y="379476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904488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143000" y="3840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Free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3246120" y="37947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97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docs.github.com/actions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640080" y="438912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498848"/>
            <a:ext cx="274320" cy="2743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14300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Basics MDN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3246120" y="4389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97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developer.mozilla.org/HTML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640080" y="498348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093208"/>
            <a:ext cx="274320" cy="27432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1143000" y="5029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Domain TLD</a:t>
            </a:r>
            <a:endParaRPr lang="en-US" sz="1100" dirty="0"/>
          </a:p>
        </p:txBody>
      </p:sp>
      <p:sp>
        <p:nvSpPr>
          <p:cNvPr id="35" name="Text 25"/>
          <p:cNvSpPr/>
          <p:nvPr/>
        </p:nvSpPr>
        <p:spPr>
          <a:xfrm>
            <a:off x="3246120" y="4983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97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freenom.com (alternatif)</a:t>
            </a:r>
            <a:endParaRPr lang="en-US" sz="950" dirty="0"/>
          </a:p>
        </p:txBody>
      </p:sp>
      <p:sp>
        <p:nvSpPr>
          <p:cNvPr id="36" name="Shape 26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Bantuan Stuck</a:t>
            </a:r>
            <a:endParaRPr lang="en-US" sz="1400" dirty="0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103120"/>
            <a:ext cx="320040" cy="320040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6858000" y="20299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Tanya ChatGPT/Claude</a:t>
            </a:r>
            <a:endParaRPr lang="en-US" sz="1100" dirty="0"/>
          </a:p>
        </p:txBody>
      </p:sp>
      <p:sp>
        <p:nvSpPr>
          <p:cNvPr id="40" name="Text 29"/>
          <p:cNvSpPr/>
          <p:nvPr/>
        </p:nvSpPr>
        <p:spPr>
          <a:xfrm>
            <a:off x="6858000" y="23042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error message + context untuk debug cepat</a:t>
            </a:r>
            <a:endParaRPr lang="en-US" sz="9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2743200"/>
            <a:ext cx="320040" cy="320040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6858000" y="26700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</a:t>
            </a:r>
            <a:endParaRPr lang="en-US" sz="1100" dirty="0"/>
          </a:p>
        </p:txBody>
      </p:sp>
      <p:sp>
        <p:nvSpPr>
          <p:cNvPr id="43" name="Text 31"/>
          <p:cNvSpPr/>
          <p:nvPr/>
        </p:nvSpPr>
        <p:spPr>
          <a:xfrm>
            <a:off x="6858000" y="294436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exact error message - 90% sudah ada jawaban</a:t>
            </a:r>
            <a:endParaRPr lang="en-US" sz="950" dirty="0"/>
          </a:p>
        </p:txBody>
      </p:sp>
      <p:pic>
        <p:nvPicPr>
          <p:cNvPr id="44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383280"/>
            <a:ext cx="320040" cy="320040"/>
          </a:xfrm>
          <a:prstGeom prst="rect">
            <a:avLst/>
          </a:prstGeom>
        </p:spPr>
      </p:pic>
      <p:sp>
        <p:nvSpPr>
          <p:cNvPr id="45" name="Text 32"/>
          <p:cNvSpPr/>
          <p:nvPr/>
        </p:nvSpPr>
        <p:spPr>
          <a:xfrm>
            <a:off x="6858000" y="33101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#prak-cloud-help</a:t>
            </a:r>
            <a:endParaRPr lang="en-US" sz="1100" dirty="0"/>
          </a:p>
        </p:txBody>
      </p:sp>
      <p:sp>
        <p:nvSpPr>
          <p:cNvPr id="46" name="Text 33"/>
          <p:cNvSpPr/>
          <p:nvPr/>
        </p:nvSpPr>
        <p:spPr>
          <a:xfrm>
            <a:off x="6858000" y="35844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khusus tanya teman - dosen monitor</a:t>
            </a:r>
            <a:endParaRPr lang="en-US" sz="950" dirty="0"/>
          </a:p>
        </p:txBody>
      </p:sp>
      <p:pic>
        <p:nvPicPr>
          <p:cNvPr id="47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4023360"/>
            <a:ext cx="320040" cy="320040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6858000" y="39502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</a:t>
            </a:r>
            <a:endParaRPr lang="en-US" sz="1100" dirty="0"/>
          </a:p>
        </p:txBody>
      </p:sp>
      <p:sp>
        <p:nvSpPr>
          <p:cNvPr id="49" name="Text 35"/>
          <p:cNvSpPr/>
          <p:nvPr/>
        </p:nvSpPr>
        <p:spPr>
          <a:xfrm>
            <a:off x="6858000" y="42245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Senin 13-15 WIB - drop in via Zoom</a:t>
            </a:r>
            <a:endParaRPr lang="en-US" sz="950" dirty="0"/>
          </a:p>
        </p:txBody>
      </p:sp>
      <p:pic>
        <p:nvPicPr>
          <p:cNvPr id="50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4663440"/>
            <a:ext cx="320040" cy="320040"/>
          </a:xfrm>
          <a:prstGeom prst="rect">
            <a:avLst/>
          </a:prstGeom>
        </p:spPr>
      </p:pic>
      <p:sp>
        <p:nvSpPr>
          <p:cNvPr id="51" name="Text 36"/>
          <p:cNvSpPr/>
          <p:nvPr/>
        </p:nvSpPr>
        <p:spPr>
          <a:xfrm>
            <a:off x="6858000" y="45902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Discussions</a:t>
            </a:r>
            <a:endParaRPr lang="en-US" sz="1100" dirty="0"/>
          </a:p>
        </p:txBody>
      </p:sp>
      <p:sp>
        <p:nvSpPr>
          <p:cNvPr id="52" name="Text 37"/>
          <p:cNvSpPr/>
          <p:nvPr/>
        </p:nvSpPr>
        <p:spPr>
          <a:xfrm>
            <a:off x="6858000" y="48646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tab Discussions di repo course materials</a:t>
            </a:r>
            <a:endParaRPr lang="en-US" sz="950" dirty="0"/>
          </a:p>
        </p:txBody>
      </p:sp>
      <p:pic>
        <p:nvPicPr>
          <p:cNvPr id="53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5303520"/>
            <a:ext cx="320040" cy="320040"/>
          </a:xfrm>
          <a:prstGeom prst="rect">
            <a:avLst/>
          </a:prstGeom>
        </p:spPr>
      </p:pic>
      <p:sp>
        <p:nvSpPr>
          <p:cNvPr id="54" name="Text 38"/>
          <p:cNvSpPr/>
          <p:nvPr/>
        </p:nvSpPr>
        <p:spPr>
          <a:xfrm>
            <a:off x="6858000" y="5230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Programming</a:t>
            </a:r>
            <a:endParaRPr lang="en-US" sz="1100" dirty="0"/>
          </a:p>
        </p:txBody>
      </p:sp>
      <p:sp>
        <p:nvSpPr>
          <p:cNvPr id="55" name="Text 39"/>
          <p:cNvSpPr/>
          <p:nvPr/>
        </p:nvSpPr>
        <p:spPr>
          <a:xfrm>
            <a:off x="6858000" y="55046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Ajak teman zoom share screen 30 menit - 2x cepat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 Sheet - Praktikum 1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tempel - quick reference saat kerjakan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2788920" cy="3657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7200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Penting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0080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github.com/signup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vercel.com/signup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github.com/[user]/[repo]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[repo]-xxx.vercel.app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vercel.com/dashboard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github.com/settings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364992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364992" y="1417320"/>
            <a:ext cx="278892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364992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Step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547872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Signup GitHub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Create public repo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Add index.html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Signup Vercel (Hobby!)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Import GitHub repo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Deploy + verify URL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72784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72784" y="1417320"/>
            <a:ext cx="278892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272784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Wajib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455664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README.md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.gitignore (Node)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LICENSE (MIT)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 (lowercase!)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Nama Anda + NIM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 biru oranye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9180576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180576" y="1417320"/>
            <a:ext cx="2788920" cy="3657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180576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Model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9363456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IaaS = VM kosong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PaaS = platform deploy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SaaS = aplikasi ready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= SaaS dev tools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 = PaaS hosting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EC2 = IaaS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57200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57200" y="3886200"/>
            <a:ext cx="278892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57200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Limit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40080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unlimited public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Vercel: 100 GB/bulan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Vercel: 6000 min build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Actions: 2000 min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Bandwidth ~ 5K visit/hari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 $20 = 1TB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3364992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364992" y="3886200"/>
            <a:ext cx="278892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3364992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Pitfall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3547872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PUBLIC, bukan private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Pilih Hobby plan Vercel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JANGAN beri kartu kredit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 lowercase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setelah edit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Cek deployment status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272784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272784" y="3886200"/>
            <a:ext cx="2788920" cy="3657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272784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6455664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repo GitHub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live Vercel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screenshot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Laporan PDF 1 halaman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 Slack #prak-cloud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Naming: prak1_NIM.pdf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9180576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180576" y="3886200"/>
            <a:ext cx="278892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9180576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Challenge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9363456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 domain (+5pt)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redesign (+5pt)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Multi-page site (+5pt)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 Analytics (+3pt)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Lighthouse 100 (+8pt)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Pages (+5pt)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100 Menit - Pacing Saran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Supaya tidak kebablas / kebut - target waktu per step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37160" cy="8686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77240" y="1600200"/>
            <a:ext cx="1463040" cy="50292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" y="1600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0-15 min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164592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97180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+ Pre-req Check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2971800" y="187452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Dosen jelaskan flow + cek laptop/internet siap. Bagi pasangan kalau perlu help.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57200" y="2377440"/>
            <a:ext cx="112471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57200" y="2377440"/>
            <a:ext cx="137160" cy="86868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77240" y="2560320"/>
            <a:ext cx="1463040" cy="50292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77240" y="2560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15-40 min</a:t>
            </a:r>
            <a:endParaRPr lang="en-US" sz="11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3160" y="260604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971800" y="2468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1: GitHub Setup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2971800" y="28346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 + bikin repo + add index.html. Slot 25 menit - cukup unhurried.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57200" y="3337560"/>
            <a:ext cx="112471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7200" y="3337560"/>
            <a:ext cx="137160" cy="86868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77240" y="3520440"/>
            <a:ext cx="146304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77240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40-70 min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23160" y="3566160"/>
            <a:ext cx="411480" cy="41148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2971800" y="3429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Vercel Deploy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2971800" y="379476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 Vercel + import repo + verify URL. Termasuk test auto-deploy.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457200" y="4297680"/>
            <a:ext cx="112471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57200" y="4297680"/>
            <a:ext cx="137160" cy="8686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777240" y="4480560"/>
            <a:ext cx="146304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777240" y="44805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70-85 min</a:t>
            </a:r>
            <a:endParaRPr lang="en-US" sz="1100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3160" y="4526280"/>
            <a:ext cx="411480" cy="41148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2971800" y="4389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+ 4: Identifikasi + Cost</a:t>
            </a:r>
            <a:endParaRPr lang="en-US" sz="1300" dirty="0"/>
          </a:p>
        </p:txBody>
      </p:sp>
      <p:sp>
        <p:nvSpPr>
          <p:cNvPr id="37" name="Text 29"/>
          <p:cNvSpPr/>
          <p:nvPr/>
        </p:nvSpPr>
        <p:spPr>
          <a:xfrm>
            <a:off x="2971800" y="475488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tabel service model + hitung cost scale-up. Diskusi 5 menit.</a:t>
            </a:r>
            <a:endParaRPr lang="en-US" sz="1000" dirty="0"/>
          </a:p>
        </p:txBody>
      </p:sp>
      <p:sp>
        <p:nvSpPr>
          <p:cNvPr id="38" name="Shape 30"/>
          <p:cNvSpPr/>
          <p:nvPr/>
        </p:nvSpPr>
        <p:spPr>
          <a:xfrm>
            <a:off x="457200" y="5257800"/>
            <a:ext cx="112471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457200" y="5257800"/>
            <a:ext cx="137160" cy="8686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77240" y="5440680"/>
            <a:ext cx="1463040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777240" y="54406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85-100 min</a:t>
            </a:r>
            <a:endParaRPr lang="en-US" sz="11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3160" y="5486400"/>
            <a:ext cx="411480" cy="411480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2971800" y="5349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+ Submit</a:t>
            </a:r>
            <a:endParaRPr lang="en-US" sz="1300" dirty="0"/>
          </a:p>
        </p:txBody>
      </p:sp>
      <p:sp>
        <p:nvSpPr>
          <p:cNvPr id="44" name="Text 35"/>
          <p:cNvSpPr/>
          <p:nvPr/>
        </p:nvSpPr>
        <p:spPr>
          <a:xfrm>
            <a:off x="2971800" y="571500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Tulis laporan template + take screenshot + submit Slack. Wrap-up dengan dosen.</a:t>
            </a:r>
            <a:endParaRPr lang="en-US" sz="1000" dirty="0"/>
          </a:p>
        </p:txBody>
      </p:sp>
      <p:sp>
        <p:nvSpPr>
          <p:cNvPr id="45" name="Text 36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sudah selesai sebelum 100 menit, coba challenge bonus di slide 26 untuk extra credit.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&amp; Persiapan Praktikum 2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yang dipelajari + persiapan untuk minggu depan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Sudah Anda Lakukan Hari Ini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57200" y="192024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92024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68680" y="187452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 akun GitHub + Vercel (dua tools wajib developer modern).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57200" y="2450592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50592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2404872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1 static site dari nol ke production - URL public!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57200" y="2980944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80944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68680" y="293522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CI/CD pattern: push GitHub = auto deploy Vercel.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457200" y="3511296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511296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68680" y="3465576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IaaS vs PaaS vs SaaS dari tools real.</a:t>
            </a:r>
            <a:endParaRPr lang="en-US" sz="1100" dirty="0"/>
          </a:p>
        </p:txBody>
      </p:sp>
      <p:sp>
        <p:nvSpPr>
          <p:cNvPr id="23" name="Shape 15"/>
          <p:cNvSpPr/>
          <p:nvPr/>
        </p:nvSpPr>
        <p:spPr>
          <a:xfrm>
            <a:off x="457200" y="4041648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41648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8680" y="399592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 cost free tier vs scale-up scenario.</a:t>
            </a:r>
            <a:endParaRPr lang="en-US" sz="1100" dirty="0"/>
          </a:p>
        </p:txBody>
      </p:sp>
      <p:sp>
        <p:nvSpPr>
          <p:cNvPr id="26" name="Shape 17"/>
          <p:cNvSpPr/>
          <p:nvPr/>
        </p:nvSpPr>
        <p:spPr>
          <a:xfrm>
            <a:off x="457200" y="457200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72000"/>
            <a:ext cx="274320" cy="2743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68680" y="452628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Tulis laporan singkat + submit dengan format profesional.</a:t>
            </a:r>
            <a:endParaRPr lang="en-US" sz="1100" dirty="0"/>
          </a:p>
        </p:txBody>
      </p:sp>
      <p:sp>
        <p:nvSpPr>
          <p:cNvPr id="29" name="Shape 19"/>
          <p:cNvSpPr/>
          <p:nvPr/>
        </p:nvSpPr>
        <p:spPr>
          <a:xfrm>
            <a:off x="6217920" y="1417320"/>
            <a:ext cx="5486400" cy="22860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554480"/>
            <a:ext cx="457200" cy="457200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94944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BEFORE PRAKTIKUM 2</a:t>
            </a:r>
            <a:endParaRPr lang="en-US" sz="1100" dirty="0"/>
          </a:p>
        </p:txBody>
      </p:sp>
      <p:sp>
        <p:nvSpPr>
          <p:cNvPr id="32" name="Text 21"/>
          <p:cNvSpPr/>
          <p:nvPr/>
        </p:nvSpPr>
        <p:spPr>
          <a:xfrm>
            <a:off x="6400800" y="201168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 submission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6400800" y="233172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URL GitHub repo + URL Vercel live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3 screenshot (GitHub, Vercel, live site)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Laporan PDF dengan format slide 20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Submit ke Slack #prak-cloud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6217920" y="3840480"/>
            <a:ext cx="548640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3977640"/>
            <a:ext cx="457200" cy="45720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6949440" y="3977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PRAKTIKUM 2 - MINGGU DEPAN</a:t>
            </a:r>
            <a:endParaRPr lang="en-US" sz="1100" dirty="0"/>
          </a:p>
        </p:txBody>
      </p:sp>
      <p:sp>
        <p:nvSpPr>
          <p:cNvPr id="37" name="Text 25"/>
          <p:cNvSpPr/>
          <p:nvPr/>
        </p:nvSpPr>
        <p:spPr>
          <a:xfrm>
            <a:off x="6400800" y="44348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Fundamentals Hands-On</a:t>
            </a:r>
            <a:endParaRPr lang="en-US" sz="1400" dirty="0"/>
          </a:p>
        </p:txBody>
      </p:sp>
      <p:sp>
        <p:nvSpPr>
          <p:cNvPr id="38" name="Text 26"/>
          <p:cNvSpPr/>
          <p:nvPr/>
        </p:nvSpPr>
        <p:spPr>
          <a:xfrm>
            <a:off x="6400800" y="4800600"/>
            <a:ext cx="5212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Persiapan: install WSL (Windows) atau pakai macOS Terminal / Linux native. Detail di Slack H-3.</a:t>
            </a:r>
            <a:endParaRPr lang="en-US" sz="1100" dirty="0"/>
          </a:p>
        </p:txBody>
      </p:sp>
      <p:sp>
        <p:nvSpPr>
          <p:cNvPr id="39" name="Shape 27"/>
          <p:cNvSpPr/>
          <p:nvPr/>
        </p:nvSpPr>
        <p:spPr>
          <a:xfrm>
            <a:off x="457200" y="5120640"/>
            <a:ext cx="5486400" cy="11887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349240"/>
            <a:ext cx="640080" cy="640080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1417320" y="51663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Pertanyaan?</a:t>
            </a:r>
            <a:endParaRPr lang="en-US" sz="2200" dirty="0"/>
          </a:p>
        </p:txBody>
      </p:sp>
      <p:sp>
        <p:nvSpPr>
          <p:cNvPr id="42" name="Text 29"/>
          <p:cNvSpPr/>
          <p:nvPr/>
        </p:nvSpPr>
        <p:spPr>
          <a:xfrm>
            <a:off x="141732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Tanya saat office hours / Slack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Selamat - Praktikum 1 Selesai!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baru saja deploy site pertama ke cloud. Welcome to the journey.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1371600" y="1417320"/>
            <a:ext cx="9418320" cy="1417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1640" y="1783080"/>
            <a:ext cx="685800" cy="6858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560320" y="15544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 UNLOCKED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2560320" y="192024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Pertama Kali Deploy ke Production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2560320" y="242316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Anda kerjakan hari ini = workflow yang dipakai jutaan developer setiap hari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57200" y="31089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Refleksi 3 Pertanyaan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57200" y="3611880"/>
            <a:ext cx="365760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57200" y="3611880"/>
            <a:ext cx="3657600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457200" y="3611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640080" y="42062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yang paling cepat dari yang Anda bayangkan?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297680" y="3611880"/>
            <a:ext cx="365760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297680" y="3611880"/>
            <a:ext cx="3657600" cy="4572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297680" y="3611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4480560" y="42062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mana yang masih bikin bingung?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8138160" y="3611880"/>
            <a:ext cx="365760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138160" y="3611880"/>
            <a:ext cx="365760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138160" y="3611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2"/>
          <p:cNvSpPr/>
          <p:nvPr/>
        </p:nvSpPr>
        <p:spPr>
          <a:xfrm>
            <a:off x="8321040" y="42062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1 hal yang ingin Anda eksplor lebih?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640080" y="553212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Tulis URL live site Anda di sticky note + tempel di laptop.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hari lihat URL itu - reminder bahwa Anda BISA bangun + ship sesuatu di cloud.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kode Lab 01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mandiri: github.com/SeedFlora/meet1CloudService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DI KELAS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6060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repo pribadi dari meet1CloudService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33756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2461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starter; npm test; npm run dev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977640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34440" y="38862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nl-NL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web dan API lokal: 200 / 400</a:t>
            </a:r>
            <a:endParaRPr lang="en-US" sz="11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617720"/>
            <a:ext cx="320040" cy="32004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34440" y="45262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worksheet kasus A-D; push hasil Git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257800"/>
            <a:ext cx="320040" cy="32004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34440" y="51663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Vercel: Root Directory = starter</a:t>
            </a:r>
            <a:endParaRPr lang="en-US" sz="1100" dirty="0"/>
          </a:p>
        </p:txBody>
      </p:sp>
      <p:sp>
        <p:nvSpPr>
          <p:cNvPr id="22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BERKAS PENDAMPING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README, MODUL_MAHASISWA, hasil/lab01.md, screenshots/</a:t>
            </a:r>
            <a:endParaRPr lang="en-US" sz="1200" dirty="0"/>
          </a:p>
        </p:txBody>
      </p:sp>
      <p:sp>
        <p:nvSpPr>
          <p:cNvPr id="25" name="Shape 16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6" name="Text 17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hasil, dan kunci ada di modul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Jalankan model cloud di web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meet1CloudService/starter  |  bukti: screenshots/lab01_model_saas.png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E0D92E1-A2A3-B12F-4218-8612D3AAEF30}"/>
              </a:ext>
            </a:extLst>
          </p:cNvPr>
          <p:cNvSpPr/>
          <p:nvPr/>
        </p:nvSpPr>
        <p:spPr>
          <a:xfrm>
            <a:off x="457200" y="1447800"/>
            <a:ext cx="76835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C0A12EC-0CCF-304D-B96C-6864FE8D2981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46100" y="2037821"/>
            <a:ext cx="7505700" cy="3544358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DAA5097C-09BD-9F46-BF8C-7E6D25217419}"/>
              </a:ext>
            </a:extLst>
          </p:cNvPr>
          <p:cNvSpPr/>
          <p:nvPr/>
        </p:nvSpPr>
        <p:spPr>
          <a:xfrm>
            <a:off x="8318500" y="1435100"/>
            <a:ext cx="33909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940C7DE-D488-E2E7-F441-CBF1BB43A78C}"/>
              </a:ext>
            </a:extLst>
          </p:cNvPr>
          <p:cNvSpPr/>
          <p:nvPr/>
        </p:nvSpPr>
        <p:spPr>
          <a:xfrm>
            <a:off x="8318500" y="1435100"/>
            <a:ext cx="33909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29DA66-226E-A36A-F49D-C65673D5A165}"/>
              </a:ext>
            </a:extLst>
          </p:cNvPr>
          <p:cNvSpPr txBox="1"/>
          <p:nvPr/>
        </p:nvSpPr>
        <p:spPr>
          <a:xfrm>
            <a:off x="8509000" y="1676400"/>
            <a:ext cx="300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PERINTAH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220E3B-3261-5520-CACC-6A73427A33DA}"/>
              </a:ext>
            </a:extLst>
          </p:cNvPr>
          <p:cNvSpPr txBox="1"/>
          <p:nvPr/>
        </p:nvSpPr>
        <p:spPr>
          <a:xfrm>
            <a:off x="8509000" y="1917700"/>
            <a:ext cx="300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192A44"/>
                </a:solidFill>
                <a:latin typeface="Consolas" panose="020B0609020204030204" pitchFamily="49" charset="0"/>
              </a:rPr>
              <a:t>cd starter
npm run dev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283F46-DCFA-1375-24BC-787D41D5CA69}"/>
              </a:ext>
            </a:extLst>
          </p:cNvPr>
          <p:cNvSpPr txBox="1"/>
          <p:nvPr/>
        </p:nvSpPr>
        <p:spPr>
          <a:xfrm>
            <a:off x="8509000" y="2806700"/>
            <a:ext cx="300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FUNGSI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75176E-8ABE-0779-5376-45CA4B6767B0}"/>
              </a:ext>
            </a:extLst>
          </p:cNvPr>
          <p:cNvSpPr txBox="1"/>
          <p:nvPr/>
        </p:nvSpPr>
        <p:spPr>
          <a:xfrm>
            <a:off x="8509000" y="3048000"/>
            <a:ext cx="300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Node menyajikan halaman dan API pada localhost:3000.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69EA94-39E6-4489-84B0-9241B0E6BAD1}"/>
              </a:ext>
            </a:extLst>
          </p:cNvPr>
          <p:cNvSpPr txBox="1"/>
          <p:nvPr/>
        </p:nvSpPr>
        <p:spPr>
          <a:xfrm>
            <a:off x="8509000" y="4102100"/>
            <a:ext cx="300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BACA SCREENSHOT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B0A659-9E67-56F8-14A5-4DB042EA52E2}"/>
              </a:ext>
            </a:extLst>
          </p:cNvPr>
          <p:cNvSpPr txBox="1"/>
          <p:nvPr/>
        </p:nvSpPr>
        <p:spPr>
          <a:xfrm>
            <a:off x="8509000" y="4343400"/>
            <a:ext cx="300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SaaS: Anda mengelola data dan akses; provider mengelola UI, backend, runtime, hingga jaringan.</a:t>
            </a:r>
          </a:p>
        </p:txBody>
      </p:sp>
    </p:spTree>
    <p:extLst>
      <p:ext uri="{BB962C8B-B14F-4D97-AF65-F5344CB8AC3E}">
        <p14:creationId xmlns:p14="http://schemas.microsoft.com/office/powerpoint/2010/main" val="31360031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uji dan respons HTTP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Keluaran aktual di mesin lokal  |  bukti: screenshots/lab01_uji_terkini.png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/>
          <p:nvPr/>
        </p:nvSpPr>
        <p:spPr>
          <a:xfrm>
            <a:off x="457200" y="1409700"/>
            <a:ext cx="11252200" cy="38862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542D0F6-23D6-9C32-4D27-1FA91FCF0E7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490898"/>
            <a:ext cx="11099800" cy="372380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/>
          <p:nvPr/>
        </p:nvSpPr>
        <p:spPr>
          <a:xfrm>
            <a:off x="457200" y="5397500"/>
            <a:ext cx="11252200" cy="787400"/>
          </a:xfrm>
          <a:prstGeom prst="rect">
            <a:avLst/>
          </a:prstGeom>
          <a:solidFill>
            <a:srgbClr val="00277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 txBox="1"/>
          <p:nvPr/>
        </p:nvSpPr>
        <p:spPr>
          <a:xfrm>
            <a:off x="635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UJI UNIT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 txBox="1"/>
          <p:nvPr/>
        </p:nvSpPr>
        <p:spPr>
          <a:xfrm>
            <a:off x="635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npm test  -&gt;  18 lulus, 0 gagal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 txBox="1"/>
          <p:nvPr/>
        </p:nvSpPr>
        <p:spPr>
          <a:xfrm>
            <a:off x="4318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API VALID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 txBox="1"/>
          <p:nvPr/>
        </p:nvSpPr>
        <p:spPr>
          <a:xfrm>
            <a:off x="4318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/api/hello dan /recommend  -&gt;  200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 txBox="1"/>
          <p:nvPr/>
        </p:nvSpPr>
        <p:spPr>
          <a:xfrm>
            <a:off x="8001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INPUT SALAH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 txBox="1"/>
          <p:nvPr/>
        </p:nvSpPr>
        <p:spPr>
          <a:xfrm>
            <a:off x="8001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factors=ngawur  -&gt;  HTTP 400</a:t>
            </a:r>
          </a:p>
        </p:txBody>
      </p:sp>
    </p:spTree>
    <p:extLst>
      <p:ext uri="{BB962C8B-B14F-4D97-AF65-F5344CB8AC3E}">
        <p14:creationId xmlns:p14="http://schemas.microsoft.com/office/powerpoint/2010/main" val="14280944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alasan rekomendasi API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GET /api/recommend?spiky=1&amp;smallTeam=1  |  meet1CloudService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1DECE2-2628-C7CB-FEA4-D365DF45B804}"/>
              </a:ext>
            </a:extLst>
          </p:cNvPr>
          <p:cNvSpPr/>
          <p:nvPr/>
        </p:nvSpPr>
        <p:spPr>
          <a:xfrm>
            <a:off x="457200" y="1447800"/>
            <a:ext cx="57785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EB437301-C30D-2BE0-EE5B-701EC35B881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1076781" y="1536700"/>
            <a:ext cx="4539337" cy="454660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B385846A-64BD-F96B-41EF-4810E6DB9A35}"/>
              </a:ext>
            </a:extLst>
          </p:cNvPr>
          <p:cNvSpPr/>
          <p:nvPr/>
        </p:nvSpPr>
        <p:spPr>
          <a:xfrm>
            <a:off x="6413500" y="1435100"/>
            <a:ext cx="52959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105B72-5F56-7C52-86A4-F8DA4599C4C1}"/>
              </a:ext>
            </a:extLst>
          </p:cNvPr>
          <p:cNvSpPr/>
          <p:nvPr/>
        </p:nvSpPr>
        <p:spPr>
          <a:xfrm>
            <a:off x="6413500" y="1435100"/>
            <a:ext cx="52959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3C4127-31FF-42BC-7821-81F9C84F1E2E}"/>
              </a:ext>
            </a:extLst>
          </p:cNvPr>
          <p:cNvSpPr txBox="1"/>
          <p:nvPr/>
        </p:nvSpPr>
        <p:spPr>
          <a:xfrm>
            <a:off x="6604000" y="1676400"/>
            <a:ext cx="4914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PERINTAH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948D37-9E72-3494-11EA-B5CB7E50BD96}"/>
              </a:ext>
            </a:extLst>
          </p:cNvPr>
          <p:cNvSpPr txBox="1"/>
          <p:nvPr/>
        </p:nvSpPr>
        <p:spPr>
          <a:xfrm>
            <a:off x="6604000" y="1917700"/>
            <a:ext cx="4914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192A44"/>
                </a:solidFill>
                <a:latin typeface="Consolas" panose="020B0609020204030204" pitchFamily="49" charset="0"/>
              </a:rPr>
              <a:t>curl -G localhost:3000/api/recommend \
  -d spiky=1 -d smallTeam=1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B6565C-0FE5-F2FA-A08F-E5367770E879}"/>
              </a:ext>
            </a:extLst>
          </p:cNvPr>
          <p:cNvSpPr txBox="1"/>
          <p:nvPr/>
        </p:nvSpPr>
        <p:spPr>
          <a:xfrm>
            <a:off x="6604000" y="3060700"/>
            <a:ext cx="4914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FUNGSI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90807D-6B65-9918-1A13-800DC4935290}"/>
              </a:ext>
            </a:extLst>
          </p:cNvPr>
          <p:cNvSpPr txBox="1"/>
          <p:nvPr/>
        </p:nvSpPr>
        <p:spPr>
          <a:xfrm>
            <a:off x="6604000" y="3302000"/>
            <a:ext cx="4914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Backend menimbang faktor kebutuhan, lalu mengurutkan model deployment.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539832-A56F-EA6D-0BB3-F6D89EA8EDD2}"/>
              </a:ext>
            </a:extLst>
          </p:cNvPr>
          <p:cNvSpPr txBox="1"/>
          <p:nvPr/>
        </p:nvSpPr>
        <p:spPr>
          <a:xfrm>
            <a:off x="6604000" y="4394200"/>
            <a:ext cx="4914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BACA SCREENSHOT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20B232-F9E2-BD2F-C64A-D8CE461B058C}"/>
              </a:ext>
            </a:extLst>
          </p:cNvPr>
          <p:cNvSpPr txBox="1"/>
          <p:nvPr/>
        </p:nvSpPr>
        <p:spPr>
          <a:xfrm>
            <a:off x="6604000" y="4635500"/>
            <a:ext cx="4914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Respons JSON menampilkan faktor, bobot, score, alasan, dan ranking; bukan keputusan otomatis.</a:t>
            </a:r>
          </a:p>
        </p:txBody>
      </p:sp>
    </p:spTree>
    <p:extLst>
      <p:ext uri="{BB962C8B-B14F-4D97-AF65-F5344CB8AC3E}">
        <p14:creationId xmlns:p14="http://schemas.microsoft.com/office/powerpoint/2010/main" val="33736478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i-FI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Kerjakan dan jelaskan kasus A-D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studi kasus di web  |  kunci lengkap: MODUL_MAHASISWA.md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8AA2A82-EC05-AD61-CB62-EF08BE330F29}"/>
              </a:ext>
            </a:extLst>
          </p:cNvPr>
          <p:cNvSpPr/>
          <p:nvPr/>
        </p:nvSpPr>
        <p:spPr>
          <a:xfrm>
            <a:off x="457200" y="1447800"/>
            <a:ext cx="52705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EF5D6950-7D9D-3FAE-2E53-2FA8EBCA6F0A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42449" y="1536700"/>
            <a:ext cx="4700003" cy="454660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575BBBBC-6410-0C41-DFEC-CB4FC4F26924}"/>
              </a:ext>
            </a:extLst>
          </p:cNvPr>
          <p:cNvSpPr/>
          <p:nvPr/>
        </p:nvSpPr>
        <p:spPr>
          <a:xfrm>
            <a:off x="5905500" y="1435100"/>
            <a:ext cx="58039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7EAE97-0178-EE39-8E74-15685EE7DFE2}"/>
              </a:ext>
            </a:extLst>
          </p:cNvPr>
          <p:cNvSpPr/>
          <p:nvPr/>
        </p:nvSpPr>
        <p:spPr>
          <a:xfrm>
            <a:off x="5905500" y="1435100"/>
            <a:ext cx="58039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47300D-F49F-FD2D-0287-E30D4413B531}"/>
              </a:ext>
            </a:extLst>
          </p:cNvPr>
          <p:cNvSpPr txBox="1"/>
          <p:nvPr/>
        </p:nvSpPr>
        <p:spPr>
          <a:xfrm>
            <a:off x="6096000" y="1676400"/>
            <a:ext cx="542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LANGKAH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56E5BA-4784-6A5A-4A26-6C2220522766}"/>
              </a:ext>
            </a:extLst>
          </p:cNvPr>
          <p:cNvSpPr txBox="1"/>
          <p:nvPr/>
        </p:nvSpPr>
        <p:spPr>
          <a:xfrm>
            <a:off x="6096000" y="1917700"/>
            <a:ext cx="542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Pilih kasus, centang kebutuhan, bandingkan ranking dengan alasan Anda.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0C0108-013B-37AC-A7BC-2FC657AE7425}"/>
              </a:ext>
            </a:extLst>
          </p:cNvPr>
          <p:cNvSpPr txBox="1"/>
          <p:nvPr/>
        </p:nvSpPr>
        <p:spPr>
          <a:xfrm>
            <a:off x="6096000" y="3098800"/>
            <a:ext cx="542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BUKTI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B5F485-D594-F2B3-E95B-6008C21F34F9}"/>
              </a:ext>
            </a:extLst>
          </p:cNvPr>
          <p:cNvSpPr txBox="1"/>
          <p:nvPr/>
        </p:nvSpPr>
        <p:spPr>
          <a:xfrm>
            <a:off x="6096000" y="3340100"/>
            <a:ext cx="542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Isi hasil/lab01.md: faktor, pilihan deployment, model layanan, trade-off.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6705D6-F445-FAC1-79E5-854D9415B514}"/>
              </a:ext>
            </a:extLst>
          </p:cNvPr>
          <p:cNvSpPr txBox="1"/>
          <p:nvPr/>
        </p:nvSpPr>
        <p:spPr>
          <a:xfrm>
            <a:off x="6096000" y="4521200"/>
            <a:ext cx="542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KIRIM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58B17C-3C65-5DEA-408F-B74EA12BB16A}"/>
              </a:ext>
            </a:extLst>
          </p:cNvPr>
          <p:cNvSpPr txBox="1"/>
          <p:nvPr/>
        </p:nvSpPr>
        <p:spPr>
          <a:xfrm>
            <a:off x="6096000" y="4762500"/>
            <a:ext cx="542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git add .; git commit -m "lab01"; git push. Opsional: deploy Vercel dari starter/.</a:t>
            </a:r>
          </a:p>
        </p:txBody>
      </p:sp>
    </p:spTree>
    <p:extLst>
      <p:ext uri="{BB962C8B-B14F-4D97-AF65-F5344CB8AC3E}">
        <p14:creationId xmlns:p14="http://schemas.microsoft.com/office/powerpoint/2010/main" val="1765685840"/>
      </p:ext>
    </p:extLst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langkah 1 | student.json dan tes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Get-Content student.json; npm test  |  render output aktual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/>
          <p:nvPr/>
        </p:nvSpPr>
        <p:spPr>
          <a:xfrm>
            <a:off x="457200" y="1409700"/>
            <a:ext cx="11252200" cy="38862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/>
          <p:nvPr/>
        </p:nvSpPr>
        <p:spPr>
          <a:xfrm>
            <a:off x="457200" y="5397500"/>
            <a:ext cx="11252200" cy="787400"/>
          </a:xfrm>
          <a:prstGeom prst="rect">
            <a:avLst/>
          </a:prstGeom>
          <a:solidFill>
            <a:srgbClr val="00277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 txBox="1"/>
          <p:nvPr/>
        </p:nvSpPr>
        <p:spPr>
          <a:xfrm>
            <a:off x="635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IDENTITAS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 txBox="1"/>
          <p:nvPr/>
        </p:nvSpPr>
        <p:spPr>
          <a:xfrm>
            <a:off x="635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Ganti tiga nilai contoh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 txBox="1"/>
          <p:nvPr/>
        </p:nvSpPr>
        <p:spPr>
          <a:xfrm>
            <a:off x="4318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UJI KODE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 txBox="1"/>
          <p:nvPr/>
        </p:nvSpPr>
        <p:spPr>
          <a:xfrm>
            <a:off x="4318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18 lulus, 0 gagal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 txBox="1"/>
          <p:nvPr/>
        </p:nvSpPr>
        <p:spPr>
          <a:xfrm>
            <a:off x="8001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CATATAN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 txBox="1"/>
          <p:nvPr/>
        </p:nvSpPr>
        <p:spPr>
          <a:xfrm>
            <a:off x="8001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Tes hijau belum cek identitas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8665" y="1490898"/>
            <a:ext cx="7689270" cy="372380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Git | repo Lab 01 terbit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remote, status, log, SHA main  |  contoh checkpoint pengajar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/>
          <p:nvPr/>
        </p:nvSpPr>
        <p:spPr>
          <a:xfrm>
            <a:off x="457200" y="1409700"/>
            <a:ext cx="11252200" cy="38862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/>
          <p:nvPr/>
        </p:nvSpPr>
        <p:spPr>
          <a:xfrm>
            <a:off x="457200" y="5397500"/>
            <a:ext cx="11252200" cy="787400"/>
          </a:xfrm>
          <a:prstGeom prst="rect">
            <a:avLst/>
          </a:prstGeom>
          <a:solidFill>
            <a:srgbClr val="00277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 txBox="1"/>
          <p:nvPr/>
        </p:nvSpPr>
        <p:spPr>
          <a:xfrm>
            <a:off x="635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TUJUAN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 txBox="1"/>
          <p:nvPr/>
        </p:nvSpPr>
        <p:spPr>
          <a:xfrm>
            <a:off x="635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origin = meet1CloudService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 txBox="1"/>
          <p:nvPr/>
        </p:nvSpPr>
        <p:spPr>
          <a:xfrm>
            <a:off x="4318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HASIL PUSH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 txBox="1"/>
          <p:nvPr/>
        </p:nvSpPr>
        <p:spPr>
          <a:xfrm>
            <a:off x="4318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SHA lokal = remote saat uji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 txBox="1"/>
          <p:nvPr/>
        </p:nvSpPr>
        <p:spPr>
          <a:xfrm>
            <a:off x="8001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MAHASISWA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 txBox="1"/>
          <p:nvPr/>
        </p:nvSpPr>
        <p:spPr>
          <a:xfrm>
            <a:off x="8001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Ulangi pada repo pribadi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439" y="1490898"/>
            <a:ext cx="9873722" cy="37238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4295</Words>
  <Application>Microsoft Office PowerPoint</Application>
  <PresentationFormat>Widescreen</PresentationFormat>
  <Paragraphs>632</Paragraphs>
  <Slides>36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Pengantar Cloud Computing - Hands-On - Praktikum 1</dc:title>
  <dc:subject>PptxGenJS Presentation</dc:subject>
  <dc:creator>PptxGenJS</dc:creator>
  <cp:lastModifiedBy>Budi Juarto</cp:lastModifiedBy>
  <cp:revision>2</cp:revision>
  <dcterms:created xsi:type="dcterms:W3CDTF">2026-05-16T02:49:28Z</dcterms:created>
  <dcterms:modified xsi:type="dcterms:W3CDTF">2026-10-07T13:20:10Z</dcterms:modified>
</cp:coreProperties>
</file>