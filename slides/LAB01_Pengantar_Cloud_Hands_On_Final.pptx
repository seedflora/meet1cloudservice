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35223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3.png"/><Relationship Id="rId4" Type="http://schemas.openxmlformats.org/officeDocument/2006/relationships/image" Target="../media/image3.png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2.png"/><Relationship Id="rId4" Type="http://schemas.openxmlformats.org/officeDocument/2006/relationships/image" Target="../media/image3.png"/><Relationship Id="rId9" Type="http://schemas.openxmlformats.org/officeDocument/2006/relationships/image" Target="../media/image4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3.png"/><Relationship Id="rId10" Type="http://schemas.openxmlformats.org/officeDocument/2006/relationships/image" Target="../media/image16.png"/><Relationship Id="rId4" Type="http://schemas.openxmlformats.org/officeDocument/2006/relationships/image" Target="../media/image3.png"/><Relationship Id="rId9" Type="http://schemas.openxmlformats.org/officeDocument/2006/relationships/image" Target="../media/image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3.png"/><Relationship Id="rId4" Type="http://schemas.openxmlformats.org/officeDocument/2006/relationships/image" Target="../media/image3.png"/><Relationship Id="rId9" Type="http://schemas.openxmlformats.org/officeDocument/2006/relationships/image" Target="../media/image16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2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228600"/>
            <a:ext cx="914400" cy="603504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246888"/>
            <a:ext cx="1005840" cy="51206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24688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40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COMP6991031   |   PRAKTIKUM 1   |   DEMO 90 MENIT</a:t>
            </a:r>
            <a:endParaRPr lang="en-US" sz="1400" dirty="0"/>
          </a:p>
        </p:txBody>
      </p:sp>
      <p:sp>
        <p:nvSpPr>
          <p:cNvPr id="5" name="Text 1"/>
          <p:cNvSpPr/>
          <p:nvPr/>
        </p:nvSpPr>
        <p:spPr>
          <a:xfrm>
            <a:off x="457200" y="27889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MODEL LAB</a:t>
            </a:r>
            <a:endParaRPr lang="en-US" sz="5000" dirty="0"/>
          </a:p>
        </p:txBody>
      </p:sp>
      <p:sp>
        <p:nvSpPr>
          <p:cNvPr id="6" name="Text 2"/>
          <p:cNvSpPr/>
          <p:nvPr/>
        </p:nvSpPr>
        <p:spPr>
          <a:xfrm>
            <a:off x="457200" y="36118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CLOUD + WEB/API</a:t>
            </a:r>
            <a:endParaRPr lang="en-US" sz="3000" dirty="0"/>
          </a:p>
        </p:txBody>
      </p:sp>
      <p:sp>
        <p:nvSpPr>
          <p:cNvPr id="7" name="Text 3"/>
          <p:cNvSpPr/>
          <p:nvPr/>
        </p:nvSpPr>
        <p:spPr>
          <a:xfrm>
            <a:off x="457200" y="425196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IaaS/PaaS/SaaS, studi kasus, uji Node, Git, deploy opsional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5715000" y="4800600"/>
            <a:ext cx="731520" cy="54864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57200" y="49377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kern="0" spc="300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PERTEMUAN 1  |  PENGANTAR CLOUD COMPUTING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Budi Juarto, S.T., M.Kom.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457200" y="62179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Departemen Informatika  -  BINUS @Bandung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Praktikum 1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i-FI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90 menit: pahami model, jalankan aplikasi, analisis kasus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TUJUAN PRAKTIKUM</a:t>
            </a:r>
            <a:endParaRPr lang="en-US" sz="11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20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Service Model</a:t>
            </a:r>
            <a:endParaRPr lang="en-US" sz="11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34440" y="260604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Gunakan repo template meet1CloudService</a:t>
            </a:r>
            <a:endParaRPr lang="en-US" sz="11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337560"/>
            <a:ext cx="320040" cy="32004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32461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Jalankan web dan dua endpoint API lokal</a:t>
            </a:r>
            <a:endParaRPr lang="en-US" sz="11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977640"/>
            <a:ext cx="320040" cy="32004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34440" y="38862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i-FI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Bandingkan IaaS, PaaS, SaaS, FaaS</a:t>
            </a:r>
            <a:endParaRPr lang="en-US" sz="11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617720"/>
            <a:ext cx="320040" cy="32004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234440" y="45262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 worksheet kasus A-D dengan alasan</a:t>
            </a:r>
            <a:endParaRPr lang="en-US" sz="1100" dirty="0"/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5257800"/>
            <a:ext cx="320040" cy="320040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1234440" y="516636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Uji, commit, push; deploy Vercel opsional</a:t>
            </a:r>
            <a:endParaRPr lang="en-US" sz="1100" dirty="0"/>
          </a:p>
        </p:txBody>
      </p:sp>
      <p:sp>
        <p:nvSpPr>
          <p:cNvPr id="22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3" name="Text 14"/>
          <p:cNvSpPr/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 PRAKTIKUM</a:t>
            </a:r>
            <a:endParaRPr lang="en-US" sz="11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Dikumpul</a:t>
            </a:r>
            <a:endParaRPr lang="en-US" sz="1100" dirty="0"/>
          </a:p>
        </p:txBody>
      </p:sp>
      <p:sp>
        <p:nvSpPr>
          <p:cNvPr id="24" name="Text 15"/>
          <p:cNvSpPr/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2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URL repo pribadi Lab 01
2. starter/student.json terisi
3. hasil/lab01.md dan worksheet kasus
4. Bukti npm test, web, dan API
5. URL Vercel bila jalur deploy dikerjakan</a:t>
            </a:r>
            <a:endParaRPr lang="en-US" sz="1200" dirty="0"/>
          </a:p>
        </p:txBody>
      </p:sp>
      <p:sp>
        <p:nvSpPr>
          <p:cNvPr id="25" name="Shape 16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6" name="Text 17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Waktu kumpul mengikuti LMS/dosen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Pra-requisite - Yang Harus Disiapkan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Sebelum mulai - pastikan ini ready supaya tidak buang waktu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3703320" cy="50292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94360" y="1490472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94360" y="14904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0" y="1490472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051560" y="14173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 + Browser Modern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640080" y="2011680"/>
            <a:ext cx="33375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/ Firefox / Edge versi 1 tahun terakhir. Safari OK untuk Mac.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297680" y="141732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297680" y="1417320"/>
            <a:ext cx="3703320" cy="502920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434840" y="1490472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4434840" y="14904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0" y="1490472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4892040" y="14173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Stabil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4480560" y="2011680"/>
            <a:ext cx="33375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1 Mbps. Praktikum ini fully online - tidak ada install local.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8138160" y="141732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8138160" y="1417320"/>
            <a:ext cx="3703320" cy="5029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8275320" y="1490472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75320" y="14904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338560" y="1490472"/>
            <a:ext cx="365760" cy="36576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8732520" y="14173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Aktif</a:t>
            </a:r>
            <a:endParaRPr lang="en-US" sz="1200" dirty="0"/>
          </a:p>
        </p:txBody>
      </p:sp>
      <p:sp>
        <p:nvSpPr>
          <p:cNvPr id="30" name="Text 23"/>
          <p:cNvSpPr/>
          <p:nvPr/>
        </p:nvSpPr>
        <p:spPr>
          <a:xfrm>
            <a:off x="8321040" y="2011680"/>
            <a:ext cx="33375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Pakai email pribadi (gmail/outlook) - email Binusmaya kadang block external links.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457200" y="379476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457200" y="3794760"/>
            <a:ext cx="3703320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594360" y="3867912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594360" y="38679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57600" y="3867912"/>
            <a:ext cx="365760" cy="36576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1051560" y="37947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Nomor HP Aktif</a:t>
            </a:r>
            <a:endParaRPr lang="en-US" sz="1200" dirty="0"/>
          </a:p>
        </p:txBody>
      </p:sp>
      <p:sp>
        <p:nvSpPr>
          <p:cNvPr id="37" name="Text 29"/>
          <p:cNvSpPr/>
          <p:nvPr/>
        </p:nvSpPr>
        <p:spPr>
          <a:xfrm>
            <a:off x="640080" y="4389120"/>
            <a:ext cx="33375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Untuk verifikasi 2FA Vercel + GitHub. Pakai nomor sendiri, jangan nomor teman.</a:t>
            </a:r>
            <a:endParaRPr lang="en-US" sz="1100" dirty="0"/>
          </a:p>
        </p:txBody>
      </p:sp>
      <p:sp>
        <p:nvSpPr>
          <p:cNvPr id="38" name="Shape 30"/>
          <p:cNvSpPr/>
          <p:nvPr/>
        </p:nvSpPr>
        <p:spPr>
          <a:xfrm>
            <a:off x="4297680" y="379476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4297680" y="3794760"/>
            <a:ext cx="3703320" cy="5029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4434840" y="3867912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3"/>
          <p:cNvSpPr/>
          <p:nvPr/>
        </p:nvSpPr>
        <p:spPr>
          <a:xfrm>
            <a:off x="4434840" y="38679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0" y="3867912"/>
            <a:ext cx="365760" cy="365760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4892040" y="37947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Perlu Kartu Kredit</a:t>
            </a:r>
            <a:endParaRPr lang="en-US" sz="1200" dirty="0"/>
          </a:p>
        </p:txBody>
      </p:sp>
      <p:sp>
        <p:nvSpPr>
          <p:cNvPr id="44" name="Text 35"/>
          <p:cNvSpPr/>
          <p:nvPr/>
        </p:nvSpPr>
        <p:spPr>
          <a:xfrm>
            <a:off x="4480560" y="4389120"/>
            <a:ext cx="33375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Praktikum ini 100% free tier - tidak akan diminta CC. Kalau diminta, STOP dan tanya dosen.</a:t>
            </a:r>
            <a:endParaRPr lang="en-US" sz="1100" dirty="0"/>
          </a:p>
        </p:txBody>
      </p:sp>
      <p:sp>
        <p:nvSpPr>
          <p:cNvPr id="45" name="Shape 36"/>
          <p:cNvSpPr/>
          <p:nvPr/>
        </p:nvSpPr>
        <p:spPr>
          <a:xfrm>
            <a:off x="8138160" y="379476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Shape 37"/>
          <p:cNvSpPr/>
          <p:nvPr/>
        </p:nvSpPr>
        <p:spPr>
          <a:xfrm>
            <a:off x="8138160" y="3794760"/>
            <a:ext cx="3703320" cy="5029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7" name="Shape 38"/>
          <p:cNvSpPr/>
          <p:nvPr/>
        </p:nvSpPr>
        <p:spPr>
          <a:xfrm>
            <a:off x="8275320" y="3867912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39"/>
          <p:cNvSpPr/>
          <p:nvPr/>
        </p:nvSpPr>
        <p:spPr>
          <a:xfrm>
            <a:off x="8275320" y="38679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pic>
        <p:nvPicPr>
          <p:cNvPr id="4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338560" y="3867912"/>
            <a:ext cx="365760" cy="365760"/>
          </a:xfrm>
          <a:prstGeom prst="rect">
            <a:avLst/>
          </a:prstGeom>
        </p:spPr>
      </p:pic>
      <p:sp>
        <p:nvSpPr>
          <p:cNvPr id="50" name="Text 40"/>
          <p:cNvSpPr/>
          <p:nvPr/>
        </p:nvSpPr>
        <p:spPr>
          <a:xfrm>
            <a:off x="8732520" y="37947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 App</a:t>
            </a:r>
            <a:endParaRPr lang="en-US" sz="1200" dirty="0"/>
          </a:p>
        </p:txBody>
      </p:sp>
      <p:sp>
        <p:nvSpPr>
          <p:cNvPr id="51" name="Text 41"/>
          <p:cNvSpPr/>
          <p:nvPr/>
        </p:nvSpPr>
        <p:spPr>
          <a:xfrm>
            <a:off x="8321040" y="4389120"/>
            <a:ext cx="33375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 Notepad/Notion/VS Code - untuk catat username + URL yang Anda buat hari ini.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6400800" cy="6400800"/>
          </a:xfrm>
          <a:prstGeom prst="ellipse">
            <a:avLst/>
          </a:prstGeom>
          <a:solidFill>
            <a:srgbClr val="1565C0">
              <a:alpha val="25000"/>
            </a:srgbClr>
          </a:solidFill>
          <a:ln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914400"/>
            <a:ext cx="7315200" cy="7315200"/>
          </a:xfrm>
          <a:prstGeom prst="ellipse">
            <a:avLst/>
          </a:prstGeom>
          <a:solidFill>
            <a:srgbClr val="1976D2">
              <a:alpha val="20000"/>
            </a:srgbClr>
          </a:solidFill>
          <a:ln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8100000">
            <a:off x="5852160" y="-182880"/>
            <a:ext cx="1188720" cy="1188720"/>
          </a:xfrm>
          <a:prstGeom prst="rtTriangl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5080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56248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57416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57200" y="4114800"/>
            <a:ext cx="3657600" cy="1828800"/>
          </a:xfrm>
          <a:prstGeom prst="line">
            <a:avLst/>
          </a:prstGeom>
          <a:noFill/>
          <a:ln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28600"/>
            <a:ext cx="914400" cy="603504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246888"/>
            <a:ext cx="1005840" cy="5120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2560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6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01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57200" y="301752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GitHub</a:t>
            </a:r>
            <a:endParaRPr lang="en-US" sz="5200" dirty="0"/>
          </a:p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5200" dirty="0"/>
          </a:p>
        </p:txBody>
      </p:sp>
      <p:sp>
        <p:nvSpPr>
          <p:cNvPr id="13" name="Shape 9"/>
          <p:cNvSpPr/>
          <p:nvPr/>
        </p:nvSpPr>
        <p:spPr>
          <a:xfrm>
            <a:off x="5715000" y="5029200"/>
            <a:ext cx="731520" cy="54864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57200" y="52120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bikin akun GitHub - foundation untuk semua tools developer.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1.1 - Siapkan akun GitHub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Jika sudah punya akun, langsung buka repo template Lab 01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Step-by-step GitHub signup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>
                <a:solidFill>
                  <a:srgbClr val="E2E8F0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# 1. Buka https://github.com/signup
# 2. Ikuti formulir dan verifikasi email.
# 3. Aktifkan keamanan akun sesuai petunjuk GitHub.
# 4. Masuk dan catat username Anda.
# 5. Jangan simpan password/token dalam repo.
# 6. Buka github.com/SeedFlora/meet1CloudService.
# 7. Lanjutkan dengan Use this template.</a:t>
            </a:r>
            <a:endParaRPr lang="en-US" sz="1400" dirty="0">
              <a:solidFill>
                <a:srgbClr val="E2E8F0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0" y="1554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HARUS Anda Catat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6400800" y="19202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Notepad/Notion - simpan dengan aman: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400800" y="2423160"/>
            <a:ext cx="5120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537960" y="24231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username: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8732520" y="24231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________________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400800" y="2880360"/>
            <a:ext cx="5120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537960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yang dipakai: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8732520" y="2880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________________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6400800" y="3337560"/>
            <a:ext cx="5120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537960" y="33375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profile: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8732520" y="33375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github.com/[username]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6400800" y="3794760"/>
            <a:ext cx="5120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6537960" y="3794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Tanggal signup: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8732520" y="37947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________________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6400800" y="4434840"/>
            <a:ext cx="5120640" cy="1691640"/>
          </a:xfrm>
          <a:prstGeom prst="rect">
            <a:avLst/>
          </a:prstGeom>
          <a:solidFill>
            <a:srgbClr val="FEF3C7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4572000"/>
            <a:ext cx="365760" cy="36576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949440" y="4526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PENTING</a:t>
            </a:r>
            <a:endParaRPr lang="en-US" sz="1200" dirty="0"/>
          </a:p>
        </p:txBody>
      </p:sp>
      <p:sp>
        <p:nvSpPr>
          <p:cNvPr id="35" name="Text 30"/>
          <p:cNvSpPr/>
          <p:nvPr/>
        </p:nvSpPr>
        <p:spPr>
          <a:xfrm>
            <a:off x="6537960" y="4937760"/>
            <a:ext cx="48463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Username GitHub jadi 'permanent identity' karier dev Anda. Hindari nickname childish - recruiter akan lihat ini.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1.2 - Buat repo dari template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pribadi berisi aplikasi, tes, modul, dan bukti Lab 01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84632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Gunakan template meet1CloudService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>
                <a:solidFill>
                  <a:srgbClr val="E2E8F0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# 1. Buka github.com/SeedFlora/meet1CloudService
# 2. Klik Use this template &gt; Create a new repository.
# 3. Beri nama repo pribadi; buat repo.
# 4. Clone dari terminal:
git clone https://github.com/USERNAME/NAMA-REPO.git
cd NAMA-REPO
# 5. Cek starter/, README, MODUL_MAHASISWA, screenshots/.
# 6. Simpan token, password, dan NIM di luar repo publik.</a:t>
            </a:r>
            <a:endParaRPr lang="en-US" sz="1400" dirty="0">
              <a:solidFill>
                <a:srgbClr val="E2E8F0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1.3 - Jalankan project starter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dulu di lokal; tidak perlu npm install untuk proyek ini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Perintah dari root repo pribadi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>
                <a:solidFill>
                  <a:srgbClr val="E2E8F0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cd starter
node --version       # perlu Node.js 20+
npm test             # 18 tes
npm run dev          # server lokal :3000
# Buka http://localhost:3000
# Terminal kedua:
curl http://localhost:3000/api/hello
# Endpoint rekomendasi: lihat slide 35</a:t>
            </a:r>
            <a:endParaRPr lang="en-US" sz="1400" dirty="0">
              <a:solidFill>
                <a:srgbClr val="E2E8F0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Struktur aplikasi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>
                <a:solidFill>
                  <a:srgbClr val="E2E8F0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starter/
  index.html             # tampilan model cloud
  student.json           # identitas contoh
  api/hello.js           # contoh FaaS
  api/recommend.js       # alasan rekomendasi
  tests/                 # 18 pengujian
  scripts/dev-server.mjs # server lokal
Isi student.json, lalu jalankan npm test lagi.</a:t>
            </a:r>
            <a:endParaRPr lang="en-US" sz="1400" dirty="0">
              <a:solidFill>
                <a:srgbClr val="E2E8F0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6400800" cy="6400800"/>
          </a:xfrm>
          <a:prstGeom prst="ellipse">
            <a:avLst/>
          </a:prstGeom>
          <a:solidFill>
            <a:srgbClr val="1565C0">
              <a:alpha val="25000"/>
            </a:srgbClr>
          </a:solidFill>
          <a:ln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914400"/>
            <a:ext cx="7315200" cy="7315200"/>
          </a:xfrm>
          <a:prstGeom prst="ellipse">
            <a:avLst/>
          </a:prstGeom>
          <a:solidFill>
            <a:srgbClr val="1976D2">
              <a:alpha val="20000"/>
            </a:srgbClr>
          </a:solidFill>
          <a:ln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8100000">
            <a:off x="5852160" y="-182880"/>
            <a:ext cx="1188720" cy="1188720"/>
          </a:xfrm>
          <a:prstGeom prst="rtTriangl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5080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56248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57416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57200" y="4114800"/>
            <a:ext cx="3657600" cy="1828800"/>
          </a:xfrm>
          <a:prstGeom prst="line">
            <a:avLst/>
          </a:prstGeom>
          <a:noFill/>
          <a:ln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28600"/>
            <a:ext cx="914400" cy="603504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246888"/>
            <a:ext cx="1005840" cy="5120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2560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6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02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57200" y="301752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Vercel</a:t>
            </a:r>
            <a:endParaRPr lang="en-US" sz="5200" dirty="0"/>
          </a:p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Deploy</a:t>
            </a:r>
            <a:endParaRPr lang="en-US" sz="5200" dirty="0"/>
          </a:p>
        </p:txBody>
      </p:sp>
      <p:sp>
        <p:nvSpPr>
          <p:cNvPr id="13" name="Shape 9"/>
          <p:cNvSpPr/>
          <p:nvPr/>
        </p:nvSpPr>
        <p:spPr>
          <a:xfrm>
            <a:off x="5715000" y="5029200"/>
            <a:ext cx="731520" cy="54864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57200" y="52120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signup Vercel + connect repo + deploy ke production.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2.1 - Hubungkan Vercel (opsional)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a-DK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Jalur deploy dikerjakan setelah uji lokal dan push berhasil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84632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Step-by-step Vercel signup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>
                <a:solidFill>
                  <a:srgbClr val="E2E8F0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# 1. Buka https://vercel.com/signup
# 2. Masuk dengan GitHub.
# 3. Beri izin GitHub App pada repo pribadi Lab 01.
# 4. Pilih paket tanpa biaya sesuai kondisi akun.
# 5. Periksa akun dan dashboard Vercel.
# 6. Jangan menaruh token atau password di project.
Jika kelas hanya lokal, simpan bukti localhost dan API di hasil/lab01.md.</a:t>
            </a:r>
            <a:endParaRPr lang="en-US" sz="1400" dirty="0">
              <a:solidFill>
                <a:srgbClr val="E2E8F0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2.2 - Import GitHub Repo (3 menit)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repo pribadi; atur Root Directory ke starter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flow di dashboard Vercel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>
                <a:solidFill>
                  <a:srgbClr val="E2E8F0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# 1. Dashboard Vercel &gt; Add New &gt; Project.
# 2. Pilih repo pribadi yang dibuat dari template.
# 3. Framework preset: Other (bila diminta).
# 4. Root Directory: starter  &lt;-- WAJIB.
# 5. Tinjau konfigurasi, klik Deploy.
# 6. Cek log deployment dan URL yang diberikan.
Salah root directory dapat membuat /api/* hilang.</a:t>
            </a:r>
            <a:endParaRPr lang="en-US" sz="1400" dirty="0">
              <a:solidFill>
                <a:srgbClr val="E2E8F0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0" y="1554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 yang Terjadi di Belakang?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6400800" y="2148840"/>
            <a:ext cx="365760" cy="365760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40080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6858000" y="20574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mengambil repo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6858000" y="23317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Kode di starter/ menjadi root aplikasi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6400800" y="2788920"/>
            <a:ext cx="365760" cy="365760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40080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6858000" y="26974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dan Functions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6858000" y="29718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Halaman statis serta dua endpoint API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6400800" y="3429000"/>
            <a:ext cx="365760" cy="365760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40080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9" name="Text 25"/>
          <p:cNvSpPr/>
          <p:nvPr/>
        </p:nvSpPr>
        <p:spPr>
          <a:xfrm>
            <a:off x="6858000" y="33375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ke infrastruktur Vercel</a:t>
            </a:r>
            <a:endParaRPr lang="en-US" sz="1100" dirty="0"/>
          </a:p>
        </p:txBody>
      </p:sp>
      <p:sp>
        <p:nvSpPr>
          <p:cNvPr id="30" name="Text 26"/>
          <p:cNvSpPr/>
          <p:nvPr/>
        </p:nvSpPr>
        <p:spPr>
          <a:xfrm>
            <a:off x="6858000" y="36118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menyajikan halaman dan Functions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6400800" y="4069080"/>
            <a:ext cx="365760" cy="365760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400800" y="4069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3" name="Text 29"/>
          <p:cNvSpPr/>
          <p:nvPr/>
        </p:nvSpPr>
        <p:spPr>
          <a:xfrm>
            <a:off x="6858000" y="39776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URL otomatis</a:t>
            </a:r>
            <a:endParaRPr lang="en-US" sz="1100" dirty="0"/>
          </a:p>
        </p:txBody>
      </p:sp>
      <p:sp>
        <p:nvSpPr>
          <p:cNvPr id="34" name="Text 30"/>
          <p:cNvSpPr/>
          <p:nvPr/>
        </p:nvSpPr>
        <p:spPr>
          <a:xfrm>
            <a:off x="6858000" y="42519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unik project Anda, bukan contoh tetap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6400800" y="4709160"/>
            <a:ext cx="365760" cy="365760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640080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6858000" y="46177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auto-setup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6858000" y="48920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Sertifikat dikelola oleh platform</a:t>
            </a:r>
            <a:endParaRPr lang="en-US" sz="950" dirty="0"/>
          </a:p>
        </p:txBody>
      </p:sp>
      <p:sp>
        <p:nvSpPr>
          <p:cNvPr id="39" name="Shape 35"/>
          <p:cNvSpPr/>
          <p:nvPr/>
        </p:nvSpPr>
        <p:spPr>
          <a:xfrm>
            <a:off x="6400800" y="5349240"/>
            <a:ext cx="365760" cy="365760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6400800" y="5349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1" name="Text 37"/>
          <p:cNvSpPr/>
          <p:nvPr/>
        </p:nvSpPr>
        <p:spPr>
          <a:xfrm>
            <a:off x="6858000" y="52578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 ke GitHub</a:t>
            </a:r>
            <a:endParaRPr lang="en-US" sz="1100" dirty="0"/>
          </a:p>
        </p:txBody>
      </p:sp>
      <p:sp>
        <p:nvSpPr>
          <p:cNvPr id="42" name="Text 38"/>
          <p:cNvSpPr/>
          <p:nvPr/>
        </p:nvSpPr>
        <p:spPr>
          <a:xfrm>
            <a:off x="6858000" y="55321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Tiap push ke main = auto redeploy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2.3 - Verifikasi web dan API live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 domain milik Anda sesudah deployment Ready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274320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Setelah klik Deploy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10972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>
                <a:solidFill>
                  <a:srgbClr val="E2E8F0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# 1. Tunggu status deployment Ready.
# 2. Buka https://DOMAIN-ANDA/
# 3. Periksa model cloud dan data student.json.
# 4. Buka https://DOMAIN-ANDA/api/hello
# 5. Buka /api/recommend?spiky=1&amp;smallTeam=1
# 6. Keduanya harus memberi respons JSON 200.
# 7. Coba input salah; API harus memberi 400.
# 8. Catat URL dan screenshot di hasil/lab01.md.</a:t>
            </a:r>
            <a:endParaRPr lang="en-US" sz="1400" dirty="0">
              <a:solidFill>
                <a:srgbClr val="E2E8F0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457200" y="4251960"/>
            <a:ext cx="11247120" cy="19202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480560"/>
            <a:ext cx="594360" cy="5943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554480" y="43434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- Verifikasi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554480" y="4846320"/>
            <a:ext cx="98755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1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] Halaman model cloud terbuka
[ ] /api/hello -&gt; 200
[ ] /api/recommend valid -&gt; 200
[ ] input salah -&gt; 400
[ ] URL dan bukti tercatat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2.4 - Uji pembaruan otomatis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perubahan di repo pribadi; periksa deployment baru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84632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Edit di GitHub -&gt; auto redeploy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>
                <a:solidFill>
                  <a:srgbClr val="E2E8F0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# 1. Edit starter/student.json dengan data Anda.
# 2. Di lokal, jalankan:
cd starter &amp;&amp; npm test
# 3. Kembali ke root repo.
# 4. Periksa git status dan diff.
# 5. Commit lalu push ke branch utama.
# 6. Buka tab Deployments di Vercel.
# 7. Tunggu status Ready; refresh halaman live.
# 8. Catat perubahan yang terlihat dan URL deployment.
Push Git memicu deployment baru bila integrasi aktif.</a:t>
            </a:r>
            <a:endParaRPr lang="en-US" sz="1400" dirty="0">
              <a:solidFill>
                <a:srgbClr val="E2E8F0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6400800" cy="6400800"/>
          </a:xfrm>
          <a:prstGeom prst="ellipse">
            <a:avLst/>
          </a:prstGeom>
          <a:solidFill>
            <a:srgbClr val="1565C0">
              <a:alpha val="25000"/>
            </a:srgbClr>
          </a:solidFill>
          <a:ln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914400"/>
            <a:ext cx="7315200" cy="7315200"/>
          </a:xfrm>
          <a:prstGeom prst="ellipse">
            <a:avLst/>
          </a:prstGeom>
          <a:solidFill>
            <a:srgbClr val="1976D2">
              <a:alpha val="20000"/>
            </a:srgbClr>
          </a:solidFill>
          <a:ln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8100000">
            <a:off x="5852160" y="-182880"/>
            <a:ext cx="1188720" cy="1188720"/>
          </a:xfrm>
          <a:prstGeom prst="rtTriangl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5080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56248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57416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57200" y="4114800"/>
            <a:ext cx="3657600" cy="1828800"/>
          </a:xfrm>
          <a:prstGeom prst="line">
            <a:avLst/>
          </a:prstGeom>
          <a:noFill/>
          <a:ln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28600"/>
            <a:ext cx="914400" cy="603504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246888"/>
            <a:ext cx="1005840" cy="5120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2560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6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03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57200" y="301752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Identifikasi</a:t>
            </a:r>
            <a:endParaRPr lang="en-US" sz="5200" dirty="0"/>
          </a:p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Model</a:t>
            </a:r>
            <a:endParaRPr lang="en-US" sz="5200" dirty="0"/>
          </a:p>
        </p:txBody>
      </p:sp>
      <p:sp>
        <p:nvSpPr>
          <p:cNvPr id="13" name="Shape 9"/>
          <p:cNvSpPr/>
          <p:nvPr/>
        </p:nvSpPr>
        <p:spPr>
          <a:xfrm>
            <a:off x="5715000" y="5029200"/>
            <a:ext cx="731520" cy="54864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57200" y="52120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dari tools yang Anda pakai - mana IaaS? PaaS? SaaS?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Konsep - IaaS / PaaS / SaaS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Lihat mana yang cocok dengan tools yang baru Anda pakai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370332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3703320" cy="91440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57200" y="14630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</a:t>
            </a:r>
            <a:endParaRPr lang="en-US" sz="3000" dirty="0"/>
          </a:p>
        </p:txBody>
      </p:sp>
      <p:sp>
        <p:nvSpPr>
          <p:cNvPr id="13" name="Text 9"/>
          <p:cNvSpPr/>
          <p:nvPr/>
        </p:nvSpPr>
        <p:spPr>
          <a:xfrm>
            <a:off x="457200" y="196596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kern="0" spc="100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as a Service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640080" y="2468880"/>
            <a:ext cx="3337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Anda dapat: virtual machine kosong (CPU, RAM, disk, network).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3246120"/>
            <a:ext cx="333756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31520" y="3291840"/>
            <a:ext cx="31546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Anda manage: OS, runtime, middleware, app, data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640080" y="4297680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Contoh tools: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731520" y="4617720"/>
            <a:ext cx="3246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▸"/>
            </a:pPr>
            <a:r>
              <a:rPr lang="en-US" sz="1100" b="1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 EC2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▸"/>
            </a:pPr>
            <a:r>
              <a:rPr lang="en-US" sz="1100" b="1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Google Compute Engine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▸"/>
            </a:pPr>
            <a:r>
              <a:rPr lang="en-US" sz="1100" b="1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Oracle Cloud Compute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4297680" y="1417320"/>
            <a:ext cx="370332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297680" y="1417320"/>
            <a:ext cx="3703320" cy="9144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297680" y="14630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</a:t>
            </a:r>
            <a:endParaRPr lang="en-US" sz="3000" dirty="0"/>
          </a:p>
        </p:txBody>
      </p:sp>
      <p:sp>
        <p:nvSpPr>
          <p:cNvPr id="22" name="Text 18"/>
          <p:cNvSpPr/>
          <p:nvPr/>
        </p:nvSpPr>
        <p:spPr>
          <a:xfrm>
            <a:off x="4297680" y="196596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kern="0" spc="100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as a Service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4480560" y="2468880"/>
            <a:ext cx="3337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Anda dapat: platform siap deploy code.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4480560" y="3246120"/>
            <a:ext cx="333756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4572000" y="3291840"/>
            <a:ext cx="31546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Anda manage: hanya app + data. Platform handle OS + runtime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4480560" y="4297680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Contoh tools: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4572000" y="4617720"/>
            <a:ext cx="3246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▸"/>
            </a:pPr>
            <a:r>
              <a:rPr lang="en-US" sz="1100" b="1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Vercel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▸"/>
            </a:pPr>
            <a:r>
              <a:rPr lang="en-US" sz="1100" b="1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Heroku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▸"/>
            </a:pPr>
            <a:r>
              <a:rPr lang="en-US" sz="1100" b="1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Railway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▸"/>
            </a:pPr>
            <a:r>
              <a:rPr lang="en-US" sz="1100" b="1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Fly.io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▸"/>
            </a:pPr>
            <a:r>
              <a:rPr lang="en-US" sz="1100" b="1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8138160" y="1417320"/>
            <a:ext cx="370332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8138160" y="1417320"/>
            <a:ext cx="3703320" cy="9144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8138160" y="14630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</a:t>
            </a:r>
            <a:endParaRPr lang="en-US" sz="3000" dirty="0"/>
          </a:p>
        </p:txBody>
      </p:sp>
      <p:sp>
        <p:nvSpPr>
          <p:cNvPr id="31" name="Text 27"/>
          <p:cNvSpPr/>
          <p:nvPr/>
        </p:nvSpPr>
        <p:spPr>
          <a:xfrm>
            <a:off x="8138160" y="196596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kern="0" spc="100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as a Service</a:t>
            </a:r>
            <a:endParaRPr lang="en-US" sz="1000" dirty="0"/>
          </a:p>
        </p:txBody>
      </p:sp>
      <p:sp>
        <p:nvSpPr>
          <p:cNvPr id="32" name="Text 28"/>
          <p:cNvSpPr/>
          <p:nvPr/>
        </p:nvSpPr>
        <p:spPr>
          <a:xfrm>
            <a:off x="8321040" y="2468880"/>
            <a:ext cx="3337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Anda dapat: aplikasi siap pakai via browser.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8321040" y="3246120"/>
            <a:ext cx="333756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8412480" y="3291840"/>
            <a:ext cx="31546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Anda manage: data + akun. Vendor handle SEMUA.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8321040" y="4297680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Contoh tools: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8412480" y="4617720"/>
            <a:ext cx="3246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▸"/>
            </a:pPr>
            <a:r>
              <a:rPr lang="en-US" sz="1100" b="1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▸"/>
            </a:pPr>
            <a:r>
              <a:rPr lang="en-US" sz="1100" b="1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Gmail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▸"/>
            </a:pPr>
            <a:r>
              <a:rPr lang="en-US" sz="1100" b="1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Notion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▸"/>
            </a:pPr>
            <a:r>
              <a:rPr lang="en-US" sz="1100" b="1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Figma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▸"/>
            </a:pPr>
            <a:r>
              <a:rPr lang="en-US" sz="1100" b="1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 Identifikasi - Isi Tabel Ini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Berdasarkan praktikum tadi - mana IaaS, PaaS, SaaS?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5720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2651760" y="1417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Fungsi di Praktikum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603504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(Pilih)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8046720" y="14173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Alasan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57200" y="1920240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40080" y="192024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2651760" y="192024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code + git version control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035040" y="2011680"/>
            <a:ext cx="1828800" cy="411480"/>
          </a:xfrm>
          <a:prstGeom prst="rect">
            <a:avLst/>
          </a:prstGeom>
          <a:solidFill>
            <a:srgbClr val="FEF3C7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126480" y="20116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8046720" y="192024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____________________________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457200" y="2560320"/>
            <a:ext cx="11247120" cy="594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40080" y="25603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2651760" y="256032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+ serve static site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6035040" y="2651760"/>
            <a:ext cx="1828800" cy="411480"/>
          </a:xfrm>
          <a:prstGeom prst="rect">
            <a:avLst/>
          </a:prstGeom>
          <a:solidFill>
            <a:srgbClr val="FEF3C7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126480" y="26517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8046720" y="256032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____________________________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457200" y="3200400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40080" y="320040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2651760" y="320040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 web browser tools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6035040" y="3291840"/>
            <a:ext cx="1828800" cy="411480"/>
          </a:xfrm>
          <a:prstGeom prst="rect">
            <a:avLst/>
          </a:prstGeom>
          <a:solidFill>
            <a:srgbClr val="FEF3C7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126480" y="32918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</a:t>
            </a:r>
            <a:endParaRPr lang="en-US" sz="1200" dirty="0"/>
          </a:p>
        </p:txBody>
      </p:sp>
      <p:sp>
        <p:nvSpPr>
          <p:cNvPr id="32" name="Text 28"/>
          <p:cNvSpPr/>
          <p:nvPr/>
        </p:nvSpPr>
        <p:spPr>
          <a:xfrm>
            <a:off x="8046720" y="320040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____________________________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457200" y="3840480"/>
            <a:ext cx="11247120" cy="594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64008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</a:t>
            </a:r>
            <a:endParaRPr lang="en-US" sz="1200" dirty="0"/>
          </a:p>
        </p:txBody>
      </p:sp>
      <p:sp>
        <p:nvSpPr>
          <p:cNvPr id="35" name="Text 31"/>
          <p:cNvSpPr/>
          <p:nvPr/>
        </p:nvSpPr>
        <p:spPr>
          <a:xfrm>
            <a:off x="2651760" y="384048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+ verifikasi akun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6035040" y="3931920"/>
            <a:ext cx="1828800" cy="411480"/>
          </a:xfrm>
          <a:prstGeom prst="rect">
            <a:avLst/>
          </a:prstGeom>
          <a:solidFill>
            <a:srgbClr val="FEF3C7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6126480" y="39319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</a:t>
            </a:r>
            <a:endParaRPr lang="en-US" sz="1200" dirty="0"/>
          </a:p>
        </p:txBody>
      </p:sp>
      <p:sp>
        <p:nvSpPr>
          <p:cNvPr id="38" name="Text 34"/>
          <p:cNvSpPr/>
          <p:nvPr/>
        </p:nvSpPr>
        <p:spPr>
          <a:xfrm>
            <a:off x="8046720" y="384048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____________________________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457200" y="4480560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640080" y="448056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Encrypt SSL</a:t>
            </a:r>
            <a:endParaRPr lang="en-US" sz="1200" dirty="0"/>
          </a:p>
        </p:txBody>
      </p:sp>
      <p:sp>
        <p:nvSpPr>
          <p:cNvPr id="41" name="Text 37"/>
          <p:cNvSpPr/>
          <p:nvPr/>
        </p:nvSpPr>
        <p:spPr>
          <a:xfrm>
            <a:off x="2651760" y="448056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Sertifikat HTTPS otomatis Vercel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6035040" y="4572000"/>
            <a:ext cx="1828800" cy="411480"/>
          </a:xfrm>
          <a:prstGeom prst="rect">
            <a:avLst/>
          </a:prstGeom>
          <a:solidFill>
            <a:srgbClr val="FEF3C7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126480" y="45720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</a:t>
            </a:r>
            <a:endParaRPr lang="en-US" sz="1200" dirty="0"/>
          </a:p>
        </p:txBody>
      </p:sp>
      <p:sp>
        <p:nvSpPr>
          <p:cNvPr id="44" name="Text 40"/>
          <p:cNvSpPr/>
          <p:nvPr/>
        </p:nvSpPr>
        <p:spPr>
          <a:xfrm>
            <a:off x="8046720" y="448056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____________________________</a:t>
            </a:r>
            <a:endParaRPr lang="en-US" sz="1000" dirty="0"/>
          </a:p>
        </p:txBody>
      </p:sp>
      <p:sp>
        <p:nvSpPr>
          <p:cNvPr id="45" name="Shape 41"/>
          <p:cNvSpPr/>
          <p:nvPr/>
        </p:nvSpPr>
        <p:spPr>
          <a:xfrm>
            <a:off x="457200" y="5120640"/>
            <a:ext cx="11247120" cy="594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640080" y="512064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Edge CDN</a:t>
            </a:r>
            <a:endParaRPr lang="en-US" sz="1200" dirty="0"/>
          </a:p>
        </p:txBody>
      </p:sp>
      <p:sp>
        <p:nvSpPr>
          <p:cNvPr id="47" name="Text 43"/>
          <p:cNvSpPr/>
          <p:nvPr/>
        </p:nvSpPr>
        <p:spPr>
          <a:xfrm>
            <a:off x="2651760" y="512064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+ serve file ke 100+ region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6035040" y="5212080"/>
            <a:ext cx="1828800" cy="411480"/>
          </a:xfrm>
          <a:prstGeom prst="rect">
            <a:avLst/>
          </a:prstGeom>
          <a:solidFill>
            <a:srgbClr val="FEF3C7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6126480" y="52120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</a:t>
            </a:r>
            <a:endParaRPr lang="en-US" sz="1200" dirty="0"/>
          </a:p>
        </p:txBody>
      </p:sp>
      <p:sp>
        <p:nvSpPr>
          <p:cNvPr id="50" name="Text 46"/>
          <p:cNvSpPr/>
          <p:nvPr/>
        </p:nvSpPr>
        <p:spPr>
          <a:xfrm>
            <a:off x="8046720" y="512064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____________________________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457200" y="61264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Jawaban dibahas saat presentasi - tulis dulu jawaban Anda di kertas/notes app.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6400800" cy="6400800"/>
          </a:xfrm>
          <a:prstGeom prst="ellipse">
            <a:avLst/>
          </a:prstGeom>
          <a:solidFill>
            <a:srgbClr val="1565C0">
              <a:alpha val="25000"/>
            </a:srgbClr>
          </a:solidFill>
          <a:ln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914400"/>
            <a:ext cx="7315200" cy="7315200"/>
          </a:xfrm>
          <a:prstGeom prst="ellipse">
            <a:avLst/>
          </a:prstGeom>
          <a:solidFill>
            <a:srgbClr val="1976D2">
              <a:alpha val="20000"/>
            </a:srgbClr>
          </a:solidFill>
          <a:ln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8100000">
            <a:off x="5852160" y="-182880"/>
            <a:ext cx="1188720" cy="1188720"/>
          </a:xfrm>
          <a:prstGeom prst="rtTriangl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5080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56248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57416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57200" y="4114800"/>
            <a:ext cx="3657600" cy="1828800"/>
          </a:xfrm>
          <a:prstGeom prst="line">
            <a:avLst/>
          </a:prstGeom>
          <a:noFill/>
          <a:ln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28600"/>
            <a:ext cx="914400" cy="603504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246888"/>
            <a:ext cx="1005840" cy="5120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2560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6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04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57200" y="301752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5200" dirty="0"/>
          </a:p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Calculator</a:t>
            </a:r>
            <a:endParaRPr lang="en-US" sz="5200" dirty="0"/>
          </a:p>
        </p:txBody>
      </p:sp>
      <p:sp>
        <p:nvSpPr>
          <p:cNvPr id="13" name="Shape 9"/>
          <p:cNvSpPr/>
          <p:nvPr/>
        </p:nvSpPr>
        <p:spPr>
          <a:xfrm>
            <a:off x="5715000" y="5029200"/>
            <a:ext cx="731520" cy="54864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57200" y="52120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free tier sampai kapan? Berapa kalau scale-up?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 - Sampai Mana Batasnya?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+ GitHub free tier murah hati - tapi ada limit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114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008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3017520" y="1417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0936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Pertama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8686800" y="14173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Anda Dapat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57200" y="1874520"/>
            <a:ext cx="112471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57200" y="1874520"/>
            <a:ext cx="137160" cy="566928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777240" y="187452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Free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3017520" y="187452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public repo, 2000 menit Actions/bulan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6309360" y="187452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$4/bulan (Pro)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8686800" y="187452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+ 3000 menit + Copilot discount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457200" y="2468880"/>
            <a:ext cx="1124712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57200" y="2468880"/>
            <a:ext cx="137160" cy="5669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777240" y="246888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Hobby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3017520" y="24688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Cek kuota Hobby terbaru sebelum deploy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6309360" y="246888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$20/bulan (Pro)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8686800" y="246888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TB bandwidth + team + analytics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457200" y="3063240"/>
            <a:ext cx="112471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457200" y="3063240"/>
            <a:ext cx="137160" cy="566928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777240" y="306324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Custom</a:t>
            </a:r>
            <a:endParaRPr lang="en-US" sz="1100" dirty="0"/>
          </a:p>
        </p:txBody>
      </p:sp>
      <p:sp>
        <p:nvSpPr>
          <p:cNvPr id="30" name="Text 26"/>
          <p:cNvSpPr/>
          <p:nvPr/>
        </p:nvSpPr>
        <p:spPr>
          <a:xfrm>
            <a:off x="3017520" y="306324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[username].vercel.app subdomain gratis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6309360" y="306324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$10-15/tahun</a:t>
            </a:r>
            <a:endParaRPr lang="en-US" sz="1000" dirty="0"/>
          </a:p>
        </p:txBody>
      </p:sp>
      <p:sp>
        <p:nvSpPr>
          <p:cNvPr id="32" name="Text 28"/>
          <p:cNvSpPr/>
          <p:nvPr/>
        </p:nvSpPr>
        <p:spPr>
          <a:xfrm>
            <a:off x="8686800" y="306324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myapp.com - lebih professional</a:t>
            </a:r>
            <a:endParaRPr lang="en-US" sz="950" dirty="0"/>
          </a:p>
        </p:txBody>
      </p:sp>
      <p:sp>
        <p:nvSpPr>
          <p:cNvPr id="33" name="Shape 29"/>
          <p:cNvSpPr/>
          <p:nvPr/>
        </p:nvSpPr>
        <p:spPr>
          <a:xfrm>
            <a:off x="457200" y="3657600"/>
            <a:ext cx="1124712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457200" y="3657600"/>
            <a:ext cx="137160" cy="56692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777240" y="365760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SSL HTTPS</a:t>
            </a:r>
            <a:endParaRPr lang="en-US" sz="1100" dirty="0"/>
          </a:p>
        </p:txBody>
      </p:sp>
      <p:sp>
        <p:nvSpPr>
          <p:cNvPr id="36" name="Text 32"/>
          <p:cNvSpPr/>
          <p:nvPr/>
        </p:nvSpPr>
        <p:spPr>
          <a:xfrm>
            <a:off x="3017520" y="365760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Auto, gratis dari Let's Encrypt</a:t>
            </a:r>
            <a:endParaRPr lang="en-US" sz="1000" dirty="0"/>
          </a:p>
        </p:txBody>
      </p:sp>
      <p:sp>
        <p:nvSpPr>
          <p:cNvPr id="37" name="Text 33"/>
          <p:cNvSpPr/>
          <p:nvPr/>
        </p:nvSpPr>
        <p:spPr>
          <a:xfrm>
            <a:off x="6309360" y="365760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Tidak perlu paid - sudah gratis</a:t>
            </a:r>
            <a:endParaRPr lang="en-US" sz="1000" dirty="0"/>
          </a:p>
        </p:txBody>
      </p:sp>
      <p:sp>
        <p:nvSpPr>
          <p:cNvPr id="38" name="Text 34"/>
          <p:cNvSpPr/>
          <p:nvPr/>
        </p:nvSpPr>
        <p:spPr>
          <a:xfrm>
            <a:off x="8686800" y="365760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certificate kalau perlu (mahal)</a:t>
            </a:r>
            <a:endParaRPr lang="en-US" sz="950" dirty="0"/>
          </a:p>
        </p:txBody>
      </p:sp>
      <p:sp>
        <p:nvSpPr>
          <p:cNvPr id="39" name="Shape 35"/>
          <p:cNvSpPr/>
          <p:nvPr/>
        </p:nvSpPr>
        <p:spPr>
          <a:xfrm>
            <a:off x="457200" y="4251960"/>
            <a:ext cx="112471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457200" y="4251960"/>
            <a:ext cx="137160" cy="566928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777240" y="425196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CDN Edge</a:t>
            </a:r>
            <a:endParaRPr lang="en-US" sz="1100" dirty="0"/>
          </a:p>
        </p:txBody>
      </p:sp>
      <p:sp>
        <p:nvSpPr>
          <p:cNvPr id="42" name="Text 38"/>
          <p:cNvSpPr/>
          <p:nvPr/>
        </p:nvSpPr>
        <p:spPr>
          <a:xfrm>
            <a:off x="3017520" y="425196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100+ POPs global, included Hobby</a:t>
            </a:r>
            <a:endParaRPr lang="en-US" sz="1000" dirty="0"/>
          </a:p>
        </p:txBody>
      </p:sp>
      <p:sp>
        <p:nvSpPr>
          <p:cNvPr id="43" name="Text 39"/>
          <p:cNvSpPr/>
          <p:nvPr/>
        </p:nvSpPr>
        <p:spPr>
          <a:xfrm>
            <a:off x="6309360" y="425196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Tidak perlu - sudah included</a:t>
            </a:r>
            <a:endParaRPr lang="en-US" sz="1000" dirty="0"/>
          </a:p>
        </p:txBody>
      </p:sp>
      <p:sp>
        <p:nvSpPr>
          <p:cNvPr id="44" name="Text 40"/>
          <p:cNvSpPr/>
          <p:nvPr/>
        </p:nvSpPr>
        <p:spPr>
          <a:xfrm>
            <a:off x="8686800" y="425196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Pro: priority routing + faster</a:t>
            </a:r>
            <a:endParaRPr lang="en-US" sz="950" dirty="0"/>
          </a:p>
        </p:txBody>
      </p:sp>
      <p:sp>
        <p:nvSpPr>
          <p:cNvPr id="45" name="Shape 41"/>
          <p:cNvSpPr/>
          <p:nvPr/>
        </p:nvSpPr>
        <p:spPr>
          <a:xfrm>
            <a:off x="457200" y="4846320"/>
            <a:ext cx="1124712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457200" y="4846320"/>
            <a:ext cx="137160" cy="56692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777240" y="484632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Minutes</a:t>
            </a:r>
            <a:endParaRPr lang="en-US" sz="1100" dirty="0"/>
          </a:p>
        </p:txBody>
      </p:sp>
      <p:sp>
        <p:nvSpPr>
          <p:cNvPr id="48" name="Text 44"/>
          <p:cNvSpPr/>
          <p:nvPr/>
        </p:nvSpPr>
        <p:spPr>
          <a:xfrm>
            <a:off x="3017520" y="484632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Cek build usage pada dashboard</a:t>
            </a:r>
            <a:endParaRPr lang="en-US" sz="1000" dirty="0"/>
          </a:p>
        </p:txBody>
      </p:sp>
      <p:sp>
        <p:nvSpPr>
          <p:cNvPr id="49" name="Text 45"/>
          <p:cNvSpPr/>
          <p:nvPr/>
        </p:nvSpPr>
        <p:spPr>
          <a:xfrm>
            <a:off x="6309360" y="484632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Termasuk Pro plan</a:t>
            </a:r>
            <a:endParaRPr lang="en-US" sz="1000" dirty="0"/>
          </a:p>
        </p:txBody>
      </p:sp>
      <p:sp>
        <p:nvSpPr>
          <p:cNvPr id="50" name="Text 46"/>
          <p:cNvSpPr/>
          <p:nvPr/>
        </p:nvSpPr>
        <p:spPr>
          <a:xfrm>
            <a:off x="8686800" y="484632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Pro: faster CI + parallel build</a:t>
            </a:r>
            <a:endParaRPr lang="en-US" sz="950" dirty="0"/>
          </a:p>
        </p:txBody>
      </p:sp>
      <p:sp>
        <p:nvSpPr>
          <p:cNvPr id="51" name="Text 47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Kesimpulan: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Untuk proyek kelas, pantau kuota aktual di dashboard; biaya bergantung pemakaian dan plan.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 - Hitung Cost Scale-Up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Skenario: site Anda jadi popular - berapa cost-nya?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91440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" y="150876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Skenario: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portfolio Anda viral di LinkedIn - traffic naik dari 100 ke 5000 visitor/hari.</a:t>
            </a:r>
            <a:endParaRPr lang="en-US" sz="1300" dirty="0"/>
          </a:p>
          <a:p>
            <a:pPr marL="0" indent="0">
              <a:buNone/>
            </a:pPr>
            <a:r>
              <a:rPr lang="en-US" sz="1100" i="1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5000 visitor x 30 hari = 150K visit/bulan. Tiap visit load ~500 KB. Hitung consumption + cost.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57200" y="2514600"/>
            <a:ext cx="5577840" cy="3749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40080" y="260604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Hitungan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3017520"/>
            <a:ext cx="5212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77240" y="3017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Bandwidth per visit: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3200400" y="30175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 KB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40080" y="3474720"/>
            <a:ext cx="5212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77240" y="3474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bandwidth/bulan: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3200400" y="34747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150,000 × 500 KB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640080" y="3931920"/>
            <a:ext cx="5212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9319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Konversi ke GB: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3200400" y="39319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75,000,000 KB = 75 GB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640080" y="4389120"/>
            <a:ext cx="5212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77240" y="4389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Vercel Hobby: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3200400" y="43891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Contoh: bandingkan dengan kuota terkini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640080" y="4846320"/>
            <a:ext cx="5212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77240" y="48463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Kalau 10K visitor/hari?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3200400" y="48463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Bandingkan hasil dengan kuota terkini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640080" y="5303520"/>
            <a:ext cx="5212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777240" y="5303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Upgrade ke Pro: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3200400" y="53035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Cek harga dan kuota Pro terkini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640080" y="5760720"/>
            <a:ext cx="5212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760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setahun: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3200400" y="57607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$20 × 12 = $240/tahun</a:t>
            </a:r>
            <a:endParaRPr lang="en-US" sz="1050" dirty="0"/>
          </a:p>
        </p:txBody>
      </p:sp>
      <p:sp>
        <p:nvSpPr>
          <p:cNvPr id="35" name="Shape 31"/>
          <p:cNvSpPr/>
          <p:nvPr/>
        </p:nvSpPr>
        <p:spPr>
          <a:xfrm>
            <a:off x="6217920" y="2514600"/>
            <a:ext cx="5486400" cy="3749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6400800" y="26060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+ Tabungan</a:t>
            </a:r>
            <a:endParaRPr lang="en-US" sz="1300" dirty="0"/>
          </a:p>
        </p:txBody>
      </p:sp>
      <p:sp>
        <p:nvSpPr>
          <p:cNvPr id="37" name="Shape 33"/>
          <p:cNvSpPr/>
          <p:nvPr/>
        </p:nvSpPr>
        <p:spPr>
          <a:xfrm>
            <a:off x="6400800" y="3017520"/>
            <a:ext cx="5120640" cy="12801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6400800" y="301752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Anda saat ini:</a:t>
            </a:r>
            <a:endParaRPr lang="en-US" sz="1200" dirty="0"/>
          </a:p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 / bulan</a:t>
            </a:r>
            <a:endParaRPr lang="en-US" sz="1200" dirty="0"/>
          </a:p>
        </p:txBody>
      </p:sp>
      <p:sp>
        <p:nvSpPr>
          <p:cNvPr id="39" name="Shape 35"/>
          <p:cNvSpPr/>
          <p:nvPr/>
        </p:nvSpPr>
        <p:spPr>
          <a:xfrm>
            <a:off x="6400800" y="4434840"/>
            <a:ext cx="5120640" cy="128016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6400800" y="443484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Kalau scale-up 10K visit/hari:</a:t>
            </a:r>
            <a:endParaRPr lang="en-US" sz="1200" dirty="0"/>
          </a:p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 / bulan</a:t>
            </a:r>
            <a:endParaRPr lang="en-US" sz="1200" dirty="0"/>
          </a:p>
        </p:txBody>
      </p:sp>
      <p:sp>
        <p:nvSpPr>
          <p:cNvPr id="41" name="Text 37"/>
          <p:cNvSpPr/>
          <p:nvPr/>
        </p:nvSpPr>
        <p:spPr>
          <a:xfrm>
            <a:off x="6400800" y="5760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Bandingkan: AWS EC2 t3.medium + RDS + CDN: </a:t>
            </a:r>
            <a:r>
              <a:rPr lang="en-US" sz="1100" b="1" i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$80-150/bulan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6400800" cy="6400800"/>
          </a:xfrm>
          <a:prstGeom prst="ellipse">
            <a:avLst/>
          </a:prstGeom>
          <a:solidFill>
            <a:srgbClr val="1565C0">
              <a:alpha val="25000"/>
            </a:srgbClr>
          </a:solidFill>
          <a:ln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914400"/>
            <a:ext cx="7315200" cy="7315200"/>
          </a:xfrm>
          <a:prstGeom prst="ellipse">
            <a:avLst/>
          </a:prstGeom>
          <a:solidFill>
            <a:srgbClr val="1976D2">
              <a:alpha val="20000"/>
            </a:srgbClr>
          </a:solidFill>
          <a:ln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8100000">
            <a:off x="5852160" y="-182880"/>
            <a:ext cx="1188720" cy="1188720"/>
          </a:xfrm>
          <a:prstGeom prst="rtTriangl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5080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56248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57416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57200" y="4114800"/>
            <a:ext cx="3657600" cy="1828800"/>
          </a:xfrm>
          <a:prstGeom prst="line">
            <a:avLst/>
          </a:prstGeom>
          <a:noFill/>
          <a:ln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28600"/>
            <a:ext cx="914400" cy="603504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246888"/>
            <a:ext cx="1005840" cy="5120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2560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6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05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57200" y="301752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</a:t>
            </a:r>
            <a:endParaRPr lang="en-US" sz="5200" dirty="0"/>
          </a:p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Laporan</a:t>
            </a:r>
            <a:endParaRPr lang="en-US" sz="5200" dirty="0"/>
          </a:p>
        </p:txBody>
      </p:sp>
      <p:sp>
        <p:nvSpPr>
          <p:cNvPr id="13" name="Shape 9"/>
          <p:cNvSpPr/>
          <p:nvPr/>
        </p:nvSpPr>
        <p:spPr>
          <a:xfrm>
            <a:off x="5715000" y="5029200"/>
            <a:ext cx="731520" cy="54864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57200" y="52120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5: tulis laporan 1 halaman dari yang baru Anda kerjakan.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 Lab 01: hasil/lab01.md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Salin hasil/TEMPLATE_LAPORAN.md, lalu isi dari bukti sendiri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8463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50292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40080" y="14173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 LAB 01 - MODEL CLOUD + WEB/API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640080" y="2011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Nama: ___________________________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6217920" y="2011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NIM: ___________________________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40080" y="24231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200" b="1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Identitas dan repo pribadi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777240" y="2697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Username GitHub: __________________  URL repo: ______________________________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777240" y="2971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 Vercel (jika deploy): __________________  Atau: jalur lokal saja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40080" y="33375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Model layanan dan tanggung jawab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777240" y="3611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GitHub: SaaS; Vercel site: PaaS; api/: FaaS. Jelaskan batas yang dikelola.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777240" y="3886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Bandingkan public, private, hybrid, dan alternatif pilihan Anda.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40080" y="42519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i-FI" sz="1200" b="1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Kasus A-D dan alasan teknis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777240" y="45262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Catat faktor kebutuhan, ranking, pilihan, trade-off, dan model harga.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640080" y="48920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nn-NO" sz="1200" b="1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Hasil uji dan refleksi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777240" y="5166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test: ____/18; web: ____; /api/hello: ____; rekomendasi: ____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777240" y="54406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___________________________________________________________________________________________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777240" y="57150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___________________________________________________________________________________________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777240" y="60350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nl-NL" sz="1000" i="1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Lampiran: screenshot web, tes, dua API, dan deploy bila dikerjakan.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6400800" cy="6400800"/>
          </a:xfrm>
          <a:prstGeom prst="ellipse">
            <a:avLst/>
          </a:prstGeom>
          <a:solidFill>
            <a:srgbClr val="1565C0">
              <a:alpha val="25000"/>
            </a:srgbClr>
          </a:solidFill>
          <a:ln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914400"/>
            <a:ext cx="7315200" cy="7315200"/>
          </a:xfrm>
          <a:prstGeom prst="ellipse">
            <a:avLst/>
          </a:prstGeom>
          <a:solidFill>
            <a:srgbClr val="1976D2">
              <a:alpha val="20000"/>
            </a:srgbClr>
          </a:solidFill>
          <a:ln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8100000">
            <a:off x="5852160" y="-182880"/>
            <a:ext cx="1188720" cy="1188720"/>
          </a:xfrm>
          <a:prstGeom prst="rtTriangl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5080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56248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57416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57200" y="4114800"/>
            <a:ext cx="3657600" cy="1828800"/>
          </a:xfrm>
          <a:prstGeom prst="line">
            <a:avLst/>
          </a:prstGeom>
          <a:noFill/>
          <a:ln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28600"/>
            <a:ext cx="914400" cy="603504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246888"/>
            <a:ext cx="1005840" cy="5120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2560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6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06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57200" y="301752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Cleanup &amp;</a:t>
            </a:r>
            <a:endParaRPr lang="en-US" sz="5200" dirty="0"/>
          </a:p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</a:t>
            </a:r>
            <a:endParaRPr lang="en-US" sz="5200" dirty="0"/>
          </a:p>
        </p:txBody>
      </p:sp>
      <p:sp>
        <p:nvSpPr>
          <p:cNvPr id="13" name="Shape 9"/>
          <p:cNvSpPr/>
          <p:nvPr/>
        </p:nvSpPr>
        <p:spPr>
          <a:xfrm>
            <a:off x="5715000" y="5029200"/>
            <a:ext cx="731520" cy="54864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57200" y="52120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6: kumpulkan + (optional) cleanup untuk hemat resource.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Cleanup - Optional!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 hapus akun setelah praktikum? Boleh - tapi saran simpan untuk portfolio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5577840" cy="64008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57200" y="141732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SARAN: SIMPAN UNTUK PORTFOLIO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640080" y="21488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ini bisa jadi portfolio entry pertama Anda:</a:t>
            </a:r>
            <a:endParaRPr lang="en-US" sz="11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788920"/>
            <a:ext cx="320040" cy="3200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234440" y="26974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Tambah ke README profile GitHub Anda</a:t>
            </a:r>
            <a:endParaRPr lang="en-US" sz="11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3832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234440" y="32918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Pasang URL live di LinkedIn 'Projects' section</a:t>
            </a:r>
            <a:endParaRPr lang="en-US" sz="1100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977640"/>
            <a:ext cx="320040" cy="32004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234440" y="38862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jadi personal landing page</a:t>
            </a:r>
            <a:endParaRPr lang="en-US" sz="1100" dirty="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572000"/>
            <a:ext cx="320040" cy="32004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1234440" y="448056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Tambah CV + social link - voila, portfolio dasar</a:t>
            </a:r>
            <a:endParaRPr lang="en-US" sz="1100" dirty="0"/>
          </a:p>
        </p:txBody>
      </p:sp>
      <p:pic>
        <p:nvPicPr>
          <p:cNvPr id="2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166360"/>
            <a:ext cx="320040" cy="320040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1234440" y="50749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 tidak expire kalau Anda aktif</a:t>
            </a:r>
            <a:endParaRPr lang="en-US" sz="1100" dirty="0"/>
          </a:p>
        </p:txBody>
      </p:sp>
      <p:sp>
        <p:nvSpPr>
          <p:cNvPr id="24" name="Shape 15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16"/>
          <p:cNvSpPr/>
          <p:nvPr/>
        </p:nvSpPr>
        <p:spPr>
          <a:xfrm>
            <a:off x="6217920" y="1417320"/>
            <a:ext cx="5486400" cy="640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17"/>
          <p:cNvSpPr/>
          <p:nvPr/>
        </p:nvSpPr>
        <p:spPr>
          <a:xfrm>
            <a:off x="6217920" y="14173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KALAU TETAP MAU HAPUS</a:t>
            </a:r>
            <a:endParaRPr lang="en-US" sz="1300" dirty="0"/>
          </a:p>
        </p:txBody>
      </p:sp>
      <p:sp>
        <p:nvSpPr>
          <p:cNvPr id="27" name="Text 18"/>
          <p:cNvSpPr/>
          <p:nvPr/>
        </p:nvSpPr>
        <p:spPr>
          <a:xfrm>
            <a:off x="6400800" y="21488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Cleanup steps - TUNGGU sampai nilai keluar dulu ya:</a:t>
            </a:r>
            <a:endParaRPr lang="en-US" sz="1100" dirty="0"/>
          </a:p>
        </p:txBody>
      </p:sp>
      <p:sp>
        <p:nvSpPr>
          <p:cNvPr id="28" name="Shape 19"/>
          <p:cNvSpPr/>
          <p:nvPr/>
        </p:nvSpPr>
        <p:spPr>
          <a:xfrm>
            <a:off x="6400800" y="2788920"/>
            <a:ext cx="365760" cy="3657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9" name="Text 20"/>
          <p:cNvSpPr/>
          <p:nvPr/>
        </p:nvSpPr>
        <p:spPr>
          <a:xfrm>
            <a:off x="640080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30" name="Text 21"/>
          <p:cNvSpPr/>
          <p:nvPr/>
        </p:nvSpPr>
        <p:spPr>
          <a:xfrm>
            <a:off x="6858000" y="269748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dashboard -&gt; Project settings -&gt; Delete Project</a:t>
            </a:r>
            <a:endParaRPr lang="en-US" sz="1050" dirty="0"/>
          </a:p>
        </p:txBody>
      </p:sp>
      <p:sp>
        <p:nvSpPr>
          <p:cNvPr id="31" name="Shape 22"/>
          <p:cNvSpPr/>
          <p:nvPr/>
        </p:nvSpPr>
        <p:spPr>
          <a:xfrm>
            <a:off x="6400800" y="3474720"/>
            <a:ext cx="365760" cy="3657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2" name="Text 23"/>
          <p:cNvSpPr/>
          <p:nvPr/>
        </p:nvSpPr>
        <p:spPr>
          <a:xfrm>
            <a:off x="6400800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Text 24"/>
          <p:cNvSpPr/>
          <p:nvPr/>
        </p:nvSpPr>
        <p:spPr>
          <a:xfrm>
            <a:off x="6858000" y="338328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 -&gt; Settings -&gt; Danger Zone -&gt; Delete</a:t>
            </a:r>
            <a:endParaRPr lang="en-US" sz="1050" dirty="0"/>
          </a:p>
        </p:txBody>
      </p:sp>
      <p:sp>
        <p:nvSpPr>
          <p:cNvPr id="34" name="Shape 25"/>
          <p:cNvSpPr/>
          <p:nvPr/>
        </p:nvSpPr>
        <p:spPr>
          <a:xfrm>
            <a:off x="6400800" y="4160520"/>
            <a:ext cx="365760" cy="3657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6400800" y="4160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6" name="Text 27"/>
          <p:cNvSpPr/>
          <p:nvPr/>
        </p:nvSpPr>
        <p:spPr>
          <a:xfrm>
            <a:off x="6858000" y="406908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account -&gt; Settings -&gt; Delete Account (opsional)</a:t>
            </a:r>
            <a:endParaRPr lang="en-US" sz="1050" dirty="0"/>
          </a:p>
        </p:txBody>
      </p:sp>
      <p:sp>
        <p:nvSpPr>
          <p:cNvPr id="37" name="Shape 28"/>
          <p:cNvSpPr/>
          <p:nvPr/>
        </p:nvSpPr>
        <p:spPr>
          <a:xfrm>
            <a:off x="6400800" y="4846320"/>
            <a:ext cx="365760" cy="3657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6400800" y="4846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9" name="Text 30"/>
          <p:cNvSpPr/>
          <p:nvPr/>
        </p:nvSpPr>
        <p:spPr>
          <a:xfrm>
            <a:off x="6858000" y="475488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account -&gt; Settings -&gt; Delete account (opsional)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 Submit Praktikum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pribadi, laporan, dan bukti; deploy hanya bila dikerjakan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91440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" y="150876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Kumpulkan melalui kanal kelas yang ditetapkan dosen/LMS.
Waktu pengumpulan mengikuti pengumuman kelas.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57200" y="2514600"/>
            <a:ext cx="11247120" cy="3749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40080" y="2606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Post di kanal kelas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3017520"/>
            <a:ext cx="10972800" cy="31546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40080" y="3017520"/>
            <a:ext cx="109728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1520" y="30998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68680" y="30998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005840" y="30998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1188720" y="301752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Template ringkas laporan pengumpulan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777240" y="3383280"/>
            <a:ext cx="106984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b="1">
                <a:solidFill>
                  <a:srgbClr val="E2E8F0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Lab 01 - [Nama Anda]
Repo pribadi: https://github.com/USERNAME/NAMA-REPO
Laporan: hasil/lab01.md
Worksheet kasus A-D: terisi dan beralasan
Bukti: npm test 18/18, web, /api/hello, /api/recommend
Vercel: URL deploy bila jalur opsional dikerjakan
Tulis NIM pada LMS bila diminta dosen; jangan unggah data pribadi ke repo publik.</a:t>
            </a:r>
            <a:endParaRPr lang="en-US" sz="1400" dirty="0">
              <a:solidFill>
                <a:srgbClr val="E2E8F0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 Rubric Praktikum 1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Transparan - ini cara dinilai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114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0080" y="14173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Komponen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3383280" y="141732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Bobot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4297680" y="14173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 (A)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676656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(B)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9144000" y="14173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Work (C)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57200" y="1874520"/>
            <a:ext cx="112471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57200" y="1874520"/>
            <a:ext cx="137160" cy="82296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77240" y="187452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Deployment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3383280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30%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4297680" y="18745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accessible, page custom dengan nama+NIM, no error console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6766560" y="18745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accessible tapi masih default hello world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9144000" y="18745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tidak accessible / 404 / page kosong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457200" y="2743200"/>
            <a:ext cx="11247120" cy="822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57200" y="2743200"/>
            <a:ext cx="137160" cy="82296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777240" y="274320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3383280" y="27432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20%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4297680" y="27432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+ README terisi + commit history bersih + index.html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6766560" y="27432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tapi README minimal / commit kurang descriptive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9144000" y="27432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/ repo tidak ada / file salah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457200" y="3611880"/>
            <a:ext cx="112471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457200" y="3611880"/>
            <a:ext cx="137160" cy="822960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777240" y="361188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Identifikasi Service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3383280" y="3611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25%</a:t>
            </a:r>
            <a:endParaRPr lang="en-US" sz="1400" dirty="0"/>
          </a:p>
        </p:txBody>
      </p:sp>
      <p:sp>
        <p:nvSpPr>
          <p:cNvPr id="34" name="Text 30"/>
          <p:cNvSpPr/>
          <p:nvPr/>
        </p:nvSpPr>
        <p:spPr>
          <a:xfrm>
            <a:off x="4297680" y="36118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Semua 6 row benar + alasan logis di tabel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6766560" y="36118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4-5 row benar + sebagian alasan</a:t>
            </a:r>
            <a:endParaRPr lang="en-US" sz="900" dirty="0"/>
          </a:p>
        </p:txBody>
      </p:sp>
      <p:sp>
        <p:nvSpPr>
          <p:cNvPr id="36" name="Text 32"/>
          <p:cNvSpPr/>
          <p:nvPr/>
        </p:nvSpPr>
        <p:spPr>
          <a:xfrm>
            <a:off x="9144000" y="36118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≤3 row benar atau alasan asal tebak</a:t>
            </a:r>
            <a:endParaRPr lang="en-US" sz="900" dirty="0"/>
          </a:p>
        </p:txBody>
      </p:sp>
      <p:sp>
        <p:nvSpPr>
          <p:cNvPr id="37" name="Shape 33"/>
          <p:cNvSpPr/>
          <p:nvPr/>
        </p:nvSpPr>
        <p:spPr>
          <a:xfrm>
            <a:off x="457200" y="4480560"/>
            <a:ext cx="11247120" cy="822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57200" y="4480560"/>
            <a:ext cx="137160" cy="8229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777240" y="448056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 PDF</a:t>
            </a:r>
            <a:endParaRPr lang="en-US" sz="1100" dirty="0"/>
          </a:p>
        </p:txBody>
      </p:sp>
      <p:sp>
        <p:nvSpPr>
          <p:cNvPr id="40" name="Text 36"/>
          <p:cNvSpPr/>
          <p:nvPr/>
        </p:nvSpPr>
        <p:spPr>
          <a:xfrm>
            <a:off x="3383280" y="4480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15%</a:t>
            </a:r>
            <a:endParaRPr lang="en-US" sz="1400" dirty="0"/>
          </a:p>
        </p:txBody>
      </p:sp>
      <p:sp>
        <p:nvSpPr>
          <p:cNvPr id="41" name="Text 37"/>
          <p:cNvSpPr/>
          <p:nvPr/>
        </p:nvSpPr>
        <p:spPr>
          <a:xfrm>
            <a:off x="4297680" y="44805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Lengkap 4 section + screenshot + refleksi insightful</a:t>
            </a:r>
            <a:endParaRPr lang="en-US" sz="900" dirty="0"/>
          </a:p>
        </p:txBody>
      </p:sp>
      <p:sp>
        <p:nvSpPr>
          <p:cNvPr id="42" name="Text 38"/>
          <p:cNvSpPr/>
          <p:nvPr/>
        </p:nvSpPr>
        <p:spPr>
          <a:xfrm>
            <a:off x="6766560" y="44805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Lengkap tapi refleksi pendek / screenshot kurang</a:t>
            </a:r>
            <a:endParaRPr lang="en-US" sz="900" dirty="0"/>
          </a:p>
        </p:txBody>
      </p:sp>
      <p:sp>
        <p:nvSpPr>
          <p:cNvPr id="43" name="Text 39"/>
          <p:cNvSpPr/>
          <p:nvPr/>
        </p:nvSpPr>
        <p:spPr>
          <a:xfrm>
            <a:off x="9144000" y="44805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tidak lengkap / asal-asalan</a:t>
            </a:r>
            <a:endParaRPr lang="en-US" sz="900" dirty="0"/>
          </a:p>
        </p:txBody>
      </p:sp>
      <p:sp>
        <p:nvSpPr>
          <p:cNvPr id="44" name="Shape 40"/>
          <p:cNvSpPr/>
          <p:nvPr/>
        </p:nvSpPr>
        <p:spPr>
          <a:xfrm>
            <a:off x="457200" y="5349240"/>
            <a:ext cx="112471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457200" y="5349240"/>
            <a:ext cx="137160" cy="822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777240" y="534924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Calculation</a:t>
            </a:r>
            <a:endParaRPr lang="en-US" sz="1100" dirty="0"/>
          </a:p>
        </p:txBody>
      </p:sp>
      <p:sp>
        <p:nvSpPr>
          <p:cNvPr id="47" name="Text 43"/>
          <p:cNvSpPr/>
          <p:nvPr/>
        </p:nvSpPr>
        <p:spPr>
          <a:xfrm>
            <a:off x="3383280" y="5349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10%</a:t>
            </a:r>
            <a:endParaRPr lang="en-US" sz="1400" dirty="0"/>
          </a:p>
        </p:txBody>
      </p:sp>
      <p:sp>
        <p:nvSpPr>
          <p:cNvPr id="48" name="Text 44"/>
          <p:cNvSpPr/>
          <p:nvPr/>
        </p:nvSpPr>
        <p:spPr>
          <a:xfrm>
            <a:off x="4297680" y="53492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Benar + tunjukkan working hitungan + bandingkan paid tier</a:t>
            </a:r>
            <a:endParaRPr lang="en-US" sz="900" dirty="0"/>
          </a:p>
        </p:txBody>
      </p:sp>
      <p:sp>
        <p:nvSpPr>
          <p:cNvPr id="49" name="Text 45"/>
          <p:cNvSpPr/>
          <p:nvPr/>
        </p:nvSpPr>
        <p:spPr>
          <a:xfrm>
            <a:off x="6766560" y="53492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Hitungan ada tapi tidak lengkap working-nya</a:t>
            </a:r>
            <a:endParaRPr lang="en-US" sz="900" dirty="0"/>
          </a:p>
        </p:txBody>
      </p:sp>
      <p:sp>
        <p:nvSpPr>
          <p:cNvPr id="50" name="Text 46"/>
          <p:cNvSpPr/>
          <p:nvPr/>
        </p:nvSpPr>
        <p:spPr>
          <a:xfrm>
            <a:off x="9144000" y="53492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ada hitungan / salah konseptual</a:t>
            </a:r>
            <a:endParaRPr lang="en-US" sz="900" dirty="0"/>
          </a:p>
        </p:txBody>
      </p:sp>
      <p:sp>
        <p:nvSpPr>
          <p:cNvPr id="51" name="Text 47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Lulus minimal: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(mostly B). Buat A: pastikan semua deliverable + refleksi tidak asal-asalan.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Common Pitfalls - Hindari Ini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sering bikin nilai turun walaupun sebenarnya bisa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3703320" cy="4572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94360" y="141732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Private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640080" y="196596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GitHub kadang Public, kadang Private. Kalau Private, Vercel tidak bisa akses.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40080" y="2880360"/>
            <a:ext cx="3337560" cy="685800"/>
          </a:xfrm>
          <a:prstGeom prst="rect">
            <a:avLst/>
          </a:prstGeom>
          <a:solidFill>
            <a:srgbClr val="DCFCE7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31520" y="2926080"/>
            <a:ext cx="3154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repo -&gt; Change visibility -&gt; Public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297680" y="141732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97680" y="1417320"/>
            <a:ext cx="3703320" cy="4572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434840" y="141732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Diminta Credit Card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480560" y="196596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Berarti Anda salah pilih plan di Vercel (pilih Pro/Enterprise). Anda salah klik.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4480560" y="2880360"/>
            <a:ext cx="3337560" cy="685800"/>
          </a:xfrm>
          <a:prstGeom prst="rect">
            <a:avLst/>
          </a:prstGeom>
          <a:solidFill>
            <a:srgbClr val="DCFCE7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572000" y="2926080"/>
            <a:ext cx="3154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Logout. Signup ulang. Pastikan pilih 'Hobby' plan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8138160" y="141732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138160" y="1417320"/>
            <a:ext cx="3703320" cy="4572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275320" y="141732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index.html salah nama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8321040" y="196596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Pakai 'Index.html' (huruf besar) atau 'index.htm' tidak akan tampil.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8321040" y="2880360"/>
            <a:ext cx="3337560" cy="685800"/>
          </a:xfrm>
          <a:prstGeom prst="rect">
            <a:avLst/>
          </a:prstGeom>
          <a:solidFill>
            <a:srgbClr val="DCFCE7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412480" y="2926080"/>
            <a:ext cx="3154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Hapus + bikin ulang dengan nama: index.html (semua huruf kecil)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57200" y="379476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57200" y="3794760"/>
            <a:ext cx="3703320" cy="4572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594360" y="379476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Lupa commit di GitHub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640080" y="434340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di GitHub web tapi lupa klik 'Commit changes' - perubahan hilang.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640080" y="5257800"/>
            <a:ext cx="3337560" cy="685800"/>
          </a:xfrm>
          <a:prstGeom prst="rect">
            <a:avLst/>
          </a:prstGeom>
          <a:solidFill>
            <a:srgbClr val="DCFCE7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31520" y="5303520"/>
            <a:ext cx="3154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Selalu scroll bawah + klik tombol hijau 'Commit changes'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4297680" y="379476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297680" y="3794760"/>
            <a:ext cx="3703320" cy="4572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4434840" y="379476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Vercel tidak buka</a:t>
            </a:r>
            <a:endParaRPr lang="en-US" sz="1200" dirty="0"/>
          </a:p>
        </p:txBody>
      </p:sp>
      <p:sp>
        <p:nvSpPr>
          <p:cNvPr id="37" name="Text 33"/>
          <p:cNvSpPr/>
          <p:nvPr/>
        </p:nvSpPr>
        <p:spPr>
          <a:xfrm>
            <a:off x="4480560" y="434340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Mungkin deploy masih 'Building' atau gagal. Lihat tab Deployments.</a:t>
            </a:r>
            <a:endParaRPr lang="en-US" sz="1050" dirty="0"/>
          </a:p>
        </p:txBody>
      </p:sp>
      <p:sp>
        <p:nvSpPr>
          <p:cNvPr id="38" name="Shape 34"/>
          <p:cNvSpPr/>
          <p:nvPr/>
        </p:nvSpPr>
        <p:spPr>
          <a:xfrm>
            <a:off x="4480560" y="5257800"/>
            <a:ext cx="3337560" cy="685800"/>
          </a:xfrm>
          <a:prstGeom prst="rect">
            <a:avLst/>
          </a:prstGeom>
          <a:solidFill>
            <a:srgbClr val="DCFCE7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4572000" y="5303520"/>
            <a:ext cx="3154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Klik failed deployment -&gt; baca log error. Biasanya: file path salah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8138160" y="379476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8138160" y="3794760"/>
            <a:ext cx="3703320" cy="4572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8275320" y="379476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tanpa screenshot</a:t>
            </a:r>
            <a:endParaRPr lang="en-US" sz="1200" dirty="0"/>
          </a:p>
        </p:txBody>
      </p:sp>
      <p:sp>
        <p:nvSpPr>
          <p:cNvPr id="43" name="Text 39"/>
          <p:cNvSpPr/>
          <p:nvPr/>
        </p:nvSpPr>
        <p:spPr>
          <a:xfrm>
            <a:off x="8321040" y="434340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submission minta 3 screenshot - banyak yang lupa lampirkan.</a:t>
            </a:r>
            <a:endParaRPr lang="en-US" sz="1050" dirty="0"/>
          </a:p>
        </p:txBody>
      </p:sp>
      <p:sp>
        <p:nvSpPr>
          <p:cNvPr id="44" name="Shape 40"/>
          <p:cNvSpPr/>
          <p:nvPr/>
        </p:nvSpPr>
        <p:spPr>
          <a:xfrm>
            <a:off x="8321040" y="5257800"/>
            <a:ext cx="3337560" cy="685800"/>
          </a:xfrm>
          <a:prstGeom prst="rect">
            <a:avLst/>
          </a:prstGeom>
          <a:solidFill>
            <a:srgbClr val="DCFCE7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5" name="Text 41"/>
          <p:cNvSpPr/>
          <p:nvPr/>
        </p:nvSpPr>
        <p:spPr>
          <a:xfrm>
            <a:off x="8412480" y="5303520"/>
            <a:ext cx="3154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 file submission slide 23 - checklist semua attachment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- Eksplorasi Lanjutan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Sudah selesai cepat? Coba 1 dari 6 challenge ini untuk extra credit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3703320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148590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5156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Domain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3154680" y="150876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3154680" y="1508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5 poin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40080" y="2011680"/>
            <a:ext cx="33375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 domain di Namecheap ($1-2/tahun) + connect ke Vercel.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297680" y="141732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297680" y="1417320"/>
            <a:ext cx="3703320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34840" y="1485900"/>
            <a:ext cx="365760" cy="36576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489204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Tambah CSS Framework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6995160" y="150876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6995160" y="1508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5 poin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4480560" y="2011680"/>
            <a:ext cx="33375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Pakai Tailwind via CDN + redesign jadi modern card.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8138160" y="141732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8138160" y="1417320"/>
            <a:ext cx="3703320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5320" y="1485900"/>
            <a:ext cx="365760" cy="36576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873252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Analytics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10835640" y="150876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10835640" y="1508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3 poin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8321040" y="2011680"/>
            <a:ext cx="33375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Web Analytics free tier - lihat siapa visit site Anda.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457200" y="379476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457200" y="3794760"/>
            <a:ext cx="3703320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4360" y="3863340"/>
            <a:ext cx="365760" cy="36576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1051560" y="37947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Multi-Page Site</a:t>
            </a:r>
            <a:endParaRPr lang="en-US" sz="1200" dirty="0"/>
          </a:p>
        </p:txBody>
      </p:sp>
      <p:sp>
        <p:nvSpPr>
          <p:cNvPr id="35" name="Shape 27"/>
          <p:cNvSpPr/>
          <p:nvPr/>
        </p:nvSpPr>
        <p:spPr>
          <a:xfrm>
            <a:off x="3154680" y="388620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3154680" y="38862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5 poin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640080" y="4389120"/>
            <a:ext cx="33375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Tambah about.html + contact.html dengan navigation.</a:t>
            </a:r>
            <a:endParaRPr lang="en-US" sz="1100" dirty="0"/>
          </a:p>
        </p:txBody>
      </p:sp>
      <p:sp>
        <p:nvSpPr>
          <p:cNvPr id="38" name="Shape 30"/>
          <p:cNvSpPr/>
          <p:nvPr/>
        </p:nvSpPr>
        <p:spPr>
          <a:xfrm>
            <a:off x="4297680" y="379476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4297680" y="3794760"/>
            <a:ext cx="3703320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40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34840" y="3863340"/>
            <a:ext cx="365760" cy="365760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4892040" y="37947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Pages Parallel</a:t>
            </a:r>
            <a:endParaRPr lang="en-US" sz="1200" dirty="0"/>
          </a:p>
        </p:txBody>
      </p:sp>
      <p:sp>
        <p:nvSpPr>
          <p:cNvPr id="42" name="Shape 33"/>
          <p:cNvSpPr/>
          <p:nvPr/>
        </p:nvSpPr>
        <p:spPr>
          <a:xfrm>
            <a:off x="6995160" y="388620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34"/>
          <p:cNvSpPr/>
          <p:nvPr/>
        </p:nvSpPr>
        <p:spPr>
          <a:xfrm>
            <a:off x="6995160" y="38862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5 poin</a:t>
            </a:r>
            <a:endParaRPr lang="en-US" sz="900" dirty="0"/>
          </a:p>
        </p:txBody>
      </p:sp>
      <p:sp>
        <p:nvSpPr>
          <p:cNvPr id="44" name="Text 35"/>
          <p:cNvSpPr/>
          <p:nvPr/>
        </p:nvSpPr>
        <p:spPr>
          <a:xfrm>
            <a:off x="4480560" y="4389120"/>
            <a:ext cx="33375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juga ke GitHub Pages - compare dengan Vercel.</a:t>
            </a:r>
            <a:endParaRPr lang="en-US" sz="1100" dirty="0"/>
          </a:p>
        </p:txBody>
      </p:sp>
      <p:sp>
        <p:nvSpPr>
          <p:cNvPr id="45" name="Shape 36"/>
          <p:cNvSpPr/>
          <p:nvPr/>
        </p:nvSpPr>
        <p:spPr>
          <a:xfrm>
            <a:off x="8138160" y="379476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Shape 37"/>
          <p:cNvSpPr/>
          <p:nvPr/>
        </p:nvSpPr>
        <p:spPr>
          <a:xfrm>
            <a:off x="8138160" y="3794760"/>
            <a:ext cx="3703320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47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75320" y="3863340"/>
            <a:ext cx="365760" cy="365760"/>
          </a:xfrm>
          <a:prstGeom prst="rect">
            <a:avLst/>
          </a:prstGeom>
        </p:spPr>
      </p:pic>
      <p:sp>
        <p:nvSpPr>
          <p:cNvPr id="48" name="Text 38"/>
          <p:cNvSpPr/>
          <p:nvPr/>
        </p:nvSpPr>
        <p:spPr>
          <a:xfrm>
            <a:off x="8732520" y="37947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 Score 100</a:t>
            </a:r>
            <a:endParaRPr lang="en-US" sz="1200" dirty="0"/>
          </a:p>
        </p:txBody>
      </p:sp>
      <p:sp>
        <p:nvSpPr>
          <p:cNvPr id="49" name="Shape 39"/>
          <p:cNvSpPr/>
          <p:nvPr/>
        </p:nvSpPr>
        <p:spPr>
          <a:xfrm>
            <a:off x="10835640" y="388620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0"/>
          <p:cNvSpPr/>
          <p:nvPr/>
        </p:nvSpPr>
        <p:spPr>
          <a:xfrm>
            <a:off x="10835640" y="38862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8 poin</a:t>
            </a:r>
            <a:endParaRPr lang="en-US" sz="900" dirty="0"/>
          </a:p>
        </p:txBody>
      </p:sp>
      <p:sp>
        <p:nvSpPr>
          <p:cNvPr id="51" name="Text 41"/>
          <p:cNvSpPr/>
          <p:nvPr/>
        </p:nvSpPr>
        <p:spPr>
          <a:xfrm>
            <a:off x="8321040" y="4389120"/>
            <a:ext cx="33375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Lighthouse di Chrome DevTools - dapat 100/100 di semua kategori.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&amp; Helpful Links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Untuk eksplor lebih lanjut + troubleshoot kalau stuck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0080" y="155448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Dokumentasi Resmi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40080" y="2011680"/>
            <a:ext cx="5212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12140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43000" y="20574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Quickstart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3246120" y="20116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976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docs.github.com/get-started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715768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43000" y="2651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Hobby Tier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3246120" y="26060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976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vercel.com/docs/limits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640080" y="3200400"/>
            <a:ext cx="5212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310128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143000" y="32461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CLI Install</a:t>
            </a:r>
            <a:endParaRPr lang="en-US" sz="1100" dirty="0"/>
          </a:p>
        </p:txBody>
      </p:sp>
      <p:sp>
        <p:nvSpPr>
          <p:cNvPr id="23" name="Text 16"/>
          <p:cNvSpPr/>
          <p:nvPr/>
        </p:nvSpPr>
        <p:spPr>
          <a:xfrm>
            <a:off x="3246120" y="32004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976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vercel.com/docs/cli</a:t>
            </a:r>
            <a:endParaRPr lang="en-US" sz="950" dirty="0"/>
          </a:p>
        </p:txBody>
      </p:sp>
      <p:sp>
        <p:nvSpPr>
          <p:cNvPr id="24" name="Shape 17"/>
          <p:cNvSpPr/>
          <p:nvPr/>
        </p:nvSpPr>
        <p:spPr>
          <a:xfrm>
            <a:off x="640080" y="3794760"/>
            <a:ext cx="5212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904488"/>
            <a:ext cx="274320" cy="27432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1143000" y="38404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Free</a:t>
            </a:r>
            <a:endParaRPr lang="en-US" sz="1100" dirty="0"/>
          </a:p>
        </p:txBody>
      </p:sp>
      <p:sp>
        <p:nvSpPr>
          <p:cNvPr id="27" name="Text 19"/>
          <p:cNvSpPr/>
          <p:nvPr/>
        </p:nvSpPr>
        <p:spPr>
          <a:xfrm>
            <a:off x="3246120" y="37947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976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docs.github.com/actions</a:t>
            </a:r>
            <a:endParaRPr lang="en-US" sz="950" dirty="0"/>
          </a:p>
        </p:txBody>
      </p:sp>
      <p:sp>
        <p:nvSpPr>
          <p:cNvPr id="28" name="Shape 20"/>
          <p:cNvSpPr/>
          <p:nvPr/>
        </p:nvSpPr>
        <p:spPr>
          <a:xfrm>
            <a:off x="640080" y="4389120"/>
            <a:ext cx="5212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498848"/>
            <a:ext cx="274320" cy="274320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1143000" y="44348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Basics MDN</a:t>
            </a:r>
            <a:endParaRPr lang="en-US" sz="1100" dirty="0"/>
          </a:p>
        </p:txBody>
      </p:sp>
      <p:sp>
        <p:nvSpPr>
          <p:cNvPr id="31" name="Text 22"/>
          <p:cNvSpPr/>
          <p:nvPr/>
        </p:nvSpPr>
        <p:spPr>
          <a:xfrm>
            <a:off x="3246120" y="43891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976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developer.mozilla.org/HTML</a:t>
            </a:r>
            <a:endParaRPr lang="en-US" sz="950" dirty="0"/>
          </a:p>
        </p:txBody>
      </p:sp>
      <p:sp>
        <p:nvSpPr>
          <p:cNvPr id="32" name="Shape 23"/>
          <p:cNvSpPr/>
          <p:nvPr/>
        </p:nvSpPr>
        <p:spPr>
          <a:xfrm>
            <a:off x="640080" y="4983480"/>
            <a:ext cx="5212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33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093208"/>
            <a:ext cx="274320" cy="274320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1143000" y="5029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Domain TLD</a:t>
            </a:r>
            <a:endParaRPr lang="en-US" sz="1100" dirty="0"/>
          </a:p>
        </p:txBody>
      </p:sp>
      <p:sp>
        <p:nvSpPr>
          <p:cNvPr id="35" name="Text 25"/>
          <p:cNvSpPr/>
          <p:nvPr/>
        </p:nvSpPr>
        <p:spPr>
          <a:xfrm>
            <a:off x="3246120" y="49834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976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freenom.com (alternatif)</a:t>
            </a:r>
            <a:endParaRPr lang="en-US" sz="950" dirty="0"/>
          </a:p>
        </p:txBody>
      </p:sp>
      <p:sp>
        <p:nvSpPr>
          <p:cNvPr id="36" name="Shape 26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27"/>
          <p:cNvSpPr/>
          <p:nvPr/>
        </p:nvSpPr>
        <p:spPr>
          <a:xfrm>
            <a:off x="6400800" y="1554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Bantuan Stuck</a:t>
            </a:r>
            <a:endParaRPr lang="en-US" sz="1400" dirty="0"/>
          </a:p>
        </p:txBody>
      </p:sp>
      <p:pic>
        <p:nvPicPr>
          <p:cNvPr id="38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2103120"/>
            <a:ext cx="320040" cy="320040"/>
          </a:xfrm>
          <a:prstGeom prst="rect">
            <a:avLst/>
          </a:prstGeom>
        </p:spPr>
      </p:pic>
      <p:sp>
        <p:nvSpPr>
          <p:cNvPr id="39" name="Text 28"/>
          <p:cNvSpPr/>
          <p:nvPr/>
        </p:nvSpPr>
        <p:spPr>
          <a:xfrm>
            <a:off x="6858000" y="202996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Tanya ChatGPT/Claude</a:t>
            </a:r>
            <a:endParaRPr lang="en-US" sz="1100" dirty="0"/>
          </a:p>
        </p:txBody>
      </p:sp>
      <p:sp>
        <p:nvSpPr>
          <p:cNvPr id="40" name="Text 29"/>
          <p:cNvSpPr/>
          <p:nvPr/>
        </p:nvSpPr>
        <p:spPr>
          <a:xfrm>
            <a:off x="6858000" y="230428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error message + context untuk debug cepat</a:t>
            </a:r>
            <a:endParaRPr lang="en-US" sz="950" dirty="0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2743200"/>
            <a:ext cx="320040" cy="320040"/>
          </a:xfrm>
          <a:prstGeom prst="rect">
            <a:avLst/>
          </a:prstGeom>
        </p:spPr>
      </p:pic>
      <p:sp>
        <p:nvSpPr>
          <p:cNvPr id="42" name="Text 30"/>
          <p:cNvSpPr/>
          <p:nvPr/>
        </p:nvSpPr>
        <p:spPr>
          <a:xfrm>
            <a:off x="6858000" y="267004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Overflow</a:t>
            </a:r>
            <a:endParaRPr lang="en-US" sz="1100" dirty="0"/>
          </a:p>
        </p:txBody>
      </p:sp>
      <p:sp>
        <p:nvSpPr>
          <p:cNvPr id="43" name="Text 31"/>
          <p:cNvSpPr/>
          <p:nvPr/>
        </p:nvSpPr>
        <p:spPr>
          <a:xfrm>
            <a:off x="6858000" y="294436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exact error message - 90% sudah ada jawaban</a:t>
            </a:r>
            <a:endParaRPr lang="en-US" sz="950" dirty="0"/>
          </a:p>
        </p:txBody>
      </p:sp>
      <p:pic>
        <p:nvPicPr>
          <p:cNvPr id="44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383280"/>
            <a:ext cx="320040" cy="320040"/>
          </a:xfrm>
          <a:prstGeom prst="rect">
            <a:avLst/>
          </a:prstGeom>
        </p:spPr>
      </p:pic>
      <p:sp>
        <p:nvSpPr>
          <p:cNvPr id="45" name="Text 32"/>
          <p:cNvSpPr/>
          <p:nvPr/>
        </p:nvSpPr>
        <p:spPr>
          <a:xfrm>
            <a:off x="6858000" y="331012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#prak-cloud-help</a:t>
            </a:r>
            <a:endParaRPr lang="en-US" sz="1100" dirty="0"/>
          </a:p>
        </p:txBody>
      </p:sp>
      <p:sp>
        <p:nvSpPr>
          <p:cNvPr id="46" name="Text 33"/>
          <p:cNvSpPr/>
          <p:nvPr/>
        </p:nvSpPr>
        <p:spPr>
          <a:xfrm>
            <a:off x="6858000" y="358444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khusus tanya teman - dosen monitor</a:t>
            </a:r>
            <a:endParaRPr lang="en-US" sz="950" dirty="0"/>
          </a:p>
        </p:txBody>
      </p:sp>
      <p:pic>
        <p:nvPicPr>
          <p:cNvPr id="47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4023360"/>
            <a:ext cx="320040" cy="320040"/>
          </a:xfrm>
          <a:prstGeom prst="rect">
            <a:avLst/>
          </a:prstGeom>
        </p:spPr>
      </p:pic>
      <p:sp>
        <p:nvSpPr>
          <p:cNvPr id="48" name="Text 34"/>
          <p:cNvSpPr/>
          <p:nvPr/>
        </p:nvSpPr>
        <p:spPr>
          <a:xfrm>
            <a:off x="6858000" y="39502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Hours</a:t>
            </a:r>
            <a:endParaRPr lang="en-US" sz="1100" dirty="0"/>
          </a:p>
        </p:txBody>
      </p:sp>
      <p:sp>
        <p:nvSpPr>
          <p:cNvPr id="49" name="Text 35"/>
          <p:cNvSpPr/>
          <p:nvPr/>
        </p:nvSpPr>
        <p:spPr>
          <a:xfrm>
            <a:off x="6858000" y="422452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Senin 13-15 WIB - drop in via Zoom</a:t>
            </a:r>
            <a:endParaRPr lang="en-US" sz="950" dirty="0"/>
          </a:p>
        </p:txBody>
      </p:sp>
      <p:pic>
        <p:nvPicPr>
          <p:cNvPr id="50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0" y="4663440"/>
            <a:ext cx="320040" cy="320040"/>
          </a:xfrm>
          <a:prstGeom prst="rect">
            <a:avLst/>
          </a:prstGeom>
        </p:spPr>
      </p:pic>
      <p:sp>
        <p:nvSpPr>
          <p:cNvPr id="51" name="Text 36"/>
          <p:cNvSpPr/>
          <p:nvPr/>
        </p:nvSpPr>
        <p:spPr>
          <a:xfrm>
            <a:off x="6858000" y="459028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Discussions</a:t>
            </a:r>
            <a:endParaRPr lang="en-US" sz="1100" dirty="0"/>
          </a:p>
        </p:txBody>
      </p:sp>
      <p:sp>
        <p:nvSpPr>
          <p:cNvPr id="52" name="Text 37"/>
          <p:cNvSpPr/>
          <p:nvPr/>
        </p:nvSpPr>
        <p:spPr>
          <a:xfrm>
            <a:off x="6858000" y="486460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 tab Discussions di repo course materials</a:t>
            </a:r>
            <a:endParaRPr lang="en-US" sz="950" dirty="0"/>
          </a:p>
        </p:txBody>
      </p:sp>
      <p:pic>
        <p:nvPicPr>
          <p:cNvPr id="53" name="Image 1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00800" y="5303520"/>
            <a:ext cx="320040" cy="320040"/>
          </a:xfrm>
          <a:prstGeom prst="rect">
            <a:avLst/>
          </a:prstGeom>
        </p:spPr>
      </p:pic>
      <p:sp>
        <p:nvSpPr>
          <p:cNvPr id="54" name="Text 38"/>
          <p:cNvSpPr/>
          <p:nvPr/>
        </p:nvSpPr>
        <p:spPr>
          <a:xfrm>
            <a:off x="6858000" y="523036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Programming</a:t>
            </a:r>
            <a:endParaRPr lang="en-US" sz="1100" dirty="0"/>
          </a:p>
        </p:txBody>
      </p:sp>
      <p:sp>
        <p:nvSpPr>
          <p:cNvPr id="55" name="Text 39"/>
          <p:cNvSpPr/>
          <p:nvPr/>
        </p:nvSpPr>
        <p:spPr>
          <a:xfrm>
            <a:off x="6858000" y="550468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Ajak teman zoom share screen 30 menit - 2x cepat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Cheat Sheet - Praktikum 1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Print, tempel - quick reference saat kerjakan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278892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2788920" cy="36576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57200" y="14173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Penting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640080" y="1874520"/>
            <a:ext cx="24231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github.com/signup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vercel.com/signup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github.com/[user]/[repo]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[repo]-xxx.vercel.app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vercel.com/dashboard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github.com/settings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3364992" y="1417320"/>
            <a:ext cx="278892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3364992" y="1417320"/>
            <a:ext cx="2788920" cy="36576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364992" y="14173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Step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3547872" y="1874520"/>
            <a:ext cx="24231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Signup GitHub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Create public repo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Add index.html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Signup Vercel (Hobby!)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Import GitHub repo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 Deploy + verify URL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272784" y="1417320"/>
            <a:ext cx="278892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272784" y="1417320"/>
            <a:ext cx="278892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272784" y="14173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Wajib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6455664" y="1874520"/>
            <a:ext cx="24231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README.md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.gitignore (Node)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LICENSE (MIT)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index.html (lowercase!)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Nama Anda + NIM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Background biru oranye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9180576" y="1417320"/>
            <a:ext cx="278892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9180576" y="1417320"/>
            <a:ext cx="2788920" cy="36576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9180576" y="14173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Model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9363456" y="1874520"/>
            <a:ext cx="24231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IaaS = VM kosong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PaaS = platform deploy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SaaS = aplikasi ready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= SaaS dev tools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Vercel = PaaS hosting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 EC2 = IaaS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457200" y="3886200"/>
            <a:ext cx="278892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457200" y="3886200"/>
            <a:ext cx="2788920" cy="36576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457200" y="38862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 Limit</a:t>
            </a:r>
            <a:endParaRPr lang="en-US" sz="1300" dirty="0"/>
          </a:p>
        </p:txBody>
      </p:sp>
      <p:sp>
        <p:nvSpPr>
          <p:cNvPr id="29" name="Text 25"/>
          <p:cNvSpPr/>
          <p:nvPr/>
        </p:nvSpPr>
        <p:spPr>
          <a:xfrm>
            <a:off x="640080" y="4343400"/>
            <a:ext cx="24231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GitHub: unlimited public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Vercel: 100 GB/bulan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Vercel: 6000 min build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Actions: 2000 min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Bandwidth ~ 5K visit/hari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Upgrade $20 = 1TB</a:t>
            </a:r>
            <a:endParaRPr lang="en-US" sz="1050" dirty="0"/>
          </a:p>
        </p:txBody>
      </p:sp>
      <p:sp>
        <p:nvSpPr>
          <p:cNvPr id="30" name="Shape 26"/>
          <p:cNvSpPr/>
          <p:nvPr/>
        </p:nvSpPr>
        <p:spPr>
          <a:xfrm>
            <a:off x="3364992" y="3886200"/>
            <a:ext cx="278892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3364992" y="3886200"/>
            <a:ext cx="278892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3364992" y="38862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Pitfall</a:t>
            </a:r>
            <a:endParaRPr lang="en-US" sz="1300" dirty="0"/>
          </a:p>
        </p:txBody>
      </p:sp>
      <p:sp>
        <p:nvSpPr>
          <p:cNvPr id="33" name="Text 29"/>
          <p:cNvSpPr/>
          <p:nvPr/>
        </p:nvSpPr>
        <p:spPr>
          <a:xfrm>
            <a:off x="3547872" y="4343400"/>
            <a:ext cx="24231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 PUBLIC, bukan private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Pilih Hobby plan Vercel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JANGAN beri kartu kredit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index.html lowercase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 setelah edit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Cek deployment status</a:t>
            </a:r>
            <a:endParaRPr lang="en-US" sz="1050" dirty="0"/>
          </a:p>
        </p:txBody>
      </p:sp>
      <p:sp>
        <p:nvSpPr>
          <p:cNvPr id="34" name="Shape 30"/>
          <p:cNvSpPr/>
          <p:nvPr/>
        </p:nvSpPr>
        <p:spPr>
          <a:xfrm>
            <a:off x="6272784" y="3886200"/>
            <a:ext cx="278892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6272784" y="3886200"/>
            <a:ext cx="2788920" cy="36576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6272784" y="38862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6455664" y="4343400"/>
            <a:ext cx="24231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 repo GitHub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 live Vercel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screenshot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Laporan PDF 1 halaman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Submit Slack #prak-cloud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Naming: prak1_NIM.pdf</a:t>
            </a:r>
            <a:endParaRPr lang="en-US" sz="1050" dirty="0"/>
          </a:p>
        </p:txBody>
      </p:sp>
      <p:sp>
        <p:nvSpPr>
          <p:cNvPr id="38" name="Shape 34"/>
          <p:cNvSpPr/>
          <p:nvPr/>
        </p:nvSpPr>
        <p:spPr>
          <a:xfrm>
            <a:off x="9180576" y="3886200"/>
            <a:ext cx="278892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9180576" y="3886200"/>
            <a:ext cx="2788920" cy="36576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9180576" y="38862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Challenge</a:t>
            </a:r>
            <a:endParaRPr lang="en-US" sz="1300" dirty="0"/>
          </a:p>
        </p:txBody>
      </p:sp>
      <p:sp>
        <p:nvSpPr>
          <p:cNvPr id="41" name="Text 37"/>
          <p:cNvSpPr/>
          <p:nvPr/>
        </p:nvSpPr>
        <p:spPr>
          <a:xfrm>
            <a:off x="9363456" y="4343400"/>
            <a:ext cx="24231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 domain (+5pt)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Tailwind redesign (+5pt)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Multi-page site (+5pt)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Vercel Analytics (+3pt)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Lighthouse 100 (+8pt)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Pages (+5pt)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100 Menit - Pacing Saran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Supaya tidak kebablas / kebut - target waktu per step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37160" cy="8686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777240" y="1600200"/>
            <a:ext cx="1463040" cy="50292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77240" y="16002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0-15 min</a:t>
            </a:r>
            <a:endParaRPr lang="en-US" sz="11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3160" y="1645920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971800" y="15087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Briefing + Pre-req Check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2971800" y="1874520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Dosen jelaskan flow + cek laptop/internet siap. Bagi pasangan kalau perlu help.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57200" y="2377440"/>
            <a:ext cx="1124712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57200" y="2377440"/>
            <a:ext cx="137160" cy="868680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77240" y="2560320"/>
            <a:ext cx="1463040" cy="502920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777240" y="2560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15-40 min</a:t>
            </a:r>
            <a:endParaRPr lang="en-US" sz="110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23160" y="2606040"/>
            <a:ext cx="411480" cy="4114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2971800" y="2468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1: GitHub Setup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2971800" y="2834640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Signup + bikin repo + add index.html. Slot 25 menit - cukup unhurried.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457200" y="3337560"/>
            <a:ext cx="1124712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7200" y="3337560"/>
            <a:ext cx="137160" cy="86868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777240" y="3520440"/>
            <a:ext cx="1463040" cy="5029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777240" y="35204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40-70 min</a:t>
            </a:r>
            <a:endParaRPr lang="en-US" sz="1100" dirty="0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23160" y="3566160"/>
            <a:ext cx="411480" cy="41148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2971800" y="34290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2: Vercel Deploy</a:t>
            </a:r>
            <a:endParaRPr lang="en-US" sz="1300" dirty="0"/>
          </a:p>
        </p:txBody>
      </p:sp>
      <p:sp>
        <p:nvSpPr>
          <p:cNvPr id="30" name="Text 23"/>
          <p:cNvSpPr/>
          <p:nvPr/>
        </p:nvSpPr>
        <p:spPr>
          <a:xfrm>
            <a:off x="2971800" y="3794760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Signup Vercel + import repo + verify URL. Termasuk test auto-deploy.</a:t>
            </a:r>
            <a:endParaRPr lang="en-US" sz="1000" dirty="0"/>
          </a:p>
        </p:txBody>
      </p:sp>
      <p:sp>
        <p:nvSpPr>
          <p:cNvPr id="31" name="Shape 24"/>
          <p:cNvSpPr/>
          <p:nvPr/>
        </p:nvSpPr>
        <p:spPr>
          <a:xfrm>
            <a:off x="457200" y="4297680"/>
            <a:ext cx="1124712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457200" y="4297680"/>
            <a:ext cx="137160" cy="8686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777240" y="4480560"/>
            <a:ext cx="1463040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777240" y="44805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70-85 min</a:t>
            </a:r>
            <a:endParaRPr lang="en-US" sz="1100" dirty="0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23160" y="4526280"/>
            <a:ext cx="411480" cy="41148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2971800" y="4389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+ 4: Identifikasi + Cost</a:t>
            </a:r>
            <a:endParaRPr lang="en-US" sz="1300" dirty="0"/>
          </a:p>
        </p:txBody>
      </p:sp>
      <p:sp>
        <p:nvSpPr>
          <p:cNvPr id="37" name="Text 29"/>
          <p:cNvSpPr/>
          <p:nvPr/>
        </p:nvSpPr>
        <p:spPr>
          <a:xfrm>
            <a:off x="2971800" y="4754880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 tabel service model + hitung cost scale-up. Diskusi 5 menit.</a:t>
            </a:r>
            <a:endParaRPr lang="en-US" sz="1000" dirty="0"/>
          </a:p>
        </p:txBody>
      </p:sp>
      <p:sp>
        <p:nvSpPr>
          <p:cNvPr id="38" name="Shape 30"/>
          <p:cNvSpPr/>
          <p:nvPr/>
        </p:nvSpPr>
        <p:spPr>
          <a:xfrm>
            <a:off x="457200" y="5257800"/>
            <a:ext cx="1124712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457200" y="5257800"/>
            <a:ext cx="137160" cy="86868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777240" y="5440680"/>
            <a:ext cx="1463040" cy="5029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1" name="Text 33"/>
          <p:cNvSpPr/>
          <p:nvPr/>
        </p:nvSpPr>
        <p:spPr>
          <a:xfrm>
            <a:off x="777240" y="54406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85-100 min</a:t>
            </a:r>
            <a:endParaRPr lang="en-US" sz="1100" dirty="0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23160" y="5486400"/>
            <a:ext cx="411480" cy="411480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2971800" y="53492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 + Submit</a:t>
            </a:r>
            <a:endParaRPr lang="en-US" sz="1300" dirty="0"/>
          </a:p>
        </p:txBody>
      </p:sp>
      <p:sp>
        <p:nvSpPr>
          <p:cNvPr id="44" name="Text 35"/>
          <p:cNvSpPr/>
          <p:nvPr/>
        </p:nvSpPr>
        <p:spPr>
          <a:xfrm>
            <a:off x="2971800" y="5715000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Tulis laporan template + take screenshot + submit Slack. Wrap-up dengan dosen.</a:t>
            </a:r>
            <a:endParaRPr lang="en-US" sz="1000" dirty="0"/>
          </a:p>
        </p:txBody>
      </p:sp>
      <p:sp>
        <p:nvSpPr>
          <p:cNvPr id="45" name="Text 36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kalau sudah selesai sebelum 100 menit, coba challenge bonus di slide 26 untuk extra credit.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 &amp; Persiapan Praktikum 2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 yang dipelajari + persiapan untuk minggu depan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457200" y="1417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Sudah Anda Lakukan Hari Ini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457200" y="1920240"/>
            <a:ext cx="274320" cy="27432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920240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68680" y="187452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Signup akun GitHub + Vercel (dua tools wajib developer modern).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457200" y="2450592"/>
            <a:ext cx="274320" cy="27432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450592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68680" y="2404872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1 static site dari nol ke production - URL public!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457200" y="2980944"/>
            <a:ext cx="274320" cy="27432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980944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868680" y="293522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CI/CD pattern: push GitHub = auto deploy Vercel.</a:t>
            </a:r>
            <a:endParaRPr lang="en-US" sz="1100" dirty="0"/>
          </a:p>
        </p:txBody>
      </p:sp>
      <p:sp>
        <p:nvSpPr>
          <p:cNvPr id="20" name="Shape 13"/>
          <p:cNvSpPr/>
          <p:nvPr/>
        </p:nvSpPr>
        <p:spPr>
          <a:xfrm>
            <a:off x="457200" y="3511296"/>
            <a:ext cx="274320" cy="27432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511296"/>
            <a:ext cx="274320" cy="27432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868680" y="3465576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Identifikasi IaaS vs PaaS vs SaaS dari tools real.</a:t>
            </a:r>
            <a:endParaRPr lang="en-US" sz="1100" dirty="0"/>
          </a:p>
        </p:txBody>
      </p:sp>
      <p:sp>
        <p:nvSpPr>
          <p:cNvPr id="23" name="Shape 15"/>
          <p:cNvSpPr/>
          <p:nvPr/>
        </p:nvSpPr>
        <p:spPr>
          <a:xfrm>
            <a:off x="457200" y="4041648"/>
            <a:ext cx="274320" cy="27432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041648"/>
            <a:ext cx="274320" cy="274320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868680" y="399592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Hitung cost free tier vs scale-up scenario.</a:t>
            </a:r>
            <a:endParaRPr lang="en-US" sz="1100" dirty="0"/>
          </a:p>
        </p:txBody>
      </p:sp>
      <p:sp>
        <p:nvSpPr>
          <p:cNvPr id="26" name="Shape 17"/>
          <p:cNvSpPr/>
          <p:nvPr/>
        </p:nvSpPr>
        <p:spPr>
          <a:xfrm>
            <a:off x="457200" y="4572000"/>
            <a:ext cx="274320" cy="27432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572000"/>
            <a:ext cx="274320" cy="274320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868680" y="452628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Tulis laporan singkat + submit dengan format profesional.</a:t>
            </a:r>
            <a:endParaRPr lang="en-US" sz="1100" dirty="0"/>
          </a:p>
        </p:txBody>
      </p:sp>
      <p:sp>
        <p:nvSpPr>
          <p:cNvPr id="29" name="Shape 19"/>
          <p:cNvSpPr/>
          <p:nvPr/>
        </p:nvSpPr>
        <p:spPr>
          <a:xfrm>
            <a:off x="6217920" y="1417320"/>
            <a:ext cx="5486400" cy="228600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pic>
        <p:nvPicPr>
          <p:cNvPr id="30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1554480"/>
            <a:ext cx="457200" cy="457200"/>
          </a:xfrm>
          <a:prstGeom prst="rect">
            <a:avLst/>
          </a:prstGeom>
        </p:spPr>
      </p:pic>
      <p:sp>
        <p:nvSpPr>
          <p:cNvPr id="31" name="Text 20"/>
          <p:cNvSpPr/>
          <p:nvPr/>
        </p:nvSpPr>
        <p:spPr>
          <a:xfrm>
            <a:off x="6949440" y="1554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BEFORE PRAKTIKUM 2</a:t>
            </a:r>
            <a:endParaRPr lang="en-US" sz="1100" dirty="0"/>
          </a:p>
        </p:txBody>
      </p:sp>
      <p:sp>
        <p:nvSpPr>
          <p:cNvPr id="32" name="Text 21"/>
          <p:cNvSpPr/>
          <p:nvPr/>
        </p:nvSpPr>
        <p:spPr>
          <a:xfrm>
            <a:off x="6400800" y="201168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Deadline submission</a:t>
            </a:r>
            <a:endParaRPr lang="en-US" sz="1400" dirty="0"/>
          </a:p>
        </p:txBody>
      </p:sp>
      <p:sp>
        <p:nvSpPr>
          <p:cNvPr id="33" name="Text 22"/>
          <p:cNvSpPr/>
          <p:nvPr/>
        </p:nvSpPr>
        <p:spPr>
          <a:xfrm>
            <a:off x="6400800" y="2331720"/>
            <a:ext cx="5212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] URL GitHub repo + URL Vercel live</a:t>
            </a:r>
            <a:endParaRPr lang="en-US" sz="11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] 3 screenshot (GitHub, Vercel, live site)</a:t>
            </a:r>
            <a:endParaRPr lang="en-US" sz="11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] Laporan PDF dengan format slide 20</a:t>
            </a:r>
            <a:endParaRPr lang="en-US" sz="11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] Submit ke Slack #prak-cloud</a:t>
            </a:r>
            <a:endParaRPr lang="en-US" sz="1100" dirty="0"/>
          </a:p>
        </p:txBody>
      </p:sp>
      <p:sp>
        <p:nvSpPr>
          <p:cNvPr id="34" name="Shape 23"/>
          <p:cNvSpPr/>
          <p:nvPr/>
        </p:nvSpPr>
        <p:spPr>
          <a:xfrm>
            <a:off x="6217920" y="3840480"/>
            <a:ext cx="548640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35" name="Image 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3977640"/>
            <a:ext cx="457200" cy="457200"/>
          </a:xfrm>
          <a:prstGeom prst="rect">
            <a:avLst/>
          </a:prstGeom>
        </p:spPr>
      </p:pic>
      <p:sp>
        <p:nvSpPr>
          <p:cNvPr id="36" name="Text 24"/>
          <p:cNvSpPr/>
          <p:nvPr/>
        </p:nvSpPr>
        <p:spPr>
          <a:xfrm>
            <a:off x="6949440" y="3977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PRAKTIKUM 2 - MINGGU DEPAN</a:t>
            </a:r>
            <a:endParaRPr lang="en-US" sz="1100" dirty="0"/>
          </a:p>
        </p:txBody>
      </p:sp>
      <p:sp>
        <p:nvSpPr>
          <p:cNvPr id="37" name="Text 25"/>
          <p:cNvSpPr/>
          <p:nvPr/>
        </p:nvSpPr>
        <p:spPr>
          <a:xfrm>
            <a:off x="6400800" y="44348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Fundamentals Hands-On</a:t>
            </a:r>
            <a:endParaRPr lang="en-US" sz="1400" dirty="0"/>
          </a:p>
        </p:txBody>
      </p:sp>
      <p:sp>
        <p:nvSpPr>
          <p:cNvPr id="38" name="Text 26"/>
          <p:cNvSpPr/>
          <p:nvPr/>
        </p:nvSpPr>
        <p:spPr>
          <a:xfrm>
            <a:off x="6400800" y="4800600"/>
            <a:ext cx="5212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Persiapan: install WSL (Windows) atau pakai macOS Terminal / Linux native. Detail di Slack H-3.</a:t>
            </a:r>
            <a:endParaRPr lang="en-US" sz="1100" dirty="0"/>
          </a:p>
        </p:txBody>
      </p:sp>
      <p:sp>
        <p:nvSpPr>
          <p:cNvPr id="39" name="Shape 27"/>
          <p:cNvSpPr/>
          <p:nvPr/>
        </p:nvSpPr>
        <p:spPr>
          <a:xfrm>
            <a:off x="457200" y="5120640"/>
            <a:ext cx="5486400" cy="11887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40" name="Image 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5349240"/>
            <a:ext cx="640080" cy="640080"/>
          </a:xfrm>
          <a:prstGeom prst="rect">
            <a:avLst/>
          </a:prstGeom>
        </p:spPr>
      </p:pic>
      <p:sp>
        <p:nvSpPr>
          <p:cNvPr id="41" name="Text 28"/>
          <p:cNvSpPr/>
          <p:nvPr/>
        </p:nvSpPr>
        <p:spPr>
          <a:xfrm>
            <a:off x="1417320" y="51663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Pertanyaan?</a:t>
            </a:r>
            <a:endParaRPr lang="en-US" sz="2200" dirty="0"/>
          </a:p>
        </p:txBody>
      </p:sp>
      <p:sp>
        <p:nvSpPr>
          <p:cNvPr id="42" name="Text 29"/>
          <p:cNvSpPr/>
          <p:nvPr/>
        </p:nvSpPr>
        <p:spPr>
          <a:xfrm>
            <a:off x="1417320" y="56692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Tanya saat office hours / Slack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Selamat - Praktikum 1 Selesai!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Anda baru saja deploy site pertama ke cloud. Welcome to the journey.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1371600" y="1417320"/>
            <a:ext cx="9418320" cy="1417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1640" y="1783080"/>
            <a:ext cx="685800" cy="6858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2560320" y="155448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1 UNLOCKED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2560320" y="1920240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Pertama Kali Deploy ke Production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2560320" y="242316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Anda kerjakan hari ini = workflow yang dipakai jutaan developer setiap hari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457200" y="31089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Refleksi 3 Pertanyaan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57200" y="3611880"/>
            <a:ext cx="365760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57200" y="3611880"/>
            <a:ext cx="3657600" cy="4572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457200" y="36118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9" name="Text 14"/>
          <p:cNvSpPr/>
          <p:nvPr/>
        </p:nvSpPr>
        <p:spPr>
          <a:xfrm>
            <a:off x="640080" y="420624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 yang paling cepat dari yang Anda bayangkan?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4297680" y="3611880"/>
            <a:ext cx="365760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297680" y="3611880"/>
            <a:ext cx="3657600" cy="4572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297680" y="36118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3" name="Text 18"/>
          <p:cNvSpPr/>
          <p:nvPr/>
        </p:nvSpPr>
        <p:spPr>
          <a:xfrm>
            <a:off x="4480560" y="420624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mana yang masih bikin bingung?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8138160" y="3611880"/>
            <a:ext cx="365760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8138160" y="3611880"/>
            <a:ext cx="3657600" cy="4572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138160" y="36118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7" name="Text 22"/>
          <p:cNvSpPr/>
          <p:nvPr/>
        </p:nvSpPr>
        <p:spPr>
          <a:xfrm>
            <a:off x="8321040" y="420624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 1 hal yang ingin Anda eksplor lebih?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457200" y="5532120"/>
            <a:ext cx="11247120" cy="77724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640080" y="553212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Tulis URL live site Anda di sticky note + tempel di laptop.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hari lihat URL itu - reminder bahwa Anda BISA bangun + ship sesuatu di cloud.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Jalur kode Lab 01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mandiri: github.com/SeedFlora/meet1CloudService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LANGKAH DI KELAS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6974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34440" y="260604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Buat repo pribadi dari meet1CloudService</a:t>
            </a:r>
            <a:endParaRPr lang="en-US" sz="11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337560"/>
            <a:ext cx="320040" cy="32004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32461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starter; npm test; npm run dev</a:t>
            </a:r>
            <a:endParaRPr lang="en-US" sz="11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977640"/>
            <a:ext cx="320040" cy="32004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34440" y="38862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nl-NL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Cek web dan API lokal: 200 / 400</a:t>
            </a:r>
            <a:endParaRPr lang="en-US" sz="11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617720"/>
            <a:ext cx="320040" cy="32004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234440" y="45262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 worksheet kasus A-D; push hasil Git</a:t>
            </a:r>
            <a:endParaRPr lang="en-US" sz="1100" dirty="0"/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257800"/>
            <a:ext cx="320040" cy="320040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1234440" y="516636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Vercel: Root Directory = starter</a:t>
            </a:r>
            <a:endParaRPr lang="en-US" sz="1100" dirty="0"/>
          </a:p>
        </p:txBody>
      </p:sp>
      <p:sp>
        <p:nvSpPr>
          <p:cNvPr id="22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3" name="Text 14"/>
          <p:cNvSpPr/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BERKAS PENDAMPING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  <p:sp>
        <p:nvSpPr>
          <p:cNvPr id="24" name="Text 15"/>
          <p:cNvSpPr/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2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README, MODUL_MAHASISWA, hasil/lab01.md, screenshots/</a:t>
            </a:r>
            <a:endParaRPr lang="en-US" sz="1200" dirty="0"/>
          </a:p>
        </p:txBody>
      </p:sp>
      <p:sp>
        <p:nvSpPr>
          <p:cNvPr id="25" name="Shape 16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6" name="Text 17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200" i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Perintah, hasil, dan kunci ada di modul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Jalankan model cloud di web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meet1CloudService/starter  |  bukti: screenshots/lab01_model_saas.png</a:t>
            </a:r>
            <a:endParaRPr lang="en-US" sz="12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E0D92E1-A2A3-B12F-4218-8612D3AAEF30}"/>
              </a:ext>
            </a:extLst>
          </p:cNvPr>
          <p:cNvSpPr/>
          <p:nvPr/>
        </p:nvSpPr>
        <p:spPr>
          <a:xfrm>
            <a:off x="457200" y="1447800"/>
            <a:ext cx="7683500" cy="4724400"/>
          </a:xfrm>
          <a:prstGeom prst="rect">
            <a:avLst/>
          </a:prstGeom>
          <a:solidFill>
            <a:srgbClr val="F6F8FC"/>
          </a:solidFill>
          <a:ln>
            <a:solidFill>
              <a:srgbClr val="D3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8C0A12EC-0CCF-304D-B96C-6864FE8D2981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546100" y="2037821"/>
            <a:ext cx="7505700" cy="3544358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DAA5097C-09BD-9F46-BF8C-7E6D25217419}"/>
              </a:ext>
            </a:extLst>
          </p:cNvPr>
          <p:cNvSpPr/>
          <p:nvPr/>
        </p:nvSpPr>
        <p:spPr>
          <a:xfrm>
            <a:off x="8318500" y="1435100"/>
            <a:ext cx="3390900" cy="4737100"/>
          </a:xfrm>
          <a:prstGeom prst="rect">
            <a:avLst/>
          </a:prstGeom>
          <a:solidFill>
            <a:srgbClr val="F6F8FC"/>
          </a:solidFill>
          <a:ln>
            <a:solidFill>
              <a:srgbClr val="D3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940C7DE-D488-E2E7-F441-CBF1BB43A78C}"/>
              </a:ext>
            </a:extLst>
          </p:cNvPr>
          <p:cNvSpPr/>
          <p:nvPr/>
        </p:nvSpPr>
        <p:spPr>
          <a:xfrm>
            <a:off x="8318500" y="1435100"/>
            <a:ext cx="3390900" cy="63500"/>
          </a:xfrm>
          <a:prstGeom prst="rect">
            <a:avLst/>
          </a:prstGeom>
          <a:solidFill>
            <a:srgbClr val="F3702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F29DA66-226E-A36A-F49D-C65673D5A165}"/>
              </a:ext>
            </a:extLst>
          </p:cNvPr>
          <p:cNvSpPr txBox="1"/>
          <p:nvPr/>
        </p:nvSpPr>
        <p:spPr>
          <a:xfrm>
            <a:off x="8509000" y="1676400"/>
            <a:ext cx="3009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PERINTAH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2220E3B-3261-5520-CACC-6A73427A33DA}"/>
              </a:ext>
            </a:extLst>
          </p:cNvPr>
          <p:cNvSpPr txBox="1"/>
          <p:nvPr/>
        </p:nvSpPr>
        <p:spPr>
          <a:xfrm>
            <a:off x="8509000" y="1917700"/>
            <a:ext cx="3009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50">
                <a:solidFill>
                  <a:srgbClr val="192A44"/>
                </a:solidFill>
                <a:latin typeface="Consolas" panose="020B0609020204030204" pitchFamily="49" charset="0"/>
              </a:rPr>
              <a:t>cd starter
npm run dev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6283F46-DCFA-1375-24BC-787D41D5CA69}"/>
              </a:ext>
            </a:extLst>
          </p:cNvPr>
          <p:cNvSpPr txBox="1"/>
          <p:nvPr/>
        </p:nvSpPr>
        <p:spPr>
          <a:xfrm>
            <a:off x="8509000" y="2806700"/>
            <a:ext cx="3009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FUNGSI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275176E-8ABE-0779-5376-45CA4B6767B0}"/>
              </a:ext>
            </a:extLst>
          </p:cNvPr>
          <p:cNvSpPr txBox="1"/>
          <p:nvPr/>
        </p:nvSpPr>
        <p:spPr>
          <a:xfrm>
            <a:off x="8509000" y="3048000"/>
            <a:ext cx="3009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20">
                <a:solidFill>
                  <a:srgbClr val="192A44"/>
                </a:solidFill>
                <a:latin typeface="Arial" panose="020B0604020202020204" pitchFamily="34" charset="0"/>
              </a:rPr>
              <a:t>Node menyajikan halaman dan API pada localhost:3000.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C69EA94-39E6-4489-84B0-9241B0E6BAD1}"/>
              </a:ext>
            </a:extLst>
          </p:cNvPr>
          <p:cNvSpPr txBox="1"/>
          <p:nvPr/>
        </p:nvSpPr>
        <p:spPr>
          <a:xfrm>
            <a:off x="8509000" y="4102100"/>
            <a:ext cx="3009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BACA SCREENSHOT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EB0A659-9E67-56F8-14A5-4DB042EA52E2}"/>
              </a:ext>
            </a:extLst>
          </p:cNvPr>
          <p:cNvSpPr txBox="1"/>
          <p:nvPr/>
        </p:nvSpPr>
        <p:spPr>
          <a:xfrm>
            <a:off x="8509000" y="4343400"/>
            <a:ext cx="3009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20">
                <a:solidFill>
                  <a:srgbClr val="192A44"/>
                </a:solidFill>
                <a:latin typeface="Arial" panose="020B0604020202020204" pitchFamily="34" charset="0"/>
              </a:rPr>
              <a:t>SaaS: Anda mengelola data dan akses; provider mengelola UI, backend, runtime, hingga jaringan.</a:t>
            </a:r>
          </a:p>
        </p:txBody>
      </p:sp>
    </p:spTree>
    <p:extLst>
      <p:ext uri="{BB962C8B-B14F-4D97-AF65-F5344CB8AC3E}">
        <p14:creationId xmlns:p14="http://schemas.microsoft.com/office/powerpoint/2010/main" val="313600319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nl-NL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uji dan respons HTTP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Keluaran aktual di mesin lokal  |  bukti: screenshots/lab01_uji_terkini.png</a:t>
            </a:r>
            <a:endParaRPr lang="en-US" sz="12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A2C3FC3-2268-3632-60A5-8F36FCCD90BB}"/>
              </a:ext>
            </a:extLst>
          </p:cNvPr>
          <p:cNvSpPr/>
          <p:nvPr/>
        </p:nvSpPr>
        <p:spPr>
          <a:xfrm>
            <a:off x="457200" y="1409700"/>
            <a:ext cx="11252200" cy="3886200"/>
          </a:xfrm>
          <a:prstGeom prst="rect">
            <a:avLst/>
          </a:prstGeom>
          <a:solidFill>
            <a:srgbClr val="F6F8FC"/>
          </a:solidFill>
          <a:ln>
            <a:solidFill>
              <a:srgbClr val="D3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B542D0F6-23D6-9C32-4D27-1FA91FCF0E77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490898"/>
            <a:ext cx="11099800" cy="3723804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784C38AF-D50D-3EDB-2A20-35E588144107}"/>
              </a:ext>
            </a:extLst>
          </p:cNvPr>
          <p:cNvSpPr/>
          <p:nvPr/>
        </p:nvSpPr>
        <p:spPr>
          <a:xfrm>
            <a:off x="457200" y="5397500"/>
            <a:ext cx="11252200" cy="787400"/>
          </a:xfrm>
          <a:prstGeom prst="rect">
            <a:avLst/>
          </a:prstGeom>
          <a:solidFill>
            <a:srgbClr val="00277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8179848-0254-FC95-B234-981E0248F004}"/>
              </a:ext>
            </a:extLst>
          </p:cNvPr>
          <p:cNvSpPr txBox="1"/>
          <p:nvPr/>
        </p:nvSpPr>
        <p:spPr>
          <a:xfrm>
            <a:off x="635000" y="54991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UJI UNIT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F041FD0-C768-9242-FF37-021E9D2B6BD9}"/>
              </a:ext>
            </a:extLst>
          </p:cNvPr>
          <p:cNvSpPr txBox="1"/>
          <p:nvPr/>
        </p:nvSpPr>
        <p:spPr>
          <a:xfrm>
            <a:off x="635000" y="57277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npm test  -&gt;  18 lulus, 0 gagal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F74B100-F150-BE1A-A13C-CBD2FCE7D19B}"/>
              </a:ext>
            </a:extLst>
          </p:cNvPr>
          <p:cNvSpPr txBox="1"/>
          <p:nvPr/>
        </p:nvSpPr>
        <p:spPr>
          <a:xfrm>
            <a:off x="4318000" y="54991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API VALID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864305D-94C1-CBA2-4912-2EC5B118054C}"/>
              </a:ext>
            </a:extLst>
          </p:cNvPr>
          <p:cNvSpPr txBox="1"/>
          <p:nvPr/>
        </p:nvSpPr>
        <p:spPr>
          <a:xfrm>
            <a:off x="4318000" y="57277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/api/hello dan /recommend  -&gt;  200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FEE0EF9-5060-12FC-A5E6-E5367599FF83}"/>
              </a:ext>
            </a:extLst>
          </p:cNvPr>
          <p:cNvSpPr txBox="1"/>
          <p:nvPr/>
        </p:nvSpPr>
        <p:spPr>
          <a:xfrm>
            <a:off x="8001000" y="54991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INPUT SALAH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7FAF8FA-E512-3BA5-B85A-15159888CAEB}"/>
              </a:ext>
            </a:extLst>
          </p:cNvPr>
          <p:cNvSpPr txBox="1"/>
          <p:nvPr/>
        </p:nvSpPr>
        <p:spPr>
          <a:xfrm>
            <a:off x="8001000" y="57277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factors=ngawur  -&gt;  HTTP 400</a:t>
            </a:r>
          </a:p>
        </p:txBody>
      </p:sp>
    </p:spTree>
    <p:extLst>
      <p:ext uri="{BB962C8B-B14F-4D97-AF65-F5344CB8AC3E}">
        <p14:creationId xmlns:p14="http://schemas.microsoft.com/office/powerpoint/2010/main" val="142809440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Baca alasan rekomendasi API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Contoh GET /api/recommend?spiky=1&amp;smallTeam=1  |  meet1CloudService</a:t>
            </a:r>
            <a:endParaRPr lang="en-US" sz="12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C1DECE2-2628-C7CB-FEA4-D365DF45B804}"/>
              </a:ext>
            </a:extLst>
          </p:cNvPr>
          <p:cNvSpPr/>
          <p:nvPr/>
        </p:nvSpPr>
        <p:spPr>
          <a:xfrm>
            <a:off x="457200" y="1447800"/>
            <a:ext cx="5778500" cy="4724400"/>
          </a:xfrm>
          <a:prstGeom prst="rect">
            <a:avLst/>
          </a:prstGeom>
          <a:solidFill>
            <a:srgbClr val="F6F8FC"/>
          </a:solidFill>
          <a:ln>
            <a:solidFill>
              <a:srgbClr val="D3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EB437301-C30D-2BE0-EE5B-701EC35B8817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1076781" y="1536700"/>
            <a:ext cx="4539337" cy="4546600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B385846A-64BD-F96B-41EF-4810E6DB9A35}"/>
              </a:ext>
            </a:extLst>
          </p:cNvPr>
          <p:cNvSpPr/>
          <p:nvPr/>
        </p:nvSpPr>
        <p:spPr>
          <a:xfrm>
            <a:off x="6413500" y="1435100"/>
            <a:ext cx="5295900" cy="4737100"/>
          </a:xfrm>
          <a:prstGeom prst="rect">
            <a:avLst/>
          </a:prstGeom>
          <a:solidFill>
            <a:srgbClr val="F6F8FC"/>
          </a:solidFill>
          <a:ln>
            <a:solidFill>
              <a:srgbClr val="D3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C105B72-5F56-7C52-86A4-F8DA4599C4C1}"/>
              </a:ext>
            </a:extLst>
          </p:cNvPr>
          <p:cNvSpPr/>
          <p:nvPr/>
        </p:nvSpPr>
        <p:spPr>
          <a:xfrm>
            <a:off x="6413500" y="1435100"/>
            <a:ext cx="5295900" cy="63500"/>
          </a:xfrm>
          <a:prstGeom prst="rect">
            <a:avLst/>
          </a:prstGeom>
          <a:solidFill>
            <a:srgbClr val="F3702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A3C4127-31FF-42BC-7821-81F9C84F1E2E}"/>
              </a:ext>
            </a:extLst>
          </p:cNvPr>
          <p:cNvSpPr txBox="1"/>
          <p:nvPr/>
        </p:nvSpPr>
        <p:spPr>
          <a:xfrm>
            <a:off x="6604000" y="1676400"/>
            <a:ext cx="4914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PERINTAH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B948D37-9E72-3494-11EA-B5CB7E50BD96}"/>
              </a:ext>
            </a:extLst>
          </p:cNvPr>
          <p:cNvSpPr txBox="1"/>
          <p:nvPr/>
        </p:nvSpPr>
        <p:spPr>
          <a:xfrm>
            <a:off x="6604000" y="1917700"/>
            <a:ext cx="4914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50">
                <a:solidFill>
                  <a:srgbClr val="192A44"/>
                </a:solidFill>
                <a:latin typeface="Consolas" panose="020B0609020204030204" pitchFamily="49" charset="0"/>
              </a:rPr>
              <a:t>curl -G localhost:3000/api/recommend \
  -d spiky=1 -d smallTeam=1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AB6565C-0FE5-F2FA-A08F-E5367770E879}"/>
              </a:ext>
            </a:extLst>
          </p:cNvPr>
          <p:cNvSpPr txBox="1"/>
          <p:nvPr/>
        </p:nvSpPr>
        <p:spPr>
          <a:xfrm>
            <a:off x="6604000" y="3060700"/>
            <a:ext cx="4914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FUNGSI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990807D-6B65-9918-1A13-800DC4935290}"/>
              </a:ext>
            </a:extLst>
          </p:cNvPr>
          <p:cNvSpPr txBox="1"/>
          <p:nvPr/>
        </p:nvSpPr>
        <p:spPr>
          <a:xfrm>
            <a:off x="6604000" y="3302000"/>
            <a:ext cx="4914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20">
                <a:solidFill>
                  <a:srgbClr val="192A44"/>
                </a:solidFill>
                <a:latin typeface="Arial" panose="020B0604020202020204" pitchFamily="34" charset="0"/>
              </a:rPr>
              <a:t>Backend menimbang faktor kebutuhan, lalu mengurutkan model deployment.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0539832-A56F-EA6D-0BB3-F6D89EA8EDD2}"/>
              </a:ext>
            </a:extLst>
          </p:cNvPr>
          <p:cNvSpPr txBox="1"/>
          <p:nvPr/>
        </p:nvSpPr>
        <p:spPr>
          <a:xfrm>
            <a:off x="6604000" y="4394200"/>
            <a:ext cx="4914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BACA SCREENSHOT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D20B232-F9E2-BD2F-C64A-D8CE461B058C}"/>
              </a:ext>
            </a:extLst>
          </p:cNvPr>
          <p:cNvSpPr txBox="1"/>
          <p:nvPr/>
        </p:nvSpPr>
        <p:spPr>
          <a:xfrm>
            <a:off x="6604000" y="4635500"/>
            <a:ext cx="4914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20">
                <a:solidFill>
                  <a:srgbClr val="192A44"/>
                </a:solidFill>
                <a:latin typeface="Arial" panose="020B0604020202020204" pitchFamily="34" charset="0"/>
              </a:rPr>
              <a:t>Respons JSON menampilkan faktor, bobot, score, alasan, dan ranking; bukan keputusan otomatis.</a:t>
            </a:r>
          </a:p>
        </p:txBody>
      </p:sp>
    </p:spTree>
    <p:extLst>
      <p:ext uri="{BB962C8B-B14F-4D97-AF65-F5344CB8AC3E}">
        <p14:creationId xmlns:p14="http://schemas.microsoft.com/office/powerpoint/2010/main" val="33736478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i-FI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Kerjakan dan jelaskan kasus A-D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studi kasus di web  |  kunci lengkap: MODUL_MAHASISWA.md</a:t>
            </a:r>
            <a:endParaRPr lang="en-US" sz="12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8AA2A82-EC05-AD61-CB62-EF08BE330F29}"/>
              </a:ext>
            </a:extLst>
          </p:cNvPr>
          <p:cNvSpPr/>
          <p:nvPr/>
        </p:nvSpPr>
        <p:spPr>
          <a:xfrm>
            <a:off x="457200" y="1447800"/>
            <a:ext cx="5270500" cy="4724400"/>
          </a:xfrm>
          <a:prstGeom prst="rect">
            <a:avLst/>
          </a:prstGeom>
          <a:solidFill>
            <a:srgbClr val="F6F8FC"/>
          </a:solidFill>
          <a:ln>
            <a:solidFill>
              <a:srgbClr val="D3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EF5D6950-7D9D-3FAE-2E53-2FA8EBCA6F0A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742449" y="1536700"/>
            <a:ext cx="4700003" cy="4546600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575BBBBC-6410-0C41-DFEC-CB4FC4F26924}"/>
              </a:ext>
            </a:extLst>
          </p:cNvPr>
          <p:cNvSpPr/>
          <p:nvPr/>
        </p:nvSpPr>
        <p:spPr>
          <a:xfrm>
            <a:off x="5905500" y="1435100"/>
            <a:ext cx="5803900" cy="4737100"/>
          </a:xfrm>
          <a:prstGeom prst="rect">
            <a:avLst/>
          </a:prstGeom>
          <a:solidFill>
            <a:srgbClr val="F6F8FC"/>
          </a:solidFill>
          <a:ln>
            <a:solidFill>
              <a:srgbClr val="D3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67EAE97-0178-EE39-8E74-15685EE7DFE2}"/>
              </a:ext>
            </a:extLst>
          </p:cNvPr>
          <p:cNvSpPr/>
          <p:nvPr/>
        </p:nvSpPr>
        <p:spPr>
          <a:xfrm>
            <a:off x="5905500" y="1435100"/>
            <a:ext cx="5803900" cy="63500"/>
          </a:xfrm>
          <a:prstGeom prst="rect">
            <a:avLst/>
          </a:prstGeom>
          <a:solidFill>
            <a:srgbClr val="F3702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447300D-F49F-FD2D-0287-E30D4413B531}"/>
              </a:ext>
            </a:extLst>
          </p:cNvPr>
          <p:cNvSpPr txBox="1"/>
          <p:nvPr/>
        </p:nvSpPr>
        <p:spPr>
          <a:xfrm>
            <a:off x="6096000" y="1676400"/>
            <a:ext cx="5422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LANGKAH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B56E5BA-4784-6A5A-4A26-6C2220522766}"/>
              </a:ext>
            </a:extLst>
          </p:cNvPr>
          <p:cNvSpPr txBox="1"/>
          <p:nvPr/>
        </p:nvSpPr>
        <p:spPr>
          <a:xfrm>
            <a:off x="6096000" y="1917700"/>
            <a:ext cx="5422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20">
                <a:solidFill>
                  <a:srgbClr val="192A44"/>
                </a:solidFill>
                <a:latin typeface="Arial" panose="020B0604020202020204" pitchFamily="34" charset="0"/>
              </a:rPr>
              <a:t>Pilih kasus, centang kebutuhan, bandingkan ranking dengan alasan Anda.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80C0108-013B-37AC-A7BC-2FC657AE7425}"/>
              </a:ext>
            </a:extLst>
          </p:cNvPr>
          <p:cNvSpPr txBox="1"/>
          <p:nvPr/>
        </p:nvSpPr>
        <p:spPr>
          <a:xfrm>
            <a:off x="6096000" y="3098800"/>
            <a:ext cx="5422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BUKTI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B5F485-D594-F2B3-E95B-6008C21F34F9}"/>
              </a:ext>
            </a:extLst>
          </p:cNvPr>
          <p:cNvSpPr txBox="1"/>
          <p:nvPr/>
        </p:nvSpPr>
        <p:spPr>
          <a:xfrm>
            <a:off x="6096000" y="3340100"/>
            <a:ext cx="5422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20">
                <a:solidFill>
                  <a:srgbClr val="192A44"/>
                </a:solidFill>
                <a:latin typeface="Arial" panose="020B0604020202020204" pitchFamily="34" charset="0"/>
              </a:rPr>
              <a:t>Isi hasil/lab01.md: faktor, pilihan deployment, model layanan, trade-off.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A6705D6-F445-FAC1-79E5-854D9415B514}"/>
              </a:ext>
            </a:extLst>
          </p:cNvPr>
          <p:cNvSpPr txBox="1"/>
          <p:nvPr/>
        </p:nvSpPr>
        <p:spPr>
          <a:xfrm>
            <a:off x="6096000" y="4521200"/>
            <a:ext cx="5422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KIRIM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A58B17C-3C65-5DEA-408F-B74EA12BB16A}"/>
              </a:ext>
            </a:extLst>
          </p:cNvPr>
          <p:cNvSpPr txBox="1"/>
          <p:nvPr/>
        </p:nvSpPr>
        <p:spPr>
          <a:xfrm>
            <a:off x="6096000" y="4762500"/>
            <a:ext cx="5422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20">
                <a:solidFill>
                  <a:srgbClr val="192A44"/>
                </a:solidFill>
                <a:latin typeface="Arial" panose="020B0604020202020204" pitchFamily="34" charset="0"/>
              </a:rPr>
              <a:t>git add .; git commit -m "lab01"; git push. Opsional: deploy Vercel dari starter/.</a:t>
            </a:r>
          </a:p>
        </p:txBody>
      </p:sp>
    </p:spTree>
    <p:extLst>
      <p:ext uri="{BB962C8B-B14F-4D97-AF65-F5344CB8AC3E}">
        <p14:creationId xmlns:p14="http://schemas.microsoft.com/office/powerpoint/2010/main" val="17656858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4295</Words>
  <Application>Microsoft Office PowerPoint</Application>
  <PresentationFormat>Widescreen</PresentationFormat>
  <Paragraphs>632</Paragraphs>
  <Slides>36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0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Pengantar Cloud Computing - Hands-On - Praktikum 1</dc:title>
  <dc:subject>PptxGenJS Presentation</dc:subject>
  <dc:creator>PptxGenJS</dc:creator>
  <cp:lastModifiedBy>Budi Juarto</cp:lastModifiedBy>
  <cp:revision>2</cp:revision>
  <dcterms:created xsi:type="dcterms:W3CDTF">2026-05-16T02:49:28Z</dcterms:created>
  <dcterms:modified xsi:type="dcterms:W3CDTF">2026-10-07T13:20:10Z</dcterms:modified>
</cp:coreProperties>
</file>